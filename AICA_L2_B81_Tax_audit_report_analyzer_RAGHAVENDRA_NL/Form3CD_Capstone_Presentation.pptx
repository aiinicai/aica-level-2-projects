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tool as a capstone project for the ICAI AI Level 2 course - a decision-support tool that turns a Form 3CD e-filing JSON into an audit-ready review pack in four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point: 44 clauses, manual cross-referencing, no existing tool bridges the e-filing JSON to a review pack, and any AI tool here must stay within professional-judgment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extract, cross-reference to clauses, compute statutory disallowances, and report in four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JSON in, four ready-to-review outputs out. The engine handles clause mapping, statutory disallowance rules, Indian number formatting, and the indicative tax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metric for the capstone: roughly 2 hours of manual cross-referencing collapses to about 5 minutes of review using the tool's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Recreation of the actual Tkinter GUI, matching its real purple/white theme, layout and copy: file picker, output-format checkboxes, output folder, Analyze button, and the live progress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(anonymized) output values from the tool, shown with genuine Indian lakh/crore comma formatting. Every output file also carries a Tax Head sign-off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differentiators: schema resilience, Indian numbering, automated statutory rules, built-in sign-off, offline/confidential operation, and one-click multi-format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Six-stage build timeline: extraction and verification, packaging as a standalone app, formatting polish, multi-format export with sign-off, a real bug fix caught via cross-checking, and finally compliance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evaluators that the tool explicitly frames itself as a review aid, not a replacement for the auditor's judgment - the exact wording is baked into every output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an invitation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Form 3CD Tax Audit Analyzer</a:t>
            </a:r>
            <a:endParaRPr lang="en-US" sz="4400" dirty="0"/>
          </a:p>
        </p:txBody>
      </p:sp>
      <p:sp>
        <p:nvSpPr>
          <p:cNvPr id="3" name="Text 1"/>
          <p:cNvSpPr txBox="1"/>
          <p:nvPr/>
        </p:nvSpPr>
        <p:spPr>
          <a:xfrm>
            <a:off x="822960" y="3429000"/>
            <a:ext cx="10515600" cy="548640"/>
          </a:xfrm>
          <a:prstGeom prst="rect">
            <a:avLst/>
          </a:prstGeom>
          <a:noFill/>
          <a:ln/>
        </p:spPr>
        <p:txBody>
          <a:bodyPr wrap="square" lIns="0" tIns="0" rIns="0" bIns="0" rtlCol="0" anchor="ctr"/>
          <a:lstStyle/>
          <a:p>
            <a:pPr indent="0" marL="0">
              <a:buNone/>
            </a:pPr>
            <a:r>
              <a:rPr lang="en-US" sz="2000" dirty="0">
                <a:solidFill>
                  <a:srgbClr val="FFB300"/>
                </a:solidFill>
                <a:latin typeface="Calibri" pitchFamily="34" charset="0"/>
                <a:ea typeface="Calibri" pitchFamily="34" charset="-122"/>
                <a:cs typeface="Calibri" pitchFamily="34" charset="-120"/>
              </a:rPr>
              <a:t>An AI-Assisted Decision-Support Tool for Tax Audit Review</a:t>
            </a:r>
            <a:endParaRPr lang="en-US" sz="2000" dirty="0"/>
          </a:p>
        </p:txBody>
      </p:sp>
      <p:sp>
        <p:nvSpPr>
          <p:cNvPr id="4" name="Text 2"/>
          <p:cNvSpPr txBox="1"/>
          <p:nvPr/>
        </p:nvSpPr>
        <p:spPr>
          <a:xfrm>
            <a:off x="822960" y="6035040"/>
            <a:ext cx="7315200" cy="365760"/>
          </a:xfrm>
          <a:prstGeom prst="rect">
            <a:avLst/>
          </a:prstGeom>
          <a:noFill/>
          <a:ln/>
        </p:spPr>
        <p:txBody>
          <a:bodyPr wrap="square" lIns="0" tIns="0" rIns="0" bIns="0" rtlCol="0" anchor="ctr"/>
          <a:lstStyle/>
          <a:p>
            <a:pPr indent="0" marL="0">
              <a:buNone/>
            </a:pPr>
            <a:r>
              <a:rPr lang="en-US" sz="1300" dirty="0">
                <a:solidFill>
                  <a:srgbClr val="D8BEE8"/>
                </a:solidFill>
                <a:latin typeface="Calibri" pitchFamily="34" charset="0"/>
                <a:ea typeface="Calibri" pitchFamily="34" charset="-122"/>
                <a:cs typeface="Calibri" pitchFamily="34" charset="-120"/>
              </a:rPr>
              <a:t>ICAI Certificate Course on AI - Level 2  |  Capstone Project</a:t>
            </a:r>
            <a:endParaRPr lang="en-US" sz="1300" dirty="0"/>
          </a:p>
        </p:txBody>
      </p:sp>
      <p:sp>
        <p:nvSpPr>
          <p:cNvPr id="5" name="Shape 3"/>
          <p:cNvSpPr/>
          <p:nvPr/>
        </p:nvSpPr>
        <p:spPr>
          <a:xfrm>
            <a:off x="822960" y="4297680"/>
            <a:ext cx="1234440" cy="502920"/>
          </a:xfrm>
          <a:prstGeom prst="roundRect">
            <a:avLst>
              <a:gd name="adj" fmla="val 18182"/>
            </a:avLst>
          </a:prstGeom>
          <a:solidFill>
            <a:srgbClr val="8E24AA"/>
          </a:solidFill>
          <a:ln/>
        </p:spPr>
      </p:sp>
      <p:sp>
        <p:nvSpPr>
          <p:cNvPr id="6" name="Text 4"/>
          <p:cNvSpPr txBox="1"/>
          <p:nvPr/>
        </p:nvSpPr>
        <p:spPr>
          <a:xfrm>
            <a:off x="822960" y="4297680"/>
            <a:ext cx="1234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XLSX</a:t>
            </a:r>
            <a:endParaRPr lang="en-US" sz="1300" dirty="0"/>
          </a:p>
        </p:txBody>
      </p:sp>
      <p:sp>
        <p:nvSpPr>
          <p:cNvPr id="7" name="Shape 5"/>
          <p:cNvSpPr/>
          <p:nvPr/>
        </p:nvSpPr>
        <p:spPr>
          <a:xfrm>
            <a:off x="2240280" y="4297680"/>
            <a:ext cx="1234440" cy="502920"/>
          </a:xfrm>
          <a:prstGeom prst="roundRect">
            <a:avLst>
              <a:gd name="adj" fmla="val 18182"/>
            </a:avLst>
          </a:prstGeom>
          <a:solidFill>
            <a:srgbClr val="8E24AA"/>
          </a:solidFill>
          <a:ln/>
        </p:spPr>
      </p:sp>
      <p:sp>
        <p:nvSpPr>
          <p:cNvPr id="8" name="Text 6"/>
          <p:cNvSpPr txBox="1"/>
          <p:nvPr/>
        </p:nvSpPr>
        <p:spPr>
          <a:xfrm>
            <a:off x="2240280" y="4297680"/>
            <a:ext cx="1234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HTML</a:t>
            </a:r>
            <a:endParaRPr lang="en-US" sz="1300" dirty="0"/>
          </a:p>
        </p:txBody>
      </p:sp>
      <p:sp>
        <p:nvSpPr>
          <p:cNvPr id="9" name="Shape 7"/>
          <p:cNvSpPr/>
          <p:nvPr/>
        </p:nvSpPr>
        <p:spPr>
          <a:xfrm>
            <a:off x="3657600" y="4297680"/>
            <a:ext cx="1234440" cy="502920"/>
          </a:xfrm>
          <a:prstGeom prst="roundRect">
            <a:avLst>
              <a:gd name="adj" fmla="val 18182"/>
            </a:avLst>
          </a:prstGeom>
          <a:solidFill>
            <a:srgbClr val="8E24AA"/>
          </a:solidFill>
          <a:ln/>
        </p:spPr>
      </p:sp>
      <p:sp>
        <p:nvSpPr>
          <p:cNvPr id="10" name="Text 8"/>
          <p:cNvSpPr txBox="1"/>
          <p:nvPr/>
        </p:nvSpPr>
        <p:spPr>
          <a:xfrm>
            <a:off x="3657600" y="4297680"/>
            <a:ext cx="1234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PDF</a:t>
            </a:r>
            <a:endParaRPr lang="en-US" sz="1300" dirty="0"/>
          </a:p>
        </p:txBody>
      </p:sp>
      <p:sp>
        <p:nvSpPr>
          <p:cNvPr id="11" name="Shape 9"/>
          <p:cNvSpPr/>
          <p:nvPr/>
        </p:nvSpPr>
        <p:spPr>
          <a:xfrm>
            <a:off x="5074920" y="4297680"/>
            <a:ext cx="1234440" cy="502920"/>
          </a:xfrm>
          <a:prstGeom prst="roundRect">
            <a:avLst>
              <a:gd name="adj" fmla="val 18182"/>
            </a:avLst>
          </a:prstGeom>
          <a:solidFill>
            <a:srgbClr val="8E24AA"/>
          </a:solidFill>
          <a:ln/>
        </p:spPr>
      </p:sp>
      <p:sp>
        <p:nvSpPr>
          <p:cNvPr id="12" name="Text 10"/>
          <p:cNvSpPr txBox="1"/>
          <p:nvPr/>
        </p:nvSpPr>
        <p:spPr>
          <a:xfrm>
            <a:off x="5074920" y="4297680"/>
            <a:ext cx="1234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548640" y="1371600"/>
            <a:ext cx="6675120" cy="484632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2B0A3D"/>
                </a:solidFill>
                <a:latin typeface="Calibri" pitchFamily="34" charset="0"/>
                <a:ea typeface="Calibri" pitchFamily="34" charset="-122"/>
                <a:cs typeface="Calibri" pitchFamily="34" charset="-120"/>
              </a:rPr>
              <a:t>Form 3CD (Rule 6G(2)) carries 44+ clauses of scattered, unstructured particulars - depreciation, TDS disallowances, MSME dues, 43B liabilities, related-party payments and more.</a:t>
            </a:r>
            <a:endParaRPr lang="en-US" sz="1500" dirty="0"/>
          </a:p>
          <a:p>
            <a:pPr marL="342900" indent="-342900">
              <a:spcAft>
                <a:spcPts val="1400"/>
              </a:spcAft>
              <a:buSzPct val="100000"/>
              <a:buChar char="▪"/>
            </a:pPr>
            <a:r>
              <a:rPr lang="en-US" sz="1500" dirty="0">
                <a:solidFill>
                  <a:srgbClr val="2B0A3D"/>
                </a:solidFill>
                <a:latin typeface="Calibri" pitchFamily="34" charset="0"/>
                <a:ea typeface="Calibri" pitchFamily="34" charset="-122"/>
                <a:cs typeface="Calibri" pitchFamily="34" charset="-120"/>
              </a:rPr>
              <a:t>Building a clause-referenced financial summary and a computation draft from it is manual, repetitive, and error-prone - every figure has to be traced back to its exact clause and sub-clause by hand.</a:t>
            </a:r>
            <a:endParaRPr lang="en-US" sz="1500" dirty="0"/>
          </a:p>
          <a:p>
            <a:pPr marL="342900" indent="-342900">
              <a:spcAft>
                <a:spcPts val="1400"/>
              </a:spcAft>
              <a:buSzPct val="100000"/>
              <a:buChar char="▪"/>
            </a:pPr>
            <a:r>
              <a:rPr lang="en-US" sz="1500" dirty="0">
                <a:solidFill>
                  <a:srgbClr val="2B0A3D"/>
                </a:solidFill>
                <a:latin typeface="Calibri" pitchFamily="34" charset="0"/>
                <a:ea typeface="Calibri" pitchFamily="34" charset="-122"/>
                <a:cs typeface="Calibri" pitchFamily="34" charset="-120"/>
              </a:rPr>
              <a:t>No standard tool converts the e-filing JSON export directly into an audit-ready review pack - auditors re-key the same figures every filing season.</a:t>
            </a:r>
            <a:endParaRPr lang="en-US" sz="1500" dirty="0"/>
          </a:p>
          <a:p>
            <a:pPr marL="342900" indent="-342900">
              <a:spcAft>
                <a:spcPts val="1400"/>
              </a:spcAft>
              <a:buSzPct val="100000"/>
              <a:buChar char="▪"/>
            </a:pPr>
            <a:r>
              <a:rPr lang="en-US" sz="1500" dirty="0">
                <a:solidFill>
                  <a:srgbClr val="2B0A3D"/>
                </a:solidFill>
                <a:latin typeface="Calibri" pitchFamily="34" charset="0"/>
                <a:ea typeface="Calibri" pitchFamily="34" charset="-122"/>
                <a:cs typeface="Calibri" pitchFamily="34" charset="-120"/>
              </a:rPr>
              <a:t>Any automation must still respect client confidentiality and the auditor's professional judgment - it cannot pretend to replace verification under the SAs / ICAI Guidance Note.</a:t>
            </a:r>
            <a:endParaRPr lang="en-US" sz="1500" dirty="0"/>
          </a:p>
        </p:txBody>
      </p:sp>
      <p:sp>
        <p:nvSpPr>
          <p:cNvPr id="4" name="Shape 2"/>
          <p:cNvSpPr/>
          <p:nvPr/>
        </p:nvSpPr>
        <p:spPr>
          <a:xfrm>
            <a:off x="7589520" y="1463040"/>
            <a:ext cx="4023360" cy="2743200"/>
          </a:xfrm>
          <a:prstGeom prst="roundRect">
            <a:avLst>
              <a:gd name="adj" fmla="val 4000"/>
            </a:avLst>
          </a:prstGeom>
          <a:solidFill>
            <a:srgbClr val="F3E5F5"/>
          </a:solidFill>
          <a:ln/>
        </p:spPr>
      </p:sp>
      <p:sp>
        <p:nvSpPr>
          <p:cNvPr id="5" name="Text 3"/>
          <p:cNvSpPr txBox="1"/>
          <p:nvPr/>
        </p:nvSpPr>
        <p:spPr>
          <a:xfrm>
            <a:off x="7589520" y="1737360"/>
            <a:ext cx="4023360" cy="1097280"/>
          </a:xfrm>
          <a:prstGeom prst="rect">
            <a:avLst/>
          </a:prstGeom>
          <a:noFill/>
          <a:ln/>
        </p:spPr>
        <p:txBody>
          <a:bodyPr wrap="square" lIns="0" tIns="0" rIns="0" bIns="0" rtlCol="0" anchor="ctr"/>
          <a:lstStyle/>
          <a:p>
            <a:pPr algn="ctr" indent="0" marL="0">
              <a:buNone/>
            </a:pPr>
            <a:r>
              <a:rPr lang="en-US" sz="5400" b="1" dirty="0">
                <a:solidFill>
                  <a:srgbClr val="4A148C"/>
                </a:solidFill>
                <a:latin typeface="Cambria" pitchFamily="34" charset="0"/>
                <a:ea typeface="Cambria" pitchFamily="34" charset="-122"/>
                <a:cs typeface="Cambria" pitchFamily="34" charset="-120"/>
              </a:rPr>
              <a:t>2+ hrs</a:t>
            </a:r>
            <a:endParaRPr lang="en-US" sz="5400" dirty="0"/>
          </a:p>
        </p:txBody>
      </p:sp>
      <p:sp>
        <p:nvSpPr>
          <p:cNvPr id="6" name="Text 4"/>
          <p:cNvSpPr txBox="1"/>
          <p:nvPr/>
        </p:nvSpPr>
        <p:spPr>
          <a:xfrm>
            <a:off x="7863840" y="2880360"/>
            <a:ext cx="3474720" cy="1188720"/>
          </a:xfrm>
          <a:prstGeom prst="rect">
            <a:avLst/>
          </a:prstGeom>
          <a:noFill/>
          <a:ln/>
        </p:spPr>
        <p:txBody>
          <a:bodyPr wrap="square" lIns="0" tIns="0" rIns="0" bIns="0" rtlCol="0" anchor="ctr"/>
          <a:lstStyle/>
          <a:p>
            <a:pPr algn="ctr" indent="0" marL="0">
              <a:buNone/>
            </a:pPr>
            <a:r>
              <a:rPr lang="en-US" sz="1300" dirty="0">
                <a:solidFill>
                  <a:srgbClr val="2B0A3D"/>
                </a:solidFill>
                <a:latin typeface="Calibri" pitchFamily="34" charset="0"/>
                <a:ea typeface="Calibri" pitchFamily="34" charset="-122"/>
                <a:cs typeface="Calibri" pitchFamily="34" charset="-120"/>
              </a:rPr>
              <a:t>typical manual time to cross-reference one Form 3CD against</a:t>
            </a:r>
            <a:endParaRPr lang="en-US" sz="1300" dirty="0"/>
          </a:p>
          <a:p>
            <a:pPr algn="ctr" indent="0" marL="0">
              <a:buNone/>
            </a:pPr>
            <a:r>
              <a:rPr lang="en-US" sz="1300" dirty="0">
                <a:solidFill>
                  <a:srgbClr val="2B0A3D"/>
                </a:solidFill>
                <a:latin typeface="Calibri" pitchFamily="34" charset="0"/>
                <a:ea typeface="Calibri" pitchFamily="34" charset="-122"/>
                <a:cs typeface="Calibri" pitchFamily="34" charset="-120"/>
              </a:rPr>
              <a:t>the tax computation, per audit</a:t>
            </a:r>
            <a:endParaRPr lang="en-US" sz="1300" dirty="0"/>
          </a:p>
        </p:txBody>
      </p:sp>
      <p:sp>
        <p:nvSpPr>
          <p:cNvPr id="7" name="Text 5"/>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What the Tool Does</a:t>
            </a:r>
            <a:endParaRPr lang="en-US" sz="3200" dirty="0"/>
          </a:p>
        </p:txBody>
      </p:sp>
      <p:sp>
        <p:nvSpPr>
          <p:cNvPr id="3" name="Shape 1"/>
          <p:cNvSpPr/>
          <p:nvPr/>
        </p:nvSpPr>
        <p:spPr>
          <a:xfrm>
            <a:off x="548640" y="1463040"/>
            <a:ext cx="640080" cy="640080"/>
          </a:xfrm>
          <a:prstGeom prst="ellipse">
            <a:avLst/>
          </a:prstGeom>
          <a:solidFill>
            <a:srgbClr val="4A148C"/>
          </a:solidFill>
          <a:ln/>
        </p:spPr>
      </p:sp>
      <p:sp>
        <p:nvSpPr>
          <p:cNvPr id="4" name="Text 2"/>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371600" y="1417320"/>
            <a:ext cx="4572000" cy="457200"/>
          </a:xfrm>
          <a:prstGeom prst="rect">
            <a:avLst/>
          </a:prstGeom>
          <a:noFill/>
          <a:ln/>
        </p:spPr>
        <p:txBody>
          <a:bodyPr wrap="square" lIns="0" tIns="0" rIns="0" bIns="0" rtlCol="0" anchor="ctr"/>
          <a:lstStyle/>
          <a:p>
            <a:pPr indent="0" marL="0">
              <a:buNone/>
            </a:pPr>
            <a:r>
              <a:rPr lang="en-US" sz="1800" b="1" dirty="0">
                <a:solidFill>
                  <a:srgbClr val="4A148C"/>
                </a:solidFill>
                <a:latin typeface="Cambria" pitchFamily="34" charset="0"/>
                <a:ea typeface="Cambria" pitchFamily="34" charset="-122"/>
                <a:cs typeface="Cambria" pitchFamily="34" charset="-120"/>
              </a:rPr>
              <a:t>Extract</a:t>
            </a:r>
            <a:endParaRPr lang="en-US" sz="1800" dirty="0"/>
          </a:p>
        </p:txBody>
      </p:sp>
      <p:sp>
        <p:nvSpPr>
          <p:cNvPr id="6" name="Text 4"/>
          <p:cNvSpPr txBox="1"/>
          <p:nvPr/>
        </p:nvSpPr>
        <p:spPr>
          <a:xfrm>
            <a:off x="1371600" y="1874520"/>
            <a:ext cx="4572000" cy="1737360"/>
          </a:xfrm>
          <a:prstGeom prst="rect">
            <a:avLst/>
          </a:prstGeom>
          <a:noFill/>
          <a:ln/>
        </p:spPr>
        <p:txBody>
          <a:bodyPr wrap="square" lIns="0" tIns="0" rIns="0" bIns="0" rtlCol="0" anchor="t"/>
          <a:lstStyle/>
          <a:p>
            <a:pPr indent="0" marL="0">
              <a:buNone/>
            </a:pPr>
            <a:r>
              <a:rPr lang="en-US" sz="1300" dirty="0">
                <a:solidFill>
                  <a:srgbClr val="2B0A3D"/>
                </a:solidFill>
                <a:latin typeface="Calibri" pitchFamily="34" charset="0"/>
                <a:ea typeface="Calibri" pitchFamily="34" charset="-122"/>
                <a:cs typeface="Calibri" pitchFamily="34" charset="-120"/>
              </a:rPr>
              <a:t>Parses the Form 3CD e-filing JSON - schema-resilient across different e-filing portal / utility export variants.</a:t>
            </a:r>
            <a:endParaRPr lang="en-US" sz="1300" dirty="0"/>
          </a:p>
        </p:txBody>
      </p:sp>
      <p:sp>
        <p:nvSpPr>
          <p:cNvPr id="7" name="Shape 5"/>
          <p:cNvSpPr/>
          <p:nvPr/>
        </p:nvSpPr>
        <p:spPr>
          <a:xfrm>
            <a:off x="6263640" y="1463040"/>
            <a:ext cx="640080" cy="640080"/>
          </a:xfrm>
          <a:prstGeom prst="ellipse">
            <a:avLst/>
          </a:prstGeom>
          <a:solidFill>
            <a:srgbClr val="4A148C"/>
          </a:solidFill>
          <a:ln/>
        </p:spPr>
      </p:sp>
      <p:sp>
        <p:nvSpPr>
          <p:cNvPr id="8" name="Text 6"/>
          <p:cNvSpPr txBox="1"/>
          <p:nvPr/>
        </p:nvSpPr>
        <p:spPr>
          <a:xfrm>
            <a:off x="6263640" y="1463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7086600" y="1417320"/>
            <a:ext cx="4572000" cy="457200"/>
          </a:xfrm>
          <a:prstGeom prst="rect">
            <a:avLst/>
          </a:prstGeom>
          <a:noFill/>
          <a:ln/>
        </p:spPr>
        <p:txBody>
          <a:bodyPr wrap="square" lIns="0" tIns="0" rIns="0" bIns="0" rtlCol="0" anchor="ctr"/>
          <a:lstStyle/>
          <a:p>
            <a:pPr indent="0" marL="0">
              <a:buNone/>
            </a:pPr>
            <a:r>
              <a:rPr lang="en-US" sz="1800" b="1" dirty="0">
                <a:solidFill>
                  <a:srgbClr val="4A148C"/>
                </a:solidFill>
                <a:latin typeface="Cambria" pitchFamily="34" charset="0"/>
                <a:ea typeface="Cambria" pitchFamily="34" charset="-122"/>
                <a:cs typeface="Cambria" pitchFamily="34" charset="-120"/>
              </a:rPr>
              <a:t>Cross-Reference</a:t>
            </a:r>
            <a:endParaRPr lang="en-US" sz="1800" dirty="0"/>
          </a:p>
        </p:txBody>
      </p:sp>
      <p:sp>
        <p:nvSpPr>
          <p:cNvPr id="10" name="Text 8"/>
          <p:cNvSpPr txBox="1"/>
          <p:nvPr/>
        </p:nvSpPr>
        <p:spPr>
          <a:xfrm>
            <a:off x="7086600" y="1874520"/>
            <a:ext cx="4572000" cy="1737360"/>
          </a:xfrm>
          <a:prstGeom prst="rect">
            <a:avLst/>
          </a:prstGeom>
          <a:noFill/>
          <a:ln/>
        </p:spPr>
        <p:txBody>
          <a:bodyPr wrap="square" lIns="0" tIns="0" rIns="0" bIns="0" rtlCol="0" anchor="t"/>
          <a:lstStyle/>
          <a:p>
            <a:pPr indent="0" marL="0">
              <a:buNone/>
            </a:pPr>
            <a:r>
              <a:rPr lang="en-US" sz="1300" dirty="0">
                <a:solidFill>
                  <a:srgbClr val="2B0A3D"/>
                </a:solidFill>
                <a:latin typeface="Calibri" pitchFamily="34" charset="0"/>
                <a:ea typeface="Calibri" pitchFamily="34" charset="-122"/>
                <a:cs typeface="Calibri" pitchFamily="34" charset="-120"/>
              </a:rPr>
              <a:t>Maps 14+ key financial figures plus all 44 clauses to their exact clause and sub-clause reference.</a:t>
            </a:r>
            <a:endParaRPr lang="en-US" sz="1300" dirty="0"/>
          </a:p>
        </p:txBody>
      </p:sp>
      <p:sp>
        <p:nvSpPr>
          <p:cNvPr id="11" name="Shape 9"/>
          <p:cNvSpPr/>
          <p:nvPr/>
        </p:nvSpPr>
        <p:spPr>
          <a:xfrm>
            <a:off x="548640" y="3886200"/>
            <a:ext cx="640080" cy="640080"/>
          </a:xfrm>
          <a:prstGeom prst="ellipse">
            <a:avLst/>
          </a:prstGeom>
          <a:solidFill>
            <a:srgbClr val="4A148C"/>
          </a:solidFill>
          <a:ln/>
        </p:spPr>
      </p:sp>
      <p:sp>
        <p:nvSpPr>
          <p:cNvPr id="12" name="Text 10"/>
          <p:cNvSpPr txBox="1"/>
          <p:nvPr/>
        </p:nvSpPr>
        <p:spPr>
          <a:xfrm>
            <a:off x="548640" y="3886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1371600" y="3840480"/>
            <a:ext cx="4572000" cy="457200"/>
          </a:xfrm>
          <a:prstGeom prst="rect">
            <a:avLst/>
          </a:prstGeom>
          <a:noFill/>
          <a:ln/>
        </p:spPr>
        <p:txBody>
          <a:bodyPr wrap="square" lIns="0" tIns="0" rIns="0" bIns="0" rtlCol="0" anchor="ctr"/>
          <a:lstStyle/>
          <a:p>
            <a:pPr indent="0" marL="0">
              <a:buNone/>
            </a:pPr>
            <a:r>
              <a:rPr lang="en-US" sz="1800" b="1" dirty="0">
                <a:solidFill>
                  <a:srgbClr val="4A148C"/>
                </a:solidFill>
                <a:latin typeface="Cambria" pitchFamily="34" charset="0"/>
                <a:ea typeface="Cambria" pitchFamily="34" charset="-122"/>
                <a:cs typeface="Cambria" pitchFamily="34" charset="-120"/>
              </a:rPr>
              <a:t>Compute</a:t>
            </a:r>
            <a:endParaRPr lang="en-US" sz="1800" dirty="0"/>
          </a:p>
        </p:txBody>
      </p:sp>
      <p:sp>
        <p:nvSpPr>
          <p:cNvPr id="14" name="Text 12"/>
          <p:cNvSpPr txBox="1"/>
          <p:nvPr/>
        </p:nvSpPr>
        <p:spPr>
          <a:xfrm>
            <a:off x="1371600" y="4297680"/>
            <a:ext cx="4572000" cy="1737360"/>
          </a:xfrm>
          <a:prstGeom prst="rect">
            <a:avLst/>
          </a:prstGeom>
          <a:noFill/>
          <a:ln/>
        </p:spPr>
        <p:txBody>
          <a:bodyPr wrap="square" lIns="0" tIns="0" rIns="0" bIns="0" rtlCol="0" anchor="t"/>
          <a:lstStyle/>
          <a:p>
            <a:pPr indent="0" marL="0">
              <a:buNone/>
            </a:pPr>
            <a:r>
              <a:rPr lang="en-US" sz="1300" dirty="0">
                <a:solidFill>
                  <a:srgbClr val="2B0A3D"/>
                </a:solidFill>
                <a:latin typeface="Calibri" pitchFamily="34" charset="0"/>
                <a:ea typeface="Calibri" pitchFamily="34" charset="-122"/>
                <a:cs typeface="Calibri" pitchFamily="34" charset="-120"/>
              </a:rPr>
              <a:t>Applies statutory rules automatically - 40(a)(i)/(ia) TDS disallowance, section 43B, MSME delay, gratuity, PF late-deposit.</a:t>
            </a:r>
            <a:endParaRPr lang="en-US" sz="1300" dirty="0"/>
          </a:p>
        </p:txBody>
      </p:sp>
      <p:sp>
        <p:nvSpPr>
          <p:cNvPr id="15" name="Shape 13"/>
          <p:cNvSpPr/>
          <p:nvPr/>
        </p:nvSpPr>
        <p:spPr>
          <a:xfrm>
            <a:off x="6263640" y="3886200"/>
            <a:ext cx="640080" cy="640080"/>
          </a:xfrm>
          <a:prstGeom prst="ellipse">
            <a:avLst/>
          </a:prstGeom>
          <a:solidFill>
            <a:srgbClr val="4A148C"/>
          </a:solidFill>
          <a:ln/>
        </p:spPr>
      </p:sp>
      <p:sp>
        <p:nvSpPr>
          <p:cNvPr id="16" name="Text 14"/>
          <p:cNvSpPr txBox="1"/>
          <p:nvPr/>
        </p:nvSpPr>
        <p:spPr>
          <a:xfrm>
            <a:off x="6263640" y="3886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7086600" y="3840480"/>
            <a:ext cx="4572000" cy="457200"/>
          </a:xfrm>
          <a:prstGeom prst="rect">
            <a:avLst/>
          </a:prstGeom>
          <a:noFill/>
          <a:ln/>
        </p:spPr>
        <p:txBody>
          <a:bodyPr wrap="square" lIns="0" tIns="0" rIns="0" bIns="0" rtlCol="0" anchor="ctr"/>
          <a:lstStyle/>
          <a:p>
            <a:pPr indent="0" marL="0">
              <a:buNone/>
            </a:pPr>
            <a:r>
              <a:rPr lang="en-US" sz="1800" b="1" dirty="0">
                <a:solidFill>
                  <a:srgbClr val="4A148C"/>
                </a:solidFill>
                <a:latin typeface="Cambria" pitchFamily="34" charset="0"/>
                <a:ea typeface="Cambria" pitchFamily="34" charset="-122"/>
                <a:cs typeface="Cambria" pitchFamily="34" charset="-120"/>
              </a:rPr>
              <a:t>Report</a:t>
            </a:r>
            <a:endParaRPr lang="en-US" sz="1800" dirty="0"/>
          </a:p>
        </p:txBody>
      </p:sp>
      <p:sp>
        <p:nvSpPr>
          <p:cNvPr id="18" name="Text 16"/>
          <p:cNvSpPr txBox="1"/>
          <p:nvPr/>
        </p:nvSpPr>
        <p:spPr>
          <a:xfrm>
            <a:off x="7086600" y="4297680"/>
            <a:ext cx="4572000" cy="1737360"/>
          </a:xfrm>
          <a:prstGeom prst="rect">
            <a:avLst/>
          </a:prstGeom>
          <a:noFill/>
          <a:ln/>
        </p:spPr>
        <p:txBody>
          <a:bodyPr wrap="square" lIns="0" tIns="0" rIns="0" bIns="0" rtlCol="0" anchor="t"/>
          <a:lstStyle/>
          <a:p>
            <a:pPr indent="0" marL="0">
              <a:buNone/>
            </a:pPr>
            <a:r>
              <a:rPr lang="en-US" sz="1300" dirty="0">
                <a:solidFill>
                  <a:srgbClr val="2B0A3D"/>
                </a:solidFill>
                <a:latin typeface="Calibri" pitchFamily="34" charset="0"/>
                <a:ea typeface="Calibri" pitchFamily="34" charset="-122"/>
                <a:cs typeface="Calibri" pitchFamily="34" charset="-120"/>
              </a:rPr>
              <a:t>Generates Excel, HTML, PDF and Word outputs - purple/white themed, Indian lakh/crore number formatting, Tax Head sign-off block.</a:t>
            </a:r>
            <a:endParaRPr lang="en-US" sz="1300" dirty="0"/>
          </a:p>
        </p:txBody>
      </p:sp>
      <p:sp>
        <p:nvSpPr>
          <p:cNvPr id="19" name="Text 17"/>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How It Works - Architecture</a:t>
            </a:r>
            <a:endParaRPr lang="en-US" sz="3200" dirty="0"/>
          </a:p>
        </p:txBody>
      </p:sp>
      <p:sp>
        <p:nvSpPr>
          <p:cNvPr id="3" name="Shape 1"/>
          <p:cNvSpPr/>
          <p:nvPr/>
        </p:nvSpPr>
        <p:spPr>
          <a:xfrm>
            <a:off x="548640" y="2880360"/>
            <a:ext cx="2011680" cy="1188720"/>
          </a:xfrm>
          <a:prstGeom prst="roundRect">
            <a:avLst>
              <a:gd name="adj" fmla="val 7692"/>
            </a:avLst>
          </a:prstGeom>
          <a:solidFill>
            <a:srgbClr val="F3E5F5"/>
          </a:solidFill>
          <a:ln w="15875">
            <a:solidFill>
              <a:srgbClr val="4A148C"/>
            </a:solidFill>
            <a:prstDash val="solid"/>
          </a:ln>
        </p:spPr>
      </p:sp>
      <p:sp>
        <p:nvSpPr>
          <p:cNvPr id="4" name="Text 2"/>
          <p:cNvSpPr txBox="1"/>
          <p:nvPr/>
        </p:nvSpPr>
        <p:spPr>
          <a:xfrm>
            <a:off x="548640" y="2880360"/>
            <a:ext cx="2011680" cy="1188720"/>
          </a:xfrm>
          <a:prstGeom prst="rect">
            <a:avLst/>
          </a:prstGeom>
          <a:noFill/>
          <a:ln/>
        </p:spPr>
        <p:txBody>
          <a:bodyPr wrap="square" lIns="0" tIns="0" rIns="0" bIns="0" rtlCol="0" anchor="ctr"/>
          <a:lstStyle/>
          <a:p>
            <a:pPr algn="ctr" indent="0" marL="0">
              <a:buNone/>
            </a:pPr>
            <a:r>
              <a:rPr lang="en-US" sz="1400" b="1" dirty="0">
                <a:solidFill>
                  <a:srgbClr val="4A148C"/>
                </a:solidFill>
                <a:latin typeface="Calibri" pitchFamily="34" charset="0"/>
                <a:ea typeface="Calibri" pitchFamily="34" charset="-122"/>
                <a:cs typeface="Calibri" pitchFamily="34" charset="-120"/>
              </a:rPr>
              <a:t>Form 3CD</a:t>
            </a:r>
            <a:endParaRPr lang="en-US" sz="1400" dirty="0"/>
          </a:p>
          <a:p>
            <a:pPr algn="ctr" indent="0" marL="0">
              <a:buNone/>
            </a:pPr>
            <a:r>
              <a:rPr lang="en-US" sz="1400" b="1" dirty="0">
                <a:solidFill>
                  <a:srgbClr val="4A148C"/>
                </a:solidFill>
                <a:latin typeface="Calibri" pitchFamily="34" charset="0"/>
                <a:ea typeface="Calibri" pitchFamily="34" charset="-122"/>
                <a:cs typeface="Calibri" pitchFamily="34" charset="-120"/>
              </a:rPr>
              <a:t>e-filing JSON</a:t>
            </a:r>
            <a:endParaRPr lang="en-US" sz="1400" dirty="0"/>
          </a:p>
        </p:txBody>
      </p:sp>
      <p:sp>
        <p:nvSpPr>
          <p:cNvPr id="5" name="Shape 3"/>
          <p:cNvSpPr/>
          <p:nvPr/>
        </p:nvSpPr>
        <p:spPr>
          <a:xfrm>
            <a:off x="2697480" y="3291840"/>
            <a:ext cx="594360" cy="365760"/>
          </a:xfrm>
          <a:prstGeom prst="rightArrow">
            <a:avLst/>
          </a:prstGeom>
          <a:solidFill>
            <a:srgbClr val="8E24AA"/>
          </a:solidFill>
          <a:ln/>
        </p:spPr>
      </p:sp>
      <p:sp>
        <p:nvSpPr>
          <p:cNvPr id="6" name="Shape 4"/>
          <p:cNvSpPr/>
          <p:nvPr/>
        </p:nvSpPr>
        <p:spPr>
          <a:xfrm>
            <a:off x="3429000" y="2514600"/>
            <a:ext cx="3566160" cy="1920240"/>
          </a:xfrm>
          <a:prstGeom prst="roundRect">
            <a:avLst>
              <a:gd name="adj" fmla="val 5714"/>
            </a:avLst>
          </a:prstGeom>
          <a:solidFill>
            <a:srgbClr val="4A148C"/>
          </a:solidFill>
          <a:ln/>
        </p:spPr>
      </p:sp>
      <p:sp>
        <p:nvSpPr>
          <p:cNvPr id="7" name="Text 5"/>
          <p:cNvSpPr txBox="1"/>
          <p:nvPr/>
        </p:nvSpPr>
        <p:spPr>
          <a:xfrm>
            <a:off x="3429000" y="2606040"/>
            <a:ext cx="356616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Extraction &amp;</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Rules Engine</a:t>
            </a:r>
            <a:endParaRPr lang="en-US" sz="1700" dirty="0"/>
          </a:p>
        </p:txBody>
      </p:sp>
      <p:sp>
        <p:nvSpPr>
          <p:cNvPr id="8" name="Text 6"/>
          <p:cNvSpPr txBox="1"/>
          <p:nvPr/>
        </p:nvSpPr>
        <p:spPr>
          <a:xfrm>
            <a:off x="3657600" y="3246120"/>
            <a:ext cx="3108960" cy="1097280"/>
          </a:xfrm>
          <a:prstGeom prst="rect">
            <a:avLst/>
          </a:prstGeom>
          <a:noFill/>
          <a:ln/>
        </p:spPr>
        <p:txBody>
          <a:bodyPr wrap="square" lIns="0" tIns="0" rIns="0" bIns="0" rtlCol="0" anchor="ctr"/>
          <a:lstStyle/>
          <a:p>
            <a:pPr marL="342900" indent="-342900">
              <a:buSzPct val="100000"/>
              <a:buChar char="•"/>
            </a:pPr>
            <a:r>
              <a:rPr lang="en-US" sz="1150" dirty="0">
                <a:solidFill>
                  <a:srgbClr val="F3E5F5"/>
                </a:solidFill>
                <a:latin typeface="Calibri" pitchFamily="34" charset="0"/>
                <a:ea typeface="Calibri" pitchFamily="34" charset="-122"/>
                <a:cs typeface="Calibri" pitchFamily="34" charset="-120"/>
              </a:rPr>
              <a:t>44-Clause Mapper</a:t>
            </a:r>
            <a:endParaRPr lang="en-US" sz="1150" dirty="0"/>
          </a:p>
          <a:p>
            <a:pPr marL="342900" indent="-342900">
              <a:buSzPct val="100000"/>
              <a:buChar char="•"/>
            </a:pPr>
            <a:r>
              <a:rPr lang="en-US" sz="1150" dirty="0">
                <a:solidFill>
                  <a:srgbClr val="F3E5F5"/>
                </a:solidFill>
                <a:latin typeface="Calibri" pitchFamily="34" charset="0"/>
                <a:ea typeface="Calibri" pitchFamily="34" charset="-122"/>
                <a:cs typeface="Calibri" pitchFamily="34" charset="-120"/>
              </a:rPr>
              <a:t>Statutory Disallowance Rules</a:t>
            </a:r>
            <a:endParaRPr lang="en-US" sz="1150" dirty="0"/>
          </a:p>
          <a:p>
            <a:pPr marL="342900" indent="-342900">
              <a:buSzPct val="100000"/>
              <a:buChar char="•"/>
            </a:pPr>
            <a:r>
              <a:rPr lang="en-US" sz="1150" dirty="0">
                <a:solidFill>
                  <a:srgbClr val="F3E5F5"/>
                </a:solidFill>
                <a:latin typeface="Calibri" pitchFamily="34" charset="0"/>
                <a:ea typeface="Calibri" pitchFamily="34" charset="-122"/>
                <a:cs typeface="Calibri" pitchFamily="34" charset="-120"/>
              </a:rPr>
              <a:t>Indian Number Formatter</a:t>
            </a:r>
            <a:endParaRPr lang="en-US" sz="1150" dirty="0"/>
          </a:p>
          <a:p>
            <a:pPr marL="342900" indent="-342900">
              <a:buSzPct val="100000"/>
              <a:buChar char="•"/>
            </a:pPr>
            <a:r>
              <a:rPr lang="en-US" sz="1150" dirty="0">
                <a:solidFill>
                  <a:srgbClr val="F3E5F5"/>
                </a:solidFill>
                <a:latin typeface="Calibri" pitchFamily="34" charset="0"/>
                <a:ea typeface="Calibri" pitchFamily="34" charset="-122"/>
                <a:cs typeface="Calibri" pitchFamily="34" charset="-120"/>
              </a:rPr>
              <a:t>Indicative Tax Estimator</a:t>
            </a:r>
            <a:endParaRPr lang="en-US" sz="1150" dirty="0"/>
          </a:p>
        </p:txBody>
      </p:sp>
      <p:sp>
        <p:nvSpPr>
          <p:cNvPr id="9" name="Shape 7"/>
          <p:cNvSpPr/>
          <p:nvPr/>
        </p:nvSpPr>
        <p:spPr>
          <a:xfrm>
            <a:off x="7223760" y="3291840"/>
            <a:ext cx="594360" cy="365760"/>
          </a:xfrm>
          <a:prstGeom prst="rightArrow">
            <a:avLst/>
          </a:prstGeom>
          <a:solidFill>
            <a:srgbClr val="8E24AA"/>
          </a:solidFill>
          <a:ln/>
        </p:spPr>
      </p:sp>
      <p:sp>
        <p:nvSpPr>
          <p:cNvPr id="10" name="Shape 8"/>
          <p:cNvSpPr/>
          <p:nvPr/>
        </p:nvSpPr>
        <p:spPr>
          <a:xfrm>
            <a:off x="8092440" y="1691640"/>
            <a:ext cx="3520440" cy="914400"/>
          </a:xfrm>
          <a:prstGeom prst="roundRect">
            <a:avLst>
              <a:gd name="adj" fmla="val 8000"/>
            </a:avLst>
          </a:prstGeom>
          <a:solidFill>
            <a:srgbClr val="8E24AA"/>
          </a:solidFill>
          <a:ln/>
        </p:spPr>
      </p:sp>
      <p:sp>
        <p:nvSpPr>
          <p:cNvPr id="11" name="Text 9"/>
          <p:cNvSpPr txBox="1"/>
          <p:nvPr/>
        </p:nvSpPr>
        <p:spPr>
          <a:xfrm>
            <a:off x="8092440" y="1691640"/>
            <a:ext cx="35204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Excel</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Workbook</a:t>
            </a:r>
            <a:endParaRPr lang="en-US" sz="1400" dirty="0"/>
          </a:p>
        </p:txBody>
      </p:sp>
      <p:sp>
        <p:nvSpPr>
          <p:cNvPr id="12" name="Shape 10"/>
          <p:cNvSpPr/>
          <p:nvPr/>
        </p:nvSpPr>
        <p:spPr>
          <a:xfrm>
            <a:off x="8092440" y="2743200"/>
            <a:ext cx="3520440" cy="914400"/>
          </a:xfrm>
          <a:prstGeom prst="roundRect">
            <a:avLst>
              <a:gd name="adj" fmla="val 8000"/>
            </a:avLst>
          </a:prstGeom>
          <a:solidFill>
            <a:srgbClr val="8E24AA"/>
          </a:solidFill>
          <a:ln/>
        </p:spPr>
      </p:sp>
      <p:sp>
        <p:nvSpPr>
          <p:cNvPr id="13" name="Text 11"/>
          <p:cNvSpPr txBox="1"/>
          <p:nvPr/>
        </p:nvSpPr>
        <p:spPr>
          <a:xfrm>
            <a:off x="8092440" y="2743200"/>
            <a:ext cx="35204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HTML</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Dashboard</a:t>
            </a:r>
            <a:endParaRPr lang="en-US" sz="1400" dirty="0"/>
          </a:p>
        </p:txBody>
      </p:sp>
      <p:sp>
        <p:nvSpPr>
          <p:cNvPr id="14" name="Shape 12"/>
          <p:cNvSpPr/>
          <p:nvPr/>
        </p:nvSpPr>
        <p:spPr>
          <a:xfrm>
            <a:off x="8092440" y="3794760"/>
            <a:ext cx="3520440" cy="914400"/>
          </a:xfrm>
          <a:prstGeom prst="roundRect">
            <a:avLst>
              <a:gd name="adj" fmla="val 8000"/>
            </a:avLst>
          </a:prstGeom>
          <a:solidFill>
            <a:srgbClr val="8E24AA"/>
          </a:solidFill>
          <a:ln/>
        </p:spPr>
      </p:sp>
      <p:sp>
        <p:nvSpPr>
          <p:cNvPr id="15" name="Text 13"/>
          <p:cNvSpPr txBox="1"/>
          <p:nvPr/>
        </p:nvSpPr>
        <p:spPr>
          <a:xfrm>
            <a:off x="8092440" y="3794760"/>
            <a:ext cx="35204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PDF</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Report</a:t>
            </a:r>
            <a:endParaRPr lang="en-US" sz="1400" dirty="0"/>
          </a:p>
        </p:txBody>
      </p:sp>
      <p:sp>
        <p:nvSpPr>
          <p:cNvPr id="16" name="Shape 14"/>
          <p:cNvSpPr/>
          <p:nvPr/>
        </p:nvSpPr>
        <p:spPr>
          <a:xfrm>
            <a:off x="8092440" y="4846320"/>
            <a:ext cx="3520440" cy="914400"/>
          </a:xfrm>
          <a:prstGeom prst="roundRect">
            <a:avLst>
              <a:gd name="adj" fmla="val 8000"/>
            </a:avLst>
          </a:prstGeom>
          <a:solidFill>
            <a:srgbClr val="8E24AA"/>
          </a:solidFill>
          <a:ln/>
        </p:spPr>
      </p:sp>
      <p:sp>
        <p:nvSpPr>
          <p:cNvPr id="17" name="Text 15"/>
          <p:cNvSpPr txBox="1"/>
          <p:nvPr/>
        </p:nvSpPr>
        <p:spPr>
          <a:xfrm>
            <a:off x="8092440" y="4846320"/>
            <a:ext cx="35204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Word</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Report</a:t>
            </a:r>
            <a:endParaRPr lang="en-US" sz="1400" dirty="0"/>
          </a:p>
        </p:txBody>
      </p:sp>
      <p:sp>
        <p:nvSpPr>
          <p:cNvPr id="18" name="Text 16"/>
          <p:cNvSpPr txBox="1"/>
          <p:nvPr/>
        </p:nvSpPr>
        <p:spPr>
          <a:xfrm>
            <a:off x="8092440" y="5852160"/>
            <a:ext cx="3520440" cy="320040"/>
          </a:xfrm>
          <a:prstGeom prst="rect">
            <a:avLst/>
          </a:prstGeom>
          <a:noFill/>
          <a:ln/>
        </p:spPr>
        <p:txBody>
          <a:bodyPr wrap="square" lIns="0" tIns="0" rIns="0" bIns="0" rtlCol="0" anchor="ctr"/>
          <a:lstStyle/>
          <a:p>
            <a:pPr algn="ctr" indent="0" marL="0">
              <a:buNone/>
            </a:pPr>
            <a:r>
              <a:rPr lang="en-US" sz="1050" i="1" dirty="0">
                <a:solidFill>
                  <a:srgbClr val="6B6B6B"/>
                </a:solidFill>
                <a:latin typeface="Calibri" pitchFamily="34" charset="0"/>
                <a:ea typeface="Calibri" pitchFamily="34" charset="-122"/>
                <a:cs typeface="Calibri" pitchFamily="34" charset="-120"/>
              </a:rPr>
              <a:t>4 output formats, generated in one run</a:t>
            </a:r>
            <a:endParaRPr lang="en-US" sz="1050" dirty="0"/>
          </a:p>
        </p:txBody>
      </p:sp>
      <p:sp>
        <p:nvSpPr>
          <p:cNvPr id="19" name="Text 17"/>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Impact - Before vs After</a:t>
            </a:r>
            <a:endParaRPr lang="en-US" sz="3200" dirty="0"/>
          </a:p>
        </p:txBody>
      </p:sp>
      <p:sp>
        <p:nvSpPr>
          <p:cNvPr id="3" name="Shape 1"/>
          <p:cNvSpPr/>
          <p:nvPr/>
        </p:nvSpPr>
        <p:spPr>
          <a:xfrm>
            <a:off x="548640" y="1554480"/>
            <a:ext cx="4937760" cy="3931920"/>
          </a:xfrm>
          <a:prstGeom prst="roundRect">
            <a:avLst>
              <a:gd name="adj" fmla="val 2791"/>
            </a:avLst>
          </a:prstGeom>
          <a:solidFill>
            <a:srgbClr val="F3E5F5"/>
          </a:solidFill>
          <a:ln/>
        </p:spPr>
      </p:sp>
      <p:sp>
        <p:nvSpPr>
          <p:cNvPr id="4" name="Text 2"/>
          <p:cNvSpPr txBox="1"/>
          <p:nvPr/>
        </p:nvSpPr>
        <p:spPr>
          <a:xfrm>
            <a:off x="548640" y="1783080"/>
            <a:ext cx="4937760" cy="365760"/>
          </a:xfrm>
          <a:prstGeom prst="rect">
            <a:avLst/>
          </a:prstGeom>
          <a:noFill/>
          <a:ln/>
        </p:spPr>
        <p:txBody>
          <a:bodyPr wrap="square" lIns="0" tIns="0" rIns="0" bIns="0" rtlCol="0" anchor="ctr"/>
          <a:lstStyle/>
          <a:p>
            <a:pPr algn="ctr" indent="0" marL="0">
              <a:buNone/>
            </a:pPr>
            <a:r>
              <a:rPr lang="en-US" sz="1400" b="1" dirty="0">
                <a:solidFill>
                  <a:srgbClr val="8E24AA"/>
                </a:solidFill>
                <a:latin typeface="Calibri" pitchFamily="34" charset="0"/>
                <a:ea typeface="Calibri" pitchFamily="34" charset="-122"/>
                <a:cs typeface="Calibri" pitchFamily="34" charset="-120"/>
              </a:rPr>
              <a:t>BEFORE</a:t>
            </a:r>
            <a:endParaRPr lang="en-US" sz="1400" dirty="0"/>
          </a:p>
        </p:txBody>
      </p:sp>
      <p:sp>
        <p:nvSpPr>
          <p:cNvPr id="5" name="Text 3"/>
          <p:cNvSpPr txBox="1"/>
          <p:nvPr/>
        </p:nvSpPr>
        <p:spPr>
          <a:xfrm>
            <a:off x="548640" y="2148840"/>
            <a:ext cx="4937760" cy="1005840"/>
          </a:xfrm>
          <a:prstGeom prst="rect">
            <a:avLst/>
          </a:prstGeom>
          <a:noFill/>
          <a:ln/>
        </p:spPr>
        <p:txBody>
          <a:bodyPr wrap="square" lIns="0" tIns="0" rIns="0" bIns="0" rtlCol="0" anchor="ctr"/>
          <a:lstStyle/>
          <a:p>
            <a:pPr algn="ctr" indent="0" marL="0">
              <a:buNone/>
            </a:pPr>
            <a:r>
              <a:rPr lang="en-US" sz="5000" b="1" dirty="0">
                <a:solidFill>
                  <a:srgbClr val="4A148C"/>
                </a:solidFill>
                <a:latin typeface="Cambria" pitchFamily="34" charset="0"/>
                <a:ea typeface="Cambria" pitchFamily="34" charset="-122"/>
                <a:cs typeface="Cambria" pitchFamily="34" charset="-120"/>
              </a:rPr>
              <a:t>~2 hours</a:t>
            </a:r>
            <a:endParaRPr lang="en-US" sz="5000" dirty="0"/>
          </a:p>
        </p:txBody>
      </p:sp>
      <p:sp>
        <p:nvSpPr>
          <p:cNvPr id="6" name="Text 4"/>
          <p:cNvSpPr txBox="1"/>
          <p:nvPr/>
        </p:nvSpPr>
        <p:spPr>
          <a:xfrm>
            <a:off x="548640" y="3108960"/>
            <a:ext cx="4937760" cy="365760"/>
          </a:xfrm>
          <a:prstGeom prst="rect">
            <a:avLst/>
          </a:prstGeom>
          <a:noFill/>
          <a:ln/>
        </p:spPr>
        <p:txBody>
          <a:bodyPr wrap="square" lIns="0" tIns="0" rIns="0" bIns="0" rtlCol="0" anchor="ctr"/>
          <a:lstStyle/>
          <a:p>
            <a:pPr algn="ctr" indent="0" marL="0">
              <a:buNone/>
            </a:pPr>
            <a:r>
              <a:rPr lang="en-US" sz="1300" dirty="0">
                <a:solidFill>
                  <a:srgbClr val="2B0A3D"/>
                </a:solidFill>
                <a:latin typeface="Calibri" pitchFamily="34" charset="0"/>
                <a:ea typeface="Calibri" pitchFamily="34" charset="-122"/>
                <a:cs typeface="Calibri" pitchFamily="34" charset="-120"/>
              </a:rPr>
              <a:t>Manual Form 3CD review per audit</a:t>
            </a:r>
            <a:endParaRPr lang="en-US" sz="1300" dirty="0"/>
          </a:p>
        </p:txBody>
      </p:sp>
      <p:sp>
        <p:nvSpPr>
          <p:cNvPr id="7" name="Text 5"/>
          <p:cNvSpPr txBox="1"/>
          <p:nvPr/>
        </p:nvSpPr>
        <p:spPr>
          <a:xfrm>
            <a:off x="914400" y="3749040"/>
            <a:ext cx="4206240" cy="1554480"/>
          </a:xfrm>
          <a:prstGeom prst="rect">
            <a:avLst/>
          </a:prstGeom>
          <a:noFill/>
          <a:ln/>
        </p:spPr>
        <p:txBody>
          <a:bodyPr wrap="square" lIns="0" tIns="0" rIns="0" bIns="0" rtlCol="0" anchor="ctr"/>
          <a:lstStyle/>
          <a:p>
            <a:pPr marL="342900" indent="-342900">
              <a:buSzPct val="100000"/>
              <a:buChar char="✗"/>
            </a:pPr>
            <a:r>
              <a:rPr lang="en-US" sz="1250" dirty="0">
                <a:solidFill>
                  <a:srgbClr val="2B0A3D"/>
                </a:solidFill>
                <a:latin typeface="Calibri" pitchFamily="34" charset="0"/>
                <a:ea typeface="Calibri" pitchFamily="34" charset="-122"/>
                <a:cs typeface="Calibri" pitchFamily="34" charset="-120"/>
              </a:rPr>
              <a:t>Re-key figures clause by clause</a:t>
            </a:r>
            <a:endParaRPr lang="en-US" sz="1250" dirty="0"/>
          </a:p>
          <a:p>
            <a:pPr marL="342900" indent="-342900">
              <a:buSzPct val="100000"/>
              <a:buChar char="✗"/>
            </a:pPr>
            <a:r>
              <a:rPr lang="en-US" sz="1250" dirty="0">
                <a:solidFill>
                  <a:srgbClr val="2B0A3D"/>
                </a:solidFill>
                <a:latin typeface="Calibri" pitchFamily="34" charset="0"/>
                <a:ea typeface="Calibri" pitchFamily="34" charset="-122"/>
                <a:cs typeface="Calibri" pitchFamily="34" charset="-120"/>
              </a:rPr>
              <a:t>Manually apply 30%/100% TDS rules</a:t>
            </a:r>
            <a:endParaRPr lang="en-US" sz="1250" dirty="0"/>
          </a:p>
          <a:p>
            <a:pPr marL="342900" indent="-342900">
              <a:buSzPct val="100000"/>
              <a:buChar char="✗"/>
            </a:pPr>
            <a:r>
              <a:rPr lang="en-US" sz="1250" dirty="0">
                <a:solidFill>
                  <a:srgbClr val="2B0A3D"/>
                </a:solidFill>
                <a:latin typeface="Calibri" pitchFamily="34" charset="0"/>
                <a:ea typeface="Calibri" pitchFamily="34" charset="-122"/>
                <a:cs typeface="Calibri" pitchFamily="34" charset="-120"/>
              </a:rPr>
              <a:t>Build the computation draft from scratch</a:t>
            </a:r>
            <a:endParaRPr lang="en-US" sz="1250" dirty="0"/>
          </a:p>
          <a:p>
            <a:pPr marL="342900" indent="-342900">
              <a:buSzPct val="100000"/>
              <a:buChar char="✗"/>
            </a:pPr>
            <a:r>
              <a:rPr lang="en-US" sz="1250" dirty="0">
                <a:solidFill>
                  <a:srgbClr val="2B0A3D"/>
                </a:solidFill>
                <a:latin typeface="Calibri" pitchFamily="34" charset="0"/>
                <a:ea typeface="Calibri" pitchFamily="34" charset="-122"/>
                <a:cs typeface="Calibri" pitchFamily="34" charset="-120"/>
              </a:rPr>
              <a:t>No structured audit trail</a:t>
            </a:r>
            <a:endParaRPr lang="en-US" sz="1250" dirty="0"/>
          </a:p>
        </p:txBody>
      </p:sp>
      <p:sp>
        <p:nvSpPr>
          <p:cNvPr id="8" name="Shape 6"/>
          <p:cNvSpPr/>
          <p:nvPr/>
        </p:nvSpPr>
        <p:spPr>
          <a:xfrm>
            <a:off x="5715000" y="3108960"/>
            <a:ext cx="777240" cy="777240"/>
          </a:xfrm>
          <a:prstGeom prst="ellipse">
            <a:avLst/>
          </a:prstGeom>
          <a:solidFill>
            <a:srgbClr val="FFB300"/>
          </a:solidFill>
          <a:ln/>
        </p:spPr>
      </p:sp>
      <p:sp>
        <p:nvSpPr>
          <p:cNvPr id="9" name="Text 7"/>
          <p:cNvSpPr txBox="1"/>
          <p:nvPr/>
        </p:nvSpPr>
        <p:spPr>
          <a:xfrm>
            <a:off x="5715000" y="3108960"/>
            <a:ext cx="777240" cy="777240"/>
          </a:xfrm>
          <a:prstGeom prst="rect">
            <a:avLst/>
          </a:prstGeom>
          <a:noFill/>
          <a:ln/>
        </p:spPr>
        <p:txBody>
          <a:bodyPr wrap="square" lIns="0" tIns="0" rIns="0" bIns="0" rtlCol="0" anchor="ctr"/>
          <a:lstStyle/>
          <a:p>
            <a:pPr algn="ctr" indent="0" marL="0">
              <a:buNone/>
            </a:pPr>
            <a:r>
              <a:rPr lang="en-US" sz="1500" b="1" dirty="0">
                <a:solidFill>
                  <a:srgbClr val="4A148C"/>
                </a:solidFill>
                <a:latin typeface="Cambria" pitchFamily="34" charset="0"/>
                <a:ea typeface="Cambria" pitchFamily="34" charset="-122"/>
                <a:cs typeface="Cambria" pitchFamily="34" charset="-120"/>
              </a:rPr>
              <a:t>VS</a:t>
            </a:r>
            <a:endParaRPr lang="en-US" sz="1500" dirty="0"/>
          </a:p>
        </p:txBody>
      </p:sp>
      <p:sp>
        <p:nvSpPr>
          <p:cNvPr id="10" name="Shape 8"/>
          <p:cNvSpPr/>
          <p:nvPr/>
        </p:nvSpPr>
        <p:spPr>
          <a:xfrm>
            <a:off x="6720840" y="1554480"/>
            <a:ext cx="4937760" cy="3931920"/>
          </a:xfrm>
          <a:prstGeom prst="roundRect">
            <a:avLst>
              <a:gd name="adj" fmla="val 2791"/>
            </a:avLst>
          </a:prstGeom>
          <a:solidFill>
            <a:srgbClr val="4A148C"/>
          </a:solidFill>
          <a:ln/>
        </p:spPr>
      </p:sp>
      <p:sp>
        <p:nvSpPr>
          <p:cNvPr id="11" name="Text 9"/>
          <p:cNvSpPr txBox="1"/>
          <p:nvPr/>
        </p:nvSpPr>
        <p:spPr>
          <a:xfrm>
            <a:off x="6720840" y="1783080"/>
            <a:ext cx="4937760" cy="365760"/>
          </a:xfrm>
          <a:prstGeom prst="rect">
            <a:avLst/>
          </a:prstGeom>
          <a:noFill/>
          <a:ln/>
        </p:spPr>
        <p:txBody>
          <a:bodyPr wrap="square" lIns="0" tIns="0" rIns="0" bIns="0" rtlCol="0" anchor="ctr"/>
          <a:lstStyle/>
          <a:p>
            <a:pPr algn="ctr" indent="0" marL="0">
              <a:buNone/>
            </a:pPr>
            <a:r>
              <a:rPr lang="en-US" sz="1400" b="1" dirty="0">
                <a:solidFill>
                  <a:srgbClr val="FFB300"/>
                </a:solidFill>
                <a:latin typeface="Calibri" pitchFamily="34" charset="0"/>
                <a:ea typeface="Calibri" pitchFamily="34" charset="-122"/>
                <a:cs typeface="Calibri" pitchFamily="34" charset="-120"/>
              </a:rPr>
              <a:t>AFTER</a:t>
            </a:r>
            <a:endParaRPr lang="en-US" sz="1400" dirty="0"/>
          </a:p>
        </p:txBody>
      </p:sp>
      <p:sp>
        <p:nvSpPr>
          <p:cNvPr id="12" name="Text 10"/>
          <p:cNvSpPr txBox="1"/>
          <p:nvPr/>
        </p:nvSpPr>
        <p:spPr>
          <a:xfrm>
            <a:off x="6720840" y="2148840"/>
            <a:ext cx="4937760" cy="100584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~5 minutes</a:t>
            </a:r>
            <a:endParaRPr lang="en-US" sz="5000" dirty="0"/>
          </a:p>
        </p:txBody>
      </p:sp>
      <p:sp>
        <p:nvSpPr>
          <p:cNvPr id="13" name="Text 11"/>
          <p:cNvSpPr txBox="1"/>
          <p:nvPr/>
        </p:nvSpPr>
        <p:spPr>
          <a:xfrm>
            <a:off x="6720840" y="3108960"/>
            <a:ext cx="4937760" cy="365760"/>
          </a:xfrm>
          <a:prstGeom prst="rect">
            <a:avLst/>
          </a:prstGeom>
          <a:noFill/>
          <a:ln/>
        </p:spPr>
        <p:txBody>
          <a:bodyPr wrap="square" lIns="0" tIns="0" rIns="0" bIns="0" rtlCol="0" anchor="ctr"/>
          <a:lstStyle/>
          <a:p>
            <a:pPr algn="ctr" indent="0" marL="0">
              <a:buNone/>
            </a:pPr>
            <a:r>
              <a:rPr lang="en-US" sz="1300" dirty="0">
                <a:solidFill>
                  <a:srgbClr val="F3E5F5"/>
                </a:solidFill>
                <a:latin typeface="Calibri" pitchFamily="34" charset="0"/>
                <a:ea typeface="Calibri" pitchFamily="34" charset="-122"/>
                <a:cs typeface="Calibri" pitchFamily="34" charset="-120"/>
              </a:rPr>
              <a:t>Review via this tool, per audit</a:t>
            </a:r>
            <a:endParaRPr lang="en-US" sz="1300" dirty="0"/>
          </a:p>
        </p:txBody>
      </p:sp>
      <p:sp>
        <p:nvSpPr>
          <p:cNvPr id="14" name="Text 12"/>
          <p:cNvSpPr txBox="1"/>
          <p:nvPr/>
        </p:nvSpPr>
        <p:spPr>
          <a:xfrm>
            <a:off x="7086600" y="3749040"/>
            <a:ext cx="4206240" cy="1554480"/>
          </a:xfrm>
          <a:prstGeom prst="rect">
            <a:avLst/>
          </a:prstGeom>
          <a:noFill/>
          <a:ln/>
        </p:spPr>
        <p:txBody>
          <a:bodyPr wrap="square" lIns="0" tIns="0" rIns="0" bIns="0" rtlCol="0" anchor="ctr"/>
          <a:lstStyle/>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Drop the JSON, tick output formats</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Disallowances computed automatically</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Computation draft pre-built with FS placeholders</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Sign-off block ready for the Tax Head</a:t>
            </a:r>
            <a:endParaRPr lang="en-US" sz="1250" dirty="0"/>
          </a:p>
        </p:txBody>
      </p:sp>
      <p:sp>
        <p:nvSpPr>
          <p:cNvPr id="15" name="Shape 13"/>
          <p:cNvSpPr/>
          <p:nvPr/>
        </p:nvSpPr>
        <p:spPr>
          <a:xfrm>
            <a:off x="4480560" y="5623560"/>
            <a:ext cx="3200400" cy="502920"/>
          </a:xfrm>
          <a:prstGeom prst="roundRect">
            <a:avLst>
              <a:gd name="adj" fmla="val 50909"/>
            </a:avLst>
          </a:prstGeom>
          <a:solidFill>
            <a:srgbClr val="FFB300"/>
          </a:solidFill>
          <a:ln/>
        </p:spPr>
      </p:sp>
      <p:sp>
        <p:nvSpPr>
          <p:cNvPr id="16" name="Text 14"/>
          <p:cNvSpPr txBox="1"/>
          <p:nvPr/>
        </p:nvSpPr>
        <p:spPr>
          <a:xfrm>
            <a:off x="4480560" y="5623560"/>
            <a:ext cx="3200400" cy="502920"/>
          </a:xfrm>
          <a:prstGeom prst="rect">
            <a:avLst/>
          </a:prstGeom>
          <a:noFill/>
          <a:ln/>
        </p:spPr>
        <p:txBody>
          <a:bodyPr wrap="square" lIns="0" tIns="0" rIns="0" bIns="0" rtlCol="0" anchor="ctr"/>
          <a:lstStyle/>
          <a:p>
            <a:pPr algn="ctr" indent="0" marL="0">
              <a:buNone/>
            </a:pPr>
            <a:r>
              <a:rPr lang="en-US" sz="1300" b="1" dirty="0">
                <a:solidFill>
                  <a:srgbClr val="4A148C"/>
                </a:solidFill>
                <a:latin typeface="Calibri" pitchFamily="34" charset="0"/>
                <a:ea typeface="Calibri" pitchFamily="34" charset="-122"/>
                <a:cs typeface="Calibri" pitchFamily="34" charset="-120"/>
              </a:rPr>
              <a:t>~96% less manual review time</a:t>
            </a:r>
            <a:endParaRPr lang="en-US" sz="1300" dirty="0"/>
          </a:p>
        </p:txBody>
      </p:sp>
      <p:sp>
        <p:nvSpPr>
          <p:cNvPr id="17" name="Text 15"/>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The Interface</a:t>
            </a:r>
            <a:endParaRPr lang="en-US" sz="3200" dirty="0"/>
          </a:p>
        </p:txBody>
      </p:sp>
      <p:sp>
        <p:nvSpPr>
          <p:cNvPr id="3" name="Shape 1"/>
          <p:cNvSpPr/>
          <p:nvPr/>
        </p:nvSpPr>
        <p:spPr>
          <a:xfrm>
            <a:off x="1280160" y="1234440"/>
            <a:ext cx="9601200" cy="5212080"/>
          </a:xfrm>
          <a:prstGeom prst="roundRect">
            <a:avLst>
              <a:gd name="adj" fmla="val 1053"/>
            </a:avLst>
          </a:prstGeom>
          <a:solidFill>
            <a:srgbClr val="FFFFFF"/>
          </a:solidFill>
          <a:ln w="12700">
            <a:solidFill>
              <a:srgbClr val="CCCCCC"/>
            </a:solidFill>
            <a:prstDash val="solid"/>
          </a:ln>
          <a:effectLst>
            <a:outerShdw sx="100000" sy="100000" kx="0" ky="0" algn="bl" rotWithShape="0" blurRad="101600" dist="38100" dir="5400000">
              <a:srgbClr val="000000">
                <a:alpha val="25000"/>
              </a:srgbClr>
            </a:outerShdw>
          </a:effectLst>
        </p:spPr>
      </p:sp>
      <p:sp>
        <p:nvSpPr>
          <p:cNvPr id="4" name="Shape 2"/>
          <p:cNvSpPr/>
          <p:nvPr/>
        </p:nvSpPr>
        <p:spPr>
          <a:xfrm>
            <a:off x="1280160" y="1234440"/>
            <a:ext cx="9601200" cy="777240"/>
          </a:xfrm>
          <a:prstGeom prst="rect">
            <a:avLst/>
          </a:prstGeom>
          <a:solidFill>
            <a:srgbClr val="4A148C"/>
          </a:solidFill>
          <a:ln/>
        </p:spPr>
      </p:sp>
      <p:sp>
        <p:nvSpPr>
          <p:cNvPr id="5" name="Text 3"/>
          <p:cNvSpPr txBox="1"/>
          <p:nvPr/>
        </p:nvSpPr>
        <p:spPr>
          <a:xfrm>
            <a:off x="1508760" y="1325880"/>
            <a:ext cx="9144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Form 3CD Tax Audit Analyzer</a:t>
            </a:r>
            <a:endParaRPr lang="en-US" sz="1600" dirty="0"/>
          </a:p>
        </p:txBody>
      </p:sp>
      <p:sp>
        <p:nvSpPr>
          <p:cNvPr id="6" name="Text 4"/>
          <p:cNvSpPr txBox="1"/>
          <p:nvPr/>
        </p:nvSpPr>
        <p:spPr>
          <a:xfrm>
            <a:off x="1508760" y="1691640"/>
            <a:ext cx="9144000" cy="274320"/>
          </a:xfrm>
          <a:prstGeom prst="rect">
            <a:avLst/>
          </a:prstGeom>
          <a:noFill/>
          <a:ln/>
        </p:spPr>
        <p:txBody>
          <a:bodyPr wrap="square" lIns="0" tIns="0" rIns="0" bIns="0" rtlCol="0" anchor="ctr"/>
          <a:lstStyle/>
          <a:p>
            <a:pPr indent="0" marL="0">
              <a:buNone/>
            </a:pPr>
            <a:r>
              <a:rPr lang="en-US" sz="950" dirty="0">
                <a:solidFill>
                  <a:srgbClr val="F3E5F5"/>
                </a:solidFill>
                <a:latin typeface="Calibri" pitchFamily="34" charset="0"/>
                <a:ea typeface="Calibri" pitchFamily="34" charset="-122"/>
                <a:cs typeface="Calibri" pitchFamily="34" charset="-120"/>
              </a:rPr>
              <a:t>Clause-referenced financial summary, 44-clause dashboard and tax computation draft from a Form 3CD JSON</a:t>
            </a:r>
            <a:endParaRPr lang="en-US" sz="950" dirty="0"/>
          </a:p>
        </p:txBody>
      </p:sp>
      <p:sp>
        <p:nvSpPr>
          <p:cNvPr id="7" name="Text 5"/>
          <p:cNvSpPr txBox="1"/>
          <p:nvPr/>
        </p:nvSpPr>
        <p:spPr>
          <a:xfrm>
            <a:off x="1554480" y="2011680"/>
            <a:ext cx="9052560" cy="228600"/>
          </a:xfrm>
          <a:prstGeom prst="rect">
            <a:avLst/>
          </a:prstGeom>
          <a:noFill/>
          <a:ln/>
        </p:spPr>
        <p:txBody>
          <a:bodyPr wrap="square" lIns="0" tIns="0" rIns="0" bIns="0" rtlCol="0" anchor="ctr"/>
          <a:lstStyle/>
          <a:p>
            <a:pPr indent="0" marL="0">
              <a:buNone/>
            </a:pPr>
            <a:r>
              <a:rPr lang="en-US" sz="1150" b="1" dirty="0">
                <a:solidFill>
                  <a:srgbClr val="4A148C"/>
                </a:solidFill>
                <a:latin typeface="Calibri" pitchFamily="34" charset="0"/>
                <a:ea typeface="Calibri" pitchFamily="34" charset="-122"/>
                <a:cs typeface="Calibri" pitchFamily="34" charset="-120"/>
              </a:rPr>
              <a:t>1.  Form 3CD JSON file(s)</a:t>
            </a:r>
            <a:endParaRPr lang="en-US" sz="1150" dirty="0"/>
          </a:p>
        </p:txBody>
      </p:sp>
      <p:sp>
        <p:nvSpPr>
          <p:cNvPr id="8" name="Shape 6"/>
          <p:cNvSpPr/>
          <p:nvPr/>
        </p:nvSpPr>
        <p:spPr>
          <a:xfrm>
            <a:off x="1554480" y="2286000"/>
            <a:ext cx="9052560" cy="457200"/>
          </a:xfrm>
          <a:prstGeom prst="rect">
            <a:avLst/>
          </a:prstGeom>
          <a:solidFill>
            <a:srgbClr val="FFFFFF"/>
          </a:solidFill>
          <a:ln w="12700">
            <a:solidFill>
              <a:srgbClr val="8E24AA"/>
            </a:solidFill>
            <a:prstDash val="solid"/>
          </a:ln>
        </p:spPr>
      </p:sp>
      <p:sp>
        <p:nvSpPr>
          <p:cNvPr id="9" name="Text 7"/>
          <p:cNvSpPr txBox="1"/>
          <p:nvPr/>
        </p:nvSpPr>
        <p:spPr>
          <a:xfrm>
            <a:off x="1645920" y="2359152"/>
            <a:ext cx="8869680" cy="274320"/>
          </a:xfrm>
          <a:prstGeom prst="rect">
            <a:avLst/>
          </a:prstGeom>
          <a:noFill/>
          <a:ln/>
        </p:spPr>
        <p:txBody>
          <a:bodyPr wrap="square" lIns="0" tIns="0" rIns="0" bIns="0" rtlCol="0" anchor="ctr"/>
          <a:lstStyle/>
          <a:p>
            <a:pPr indent="0" marL="0">
              <a:buNone/>
            </a:pPr>
            <a:r>
              <a:rPr lang="en-US" sz="950" dirty="0">
                <a:solidFill>
                  <a:srgbClr val="2B0A3D"/>
                </a:solidFill>
                <a:latin typeface="Calibri" pitchFamily="34" charset="0"/>
                <a:ea typeface="Calibri" pitchFamily="34" charset="-122"/>
                <a:cs typeface="Calibri" pitchFamily="34" charset="-120"/>
              </a:rPr>
              <a:t>demo_form3cd_synthetic.json</a:t>
            </a:r>
            <a:endParaRPr lang="en-US" sz="950" dirty="0"/>
          </a:p>
        </p:txBody>
      </p:sp>
      <p:sp>
        <p:nvSpPr>
          <p:cNvPr id="10" name="Shape 8"/>
          <p:cNvSpPr/>
          <p:nvPr/>
        </p:nvSpPr>
        <p:spPr>
          <a:xfrm>
            <a:off x="1554480" y="2880360"/>
            <a:ext cx="1554480" cy="274320"/>
          </a:xfrm>
          <a:prstGeom prst="roundRect">
            <a:avLst>
              <a:gd name="adj" fmla="val 20000"/>
            </a:avLst>
          </a:prstGeom>
          <a:solidFill>
            <a:srgbClr val="4A148C"/>
          </a:solidFill>
          <a:ln w="12700">
            <a:solidFill>
              <a:srgbClr val="4A148C"/>
            </a:solidFill>
            <a:prstDash val="solid"/>
          </a:ln>
        </p:spPr>
      </p:sp>
      <p:sp>
        <p:nvSpPr>
          <p:cNvPr id="11" name="Text 9"/>
          <p:cNvSpPr txBox="1"/>
          <p:nvPr/>
        </p:nvSpPr>
        <p:spPr>
          <a:xfrm>
            <a:off x="1554480" y="288036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 File(s)...</a:t>
            </a:r>
            <a:endParaRPr lang="en-US" sz="900" dirty="0"/>
          </a:p>
        </p:txBody>
      </p:sp>
      <p:sp>
        <p:nvSpPr>
          <p:cNvPr id="12" name="Shape 10"/>
          <p:cNvSpPr/>
          <p:nvPr/>
        </p:nvSpPr>
        <p:spPr>
          <a:xfrm>
            <a:off x="3246120" y="2880360"/>
            <a:ext cx="1554480" cy="274320"/>
          </a:xfrm>
          <a:prstGeom prst="roundRect">
            <a:avLst>
              <a:gd name="adj" fmla="val 20000"/>
            </a:avLst>
          </a:prstGeom>
          <a:solidFill>
            <a:srgbClr val="FFFFFF"/>
          </a:solidFill>
          <a:ln w="12700">
            <a:solidFill>
              <a:srgbClr val="4A148C"/>
            </a:solidFill>
            <a:prstDash val="solid"/>
          </a:ln>
        </p:spPr>
      </p:sp>
      <p:sp>
        <p:nvSpPr>
          <p:cNvPr id="13" name="Text 11"/>
          <p:cNvSpPr txBox="1"/>
          <p:nvPr/>
        </p:nvSpPr>
        <p:spPr>
          <a:xfrm>
            <a:off x="3246120" y="2880360"/>
            <a:ext cx="1554480" cy="274320"/>
          </a:xfrm>
          <a:prstGeom prst="rect">
            <a:avLst/>
          </a:prstGeom>
          <a:noFill/>
          <a:ln/>
        </p:spPr>
        <p:txBody>
          <a:bodyPr wrap="square" lIns="0" tIns="0" rIns="0" bIns="0" rtlCol="0" anchor="ctr"/>
          <a:lstStyle/>
          <a:p>
            <a:pPr algn="ctr" indent="0" marL="0">
              <a:buNone/>
            </a:pPr>
            <a:r>
              <a:rPr lang="en-US" sz="900" dirty="0">
                <a:solidFill>
                  <a:srgbClr val="4A148C"/>
                </a:solidFill>
                <a:latin typeface="Calibri" pitchFamily="34" charset="0"/>
                <a:ea typeface="Calibri" pitchFamily="34" charset="-122"/>
                <a:cs typeface="Calibri" pitchFamily="34" charset="-120"/>
              </a:rPr>
              <a:t>Remove Selected</a:t>
            </a:r>
            <a:endParaRPr lang="en-US" sz="900" dirty="0"/>
          </a:p>
        </p:txBody>
      </p:sp>
      <p:sp>
        <p:nvSpPr>
          <p:cNvPr id="14" name="Shape 12"/>
          <p:cNvSpPr/>
          <p:nvPr/>
        </p:nvSpPr>
        <p:spPr>
          <a:xfrm>
            <a:off x="4937760" y="2880360"/>
            <a:ext cx="1554480" cy="274320"/>
          </a:xfrm>
          <a:prstGeom prst="roundRect">
            <a:avLst>
              <a:gd name="adj" fmla="val 20000"/>
            </a:avLst>
          </a:prstGeom>
          <a:solidFill>
            <a:srgbClr val="FFFFFF"/>
          </a:solidFill>
          <a:ln w="12700">
            <a:solidFill>
              <a:srgbClr val="4A148C"/>
            </a:solidFill>
            <a:prstDash val="solid"/>
          </a:ln>
        </p:spPr>
      </p:sp>
      <p:sp>
        <p:nvSpPr>
          <p:cNvPr id="15" name="Text 13"/>
          <p:cNvSpPr txBox="1"/>
          <p:nvPr/>
        </p:nvSpPr>
        <p:spPr>
          <a:xfrm>
            <a:off x="4937760" y="2880360"/>
            <a:ext cx="1554480" cy="274320"/>
          </a:xfrm>
          <a:prstGeom prst="rect">
            <a:avLst/>
          </a:prstGeom>
          <a:noFill/>
          <a:ln/>
        </p:spPr>
        <p:txBody>
          <a:bodyPr wrap="square" lIns="0" tIns="0" rIns="0" bIns="0" rtlCol="0" anchor="ctr"/>
          <a:lstStyle/>
          <a:p>
            <a:pPr algn="ctr" indent="0" marL="0">
              <a:buNone/>
            </a:pPr>
            <a:r>
              <a:rPr lang="en-US" sz="900" dirty="0">
                <a:solidFill>
                  <a:srgbClr val="4A148C"/>
                </a:solidFill>
                <a:latin typeface="Calibri" pitchFamily="34" charset="0"/>
                <a:ea typeface="Calibri" pitchFamily="34" charset="-122"/>
                <a:cs typeface="Calibri" pitchFamily="34" charset="-120"/>
              </a:rPr>
              <a:t>Clear All</a:t>
            </a:r>
            <a:endParaRPr lang="en-US" sz="900" dirty="0"/>
          </a:p>
        </p:txBody>
      </p:sp>
      <p:sp>
        <p:nvSpPr>
          <p:cNvPr id="16" name="Text 14"/>
          <p:cNvSpPr txBox="1"/>
          <p:nvPr/>
        </p:nvSpPr>
        <p:spPr>
          <a:xfrm>
            <a:off x="1554480" y="3291840"/>
            <a:ext cx="9052560" cy="228600"/>
          </a:xfrm>
          <a:prstGeom prst="rect">
            <a:avLst/>
          </a:prstGeom>
          <a:noFill/>
          <a:ln/>
        </p:spPr>
        <p:txBody>
          <a:bodyPr wrap="square" lIns="0" tIns="0" rIns="0" bIns="0" rtlCol="0" anchor="ctr"/>
          <a:lstStyle/>
          <a:p>
            <a:pPr indent="0" marL="0">
              <a:buNone/>
            </a:pPr>
            <a:r>
              <a:rPr lang="en-US" sz="1150" b="1" dirty="0">
                <a:solidFill>
                  <a:srgbClr val="4A148C"/>
                </a:solidFill>
                <a:latin typeface="Calibri" pitchFamily="34" charset="0"/>
                <a:ea typeface="Calibri" pitchFamily="34" charset="-122"/>
                <a:cs typeface="Calibri" pitchFamily="34" charset="-120"/>
              </a:rPr>
              <a:t>2.  Output format(s)</a:t>
            </a:r>
            <a:endParaRPr lang="en-US" sz="1150" dirty="0"/>
          </a:p>
        </p:txBody>
      </p:sp>
      <p:sp>
        <p:nvSpPr>
          <p:cNvPr id="17" name="Shape 15"/>
          <p:cNvSpPr/>
          <p:nvPr/>
        </p:nvSpPr>
        <p:spPr>
          <a:xfrm>
            <a:off x="1554480" y="3575304"/>
            <a:ext cx="146304" cy="146304"/>
          </a:xfrm>
          <a:prstGeom prst="rect">
            <a:avLst/>
          </a:prstGeom>
          <a:solidFill>
            <a:srgbClr val="4A148C"/>
          </a:solidFill>
          <a:ln w="12700">
            <a:solidFill>
              <a:srgbClr val="4A148C"/>
            </a:solidFill>
            <a:prstDash val="solid"/>
          </a:ln>
        </p:spPr>
      </p:sp>
      <p:sp>
        <p:nvSpPr>
          <p:cNvPr id="18" name="Text 16"/>
          <p:cNvSpPr txBox="1"/>
          <p:nvPr/>
        </p:nvSpPr>
        <p:spPr>
          <a:xfrm>
            <a:off x="1783080" y="3520440"/>
            <a:ext cx="2011680" cy="256032"/>
          </a:xfrm>
          <a:prstGeom prst="rect">
            <a:avLst/>
          </a:prstGeom>
          <a:noFill/>
          <a:ln/>
        </p:spPr>
        <p:txBody>
          <a:bodyPr wrap="square" lIns="0" tIns="0" rIns="0" bIns="0" rtlCol="0" anchor="ctr"/>
          <a:lstStyle/>
          <a:p>
            <a:pPr indent="0" marL="0">
              <a:buNone/>
            </a:pPr>
            <a:r>
              <a:rPr lang="en-US" sz="950" dirty="0">
                <a:solidFill>
                  <a:srgbClr val="2B0A3D"/>
                </a:solidFill>
                <a:latin typeface="Calibri" pitchFamily="34" charset="0"/>
                <a:ea typeface="Calibri" pitchFamily="34" charset="-122"/>
                <a:cs typeface="Calibri" pitchFamily="34" charset="-120"/>
              </a:rPr>
              <a:t>Excel workbook</a:t>
            </a:r>
            <a:endParaRPr lang="en-US" sz="950" dirty="0"/>
          </a:p>
        </p:txBody>
      </p:sp>
      <p:sp>
        <p:nvSpPr>
          <p:cNvPr id="19" name="Shape 17"/>
          <p:cNvSpPr/>
          <p:nvPr/>
        </p:nvSpPr>
        <p:spPr>
          <a:xfrm>
            <a:off x="3840480" y="3575304"/>
            <a:ext cx="146304" cy="146304"/>
          </a:xfrm>
          <a:prstGeom prst="rect">
            <a:avLst/>
          </a:prstGeom>
          <a:solidFill>
            <a:srgbClr val="4A148C"/>
          </a:solidFill>
          <a:ln w="12700">
            <a:solidFill>
              <a:srgbClr val="4A148C"/>
            </a:solidFill>
            <a:prstDash val="solid"/>
          </a:ln>
        </p:spPr>
      </p:sp>
      <p:sp>
        <p:nvSpPr>
          <p:cNvPr id="20" name="Text 18"/>
          <p:cNvSpPr txBox="1"/>
          <p:nvPr/>
        </p:nvSpPr>
        <p:spPr>
          <a:xfrm>
            <a:off x="4069080" y="3520440"/>
            <a:ext cx="2011680" cy="256032"/>
          </a:xfrm>
          <a:prstGeom prst="rect">
            <a:avLst/>
          </a:prstGeom>
          <a:noFill/>
          <a:ln/>
        </p:spPr>
        <p:txBody>
          <a:bodyPr wrap="square" lIns="0" tIns="0" rIns="0" bIns="0" rtlCol="0" anchor="ctr"/>
          <a:lstStyle/>
          <a:p>
            <a:pPr indent="0" marL="0">
              <a:buNone/>
            </a:pPr>
            <a:r>
              <a:rPr lang="en-US" sz="950" dirty="0">
                <a:solidFill>
                  <a:srgbClr val="2B0A3D"/>
                </a:solidFill>
                <a:latin typeface="Calibri" pitchFamily="34" charset="0"/>
                <a:ea typeface="Calibri" pitchFamily="34" charset="-122"/>
                <a:cs typeface="Calibri" pitchFamily="34" charset="-120"/>
              </a:rPr>
              <a:t>HTML dashboard</a:t>
            </a:r>
            <a:endParaRPr lang="en-US" sz="950" dirty="0"/>
          </a:p>
        </p:txBody>
      </p:sp>
      <p:sp>
        <p:nvSpPr>
          <p:cNvPr id="21" name="Shape 19"/>
          <p:cNvSpPr/>
          <p:nvPr/>
        </p:nvSpPr>
        <p:spPr>
          <a:xfrm>
            <a:off x="6126480" y="3575304"/>
            <a:ext cx="146304" cy="146304"/>
          </a:xfrm>
          <a:prstGeom prst="rect">
            <a:avLst/>
          </a:prstGeom>
          <a:solidFill>
            <a:srgbClr val="FFFFFF"/>
          </a:solidFill>
          <a:ln w="12700">
            <a:solidFill>
              <a:srgbClr val="4A148C"/>
            </a:solidFill>
            <a:prstDash val="solid"/>
          </a:ln>
        </p:spPr>
      </p:sp>
      <p:sp>
        <p:nvSpPr>
          <p:cNvPr id="22" name="Text 20"/>
          <p:cNvSpPr txBox="1"/>
          <p:nvPr/>
        </p:nvSpPr>
        <p:spPr>
          <a:xfrm>
            <a:off x="6355080" y="3520440"/>
            <a:ext cx="2011680" cy="256032"/>
          </a:xfrm>
          <a:prstGeom prst="rect">
            <a:avLst/>
          </a:prstGeom>
          <a:noFill/>
          <a:ln/>
        </p:spPr>
        <p:txBody>
          <a:bodyPr wrap="square" lIns="0" tIns="0" rIns="0" bIns="0" rtlCol="0" anchor="ctr"/>
          <a:lstStyle/>
          <a:p>
            <a:pPr indent="0" marL="0">
              <a:buNone/>
            </a:pPr>
            <a:r>
              <a:rPr lang="en-US" sz="950" dirty="0">
                <a:solidFill>
                  <a:srgbClr val="2B0A3D"/>
                </a:solidFill>
                <a:latin typeface="Calibri" pitchFamily="34" charset="0"/>
                <a:ea typeface="Calibri" pitchFamily="34" charset="-122"/>
                <a:cs typeface="Calibri" pitchFamily="34" charset="-120"/>
              </a:rPr>
              <a:t>PDF report</a:t>
            </a:r>
            <a:endParaRPr lang="en-US" sz="950" dirty="0"/>
          </a:p>
        </p:txBody>
      </p:sp>
      <p:sp>
        <p:nvSpPr>
          <p:cNvPr id="23" name="Shape 21"/>
          <p:cNvSpPr/>
          <p:nvPr/>
        </p:nvSpPr>
        <p:spPr>
          <a:xfrm>
            <a:off x="8412480" y="3575304"/>
            <a:ext cx="146304" cy="146304"/>
          </a:xfrm>
          <a:prstGeom prst="rect">
            <a:avLst/>
          </a:prstGeom>
          <a:solidFill>
            <a:srgbClr val="FFFFFF"/>
          </a:solidFill>
          <a:ln w="12700">
            <a:solidFill>
              <a:srgbClr val="4A148C"/>
            </a:solidFill>
            <a:prstDash val="solid"/>
          </a:ln>
        </p:spPr>
      </p:sp>
      <p:sp>
        <p:nvSpPr>
          <p:cNvPr id="24" name="Text 22"/>
          <p:cNvSpPr txBox="1"/>
          <p:nvPr/>
        </p:nvSpPr>
        <p:spPr>
          <a:xfrm>
            <a:off x="8641080" y="3520440"/>
            <a:ext cx="2011680" cy="256032"/>
          </a:xfrm>
          <a:prstGeom prst="rect">
            <a:avLst/>
          </a:prstGeom>
          <a:noFill/>
          <a:ln/>
        </p:spPr>
        <p:txBody>
          <a:bodyPr wrap="square" lIns="0" tIns="0" rIns="0" bIns="0" rtlCol="0" anchor="ctr"/>
          <a:lstStyle/>
          <a:p>
            <a:pPr indent="0" marL="0">
              <a:buNone/>
            </a:pPr>
            <a:r>
              <a:rPr lang="en-US" sz="950" dirty="0">
                <a:solidFill>
                  <a:srgbClr val="2B0A3D"/>
                </a:solidFill>
                <a:latin typeface="Calibri" pitchFamily="34" charset="0"/>
                <a:ea typeface="Calibri" pitchFamily="34" charset="-122"/>
                <a:cs typeface="Calibri" pitchFamily="34" charset="-120"/>
              </a:rPr>
              <a:t>Word report</a:t>
            </a:r>
            <a:endParaRPr lang="en-US" sz="950" dirty="0"/>
          </a:p>
        </p:txBody>
      </p:sp>
      <p:sp>
        <p:nvSpPr>
          <p:cNvPr id="25" name="Text 23"/>
          <p:cNvSpPr txBox="1"/>
          <p:nvPr/>
        </p:nvSpPr>
        <p:spPr>
          <a:xfrm>
            <a:off x="1554480" y="3931920"/>
            <a:ext cx="9052560" cy="228600"/>
          </a:xfrm>
          <a:prstGeom prst="rect">
            <a:avLst/>
          </a:prstGeom>
          <a:noFill/>
          <a:ln/>
        </p:spPr>
        <p:txBody>
          <a:bodyPr wrap="square" lIns="0" tIns="0" rIns="0" bIns="0" rtlCol="0" anchor="ctr"/>
          <a:lstStyle/>
          <a:p>
            <a:pPr indent="0" marL="0">
              <a:buNone/>
            </a:pPr>
            <a:r>
              <a:rPr lang="en-US" sz="1150" b="1" dirty="0">
                <a:solidFill>
                  <a:srgbClr val="4A148C"/>
                </a:solidFill>
                <a:latin typeface="Calibri" pitchFamily="34" charset="0"/>
                <a:ea typeface="Calibri" pitchFamily="34" charset="-122"/>
                <a:cs typeface="Calibri" pitchFamily="34" charset="-120"/>
              </a:rPr>
              <a:t>3.  Output folder</a:t>
            </a:r>
            <a:endParaRPr lang="en-US" sz="1150" dirty="0"/>
          </a:p>
        </p:txBody>
      </p:sp>
      <p:sp>
        <p:nvSpPr>
          <p:cNvPr id="26" name="Shape 24"/>
          <p:cNvSpPr/>
          <p:nvPr/>
        </p:nvSpPr>
        <p:spPr>
          <a:xfrm>
            <a:off x="1554480" y="4206240"/>
            <a:ext cx="7589520" cy="320040"/>
          </a:xfrm>
          <a:prstGeom prst="rect">
            <a:avLst/>
          </a:prstGeom>
          <a:solidFill>
            <a:srgbClr val="FFFFFF"/>
          </a:solidFill>
          <a:ln w="12700">
            <a:solidFill>
              <a:srgbClr val="8E24AA"/>
            </a:solidFill>
            <a:prstDash val="solid"/>
          </a:ln>
        </p:spPr>
      </p:sp>
      <p:sp>
        <p:nvSpPr>
          <p:cNvPr id="27" name="Shape 25"/>
          <p:cNvSpPr/>
          <p:nvPr/>
        </p:nvSpPr>
        <p:spPr>
          <a:xfrm>
            <a:off x="9235440" y="4206240"/>
            <a:ext cx="1371600" cy="320040"/>
          </a:xfrm>
          <a:prstGeom prst="roundRect">
            <a:avLst>
              <a:gd name="adj" fmla="val 17143"/>
            </a:avLst>
          </a:prstGeom>
          <a:solidFill>
            <a:srgbClr val="FFFFFF"/>
          </a:solidFill>
          <a:ln w="12700">
            <a:solidFill>
              <a:srgbClr val="4A148C"/>
            </a:solidFill>
            <a:prstDash val="solid"/>
          </a:ln>
        </p:spPr>
      </p:sp>
      <p:sp>
        <p:nvSpPr>
          <p:cNvPr id="28" name="Text 26"/>
          <p:cNvSpPr txBox="1"/>
          <p:nvPr/>
        </p:nvSpPr>
        <p:spPr>
          <a:xfrm>
            <a:off x="9235440" y="4206240"/>
            <a:ext cx="1371600" cy="320040"/>
          </a:xfrm>
          <a:prstGeom prst="rect">
            <a:avLst/>
          </a:prstGeom>
          <a:noFill/>
          <a:ln/>
        </p:spPr>
        <p:txBody>
          <a:bodyPr wrap="square" lIns="0" tIns="0" rIns="0" bIns="0" rtlCol="0" anchor="ctr"/>
          <a:lstStyle/>
          <a:p>
            <a:pPr algn="ctr" indent="0" marL="0">
              <a:buNone/>
            </a:pPr>
            <a:r>
              <a:rPr lang="en-US" sz="900" dirty="0">
                <a:solidFill>
                  <a:srgbClr val="4A148C"/>
                </a:solidFill>
                <a:latin typeface="Calibri" pitchFamily="34" charset="0"/>
                <a:ea typeface="Calibri" pitchFamily="34" charset="-122"/>
                <a:cs typeface="Calibri" pitchFamily="34" charset="-120"/>
              </a:rPr>
              <a:t>Browse...</a:t>
            </a:r>
            <a:endParaRPr lang="en-US" sz="900" dirty="0"/>
          </a:p>
        </p:txBody>
      </p:sp>
      <p:sp>
        <p:nvSpPr>
          <p:cNvPr id="29" name="Shape 27"/>
          <p:cNvSpPr/>
          <p:nvPr/>
        </p:nvSpPr>
        <p:spPr>
          <a:xfrm>
            <a:off x="1554480" y="4663440"/>
            <a:ext cx="1463040" cy="365760"/>
          </a:xfrm>
          <a:prstGeom prst="roundRect">
            <a:avLst>
              <a:gd name="adj" fmla="val 17500"/>
            </a:avLst>
          </a:prstGeom>
          <a:solidFill>
            <a:srgbClr val="4A148C"/>
          </a:solidFill>
          <a:ln/>
        </p:spPr>
      </p:sp>
      <p:sp>
        <p:nvSpPr>
          <p:cNvPr id="30" name="Text 28"/>
          <p:cNvSpPr txBox="1"/>
          <p:nvPr/>
        </p:nvSpPr>
        <p:spPr>
          <a:xfrm>
            <a:off x="1554480" y="46634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Analyze</a:t>
            </a:r>
            <a:endParaRPr lang="en-US" sz="1200" dirty="0"/>
          </a:p>
        </p:txBody>
      </p:sp>
      <p:sp>
        <p:nvSpPr>
          <p:cNvPr id="31" name="Shape 29"/>
          <p:cNvSpPr/>
          <p:nvPr/>
        </p:nvSpPr>
        <p:spPr>
          <a:xfrm>
            <a:off x="3200400" y="4663440"/>
            <a:ext cx="2011680" cy="365760"/>
          </a:xfrm>
          <a:prstGeom prst="roundRect">
            <a:avLst>
              <a:gd name="adj" fmla="val 17500"/>
            </a:avLst>
          </a:prstGeom>
          <a:solidFill>
            <a:srgbClr val="FFFFFF"/>
          </a:solidFill>
          <a:ln w="12700">
            <a:solidFill>
              <a:srgbClr val="4A148C"/>
            </a:solidFill>
            <a:prstDash val="solid"/>
          </a:ln>
        </p:spPr>
      </p:sp>
      <p:sp>
        <p:nvSpPr>
          <p:cNvPr id="32" name="Text 30"/>
          <p:cNvSpPr txBox="1"/>
          <p:nvPr/>
        </p:nvSpPr>
        <p:spPr>
          <a:xfrm>
            <a:off x="3200400" y="4663440"/>
            <a:ext cx="2011680" cy="365760"/>
          </a:xfrm>
          <a:prstGeom prst="rect">
            <a:avLst/>
          </a:prstGeom>
          <a:noFill/>
          <a:ln/>
        </p:spPr>
        <p:txBody>
          <a:bodyPr wrap="square" lIns="0" tIns="0" rIns="0" bIns="0" rtlCol="0" anchor="ctr"/>
          <a:lstStyle/>
          <a:p>
            <a:pPr algn="ctr" indent="0" marL="0">
              <a:buNone/>
            </a:pPr>
            <a:r>
              <a:rPr lang="en-US" sz="950" dirty="0">
                <a:solidFill>
                  <a:srgbClr val="4A148C"/>
                </a:solidFill>
                <a:latin typeface="Calibri" pitchFamily="34" charset="0"/>
                <a:ea typeface="Calibri" pitchFamily="34" charset="-122"/>
                <a:cs typeface="Calibri" pitchFamily="34" charset="-120"/>
              </a:rPr>
              <a:t>Open Output Folder</a:t>
            </a:r>
            <a:endParaRPr lang="en-US" sz="950" dirty="0"/>
          </a:p>
        </p:txBody>
      </p:sp>
      <p:sp>
        <p:nvSpPr>
          <p:cNvPr id="33" name="Text 31"/>
          <p:cNvSpPr txBox="1"/>
          <p:nvPr/>
        </p:nvSpPr>
        <p:spPr>
          <a:xfrm>
            <a:off x="1554480" y="5166360"/>
            <a:ext cx="9052560" cy="228600"/>
          </a:xfrm>
          <a:prstGeom prst="rect">
            <a:avLst/>
          </a:prstGeom>
          <a:noFill/>
          <a:ln/>
        </p:spPr>
        <p:txBody>
          <a:bodyPr wrap="square" lIns="0" tIns="0" rIns="0" bIns="0" rtlCol="0" anchor="ctr"/>
          <a:lstStyle/>
          <a:p>
            <a:pPr indent="0" marL="0">
              <a:buNone/>
            </a:pPr>
            <a:r>
              <a:rPr lang="en-US" sz="1150" b="1" dirty="0">
                <a:solidFill>
                  <a:srgbClr val="4A148C"/>
                </a:solidFill>
                <a:latin typeface="Calibri" pitchFamily="34" charset="0"/>
                <a:ea typeface="Calibri" pitchFamily="34" charset="-122"/>
                <a:cs typeface="Calibri" pitchFamily="34" charset="-120"/>
              </a:rPr>
              <a:t>4.  Progress log</a:t>
            </a:r>
            <a:endParaRPr lang="en-US" sz="1150" dirty="0"/>
          </a:p>
        </p:txBody>
      </p:sp>
      <p:sp>
        <p:nvSpPr>
          <p:cNvPr id="34" name="Shape 32"/>
          <p:cNvSpPr/>
          <p:nvPr/>
        </p:nvSpPr>
        <p:spPr>
          <a:xfrm>
            <a:off x="1554480" y="5440680"/>
            <a:ext cx="9052560" cy="777240"/>
          </a:xfrm>
          <a:prstGeom prst="rect">
            <a:avLst/>
          </a:prstGeom>
          <a:solidFill>
            <a:srgbClr val="FFFFFF"/>
          </a:solidFill>
          <a:ln w="12700">
            <a:solidFill>
              <a:srgbClr val="8E24AA"/>
            </a:solidFill>
            <a:prstDash val="solid"/>
          </a:ln>
        </p:spPr>
      </p:sp>
      <p:sp>
        <p:nvSpPr>
          <p:cNvPr id="35" name="Text 33"/>
          <p:cNvSpPr txBox="1"/>
          <p:nvPr/>
        </p:nvSpPr>
        <p:spPr>
          <a:xfrm>
            <a:off x="1645920" y="5486400"/>
            <a:ext cx="8869680" cy="685800"/>
          </a:xfrm>
          <a:prstGeom prst="rect">
            <a:avLst/>
          </a:prstGeom>
          <a:noFill/>
          <a:ln/>
        </p:spPr>
        <p:txBody>
          <a:bodyPr wrap="square" lIns="0" tIns="0" rIns="0" bIns="0" rtlCol="0" anchor="ctr"/>
          <a:lstStyle/>
          <a:p>
            <a:pPr indent="0" marL="0">
              <a:buNone/>
            </a:pPr>
            <a:r>
              <a:rPr lang="en-US" sz="800" dirty="0">
                <a:solidFill>
                  <a:srgbClr val="2B0A3D"/>
                </a:solidFill>
                <a:latin typeface="Courier New" pitchFamily="34" charset="0"/>
                <a:ea typeface="Courier New" pitchFamily="34" charset="-122"/>
                <a:cs typeface="Courier New" pitchFamily="34" charset="-120"/>
              </a:rPr>
              <a:t>Company: Sample Textiles and Components Private Limited | PAN: AAACS9999K | AY: 2025-26</a:t>
            </a:r>
            <a:endParaRPr lang="en-US" sz="800" dirty="0"/>
          </a:p>
          <a:p>
            <a:pPr indent="0" marL="0">
              <a:buNone/>
            </a:pPr>
            <a:r>
              <a:rPr lang="en-US" sz="800" dirty="0">
                <a:solidFill>
                  <a:srgbClr val="2B0A3D"/>
                </a:solidFill>
                <a:latin typeface="Courier New" pitchFamily="34" charset="0"/>
                <a:ea typeface="Courier New" pitchFamily="34" charset="-122"/>
                <a:cs typeface="Courier New" pitchFamily="34" charset="-120"/>
              </a:rPr>
              <a:t>Excel workbook written to: AAACS9999K_2025-26_3CD_Analysis.xlsx</a:t>
            </a:r>
            <a:endParaRPr lang="en-US" sz="800" dirty="0"/>
          </a:p>
          <a:p>
            <a:pPr indent="0" marL="0">
              <a:buNone/>
            </a:pPr>
            <a:r>
              <a:rPr lang="en-US" sz="800" dirty="0">
                <a:solidFill>
                  <a:srgbClr val="2B0A3D"/>
                </a:solidFill>
                <a:latin typeface="Courier New" pitchFamily="34" charset="0"/>
                <a:ea typeface="Courier New" pitchFamily="34" charset="-122"/>
                <a:cs typeface="Courier New" pitchFamily="34" charset="-120"/>
              </a:rPr>
              <a:t>PDF report written to: AAACS9999K_2025-26_3CD_Analysis_Report.pdf</a:t>
            </a:r>
            <a:endParaRPr lang="en-US" sz="800" dirty="0"/>
          </a:p>
        </p:txBody>
      </p:sp>
      <p:sp>
        <p:nvSpPr>
          <p:cNvPr id="36" name="Text 34"/>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Sample Output - Key Financial Summary</a:t>
            </a:r>
            <a:endParaRPr lang="en-US" sz="3200" dirty="0"/>
          </a:p>
        </p:txBody>
      </p:sp>
      <p:sp>
        <p:nvSpPr>
          <p:cNvPr id="3" name="Text 1"/>
          <p:cNvSpPr txBox="1"/>
          <p:nvPr/>
        </p:nvSpPr>
        <p:spPr>
          <a:xfrm>
            <a:off x="548640" y="960120"/>
            <a:ext cx="731520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Fully synthetic demo company - no real client data - AY 2025-26</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566160"/>
        </p:xfrm>
        <a:graphic>
          <a:graphicData uri="http://schemas.openxmlformats.org/drawingml/2006/table">
            <a:tbl>
              <a:tblPr/>
              <a:tblGrid>
                <a:gridCol w="1645920"/>
                <a:gridCol w="6035040"/>
                <a:gridCol w="1737360"/>
                <a:gridCol w="1645920"/>
              </a:tblGrid>
              <a:tr h="509451">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Clause Ref.</a:t>
                      </a:r>
                      <a:endParaRPr lang="en-US" sz="110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4A148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Particulars</a:t>
                      </a:r>
                      <a:endParaRPr lang="en-US" sz="110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4A148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Amount (Rs.)</a:t>
                      </a:r>
                      <a:endParaRPr lang="en-US" sz="110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4A148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Remarks</a:t>
                      </a:r>
                      <a:endParaRPr lang="en-US" sz="110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4A148C"/>
                    </a:solidFill>
                  </a:tcPr>
                </a:tc>
              </a:tr>
              <a:tr h="509451">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40(a)</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Total turnover of the assessee - Previous Year</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0A3D"/>
                          </a:solidFill>
                          <a:latin typeface="Calibri" pitchFamily="34" charset="0"/>
                          <a:ea typeface="Calibri" pitchFamily="34" charset="-122"/>
                          <a:cs typeface="Calibri" pitchFamily="34" charset="-120"/>
                        </a:rPr>
                        <a:t>45,00,00,000</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r>
              <a:tr h="509451">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40(c)</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Net profit for the Previous Year (as per P&amp;L, before tax)</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r" indent="0" marL="0">
                        <a:buNone/>
                      </a:pPr>
                      <a:r>
                        <a:rPr lang="en-US" sz="1050" dirty="0">
                          <a:solidFill>
                            <a:srgbClr val="2B0A3D"/>
                          </a:solidFill>
                          <a:latin typeface="Calibri" pitchFamily="34" charset="0"/>
                          <a:ea typeface="Calibri" pitchFamily="34" charset="-122"/>
                          <a:cs typeface="Calibri" pitchFamily="34" charset="-120"/>
                        </a:rPr>
                        <a:t>5,20,00,000</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r>
              <a:tr h="509451">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Depreciation allowable under the Income-tax Act, 1961</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0A3D"/>
                          </a:solidFill>
                          <a:latin typeface="Calibri" pitchFamily="34" charset="0"/>
                          <a:ea typeface="Calibri" pitchFamily="34" charset="-122"/>
                          <a:cs typeface="Calibri" pitchFamily="34" charset="-120"/>
                        </a:rPr>
                        <a:t>18,15,000</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r>
              <a:tr h="509451">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21(b)(ii) / 40(a)(ia)</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Amounts inadmissible u/s 40(a)(ia) - TDS not deducted</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r" indent="0" marL="0">
                        <a:buNone/>
                      </a:pPr>
                      <a:r>
                        <a:rPr lang="en-US" sz="1050" dirty="0">
                          <a:solidFill>
                            <a:srgbClr val="2B0A3D"/>
                          </a:solidFill>
                          <a:latin typeface="Calibri" pitchFamily="34" charset="0"/>
                          <a:ea typeface="Calibri" pitchFamily="34" charset="-122"/>
                          <a:cs typeface="Calibri" pitchFamily="34" charset="-120"/>
                        </a:rPr>
                        <a:t>4,00,000</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Restricted to 30% of the sum</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r>
              <a:tr h="509451">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21(e)</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Provision for gratuity not allowable u/s 40A(7)</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0A3D"/>
                          </a:solidFill>
                          <a:latin typeface="Calibri" pitchFamily="34" charset="0"/>
                          <a:ea typeface="Calibri" pitchFamily="34" charset="-122"/>
                          <a:cs typeface="Calibri" pitchFamily="34" charset="-120"/>
                        </a:rPr>
                        <a:t>6,00,000</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FFFFF"/>
                    </a:solidFill>
                  </a:tcPr>
                </a:tc>
              </a:tr>
              <a:tr h="509451">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Payments to persons specified u/s 40A(2)(b)</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r" indent="0" marL="0">
                        <a:buNone/>
                      </a:pPr>
                      <a:r>
                        <a:rPr lang="en-US" sz="1050" dirty="0">
                          <a:solidFill>
                            <a:srgbClr val="2B0A3D"/>
                          </a:solidFill>
                          <a:latin typeface="Calibri" pitchFamily="34" charset="0"/>
                          <a:ea typeface="Calibri" pitchFamily="34" charset="-122"/>
                          <a:cs typeface="Calibri" pitchFamily="34" charset="-120"/>
                        </a:rPr>
                        <a:t>51,50,000</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c>
                  <a:txBody>
                    <a:bodyPr/>
                    <a:lstStyle/>
                    <a:p>
                      <a:pPr algn="l" indent="0" marL="0">
                        <a:buNone/>
                      </a:pPr>
                      <a:r>
                        <a:rPr lang="en-US" sz="1050" dirty="0">
                          <a:solidFill>
                            <a:srgbClr val="2B0A3D"/>
                          </a:solidFill>
                          <a:latin typeface="Calibri" pitchFamily="34" charset="0"/>
                          <a:ea typeface="Calibri" pitchFamily="34" charset="-122"/>
                          <a:cs typeface="Calibri" pitchFamily="34" charset="-120"/>
                        </a:rPr>
                        <a:t>3 related-party payees reported</a:t>
                      </a:r>
                      <a:endParaRPr lang="en-US" sz="1050" dirty="0">
                        <a:latin typeface="Calibri" charset="0"/>
                        <a:ea typeface="Calibri" charset="0"/>
                        <a:cs typeface="Calibri" charset="0"/>
                      </a:endParaRPr>
                    </a:p>
                  </a:txBody>
                  <a:tcPr marL="91440" marR="91440" marT="45720" marB="45720" anchor="ctr">
                    <a:lnL w="9525" cap="flat" cmpd="sng" algn="ctr">
                      <a:solidFill>
                        <a:srgbClr val="C9A6DA"/>
                      </a:solidFill>
                      <a:prstDash val="solid"/>
                      <a:round/>
                      <a:headEnd type="none" w="med" len="med"/>
                      <a:tailEnd type="none" w="med" len="med"/>
                    </a:lnL>
                    <a:lnR w="9525" cap="flat" cmpd="sng" algn="ctr">
                      <a:solidFill>
                        <a:srgbClr val="C9A6DA"/>
                      </a:solidFill>
                      <a:prstDash val="solid"/>
                      <a:round/>
                      <a:headEnd type="none" w="med" len="med"/>
                      <a:tailEnd type="none" w="med" len="med"/>
                    </a:lnR>
                    <a:lnT w="9525" cap="flat" cmpd="sng" algn="ctr">
                      <a:solidFill>
                        <a:srgbClr val="C9A6DA"/>
                      </a:solidFill>
                      <a:prstDash val="solid"/>
                      <a:round/>
                      <a:headEnd type="none" w="med" len="med"/>
                      <a:tailEnd type="none" w="med" len="med"/>
                    </a:lnT>
                    <a:lnB w="9525" cap="flat" cmpd="sng" algn="ctr">
                      <a:solidFill>
                        <a:srgbClr val="C9A6DA"/>
                      </a:solidFill>
                      <a:prstDash val="solid"/>
                      <a:round/>
                      <a:headEnd type="none" w="med" len="med"/>
                      <a:tailEnd type="none" w="med" len="med"/>
                    </a:lnB>
                    <a:solidFill>
                      <a:srgbClr val="F3E5F5"/>
                    </a:solidFill>
                  </a:tcPr>
                </a:tc>
              </a:tr>
            </a:tbl>
          </a:graphicData>
        </a:graphic>
      </p:graphicFrame>
      <p:sp>
        <p:nvSpPr>
          <p:cNvPr id="5" name="Shape 2"/>
          <p:cNvSpPr/>
          <p:nvPr/>
        </p:nvSpPr>
        <p:spPr>
          <a:xfrm>
            <a:off x="548640" y="5212080"/>
            <a:ext cx="11064240" cy="1051560"/>
          </a:xfrm>
          <a:prstGeom prst="roundRect">
            <a:avLst>
              <a:gd name="adj" fmla="val 8696"/>
            </a:avLst>
          </a:prstGeom>
          <a:solidFill>
            <a:srgbClr val="F3E5F5"/>
          </a:solidFill>
          <a:ln/>
        </p:spPr>
      </p:sp>
      <p:sp>
        <p:nvSpPr>
          <p:cNvPr id="6" name="Text 3"/>
          <p:cNvSpPr txBox="1"/>
          <p:nvPr/>
        </p:nvSpPr>
        <p:spPr>
          <a:xfrm>
            <a:off x="822960" y="5212080"/>
            <a:ext cx="10515600" cy="1051560"/>
          </a:xfrm>
          <a:prstGeom prst="rect">
            <a:avLst/>
          </a:prstGeom>
          <a:noFill/>
          <a:ln/>
        </p:spPr>
        <p:txBody>
          <a:bodyPr wrap="square" lIns="0" tIns="0" rIns="0" bIns="0" rtlCol="0" anchor="ctr"/>
          <a:lstStyle/>
          <a:p>
            <a:pPr indent="0" marL="0">
              <a:buNone/>
            </a:pPr>
            <a:r>
              <a:rPr lang="en-US" sz="1300" b="1" dirty="0">
                <a:solidFill>
                  <a:srgbClr val="4A148C"/>
                </a:solidFill>
                <a:latin typeface="Calibri" pitchFamily="34" charset="0"/>
                <a:ea typeface="Calibri" pitchFamily="34" charset="-122"/>
                <a:cs typeface="Calibri" pitchFamily="34" charset="-120"/>
              </a:rPr>
              <a:t>Built-in Tax Head sign-off: </a:t>
            </a:r>
            <a:pPr indent="0" marL="0">
              <a:buNone/>
            </a:pPr>
            <a:r>
              <a:rPr lang="en-US" sz="1300" dirty="0">
                <a:solidFill>
                  <a:srgbClr val="2B0A3D"/>
                </a:solidFill>
                <a:latin typeface="Calibri" pitchFamily="34" charset="0"/>
                <a:ea typeface="Calibri" pitchFamily="34" charset="-122"/>
                <a:cs typeface="Calibri" pitchFamily="34" charset="-120"/>
              </a:rPr>
              <a:t>every PDF and Word report ends with a Prepared by / Reviewed by (Tax Head) / Approved by grid, ready to be signed before the Form 3CA-3CD is filed.</a:t>
            </a:r>
            <a:endParaRPr lang="en-US" sz="1300" dirty="0"/>
          </a:p>
        </p:txBody>
      </p:sp>
      <p:sp>
        <p:nvSpPr>
          <p:cNvPr id="7" name="Text 4"/>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What Makes This Different</a:t>
            </a:r>
            <a:endParaRPr lang="en-US" sz="3200" dirty="0"/>
          </a:p>
        </p:txBody>
      </p:sp>
      <p:sp>
        <p:nvSpPr>
          <p:cNvPr id="3" name="Shape 1"/>
          <p:cNvSpPr/>
          <p:nvPr/>
        </p:nvSpPr>
        <p:spPr>
          <a:xfrm>
            <a:off x="548640" y="1417320"/>
            <a:ext cx="3520440" cy="2103120"/>
          </a:xfrm>
          <a:prstGeom prst="roundRect">
            <a:avLst>
              <a:gd name="adj" fmla="val 4348"/>
            </a:avLst>
          </a:prstGeom>
          <a:solidFill>
            <a:srgbClr val="4A148C"/>
          </a:solidFill>
          <a:ln/>
        </p:spPr>
      </p:sp>
      <p:sp>
        <p:nvSpPr>
          <p:cNvPr id="4" name="Text 2"/>
          <p:cNvSpPr txBox="1"/>
          <p:nvPr/>
        </p:nvSpPr>
        <p:spPr>
          <a:xfrm>
            <a:off x="777240" y="1600200"/>
            <a:ext cx="3063240" cy="5486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Schema-Resilient Parsing</a:t>
            </a:r>
            <a:endParaRPr lang="en-US" sz="1450" dirty="0"/>
          </a:p>
        </p:txBody>
      </p:sp>
      <p:sp>
        <p:nvSpPr>
          <p:cNvPr id="5" name="Text 3"/>
          <p:cNvSpPr txBox="1"/>
          <p:nvPr/>
        </p:nvSpPr>
        <p:spPr>
          <a:xfrm>
            <a:off x="777240" y="2148840"/>
            <a:ext cx="3063240" cy="1188720"/>
          </a:xfrm>
          <a:prstGeom prst="rect">
            <a:avLst/>
          </a:prstGeom>
          <a:noFill/>
          <a:ln/>
        </p:spPr>
        <p:txBody>
          <a:bodyPr wrap="square" lIns="0" tIns="0" rIns="0" bIns="0" rtlCol="0" anchor="t"/>
          <a:lstStyle/>
          <a:p>
            <a:pPr indent="0" marL="0">
              <a:buNone/>
            </a:pPr>
            <a:r>
              <a:rPr lang="en-US" sz="1050" dirty="0">
                <a:solidFill>
                  <a:srgbClr val="F3E5F5"/>
                </a:solidFill>
                <a:latin typeface="Calibri" pitchFamily="34" charset="0"/>
                <a:ea typeface="Calibri" pitchFamily="34" charset="-122"/>
                <a:cs typeface="Calibri" pitchFamily="34" charset="-120"/>
              </a:rPr>
              <a:t>Automatically handles multiple e-filing JSON export variants (root-level vs data-wrapped, 3CA vs 3CB) without any manual adjustment.</a:t>
            </a:r>
            <a:endParaRPr lang="en-US" sz="1050" dirty="0"/>
          </a:p>
        </p:txBody>
      </p:sp>
      <p:sp>
        <p:nvSpPr>
          <p:cNvPr id="6" name="Shape 4"/>
          <p:cNvSpPr/>
          <p:nvPr/>
        </p:nvSpPr>
        <p:spPr>
          <a:xfrm>
            <a:off x="4251960" y="1417320"/>
            <a:ext cx="3520440" cy="2103120"/>
          </a:xfrm>
          <a:prstGeom prst="roundRect">
            <a:avLst>
              <a:gd name="adj" fmla="val 4348"/>
            </a:avLst>
          </a:prstGeom>
          <a:solidFill>
            <a:srgbClr val="F3E5F5"/>
          </a:solidFill>
          <a:ln/>
        </p:spPr>
      </p:sp>
      <p:sp>
        <p:nvSpPr>
          <p:cNvPr id="7" name="Text 5"/>
          <p:cNvSpPr txBox="1"/>
          <p:nvPr/>
        </p:nvSpPr>
        <p:spPr>
          <a:xfrm>
            <a:off x="4480560" y="1600200"/>
            <a:ext cx="3063240" cy="548640"/>
          </a:xfrm>
          <a:prstGeom prst="rect">
            <a:avLst/>
          </a:prstGeom>
          <a:noFill/>
          <a:ln/>
        </p:spPr>
        <p:txBody>
          <a:bodyPr wrap="square" lIns="0" tIns="0" rIns="0" bIns="0" rtlCol="0" anchor="ctr"/>
          <a:lstStyle/>
          <a:p>
            <a:pPr indent="0" marL="0">
              <a:buNone/>
            </a:pPr>
            <a:r>
              <a:rPr lang="en-US" sz="1450" b="1" dirty="0">
                <a:solidFill>
                  <a:srgbClr val="4A148C"/>
                </a:solidFill>
                <a:latin typeface="Cambria" pitchFamily="34" charset="0"/>
                <a:ea typeface="Cambria" pitchFamily="34" charset="-122"/>
                <a:cs typeface="Cambria" pitchFamily="34" charset="-120"/>
              </a:rPr>
              <a:t>Indian Numbering System</a:t>
            </a:r>
            <a:endParaRPr lang="en-US" sz="1450" dirty="0"/>
          </a:p>
        </p:txBody>
      </p:sp>
      <p:sp>
        <p:nvSpPr>
          <p:cNvPr id="8" name="Text 6"/>
          <p:cNvSpPr txBox="1"/>
          <p:nvPr/>
        </p:nvSpPr>
        <p:spPr>
          <a:xfrm>
            <a:off x="4480560" y="2148840"/>
            <a:ext cx="3063240" cy="1188720"/>
          </a:xfrm>
          <a:prstGeom prst="rect">
            <a:avLst/>
          </a:prstGeom>
          <a:noFill/>
          <a:ln/>
        </p:spPr>
        <p:txBody>
          <a:bodyPr wrap="square" lIns="0" tIns="0" rIns="0" bIns="0" rtlCol="0" anchor="t"/>
          <a:lstStyle/>
          <a:p>
            <a:pPr indent="0" marL="0">
              <a:buNone/>
            </a:pPr>
            <a:r>
              <a:rPr lang="en-US" sz="1050" dirty="0">
                <a:solidFill>
                  <a:srgbClr val="2B0A3D"/>
                </a:solidFill>
                <a:latin typeface="Calibri" pitchFamily="34" charset="0"/>
                <a:ea typeface="Calibri" pitchFamily="34" charset="-122"/>
                <a:cs typeface="Calibri" pitchFamily="34" charset="-120"/>
              </a:rPr>
              <a:t>Every rupee figure across all four output formats uses lakh/crore comma grouping, not the Western thousands format.</a:t>
            </a:r>
            <a:endParaRPr lang="en-US" sz="1050" dirty="0"/>
          </a:p>
        </p:txBody>
      </p:sp>
      <p:sp>
        <p:nvSpPr>
          <p:cNvPr id="9" name="Shape 7"/>
          <p:cNvSpPr/>
          <p:nvPr/>
        </p:nvSpPr>
        <p:spPr>
          <a:xfrm>
            <a:off x="7955280" y="1417320"/>
            <a:ext cx="3520440" cy="2103120"/>
          </a:xfrm>
          <a:prstGeom prst="roundRect">
            <a:avLst>
              <a:gd name="adj" fmla="val 4348"/>
            </a:avLst>
          </a:prstGeom>
          <a:solidFill>
            <a:srgbClr val="F3E5F5"/>
          </a:solidFill>
          <a:ln/>
        </p:spPr>
      </p:sp>
      <p:sp>
        <p:nvSpPr>
          <p:cNvPr id="10" name="Text 8"/>
          <p:cNvSpPr txBox="1"/>
          <p:nvPr/>
        </p:nvSpPr>
        <p:spPr>
          <a:xfrm>
            <a:off x="8183880" y="1600200"/>
            <a:ext cx="3063240" cy="548640"/>
          </a:xfrm>
          <a:prstGeom prst="rect">
            <a:avLst/>
          </a:prstGeom>
          <a:noFill/>
          <a:ln/>
        </p:spPr>
        <p:txBody>
          <a:bodyPr wrap="square" lIns="0" tIns="0" rIns="0" bIns="0" rtlCol="0" anchor="ctr"/>
          <a:lstStyle/>
          <a:p>
            <a:pPr indent="0" marL="0">
              <a:buNone/>
            </a:pPr>
            <a:r>
              <a:rPr lang="en-US" sz="1450" b="1" dirty="0">
                <a:solidFill>
                  <a:srgbClr val="4A148C"/>
                </a:solidFill>
                <a:latin typeface="Cambria" pitchFamily="34" charset="0"/>
                <a:ea typeface="Cambria" pitchFamily="34" charset="-122"/>
                <a:cs typeface="Cambria" pitchFamily="34" charset="-120"/>
              </a:rPr>
              <a:t>Statutory Rule Automation</a:t>
            </a:r>
            <a:endParaRPr lang="en-US" sz="1450" dirty="0"/>
          </a:p>
        </p:txBody>
      </p:sp>
      <p:sp>
        <p:nvSpPr>
          <p:cNvPr id="11" name="Text 9"/>
          <p:cNvSpPr txBox="1"/>
          <p:nvPr/>
        </p:nvSpPr>
        <p:spPr>
          <a:xfrm>
            <a:off x="8183880" y="2148840"/>
            <a:ext cx="3063240" cy="1188720"/>
          </a:xfrm>
          <a:prstGeom prst="rect">
            <a:avLst/>
          </a:prstGeom>
          <a:noFill/>
          <a:ln/>
        </p:spPr>
        <p:txBody>
          <a:bodyPr wrap="square" lIns="0" tIns="0" rIns="0" bIns="0" rtlCol="0" anchor="t"/>
          <a:lstStyle/>
          <a:p>
            <a:pPr indent="0" marL="0">
              <a:buNone/>
            </a:pPr>
            <a:r>
              <a:rPr lang="en-US" sz="1050" dirty="0">
                <a:solidFill>
                  <a:srgbClr val="2B0A3D"/>
                </a:solidFill>
                <a:latin typeface="Calibri" pitchFamily="34" charset="0"/>
                <a:ea typeface="Calibri" pitchFamily="34" charset="-122"/>
                <a:cs typeface="Calibri" pitchFamily="34" charset="-120"/>
              </a:rPr>
              <a:t>Applies the 30% / 100% TDS disallowance split, MSME delayed-payment rules, section 43B and 36(1)(va) logic directly from the JSON.</a:t>
            </a:r>
            <a:endParaRPr lang="en-US" sz="1050" dirty="0"/>
          </a:p>
        </p:txBody>
      </p:sp>
      <p:sp>
        <p:nvSpPr>
          <p:cNvPr id="12" name="Shape 10"/>
          <p:cNvSpPr/>
          <p:nvPr/>
        </p:nvSpPr>
        <p:spPr>
          <a:xfrm>
            <a:off x="548640" y="3749040"/>
            <a:ext cx="3520440" cy="2103120"/>
          </a:xfrm>
          <a:prstGeom prst="roundRect">
            <a:avLst>
              <a:gd name="adj" fmla="val 4348"/>
            </a:avLst>
          </a:prstGeom>
          <a:solidFill>
            <a:srgbClr val="F3E5F5"/>
          </a:solidFill>
          <a:ln/>
        </p:spPr>
      </p:sp>
      <p:sp>
        <p:nvSpPr>
          <p:cNvPr id="13" name="Text 11"/>
          <p:cNvSpPr txBox="1"/>
          <p:nvPr/>
        </p:nvSpPr>
        <p:spPr>
          <a:xfrm>
            <a:off x="777240" y="3931920"/>
            <a:ext cx="3063240" cy="548640"/>
          </a:xfrm>
          <a:prstGeom prst="rect">
            <a:avLst/>
          </a:prstGeom>
          <a:noFill/>
          <a:ln/>
        </p:spPr>
        <p:txBody>
          <a:bodyPr wrap="square" lIns="0" tIns="0" rIns="0" bIns="0" rtlCol="0" anchor="ctr"/>
          <a:lstStyle/>
          <a:p>
            <a:pPr indent="0" marL="0">
              <a:buNone/>
            </a:pPr>
            <a:r>
              <a:rPr lang="en-US" sz="1450" b="1" dirty="0">
                <a:solidFill>
                  <a:srgbClr val="4A148C"/>
                </a:solidFill>
                <a:latin typeface="Cambria" pitchFamily="34" charset="0"/>
                <a:ea typeface="Cambria" pitchFamily="34" charset="-122"/>
                <a:cs typeface="Cambria" pitchFamily="34" charset="-120"/>
              </a:rPr>
              <a:t>Tax-Head Sign-off Built In</a:t>
            </a:r>
            <a:endParaRPr lang="en-US" sz="1450" dirty="0"/>
          </a:p>
        </p:txBody>
      </p:sp>
      <p:sp>
        <p:nvSpPr>
          <p:cNvPr id="14" name="Text 12"/>
          <p:cNvSpPr txBox="1"/>
          <p:nvPr/>
        </p:nvSpPr>
        <p:spPr>
          <a:xfrm>
            <a:off x="777240" y="4480560"/>
            <a:ext cx="3063240" cy="1188720"/>
          </a:xfrm>
          <a:prstGeom prst="rect">
            <a:avLst/>
          </a:prstGeom>
          <a:noFill/>
          <a:ln/>
        </p:spPr>
        <p:txBody>
          <a:bodyPr wrap="square" lIns="0" tIns="0" rIns="0" bIns="0" rtlCol="0" anchor="t"/>
          <a:lstStyle/>
          <a:p>
            <a:pPr indent="0" marL="0">
              <a:buNone/>
            </a:pPr>
            <a:r>
              <a:rPr lang="en-US" sz="1050" dirty="0">
                <a:solidFill>
                  <a:srgbClr val="2B0A3D"/>
                </a:solidFill>
                <a:latin typeface="Calibri" pitchFamily="34" charset="0"/>
                <a:ea typeface="Calibri" pitchFamily="34" charset="-122"/>
                <a:cs typeface="Calibri" pitchFamily="34" charset="-120"/>
              </a:rPr>
              <a:t>PDF and Word outputs end with a maker-checker sign-off grid, ready for review before filing.</a:t>
            </a:r>
            <a:endParaRPr lang="en-US" sz="1050" dirty="0"/>
          </a:p>
        </p:txBody>
      </p:sp>
      <p:sp>
        <p:nvSpPr>
          <p:cNvPr id="15" name="Shape 13"/>
          <p:cNvSpPr/>
          <p:nvPr/>
        </p:nvSpPr>
        <p:spPr>
          <a:xfrm>
            <a:off x="4251960" y="3749040"/>
            <a:ext cx="3520440" cy="2103120"/>
          </a:xfrm>
          <a:prstGeom prst="roundRect">
            <a:avLst>
              <a:gd name="adj" fmla="val 4348"/>
            </a:avLst>
          </a:prstGeom>
          <a:solidFill>
            <a:srgbClr val="F3E5F5"/>
          </a:solidFill>
          <a:ln/>
        </p:spPr>
      </p:sp>
      <p:sp>
        <p:nvSpPr>
          <p:cNvPr id="16" name="Text 14"/>
          <p:cNvSpPr txBox="1"/>
          <p:nvPr/>
        </p:nvSpPr>
        <p:spPr>
          <a:xfrm>
            <a:off x="4480560" y="3931920"/>
            <a:ext cx="3063240" cy="548640"/>
          </a:xfrm>
          <a:prstGeom prst="rect">
            <a:avLst/>
          </a:prstGeom>
          <a:noFill/>
          <a:ln/>
        </p:spPr>
        <p:txBody>
          <a:bodyPr wrap="square" lIns="0" tIns="0" rIns="0" bIns="0" rtlCol="0" anchor="ctr"/>
          <a:lstStyle/>
          <a:p>
            <a:pPr indent="0" marL="0">
              <a:buNone/>
            </a:pPr>
            <a:r>
              <a:rPr lang="en-US" sz="1450" b="1" dirty="0">
                <a:solidFill>
                  <a:srgbClr val="4A148C"/>
                </a:solidFill>
                <a:latin typeface="Cambria" pitchFamily="34" charset="0"/>
                <a:ea typeface="Cambria" pitchFamily="34" charset="-122"/>
                <a:cs typeface="Cambria" pitchFamily="34" charset="-120"/>
              </a:rPr>
              <a:t>Fully Offline &amp; Confidential</a:t>
            </a:r>
            <a:endParaRPr lang="en-US" sz="1450" dirty="0"/>
          </a:p>
        </p:txBody>
      </p:sp>
      <p:sp>
        <p:nvSpPr>
          <p:cNvPr id="17" name="Text 15"/>
          <p:cNvSpPr txBox="1"/>
          <p:nvPr/>
        </p:nvSpPr>
        <p:spPr>
          <a:xfrm>
            <a:off x="4480560" y="4480560"/>
            <a:ext cx="3063240" cy="1188720"/>
          </a:xfrm>
          <a:prstGeom prst="rect">
            <a:avLst/>
          </a:prstGeom>
          <a:noFill/>
          <a:ln/>
        </p:spPr>
        <p:txBody>
          <a:bodyPr wrap="square" lIns="0" tIns="0" rIns="0" bIns="0" rtlCol="0" anchor="t"/>
          <a:lstStyle/>
          <a:p>
            <a:pPr indent="0" marL="0">
              <a:buNone/>
            </a:pPr>
            <a:r>
              <a:rPr lang="en-US" sz="1050" dirty="0">
                <a:solidFill>
                  <a:srgbClr val="2B0A3D"/>
                </a:solidFill>
                <a:latin typeface="Calibri" pitchFamily="34" charset="0"/>
                <a:ea typeface="Calibri" pitchFamily="34" charset="-122"/>
                <a:cs typeface="Calibri" pitchFamily="34" charset="-120"/>
              </a:rPr>
              <a:t>Runs as a standalone .exe with no external API calls - client data never leaves the auditor's machine.</a:t>
            </a:r>
            <a:endParaRPr lang="en-US" sz="1050" dirty="0"/>
          </a:p>
        </p:txBody>
      </p:sp>
      <p:sp>
        <p:nvSpPr>
          <p:cNvPr id="18" name="Shape 16"/>
          <p:cNvSpPr/>
          <p:nvPr/>
        </p:nvSpPr>
        <p:spPr>
          <a:xfrm>
            <a:off x="7955280" y="3749040"/>
            <a:ext cx="3520440" cy="2103120"/>
          </a:xfrm>
          <a:prstGeom prst="roundRect">
            <a:avLst>
              <a:gd name="adj" fmla="val 4348"/>
            </a:avLst>
          </a:prstGeom>
          <a:solidFill>
            <a:srgbClr val="F3E5F5"/>
          </a:solidFill>
          <a:ln/>
        </p:spPr>
      </p:sp>
      <p:sp>
        <p:nvSpPr>
          <p:cNvPr id="19" name="Text 17"/>
          <p:cNvSpPr txBox="1"/>
          <p:nvPr/>
        </p:nvSpPr>
        <p:spPr>
          <a:xfrm>
            <a:off x="8183880" y="3931920"/>
            <a:ext cx="3063240" cy="548640"/>
          </a:xfrm>
          <a:prstGeom prst="rect">
            <a:avLst/>
          </a:prstGeom>
          <a:noFill/>
          <a:ln/>
        </p:spPr>
        <p:txBody>
          <a:bodyPr wrap="square" lIns="0" tIns="0" rIns="0" bIns="0" rtlCol="0" anchor="ctr"/>
          <a:lstStyle/>
          <a:p>
            <a:pPr indent="0" marL="0">
              <a:buNone/>
            </a:pPr>
            <a:r>
              <a:rPr lang="en-US" sz="1450" b="1" dirty="0">
                <a:solidFill>
                  <a:srgbClr val="4A148C"/>
                </a:solidFill>
                <a:latin typeface="Cambria" pitchFamily="34" charset="0"/>
                <a:ea typeface="Cambria" pitchFamily="34" charset="-122"/>
                <a:cs typeface="Cambria" pitchFamily="34" charset="-120"/>
              </a:rPr>
              <a:t>One Click, Four Formats</a:t>
            </a:r>
            <a:endParaRPr lang="en-US" sz="1450" dirty="0"/>
          </a:p>
        </p:txBody>
      </p:sp>
      <p:sp>
        <p:nvSpPr>
          <p:cNvPr id="20" name="Text 18"/>
          <p:cNvSpPr txBox="1"/>
          <p:nvPr/>
        </p:nvSpPr>
        <p:spPr>
          <a:xfrm>
            <a:off x="8183880" y="4480560"/>
            <a:ext cx="3063240" cy="1188720"/>
          </a:xfrm>
          <a:prstGeom prst="rect">
            <a:avLst/>
          </a:prstGeom>
          <a:noFill/>
          <a:ln/>
        </p:spPr>
        <p:txBody>
          <a:bodyPr wrap="square" lIns="0" tIns="0" rIns="0" bIns="0" rtlCol="0" anchor="t"/>
          <a:lstStyle/>
          <a:p>
            <a:pPr indent="0" marL="0">
              <a:buNone/>
            </a:pPr>
            <a:r>
              <a:rPr lang="en-US" sz="1050" dirty="0">
                <a:solidFill>
                  <a:srgbClr val="2B0A3D"/>
                </a:solidFill>
                <a:latin typeface="Calibri" pitchFamily="34" charset="0"/>
                <a:ea typeface="Calibri" pitchFamily="34" charset="-122"/>
                <a:cs typeface="Calibri" pitchFamily="34" charset="-120"/>
              </a:rPr>
              <a:t>A single JSON produces a formatted Excel workbook, an HTML dashboard, a PDF report and a Word report together.</a:t>
            </a:r>
            <a:endParaRPr lang="en-US" sz="1050" dirty="0"/>
          </a:p>
        </p:txBody>
      </p:sp>
      <p:sp>
        <p:nvSpPr>
          <p:cNvPr id="21" name="Text 19"/>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Built Iteratively with AI</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Each stage below was a conversational request to Claude, reviewed and verified against real Form 3CD data before moving to the next.</a:t>
            </a:r>
            <a:endParaRPr lang="en-US" sz="1250" dirty="0"/>
          </a:p>
        </p:txBody>
      </p:sp>
      <p:sp>
        <p:nvSpPr>
          <p:cNvPr id="4" name="Shape 2"/>
          <p:cNvSpPr/>
          <p:nvPr/>
        </p:nvSpPr>
        <p:spPr>
          <a:xfrm>
            <a:off x="1196340" y="1600200"/>
            <a:ext cx="548640" cy="548640"/>
          </a:xfrm>
          <a:prstGeom prst="ellipse">
            <a:avLst/>
          </a:prstGeom>
          <a:solidFill>
            <a:srgbClr val="4A148C"/>
          </a:solidFill>
          <a:ln/>
        </p:spPr>
      </p:sp>
      <p:sp>
        <p:nvSpPr>
          <p:cNvPr id="5" name="Text 3"/>
          <p:cNvSpPr txBox="1"/>
          <p:nvPr/>
        </p:nvSpPr>
        <p:spPr>
          <a:xfrm>
            <a:off x="119634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Shape 4"/>
          <p:cNvSpPr/>
          <p:nvPr/>
        </p:nvSpPr>
        <p:spPr>
          <a:xfrm>
            <a:off x="1744980" y="1874520"/>
            <a:ext cx="1295400" cy="0"/>
          </a:xfrm>
          <a:prstGeom prst="line">
            <a:avLst/>
          </a:prstGeom>
          <a:noFill/>
          <a:ln w="19050">
            <a:solidFill>
              <a:srgbClr val="8E24AA"/>
            </a:solidFill>
            <a:prstDash val="dash"/>
          </a:ln>
        </p:spPr>
      </p:sp>
      <p:sp>
        <p:nvSpPr>
          <p:cNvPr id="7" name="Text 5"/>
          <p:cNvSpPr txBox="1"/>
          <p:nvPr/>
        </p:nvSpPr>
        <p:spPr>
          <a:xfrm>
            <a:off x="594360" y="2331720"/>
            <a:ext cx="1752600" cy="502920"/>
          </a:xfrm>
          <a:prstGeom prst="rect">
            <a:avLst/>
          </a:prstGeom>
          <a:noFill/>
          <a:ln/>
        </p:spPr>
        <p:txBody>
          <a:bodyPr wrap="square" lIns="0" tIns="0" rIns="0" bIns="0" rtlCol="0" anchor="ctr"/>
          <a:lstStyle/>
          <a:p>
            <a:pPr algn="ctr" indent="0" marL="0">
              <a:buNone/>
            </a:pPr>
            <a:r>
              <a:rPr lang="en-US" sz="1200" b="1" dirty="0">
                <a:solidFill>
                  <a:srgbClr val="4A148C"/>
                </a:solidFill>
                <a:latin typeface="Calibri" pitchFamily="34" charset="0"/>
                <a:ea typeface="Calibri" pitchFamily="34" charset="-122"/>
                <a:cs typeface="Calibri" pitchFamily="34" charset="-120"/>
              </a:rPr>
              <a:t>Extraction engine</a:t>
            </a:r>
            <a:endParaRPr lang="en-US" sz="1200" dirty="0"/>
          </a:p>
        </p:txBody>
      </p:sp>
      <p:sp>
        <p:nvSpPr>
          <p:cNvPr id="8" name="Text 6"/>
          <p:cNvSpPr txBox="1"/>
          <p:nvPr/>
        </p:nvSpPr>
        <p:spPr>
          <a:xfrm>
            <a:off x="594360" y="2834640"/>
            <a:ext cx="1752600" cy="2926080"/>
          </a:xfrm>
          <a:prstGeom prst="rect">
            <a:avLst/>
          </a:prstGeom>
          <a:noFill/>
          <a:ln/>
        </p:spPr>
        <p:txBody>
          <a:bodyPr wrap="square" lIns="0" tIns="0" rIns="0" bIns="0" rtlCol="0" anchor="t"/>
          <a:lstStyle/>
          <a:p>
            <a:pPr algn="ctr" indent="0" marL="0">
              <a:buNone/>
            </a:pPr>
            <a:r>
              <a:rPr lang="en-US" sz="1000" dirty="0">
                <a:solidFill>
                  <a:srgbClr val="2B0A3D"/>
                </a:solidFill>
                <a:latin typeface="Calibri" pitchFamily="34" charset="0"/>
                <a:ea typeface="Calibri" pitchFamily="34" charset="-122"/>
                <a:cs typeface="Calibri" pitchFamily="34" charset="-120"/>
              </a:rPr>
              <a:t>Parsed the Form 3CD JSON; cross-verified every figure against the firm's own tax computation workbook.</a:t>
            </a:r>
            <a:endParaRPr lang="en-US" sz="1000" dirty="0"/>
          </a:p>
        </p:txBody>
      </p:sp>
      <p:sp>
        <p:nvSpPr>
          <p:cNvPr id="9" name="Shape 7"/>
          <p:cNvSpPr/>
          <p:nvPr/>
        </p:nvSpPr>
        <p:spPr>
          <a:xfrm>
            <a:off x="3040380" y="1600200"/>
            <a:ext cx="548640" cy="548640"/>
          </a:xfrm>
          <a:prstGeom prst="ellipse">
            <a:avLst/>
          </a:prstGeom>
          <a:solidFill>
            <a:srgbClr val="4A148C"/>
          </a:solidFill>
          <a:ln/>
        </p:spPr>
      </p:sp>
      <p:sp>
        <p:nvSpPr>
          <p:cNvPr id="10" name="Text 8"/>
          <p:cNvSpPr txBox="1"/>
          <p:nvPr/>
        </p:nvSpPr>
        <p:spPr>
          <a:xfrm>
            <a:off x="304038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Shape 9"/>
          <p:cNvSpPr/>
          <p:nvPr/>
        </p:nvSpPr>
        <p:spPr>
          <a:xfrm>
            <a:off x="3589020" y="1874520"/>
            <a:ext cx="1295400" cy="0"/>
          </a:xfrm>
          <a:prstGeom prst="line">
            <a:avLst/>
          </a:prstGeom>
          <a:noFill/>
          <a:ln w="19050">
            <a:solidFill>
              <a:srgbClr val="8E24AA"/>
            </a:solidFill>
            <a:prstDash val="dash"/>
          </a:ln>
        </p:spPr>
      </p:sp>
      <p:sp>
        <p:nvSpPr>
          <p:cNvPr id="12" name="Text 10"/>
          <p:cNvSpPr txBox="1"/>
          <p:nvPr/>
        </p:nvSpPr>
        <p:spPr>
          <a:xfrm>
            <a:off x="2438400" y="2331720"/>
            <a:ext cx="1752600" cy="502920"/>
          </a:xfrm>
          <a:prstGeom prst="rect">
            <a:avLst/>
          </a:prstGeom>
          <a:noFill/>
          <a:ln/>
        </p:spPr>
        <p:txBody>
          <a:bodyPr wrap="square" lIns="0" tIns="0" rIns="0" bIns="0" rtlCol="0" anchor="ctr"/>
          <a:lstStyle/>
          <a:p>
            <a:pPr algn="ctr" indent="0" marL="0">
              <a:buNone/>
            </a:pPr>
            <a:r>
              <a:rPr lang="en-US" sz="1200" b="1" dirty="0">
                <a:solidFill>
                  <a:srgbClr val="4A148C"/>
                </a:solidFill>
                <a:latin typeface="Calibri" pitchFamily="34" charset="0"/>
                <a:ea typeface="Calibri" pitchFamily="34" charset="-122"/>
                <a:cs typeface="Calibri" pitchFamily="34" charset="-120"/>
              </a:rPr>
              <a:t>Standalone app</a:t>
            </a:r>
            <a:endParaRPr lang="en-US" sz="1200" dirty="0"/>
          </a:p>
        </p:txBody>
      </p:sp>
      <p:sp>
        <p:nvSpPr>
          <p:cNvPr id="13" name="Text 11"/>
          <p:cNvSpPr txBox="1"/>
          <p:nvPr/>
        </p:nvSpPr>
        <p:spPr>
          <a:xfrm>
            <a:off x="2438400" y="2834640"/>
            <a:ext cx="1752600" cy="2926080"/>
          </a:xfrm>
          <a:prstGeom prst="rect">
            <a:avLst/>
          </a:prstGeom>
          <a:noFill/>
          <a:ln/>
        </p:spPr>
        <p:txBody>
          <a:bodyPr wrap="square" lIns="0" tIns="0" rIns="0" bIns="0" rtlCol="0" anchor="t"/>
          <a:lstStyle/>
          <a:p>
            <a:pPr algn="ctr" indent="0" marL="0">
              <a:buNone/>
            </a:pPr>
            <a:r>
              <a:rPr lang="en-US" sz="1000" dirty="0">
                <a:solidFill>
                  <a:srgbClr val="2B0A3D"/>
                </a:solidFill>
                <a:latin typeface="Calibri" pitchFamily="34" charset="0"/>
                <a:ea typeface="Calibri" pitchFamily="34" charset="-122"/>
                <a:cs typeface="Calibri" pitchFamily="34" charset="-120"/>
              </a:rPr>
              <a:t>Packaged as a Windows .exe (console, then a purple/white Tkinter GUI) - no Python install required.</a:t>
            </a:r>
            <a:endParaRPr lang="en-US" sz="1000" dirty="0"/>
          </a:p>
        </p:txBody>
      </p:sp>
      <p:sp>
        <p:nvSpPr>
          <p:cNvPr id="14" name="Shape 12"/>
          <p:cNvSpPr/>
          <p:nvPr/>
        </p:nvSpPr>
        <p:spPr>
          <a:xfrm>
            <a:off x="4884420" y="1600200"/>
            <a:ext cx="548640" cy="548640"/>
          </a:xfrm>
          <a:prstGeom prst="ellipse">
            <a:avLst/>
          </a:prstGeom>
          <a:solidFill>
            <a:srgbClr val="4A148C"/>
          </a:solidFill>
          <a:ln/>
        </p:spPr>
      </p:sp>
      <p:sp>
        <p:nvSpPr>
          <p:cNvPr id="15" name="Text 13"/>
          <p:cNvSpPr txBox="1"/>
          <p:nvPr/>
        </p:nvSpPr>
        <p:spPr>
          <a:xfrm>
            <a:off x="488442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Shape 14"/>
          <p:cNvSpPr/>
          <p:nvPr/>
        </p:nvSpPr>
        <p:spPr>
          <a:xfrm>
            <a:off x="5433060" y="1874520"/>
            <a:ext cx="1295400" cy="0"/>
          </a:xfrm>
          <a:prstGeom prst="line">
            <a:avLst/>
          </a:prstGeom>
          <a:noFill/>
          <a:ln w="19050">
            <a:solidFill>
              <a:srgbClr val="8E24AA"/>
            </a:solidFill>
            <a:prstDash val="dash"/>
          </a:ln>
        </p:spPr>
      </p:sp>
      <p:sp>
        <p:nvSpPr>
          <p:cNvPr id="17" name="Text 15"/>
          <p:cNvSpPr txBox="1"/>
          <p:nvPr/>
        </p:nvSpPr>
        <p:spPr>
          <a:xfrm>
            <a:off x="4282440" y="2331720"/>
            <a:ext cx="1752600" cy="502920"/>
          </a:xfrm>
          <a:prstGeom prst="rect">
            <a:avLst/>
          </a:prstGeom>
          <a:noFill/>
          <a:ln/>
        </p:spPr>
        <p:txBody>
          <a:bodyPr wrap="square" lIns="0" tIns="0" rIns="0" bIns="0" rtlCol="0" anchor="ctr"/>
          <a:lstStyle/>
          <a:p>
            <a:pPr algn="ctr" indent="0" marL="0">
              <a:buNone/>
            </a:pPr>
            <a:r>
              <a:rPr lang="en-US" sz="1200" b="1" dirty="0">
                <a:solidFill>
                  <a:srgbClr val="4A148C"/>
                </a:solidFill>
                <a:latin typeface="Calibri" pitchFamily="34" charset="0"/>
                <a:ea typeface="Calibri" pitchFamily="34" charset="-122"/>
                <a:cs typeface="Calibri" pitchFamily="34" charset="-120"/>
              </a:rPr>
              <a:t>Formatting pass</a:t>
            </a:r>
            <a:endParaRPr lang="en-US" sz="1200" dirty="0"/>
          </a:p>
        </p:txBody>
      </p:sp>
      <p:sp>
        <p:nvSpPr>
          <p:cNvPr id="18" name="Text 16"/>
          <p:cNvSpPr txBox="1"/>
          <p:nvPr/>
        </p:nvSpPr>
        <p:spPr>
          <a:xfrm>
            <a:off x="4282440" y="2834640"/>
            <a:ext cx="1752600" cy="2926080"/>
          </a:xfrm>
          <a:prstGeom prst="rect">
            <a:avLst/>
          </a:prstGeom>
          <a:noFill/>
          <a:ln/>
        </p:spPr>
        <p:txBody>
          <a:bodyPr wrap="square" lIns="0" tIns="0" rIns="0" bIns="0" rtlCol="0" anchor="t"/>
          <a:lstStyle/>
          <a:p>
            <a:pPr algn="ctr" indent="0" marL="0">
              <a:buNone/>
            </a:pPr>
            <a:r>
              <a:rPr lang="en-US" sz="1000" dirty="0">
                <a:solidFill>
                  <a:srgbClr val="2B0A3D"/>
                </a:solidFill>
                <a:latin typeface="Calibri" pitchFamily="34" charset="0"/>
                <a:ea typeface="Calibri" pitchFamily="34" charset="-122"/>
                <a:cs typeface="Calibri" pitchFamily="34" charset="-120"/>
              </a:rPr>
              <a:t>Added Indian lakh/crore number formatting and a fully bordered, auto-wrapped Excel layout.</a:t>
            </a:r>
            <a:endParaRPr lang="en-US" sz="1000" dirty="0"/>
          </a:p>
        </p:txBody>
      </p:sp>
      <p:sp>
        <p:nvSpPr>
          <p:cNvPr id="19" name="Shape 17"/>
          <p:cNvSpPr/>
          <p:nvPr/>
        </p:nvSpPr>
        <p:spPr>
          <a:xfrm>
            <a:off x="6728460" y="1600200"/>
            <a:ext cx="548640" cy="548640"/>
          </a:xfrm>
          <a:prstGeom prst="ellipse">
            <a:avLst/>
          </a:prstGeom>
          <a:solidFill>
            <a:srgbClr val="4A148C"/>
          </a:solidFill>
          <a:ln/>
        </p:spPr>
      </p:sp>
      <p:sp>
        <p:nvSpPr>
          <p:cNvPr id="20" name="Text 18"/>
          <p:cNvSpPr txBox="1"/>
          <p:nvPr/>
        </p:nvSpPr>
        <p:spPr>
          <a:xfrm>
            <a:off x="672846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Shape 19"/>
          <p:cNvSpPr/>
          <p:nvPr/>
        </p:nvSpPr>
        <p:spPr>
          <a:xfrm>
            <a:off x="7277100" y="1874520"/>
            <a:ext cx="1295400" cy="0"/>
          </a:xfrm>
          <a:prstGeom prst="line">
            <a:avLst/>
          </a:prstGeom>
          <a:noFill/>
          <a:ln w="19050">
            <a:solidFill>
              <a:srgbClr val="8E24AA"/>
            </a:solidFill>
            <a:prstDash val="dash"/>
          </a:ln>
        </p:spPr>
      </p:sp>
      <p:sp>
        <p:nvSpPr>
          <p:cNvPr id="22" name="Text 20"/>
          <p:cNvSpPr txBox="1"/>
          <p:nvPr/>
        </p:nvSpPr>
        <p:spPr>
          <a:xfrm>
            <a:off x="6126480" y="2331720"/>
            <a:ext cx="1752600" cy="502920"/>
          </a:xfrm>
          <a:prstGeom prst="rect">
            <a:avLst/>
          </a:prstGeom>
          <a:noFill/>
          <a:ln/>
        </p:spPr>
        <p:txBody>
          <a:bodyPr wrap="square" lIns="0" tIns="0" rIns="0" bIns="0" rtlCol="0" anchor="ctr"/>
          <a:lstStyle/>
          <a:p>
            <a:pPr algn="ctr" indent="0" marL="0">
              <a:buNone/>
            </a:pPr>
            <a:r>
              <a:rPr lang="en-US" sz="1200" b="1" dirty="0">
                <a:solidFill>
                  <a:srgbClr val="4A148C"/>
                </a:solidFill>
                <a:latin typeface="Calibri" pitchFamily="34" charset="0"/>
                <a:ea typeface="Calibri" pitchFamily="34" charset="-122"/>
                <a:cs typeface="Calibri" pitchFamily="34" charset="-120"/>
              </a:rPr>
              <a:t>Multi-format export</a:t>
            </a:r>
            <a:endParaRPr lang="en-US" sz="1200" dirty="0"/>
          </a:p>
        </p:txBody>
      </p:sp>
      <p:sp>
        <p:nvSpPr>
          <p:cNvPr id="23" name="Text 21"/>
          <p:cNvSpPr txBox="1"/>
          <p:nvPr/>
        </p:nvSpPr>
        <p:spPr>
          <a:xfrm>
            <a:off x="6126480" y="2834640"/>
            <a:ext cx="1752600" cy="2926080"/>
          </a:xfrm>
          <a:prstGeom prst="rect">
            <a:avLst/>
          </a:prstGeom>
          <a:noFill/>
          <a:ln/>
        </p:spPr>
        <p:txBody>
          <a:bodyPr wrap="square" lIns="0" tIns="0" rIns="0" bIns="0" rtlCol="0" anchor="t"/>
          <a:lstStyle/>
          <a:p>
            <a:pPr algn="ctr" indent="0" marL="0">
              <a:buNone/>
            </a:pPr>
            <a:r>
              <a:rPr lang="en-US" sz="1000" dirty="0">
                <a:solidFill>
                  <a:srgbClr val="2B0A3D"/>
                </a:solidFill>
                <a:latin typeface="Calibri" pitchFamily="34" charset="0"/>
                <a:ea typeface="Calibri" pitchFamily="34" charset="-122"/>
                <a:cs typeface="Calibri" pitchFamily="34" charset="-120"/>
              </a:rPr>
              <a:t>Added PDF and Word outputs plus a Tax Head sign-off block on both.</a:t>
            </a:r>
            <a:endParaRPr lang="en-US" sz="1000" dirty="0"/>
          </a:p>
        </p:txBody>
      </p:sp>
      <p:sp>
        <p:nvSpPr>
          <p:cNvPr id="24" name="Shape 22"/>
          <p:cNvSpPr/>
          <p:nvPr/>
        </p:nvSpPr>
        <p:spPr>
          <a:xfrm>
            <a:off x="8572500" y="1600200"/>
            <a:ext cx="548640" cy="548640"/>
          </a:xfrm>
          <a:prstGeom prst="ellipse">
            <a:avLst/>
          </a:prstGeom>
          <a:solidFill>
            <a:srgbClr val="4A148C"/>
          </a:solidFill>
          <a:ln/>
        </p:spPr>
      </p:sp>
      <p:sp>
        <p:nvSpPr>
          <p:cNvPr id="25" name="Text 23"/>
          <p:cNvSpPr txBox="1"/>
          <p:nvPr/>
        </p:nvSpPr>
        <p:spPr>
          <a:xfrm>
            <a:off x="857250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Shape 24"/>
          <p:cNvSpPr/>
          <p:nvPr/>
        </p:nvSpPr>
        <p:spPr>
          <a:xfrm>
            <a:off x="9121140" y="1874520"/>
            <a:ext cx="1295400" cy="0"/>
          </a:xfrm>
          <a:prstGeom prst="line">
            <a:avLst/>
          </a:prstGeom>
          <a:noFill/>
          <a:ln w="19050">
            <a:solidFill>
              <a:srgbClr val="8E24AA"/>
            </a:solidFill>
            <a:prstDash val="dash"/>
          </a:ln>
        </p:spPr>
      </p:sp>
      <p:sp>
        <p:nvSpPr>
          <p:cNvPr id="27" name="Text 25"/>
          <p:cNvSpPr txBox="1"/>
          <p:nvPr/>
        </p:nvSpPr>
        <p:spPr>
          <a:xfrm>
            <a:off x="7970520" y="2331720"/>
            <a:ext cx="1752600" cy="502920"/>
          </a:xfrm>
          <a:prstGeom prst="rect">
            <a:avLst/>
          </a:prstGeom>
          <a:noFill/>
          <a:ln/>
        </p:spPr>
        <p:txBody>
          <a:bodyPr wrap="square" lIns="0" tIns="0" rIns="0" bIns="0" rtlCol="0" anchor="ctr"/>
          <a:lstStyle/>
          <a:p>
            <a:pPr algn="ctr" indent="0" marL="0">
              <a:buNone/>
            </a:pPr>
            <a:r>
              <a:rPr lang="en-US" sz="1200" b="1" dirty="0">
                <a:solidFill>
                  <a:srgbClr val="4A148C"/>
                </a:solidFill>
                <a:latin typeface="Calibri" pitchFamily="34" charset="0"/>
                <a:ea typeface="Calibri" pitchFamily="34" charset="-122"/>
                <a:cs typeface="Calibri" pitchFamily="34" charset="-120"/>
              </a:rPr>
              <a:t>Bug fixes</a:t>
            </a:r>
            <a:endParaRPr lang="en-US" sz="1200" dirty="0"/>
          </a:p>
        </p:txBody>
      </p:sp>
      <p:sp>
        <p:nvSpPr>
          <p:cNvPr id="28" name="Text 26"/>
          <p:cNvSpPr txBox="1"/>
          <p:nvPr/>
        </p:nvSpPr>
        <p:spPr>
          <a:xfrm>
            <a:off x="7970520" y="2834640"/>
            <a:ext cx="1752600" cy="2926080"/>
          </a:xfrm>
          <a:prstGeom prst="rect">
            <a:avLst/>
          </a:prstGeom>
          <a:noFill/>
          <a:ln/>
        </p:spPr>
        <p:txBody>
          <a:bodyPr wrap="square" lIns="0" tIns="0" rIns="0" bIns="0" rtlCol="0" anchor="t"/>
          <a:lstStyle/>
          <a:p>
            <a:pPr algn="ctr" indent="0" marL="0">
              <a:buNone/>
            </a:pPr>
            <a:r>
              <a:rPr lang="en-US" sz="1000" dirty="0">
                <a:solidFill>
                  <a:srgbClr val="2B0A3D"/>
                </a:solidFill>
                <a:latin typeface="Calibri" pitchFamily="34" charset="0"/>
                <a:ea typeface="Calibri" pitchFamily="34" charset="-122"/>
                <a:cs typeface="Calibri" pitchFamily="34" charset="-120"/>
              </a:rPr>
              <a:t>Caught and fixed a numpy dtype formatting bug that silently dropped commas in mixed-type columns.</a:t>
            </a:r>
            <a:endParaRPr lang="en-US" sz="1000" dirty="0"/>
          </a:p>
        </p:txBody>
      </p:sp>
      <p:sp>
        <p:nvSpPr>
          <p:cNvPr id="29" name="Shape 27"/>
          <p:cNvSpPr/>
          <p:nvPr/>
        </p:nvSpPr>
        <p:spPr>
          <a:xfrm>
            <a:off x="10416540" y="1600200"/>
            <a:ext cx="548640" cy="548640"/>
          </a:xfrm>
          <a:prstGeom prst="ellipse">
            <a:avLst/>
          </a:prstGeom>
          <a:solidFill>
            <a:srgbClr val="4A148C"/>
          </a:solidFill>
          <a:ln/>
        </p:spPr>
      </p:sp>
      <p:sp>
        <p:nvSpPr>
          <p:cNvPr id="30" name="Text 28"/>
          <p:cNvSpPr txBox="1"/>
          <p:nvPr/>
        </p:nvSpPr>
        <p:spPr>
          <a:xfrm>
            <a:off x="1041654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1" name="Text 29"/>
          <p:cNvSpPr txBox="1"/>
          <p:nvPr/>
        </p:nvSpPr>
        <p:spPr>
          <a:xfrm>
            <a:off x="9814560" y="2331720"/>
            <a:ext cx="1752600" cy="502920"/>
          </a:xfrm>
          <a:prstGeom prst="rect">
            <a:avLst/>
          </a:prstGeom>
          <a:noFill/>
          <a:ln/>
        </p:spPr>
        <p:txBody>
          <a:bodyPr wrap="square" lIns="0" tIns="0" rIns="0" bIns="0" rtlCol="0" anchor="ctr"/>
          <a:lstStyle/>
          <a:p>
            <a:pPr algn="ctr" indent="0" marL="0">
              <a:buNone/>
            </a:pPr>
            <a:r>
              <a:rPr lang="en-US" sz="1200" b="1" dirty="0">
                <a:solidFill>
                  <a:srgbClr val="4A148C"/>
                </a:solidFill>
                <a:latin typeface="Calibri" pitchFamily="34" charset="0"/>
                <a:ea typeface="Calibri" pitchFamily="34" charset="-122"/>
                <a:cs typeface="Calibri" pitchFamily="34" charset="-120"/>
              </a:rPr>
              <a:t>Compliance framing</a:t>
            </a:r>
            <a:endParaRPr lang="en-US" sz="1200" dirty="0"/>
          </a:p>
        </p:txBody>
      </p:sp>
      <p:sp>
        <p:nvSpPr>
          <p:cNvPr id="32" name="Text 30"/>
          <p:cNvSpPr txBox="1"/>
          <p:nvPr/>
        </p:nvSpPr>
        <p:spPr>
          <a:xfrm>
            <a:off x="9814560" y="2834640"/>
            <a:ext cx="1752600" cy="2926080"/>
          </a:xfrm>
          <a:prstGeom prst="rect">
            <a:avLst/>
          </a:prstGeom>
          <a:noFill/>
          <a:ln/>
        </p:spPr>
        <p:txBody>
          <a:bodyPr wrap="square" lIns="0" tIns="0" rIns="0" bIns="0" rtlCol="0" anchor="t"/>
          <a:lstStyle/>
          <a:p>
            <a:pPr algn="ctr" indent="0" marL="0">
              <a:buNone/>
            </a:pPr>
            <a:r>
              <a:rPr lang="en-US" sz="1000" dirty="0">
                <a:solidFill>
                  <a:srgbClr val="2B0A3D"/>
                </a:solidFill>
                <a:latin typeface="Calibri" pitchFamily="34" charset="0"/>
                <a:ea typeface="Calibri" pitchFamily="34" charset="-122"/>
                <a:cs typeface="Calibri" pitchFamily="34" charset="-120"/>
              </a:rPr>
              <a:t>Added an SA / ICAI Guidance Note disclaimer to every output file and page footer.</a:t>
            </a:r>
            <a:endParaRPr lang="en-US" sz="1000" dirty="0"/>
          </a:p>
        </p:txBody>
      </p:sp>
      <p:sp>
        <p:nvSpPr>
          <p:cNvPr id="33" name="Text 31"/>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5F5"/>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rgbClr val="4A148C"/>
                </a:solidFill>
                <a:latin typeface="Cambria" pitchFamily="34" charset="0"/>
                <a:ea typeface="Cambria" pitchFamily="34" charset="-122"/>
                <a:cs typeface="Cambria" pitchFamily="34" charset="-120"/>
              </a:rPr>
              <a:t>Professional Judgment Stays in Charge</a:t>
            </a:r>
            <a:endParaRPr lang="en-US" sz="3200" dirty="0"/>
          </a:p>
        </p:txBody>
      </p:sp>
      <p:sp>
        <p:nvSpPr>
          <p:cNvPr id="3" name="Shape 1"/>
          <p:cNvSpPr/>
          <p:nvPr/>
        </p:nvSpPr>
        <p:spPr>
          <a:xfrm>
            <a:off x="822960" y="1554480"/>
            <a:ext cx="10515600" cy="3291840"/>
          </a:xfrm>
          <a:prstGeom prst="roundRect">
            <a:avLst>
              <a:gd name="adj" fmla="val 3333"/>
            </a:avLst>
          </a:prstGeom>
          <a:solidFill>
            <a:srgbClr val="FFFFFF"/>
          </a:solidFill>
          <a:ln w="12700">
            <a:solidFill>
              <a:srgbClr val="4A148C"/>
            </a:solidFill>
            <a:prstDash val="solid"/>
          </a:ln>
        </p:spPr>
      </p:sp>
      <p:sp>
        <p:nvSpPr>
          <p:cNvPr id="4" name="Text 2"/>
          <p:cNvSpPr txBox="1"/>
          <p:nvPr/>
        </p:nvSpPr>
        <p:spPr>
          <a:xfrm>
            <a:off x="1188720" y="1874520"/>
            <a:ext cx="9784080" cy="2651760"/>
          </a:xfrm>
          <a:prstGeom prst="rect">
            <a:avLst/>
          </a:prstGeom>
          <a:noFill/>
          <a:ln/>
        </p:spPr>
        <p:txBody>
          <a:bodyPr wrap="square" lIns="0" tIns="0" rIns="0" bIns="0" rtlCol="0" anchor="t"/>
          <a:lstStyle/>
          <a:p>
            <a:pPr indent="0" marL="0">
              <a:lnSpc>
                <a:spcPct val="130000"/>
              </a:lnSpc>
              <a:buNone/>
            </a:pPr>
            <a:r>
              <a:rPr lang="en-US" sz="1500" b="1" dirty="0">
                <a:solidFill>
                  <a:srgbClr val="4A148C"/>
                </a:solidFill>
                <a:latin typeface="Calibri" pitchFamily="34" charset="0"/>
                <a:ea typeface="Calibri" pitchFamily="34" charset="-122"/>
                <a:cs typeface="Calibri" pitchFamily="34" charset="-120"/>
              </a:rPr>
              <a:t>DISCLAIMER  </a:t>
            </a:r>
            <a:pPr indent="0" marL="0">
              <a:lnSpc>
                <a:spcPct val="130000"/>
              </a:lnSpc>
              <a:buNone/>
            </a:pPr>
            <a:r>
              <a:rPr lang="en-US" sz="1400" dirty="0">
                <a:solidFill>
                  <a:srgbClr val="2B0A3D"/>
                </a:solidFill>
                <a:latin typeface="Calibri" pitchFamily="34" charset="0"/>
                <a:ea typeface="Calibri" pitchFamily="34" charset="-122"/>
                <a:cs typeface="Calibri" pitchFamily="34" charset="-120"/>
              </a:rPr>
              <a:t>This tool is a decision-support and review aid only. It does NOT constitute an audit opinion and is not a substitute for the auditor's independent verification of Form No. 3CD particulars under the Standards on Auditing (SAs) and the ICAI Guidance Note on Tax Audit under section 44AB. All figures must be independently verified against the books of account, supporting documents and management representations before being relied upon for filing.</a:t>
            </a:r>
            <a:endParaRPr lang="en-US" sz="1500" dirty="0"/>
          </a:p>
        </p:txBody>
      </p:sp>
      <p:sp>
        <p:nvSpPr>
          <p:cNvPr id="5" name="Text 3"/>
          <p:cNvSpPr txBox="1"/>
          <p:nvPr/>
        </p:nvSpPr>
        <p:spPr>
          <a:xfrm>
            <a:off x="822960" y="5074920"/>
            <a:ext cx="10515600" cy="457200"/>
          </a:xfrm>
          <a:prstGeom prst="rect">
            <a:avLst/>
          </a:prstGeom>
          <a:noFill/>
          <a:ln/>
        </p:spPr>
        <p:txBody>
          <a:bodyPr wrap="square" lIns="0" tIns="0" rIns="0" bIns="0" rtlCol="0" anchor="ctr"/>
          <a:lstStyle/>
          <a:p>
            <a:pPr algn="ctr" indent="0" marL="0">
              <a:buNone/>
            </a:pPr>
            <a:r>
              <a:rPr lang="en-US" sz="1250" i="1" dirty="0">
                <a:solidFill>
                  <a:srgbClr val="8E24AA"/>
                </a:solidFill>
                <a:latin typeface="Calibri" pitchFamily="34" charset="0"/>
                <a:ea typeface="Calibri" pitchFamily="34" charset="-122"/>
                <a:cs typeface="Calibri" pitchFamily="34" charset="-120"/>
              </a:rPr>
              <a:t>Embedded on the first sheet of every Excel workbook, and as a running footer on every page of every PDF and Word report.</a:t>
            </a:r>
            <a:endParaRPr lang="en-US" sz="1250" dirty="0"/>
          </a:p>
        </p:txBody>
      </p:sp>
      <p:sp>
        <p:nvSpPr>
          <p:cNvPr id="6" name="Text 4"/>
          <p:cNvSpPr txBox="1"/>
          <p:nvPr/>
        </p:nvSpPr>
        <p:spPr>
          <a:xfrm>
            <a:off x="9262872" y="6400800"/>
            <a:ext cx="2560320" cy="32004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822960" y="2560320"/>
            <a:ext cx="105156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822960" y="3566160"/>
            <a:ext cx="10515600" cy="548640"/>
          </a:xfrm>
          <a:prstGeom prst="rect">
            <a:avLst/>
          </a:prstGeom>
          <a:noFill/>
          <a:ln/>
        </p:spPr>
        <p:txBody>
          <a:bodyPr wrap="square" lIns="0" tIns="0" rIns="0" bIns="0" rtlCol="0" anchor="ctr"/>
          <a:lstStyle/>
          <a:p>
            <a:pPr indent="0" marL="0">
              <a:buNone/>
            </a:pPr>
            <a:r>
              <a:rPr lang="en-US" sz="2000" dirty="0">
                <a:solidFill>
                  <a:srgbClr val="FFB300"/>
                </a:solidFill>
                <a:latin typeface="Calibri" pitchFamily="34" charset="0"/>
                <a:ea typeface="Calibri" pitchFamily="34" charset="-122"/>
                <a:cs typeface="Calibri" pitchFamily="34" charset="-120"/>
              </a:rPr>
              <a:t>Questions &amp; Discussion</a:t>
            </a:r>
            <a:endParaRPr lang="en-US" sz="2000" dirty="0"/>
          </a:p>
        </p:txBody>
      </p:sp>
      <p:sp>
        <p:nvSpPr>
          <p:cNvPr id="4" name="Text 2"/>
          <p:cNvSpPr txBox="1"/>
          <p:nvPr/>
        </p:nvSpPr>
        <p:spPr>
          <a:xfrm>
            <a:off x="822960" y="6126480"/>
            <a:ext cx="9144000" cy="365760"/>
          </a:xfrm>
          <a:prstGeom prst="rect">
            <a:avLst/>
          </a:prstGeom>
          <a:noFill/>
          <a:ln/>
        </p:spPr>
        <p:txBody>
          <a:bodyPr wrap="square" lIns="0" tIns="0" rIns="0" bIns="0" rtlCol="0" anchor="ctr"/>
          <a:lstStyle/>
          <a:p>
            <a:pPr indent="0" marL="0">
              <a:buNone/>
            </a:pPr>
            <a:r>
              <a:rPr lang="en-US" sz="1200" dirty="0">
                <a:solidFill>
                  <a:srgbClr val="D8BEE8"/>
                </a:solidFill>
                <a:latin typeface="Calibri" pitchFamily="34" charset="0"/>
                <a:ea typeface="Calibri" pitchFamily="34" charset="-122"/>
                <a:cs typeface="Calibri" pitchFamily="34" charset="-120"/>
              </a:rPr>
              <a:t>Form 3CD Tax Audit Analyzer  |  ICAI AI Level 2 Capstone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2026-09-11T15:38:05Z</dcterms:created>
  <dcterms:modified xsi:type="dcterms:W3CDTF">2026-09-11T15:38:05Z</dcterms:modified>
</cp:coreProperties>
</file>