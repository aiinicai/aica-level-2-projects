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60120"/>
            <a:ext cx="128016" cy="2926080"/>
          </a:xfrm>
          <a:prstGeom prst="RECTANGLE">
            <a:avLst/>
          </a:prstGeom>
          <a:solidFill>
            <a:srgbClr val="F9A82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960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GST IMS Reconciliation Tool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</a:rPr>
              <a:t>Bridging GST Reconciliation with Munim IMS Portal Submission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5029200" cy="36576"/>
          </a:xfrm>
          <a:prstGeom prst="RECTANGLE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8712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AICA Level 2  —  Capstone Project Submission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Prepared by CA Ravi Maan   |   AICA | L2 | Batch 85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IJR &amp; Co., Chartered Accountants   |   Panchkula, Haryana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The Institute of Chartered Accountants of India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|  The Problem We Faced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8638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Every month, after completing GSTR-2B vs Books reconciliation, our team had to manually copy matched invoice data row by row into the Munim GST software template — to push it to the IMS Portal. This was slow, repetitive, and error-prone.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1298448"/>
          </a:xfrm>
          <a:prstGeom prst="ROUNDED_RECTANGLE">
            <a:avLst>
              <a:gd name="adj" fmla="val 7042"/>
            </a:avLst>
          </a:prstGeom>
          <a:solidFill>
            <a:srgbClr val="FFEBEE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384048" cy="1298448"/>
          </a:xfrm>
          <a:prstGeom prst="RECTANGLE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18928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121"/>
                </a:solidFill>
              </a:rPr>
              <a:t>Manual &amp; Time-Consuming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Copy-pasting hundreds of invoice rows one by one from the reconciliation sheet to the Munim template every single month.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160520" cy="1298448"/>
          </a:xfrm>
          <a:prstGeom prst="ROUNDED_RECTANGLE">
            <a:avLst>
              <a:gd name="adj" fmla="val 7042"/>
            </a:avLst>
          </a:prstGeom>
          <a:solidFill>
            <a:srgbClr val="FFF3E0"/>
          </a:solidFill>
          <a:ln w="19050">
            <a:solidFill>
              <a:srgbClr val="FB8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384048" cy="1298448"/>
          </a:xfrm>
          <a:prstGeom prst="RECTANGLE">
            <a:avLst/>
          </a:prstGeom>
          <a:solidFill>
            <a:srgbClr val="FB8C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8928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121"/>
                </a:solidFill>
              </a:rPr>
              <a:t>Risk of Data Entry Errors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9202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Invoice numbers, dates, taxable values — any typo could lead to ITC mismatches, rejected invoices, or notices from the department.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160520" cy="1298448"/>
          </a:xfrm>
          <a:prstGeom prst="ROUNDED_RECTANGLE">
            <a:avLst>
              <a:gd name="adj" fmla="val 7042"/>
            </a:avLst>
          </a:prstGeom>
          <a:solidFill>
            <a:srgbClr val="DDEE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44368"/>
            <a:ext cx="384048" cy="1298448"/>
          </a:xfrm>
          <a:prstGeom prst="RECTANGLE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337413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121"/>
                </a:solidFill>
              </a:rPr>
              <a:t>No Document-Type Split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4015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Invoices go to the b2b sheet; Credit Notes go to cdnr — these had to be manually identified and separated every month before entry.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4160520" cy="1298448"/>
          </a:xfrm>
          <a:prstGeom prst="ROUNDED_RECTANGLE">
            <a:avLst>
              <a:gd name="adj" fmla="val 7042"/>
            </a:avLst>
          </a:prstGeom>
          <a:solidFill>
            <a:srgbClr val="F3E5F5"/>
          </a:solidFill>
          <a:ln w="19050">
            <a:solidFill>
              <a:srgbClr val="8E2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44368"/>
            <a:ext cx="384048" cy="1298448"/>
          </a:xfrm>
          <a:prstGeom prst="RECTANGLE">
            <a:avLst/>
          </a:prstGeom>
          <a:solidFill>
            <a:srgbClr val="8E24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337413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38928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121"/>
                </a:solidFill>
              </a:rPr>
              <a:t>Cross-Month Invoice Misses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34015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Invoices from April/May sometimes matched in July. Since filtering was by the Month column, these were being silently missed every time.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2 / 14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|  Understanding the GST IMS Portal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8638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Invoice Management System (IMS) — Introduced by GSTN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17043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The IMS Portal lets GST-registered businesses review every inward supply invoice that appears in their GSTR-2B and take action on it — Accept, Reject, or keep Pending. Accepted invoices are auto-carried into GSTR-3B for ITC claim. This makes monthly IMS action a critical compliance step that directly affects cash flow.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901952"/>
            <a:ext cx="1938528" cy="1115568"/>
          </a:xfrm>
          <a:prstGeom prst="ROUNDED_RECTANGLE">
            <a:avLst>
              <a:gd name="adj" fmla="val 8197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9568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Accepted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244144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ITC auto-populated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to GSTR-3B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901952"/>
            <a:ext cx="1938528" cy="1115568"/>
          </a:xfrm>
          <a:prstGeom prst="ROUNDED_RECTANGLE">
            <a:avLst>
              <a:gd name="adj" fmla="val 8197"/>
            </a:avLst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9568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Rejected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44144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Supplier must amend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the invoice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1901952"/>
            <a:ext cx="1938528" cy="1115568"/>
          </a:xfrm>
          <a:prstGeom prst="ROUNDED_RECTANGLE">
            <a:avLst>
              <a:gd name="adj" fmla="val 8197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9568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Pending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4144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Deferred to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next period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0" y="1901952"/>
            <a:ext cx="1938528" cy="1115568"/>
          </a:xfrm>
          <a:prstGeom prst="ROUNDED_RECTANGLE">
            <a:avLst>
              <a:gd name="adj" fmla="val 8197"/>
            </a:avLst>
          </a:prstGeom>
          <a:solidFill>
            <a:srgbClr val="E3F2FD"/>
          </a:solidFill>
          <a:ln w="25400">
            <a:solidFill>
              <a:srgbClr val="0277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9568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77BD"/>
                </a:solidFill>
              </a:rPr>
              <a:t>Deemed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77BD"/>
                </a:solidFill>
              </a:rPr>
              <a:t>Accepted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44144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Auto-accepted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by GSTN system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8549640" cy="1051560"/>
          </a:xfrm>
          <a:prstGeom prst="ROUNDED_RECTANGLE">
            <a:avLst>
              <a:gd name="adj" fmla="val 8696"/>
            </a:avLst>
          </a:prstGeom>
          <a:solidFill>
            <a:srgbClr val="FFFDE7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F00"/>
                </a:solidFill>
              </a:rPr>
              <a:t>Why We Cannot Directly Access the IMS API: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47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IMS actions must be submitted via a GST-licensed software using its own API key — a custom tool cannot connect to the GSTN API directly without separate certification. Our tool solves this cleanly: it prepares a perfectly formatted Munim upload template, and Munim handles all API communication with GSTN. No overlap, no compliance risk.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3 / 14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AICA Level 1 — The Foundation This Tool Builds 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8638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AICA Level 1 equipped CA Ravi Maan with the skills to build a fully functional Excel-macro based reconciliation tool — already in active monthly use at IJR &amp; Co.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23360" cy="3246120"/>
          </a:xfrm>
          <a:prstGeom prst="ROUNDED_RECTANGLE">
            <a:avLst>
              <a:gd name="adj" fmla="val 3380"/>
            </a:avLst>
          </a:prstGeom>
          <a:solidFill>
            <a:srgbClr val="E8EAF6"/>
          </a:solidFill>
          <a:ln w="19050">
            <a:solidFill>
              <a:srgbClr val="2835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4023360" cy="45720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AICA Level 1 Built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8653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Excel Macro-based GSTR-2B vs Books ITC Reconciliation Tool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3865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Automatically posts remarks such as "Matched in April", "Nil in 2B", "Not in Books", "Not Considered Pending"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9077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Processes IGST, CGST, SGST amounts at invoice-line level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3429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Output: Structured sheet — "2B vs Books ITC Reconciliation" — reviewed and signed off monthly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39502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Already deployed and used for every monthly GST cycle at IJR &amp; Co.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25112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3977640" cy="3246120"/>
          </a:xfrm>
          <a:prstGeom prst="ROUNDED_RECTANGLE">
            <a:avLst>
              <a:gd name="adj" fmla="val 3380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325880"/>
            <a:ext cx="3977640" cy="45720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13258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AICA Level 2 — This Tool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8653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Takes the Level 1 output as its primary input file — no re-entry of data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238658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Filters records using the Remarks column, data source (2B), and document type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9077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Correctly picks up cross-month invoices (April invoice matched in July)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42900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Splits output: Invoices → b2b sheet,  Credit Notes → cdnr sheet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95020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▸  Exports a timestamped Munim-ready .xlsx — ready to upload, no further editing needed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4 / 14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|  Objective — What We Wanted to Build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49640" cy="1207008"/>
          </a:xfrm>
          <a:prstGeom prst="ROUNDED_RECTANGLE">
            <a:avLst>
              <a:gd name="adj" fmla="val 7576"/>
            </a:avLst>
          </a:prstGeom>
          <a:solidFill>
            <a:srgbClr val="E8EAF6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658368" cy="1207008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20700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877824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Auto-Extract Matched Invoices from the Reconciliation Sheet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289304"/>
            <a:ext cx="7662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Read the 2B vs Books recon file and filter rows where: Data From = '2B' AND Remarks = 'Matched in [selected month]' — crucially, by the remark month, not the invoice period column, so cross-month invoices are never missed. Also pick up 'Nil in 2B' rows for the relevant month.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49640" cy="1207008"/>
          </a:xfrm>
          <a:prstGeom prst="ROUNDED_RECTANGLE">
            <a:avLst>
              <a:gd name="adj" fmla="val 757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48840"/>
            <a:ext cx="658368" cy="1207008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55117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222199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Split by Document Type and Assign Required Fields Automatically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2633472"/>
            <a:ext cx="7662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Route Invoices → b2b sheet and Credit Notes → cdnr sheet without any manual sorting. Auto-assign GST Rate as 18% (where any tax exists) or 0% (where all taxes are nil), and convert state names to Munim Place of Supply codes — all mandatory fields Munim validates on upload.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8549640" cy="1207008"/>
          </a:xfrm>
          <a:prstGeom prst="ROUNDED_RECTANGLE">
            <a:avLst>
              <a:gd name="adj" fmla="val 7576"/>
            </a:avLst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93008"/>
            <a:ext cx="658368" cy="1207008"/>
          </a:xfrm>
          <a:prstGeom prst="RECTANGLE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389534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3566160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</a:rPr>
              <a:t>Produce a Clean Munim Upload Template — No Manual Work for the Team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3977640"/>
            <a:ext cx="7662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Write all extracted and mapped data into a copy of the Munim GSTR-2 import template (.xlsx), in the exact column order Munim expects. Save with a timestamp. Any team member can take the file and upload it through Munim — no editing, no data entry, no possibility of error.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5 / 14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|  End-to-End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1188720"/>
            <a:ext cx="1316736" cy="1234440"/>
          </a:xfrm>
          <a:prstGeom prst="ROUNDED_RECTANGLE">
            <a:avLst>
              <a:gd name="adj" fmla="val 8889"/>
            </a:avLst>
          </a:prstGeom>
          <a:solidFill>
            <a:srgbClr val="1A23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" y="124358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2B vs Books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Recon Sheet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1783080"/>
            <a:ext cx="1316736" cy="640080"/>
          </a:xfrm>
          <a:prstGeom prst="RECTANGLE">
            <a:avLst/>
          </a:prstGeom>
          <a:solidFill>
            <a:srgbClr val="2835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1168" y="17922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</a:rPr>
              <a:t>Level 1 Output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01168" y="896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Step 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148132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64208" y="1188720"/>
            <a:ext cx="1316736" cy="1234440"/>
          </a:xfrm>
          <a:prstGeom prst="ROUNDED_RECTANGLE">
            <a:avLst>
              <a:gd name="adj" fmla="val 8889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64208" y="124358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 Tool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(Level 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64208" y="1783080"/>
            <a:ext cx="1316736" cy="640080"/>
          </a:xfrm>
          <a:prstGeom prst="RECTANGLE">
            <a:avLst/>
          </a:prstGeom>
          <a:solidFill>
            <a:srgbClr val="2835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64208" y="17922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</a:rPr>
              <a:t>Filter, Split &amp; Map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896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Step 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148132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7248" y="1188720"/>
            <a:ext cx="1316736" cy="1234440"/>
          </a:xfrm>
          <a:prstGeom prst="ROUNDED_RECTANGLE">
            <a:avLst>
              <a:gd name="adj" fmla="val 8889"/>
            </a:avLst>
          </a:prstGeom>
          <a:solidFill>
            <a:srgbClr val="006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27248" y="124358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Munim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Template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27248" y="1783080"/>
            <a:ext cx="1316736" cy="640080"/>
          </a:xfrm>
          <a:prstGeom prst="RECTANGLE">
            <a:avLst/>
          </a:prstGeom>
          <a:solidFill>
            <a:srgbClr val="2835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27248" y="17922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</a:rPr>
              <a:t>b2b + cdnr filled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896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Step 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148132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90288" y="1188720"/>
            <a:ext cx="1316736" cy="1234440"/>
          </a:xfrm>
          <a:prstGeom prst="ROUNDED_RECTANGLE">
            <a:avLst>
              <a:gd name="adj" fmla="val 8889"/>
            </a:avLst>
          </a:prstGeom>
          <a:solidFill>
            <a:srgbClr val="6A1B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90288" y="124358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Munim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Software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0288" y="1783080"/>
            <a:ext cx="1316736" cy="640080"/>
          </a:xfrm>
          <a:prstGeom prst="RECTANGLE">
            <a:avLst/>
          </a:prstGeom>
          <a:solidFill>
            <a:srgbClr val="2835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90288" y="17922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</a:rPr>
              <a:t>API push to GSTN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896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Step 4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148132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53328" y="1188720"/>
            <a:ext cx="1316736" cy="1234440"/>
          </a:xfrm>
          <a:prstGeom prst="ROUNDED_RECTANGLE">
            <a:avLst>
              <a:gd name="adj" fmla="val 8889"/>
            </a:avLst>
          </a:prstGeom>
          <a:solidFill>
            <a:srgbClr val="C6282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53328" y="124358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53328" y="1783080"/>
            <a:ext cx="1316736" cy="640080"/>
          </a:xfrm>
          <a:prstGeom prst="RECTANGLE">
            <a:avLst/>
          </a:prstGeom>
          <a:solidFill>
            <a:srgbClr val="2835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53328" y="17922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</a:rPr>
              <a:t>Invoices Accepted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53328" y="896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Step 5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388352" y="148132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16368" y="1188720"/>
            <a:ext cx="1316736" cy="1234440"/>
          </a:xfrm>
          <a:prstGeom prst="ROUNDED_RECTANGLE">
            <a:avLst>
              <a:gd name="adj" fmla="val 8889"/>
            </a:avLst>
          </a:prstGeom>
          <a:solidFill>
            <a:srgbClr val="E651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16368" y="124358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IMS Recon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(2nd Level)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16368" y="1783080"/>
            <a:ext cx="1316736" cy="640080"/>
          </a:xfrm>
          <a:prstGeom prst="RECTANGLE">
            <a:avLst/>
          </a:prstGeom>
          <a:solidFill>
            <a:srgbClr val="2835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16368" y="179222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</a:rPr>
              <a:t>Verify &amp; Audit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516368" y="896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Step 6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201168" y="24871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</a:rPr>
              <a:t>Built in Level 1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664208" y="24871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</a:rPr>
              <a:t>This Tool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3127248" y="24871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</a:rPr>
              <a:t>Upload-ready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4590288" y="24871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</a:rPr>
              <a:t>Munim's API key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6053328" y="24871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</a:rPr>
              <a:t>GSTN accepts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7516368" y="24871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</a:rPr>
              <a:t>Verify all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2944368"/>
            <a:ext cx="8549640" cy="1389888"/>
          </a:xfrm>
          <a:prstGeom prst="ROUNDED_RECTANGLE">
            <a:avLst>
              <a:gd name="adj" fmla="val 6579"/>
            </a:avLst>
          </a:prstGeom>
          <a:solidFill>
            <a:srgbClr val="FFFDE7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0292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F00"/>
                </a:solidFill>
              </a:rPr>
              <a:t>Why Munim handles the IMS API — not our tool: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Munim (our GST software) holds a licensed API key for GSTN IMS communication. Replicating this in a custom tool would require separate software certification and GSTN approval — not practical or necessary. Our tool prepares the data in the exact format Munim expects; Munim handles the actual regulatory submission. This is the correct and practical separation of responsibility.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6 / 14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|  Step-by-Step: How We Built the Tool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170432"/>
          </a:xfrm>
          <a:prstGeom prst="ROUNDED_RECTANGLE">
            <a:avLst>
              <a:gd name="adj" fmla="val 7813"/>
            </a:avLst>
          </a:prstGeom>
          <a:solidFill>
            <a:srgbClr val="F5F7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" cy="11704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85953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7E"/>
                </a:solidFill>
              </a:rPr>
              <a:t>Analysed the Reconciliation Sheet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243584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Examined the 2B vs Books ITC Recon file: header row position (row 6), all column names, exact values in the Remarks column, date formats, and how Data From distinguishes 2B from Books entries.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4160520" cy="1170432"/>
          </a:xfrm>
          <a:prstGeom prst="ROUNDED_RECTANGLE">
            <a:avLst>
              <a:gd name="adj" fmla="val 7813"/>
            </a:avLst>
          </a:prstGeom>
          <a:solidFill>
            <a:srgbClr val="F5F7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21408"/>
            <a:ext cx="402336" cy="11704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76272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7E"/>
                </a:solidFill>
              </a:rPr>
              <a:t>Designed the Correct Filter Logic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6032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Defined three filters: (a) Data From = '2B', (b) Remark = 'Matched in [Month]' — using the remark text, not the Month column, to capture cross-month invoices — and (c) Document Type split for Invoice vs Credit Note.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4160520" cy="1170432"/>
          </a:xfrm>
          <a:prstGeom prst="ROUNDED_RECTANGLE">
            <a:avLst>
              <a:gd name="adj" fmla="val 7813"/>
            </a:avLst>
          </a:prstGeom>
          <a:solidFill>
            <a:srgbClr val="F5F7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38144"/>
            <a:ext cx="402336" cy="11704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49300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7E"/>
                </a:solidFill>
              </a:rPr>
              <a:t>Mapped Columns to Munim Template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77056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Matched each recon column to the exact Munim b2b and cdnr column positions. Handled GST Rate logic (18% if tax &gt; 0, else 0%), Place of Supply name-to-code conversion, DD-MMM-YYYY date format, and abs() for credit note negative values.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160520" cy="1170432"/>
          </a:xfrm>
          <a:prstGeom prst="ROUNDED_RECTANGLE">
            <a:avLst>
              <a:gd name="adj" fmla="val 7813"/>
            </a:avLst>
          </a:prstGeom>
          <a:solidFill>
            <a:srgbClr val="F5F7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804672"/>
            <a:ext cx="402336" cy="11704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85953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7E"/>
                </a:solidFill>
              </a:rPr>
              <a:t>Built the Python Tool with a GUI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1243584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Coded the full solution in Python using pandas (filtering and data processing), openpyxl (reading Munim template and writing data), and tkinter (the user-friendly GUI with file browsers, month dropdown, and run button).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121408"/>
            <a:ext cx="4160520" cy="1170432"/>
          </a:xfrm>
          <a:prstGeom prst="ROUNDED_RECTANGLE">
            <a:avLst>
              <a:gd name="adj" fmla="val 7813"/>
            </a:avLst>
          </a:prstGeom>
          <a:solidFill>
            <a:srgbClr val="F5F7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121408"/>
            <a:ext cx="402336" cy="11704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2176272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7E"/>
                </a:solidFill>
              </a:rPr>
              <a:t>Created a BAT File for One-Click Use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256032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A Windows Batch (.bat) file auto-installs required Python packages on first run and launches the GUI tool. Works on any Windows laptop with Python installed — team members need zero technical knowledge to run it.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438144"/>
            <a:ext cx="4160520" cy="1170432"/>
          </a:xfrm>
          <a:prstGeom prst="ROUNDED_RECTANGLE">
            <a:avLst>
              <a:gd name="adj" fmla="val 7813"/>
            </a:avLst>
          </a:prstGeom>
          <a:solidFill>
            <a:srgbClr val="F5F7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438144"/>
            <a:ext cx="402336" cy="11704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6344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49300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7E"/>
                </a:solidFill>
              </a:rPr>
              <a:t>Tested Against Real Client Data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877056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Ran the tool against April–July 2026 reconciliation data (377 2B rows across four months). Verified b2b/cdnr split, cross-month pickup (3 invoices), date formatting, Place of Supply mapping, and tax values.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7 / 14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  |  Tools Used to Build This Solution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207008"/>
          </a:xfrm>
          <a:prstGeom prst="ROUNDED_RECTANGLE">
            <a:avLst>
              <a:gd name="adj" fmla="val 7576"/>
            </a:avLst>
          </a:prstGeom>
          <a:solidFill>
            <a:srgbClr val="E8EAF6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8778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Claude AI  (Anthropic)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1024128" cy="256032"/>
          </a:xfrm>
          <a:prstGeom prst="ROUNDED_RECTANGLE">
            <a:avLst>
              <a:gd name="adj" fmla="val 21429"/>
            </a:avLst>
          </a:prstGeom>
          <a:solidFill>
            <a:srgbClr val="1A23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64408" y="91440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claude.ai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2801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The AI backbone. Used to design the architecture, write all Python code, debug logic, and iterate the tool in real-time based on feedback — compressing what would be days of solo development into a few focused hours.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1207008"/>
          </a:xfrm>
          <a:prstGeom prst="ROUNDED_RECTANGLE">
            <a:avLst>
              <a:gd name="adj" fmla="val 757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8778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Python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53528" y="914400"/>
            <a:ext cx="1024128" cy="256032"/>
          </a:xfrm>
          <a:prstGeom prst="ROUNDED_RECTANGLE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53528" y="91440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v3.11+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2801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Core programming language. Handles all data processing, filtering logic, column mapping, and Excel file generation. Runs 100% offline — no internet, no cloud, no data ever leaves the laptop.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4160520" cy="1207008"/>
          </a:xfrm>
          <a:prstGeom prst="ROUNDED_RECTANGLE">
            <a:avLst>
              <a:gd name="adj" fmla="val 7576"/>
            </a:avLst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2311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</a:rPr>
              <a:t>pandas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2267712"/>
            <a:ext cx="1024128" cy="256032"/>
          </a:xfrm>
          <a:prstGeom prst="ROUNDED_RECTANGLE">
            <a:avLst>
              <a:gd name="adj" fmla="val 21429"/>
            </a:avLst>
          </a:prstGeom>
          <a:solidFill>
            <a:srgbClr val="006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64408" y="22677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Python Library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63347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Reads and filters the 2B vs Books reconciliation Excel file with precision. Handles auto-detection of header rows, data type normalization, and the multi-condition filtering logic at the heart of the tool.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157984"/>
            <a:ext cx="4160520" cy="1207008"/>
          </a:xfrm>
          <a:prstGeom prst="ROUNDED_RECTANGLE">
            <a:avLst>
              <a:gd name="adj" fmla="val 7576"/>
            </a:avLst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311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openpyxl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53528" y="2267712"/>
            <a:ext cx="1024128" cy="256032"/>
          </a:xfrm>
          <a:prstGeom prst="ROUNDED_RECTANGLE">
            <a:avLst>
              <a:gd name="adj" fmla="val 21429"/>
            </a:avLst>
          </a:prstGeom>
          <a:solidFill>
            <a:srgbClr val="6A1B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53528" y="22677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Python Library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63347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Writes data into the Munim template while preserving all existing formatting, formula rows, and sheet structure. Handles date formatting, font application, and template-safe cell-by-cell writing.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160520" cy="1207008"/>
          </a:xfrm>
          <a:prstGeom prst="ROUNDED_RECTANGLE">
            <a:avLst>
              <a:gd name="adj" fmla="val 7576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584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tkinter  (GUI)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3621024"/>
            <a:ext cx="1024128" cy="256032"/>
          </a:xfrm>
          <a:prstGeom prst="ROUNDED_RECTANGLE">
            <a:avLst>
              <a:gd name="adj" fmla="val 21429"/>
            </a:avLst>
          </a:prstGeom>
          <a:solidFill>
            <a:srgbClr val="E651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64408" y="36210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Built-in Python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39867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Provides the user-friendly GUI — file browse dialogs, month dropdown, output folder selector, step-by-step status bar, and the summary popup. No terminal. No coding. Any team member can use it independently.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511296"/>
            <a:ext cx="4160520" cy="1207008"/>
          </a:xfrm>
          <a:prstGeom prst="ROUNDED_RECTANGLE">
            <a:avLst>
              <a:gd name="adj" fmla="val 7576"/>
            </a:avLst>
          </a:prstGeom>
          <a:solidFill>
            <a:srgbClr val="ECEFF1"/>
          </a:solidFill>
          <a:ln w="19050">
            <a:solidFill>
              <a:srgbClr val="455A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3584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Windows BAT File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53528" y="3621024"/>
            <a:ext cx="1024128" cy="256032"/>
          </a:xfrm>
          <a:prstGeom prst="ROUNDED_RECTANGLE">
            <a:avLst>
              <a:gd name="adj" fmla="val 21429"/>
            </a:avLst>
          </a:prstGeom>
          <a:solidFill>
            <a:srgbClr val="455A6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53528" y="36210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.bat Script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39867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A one-line launcher that auto-installs required packages on first run and opens the GUI. Works on any Windows machine with Python installed. Eliminates all setup friction for non-developer users.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8 / 14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  |  The Bridge — How the Tool Connects the Entire Workflow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863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The tool sits precisely between the reconciliation output and the Munim submission — transforming data so the team never has to touch it manually.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24912" cy="3218688"/>
          </a:xfrm>
          <a:prstGeom prst="ROUNDED_RECTANGLE">
            <a:avLst>
              <a:gd name="adj" fmla="val 4027"/>
            </a:avLst>
          </a:prstGeom>
          <a:solidFill>
            <a:srgbClr val="E8EAF6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98448"/>
            <a:ext cx="2724912" cy="475488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129844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8470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2B vs Books ITC Reconciliation sheet (Level 1 output)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23774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User selects the return period month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290779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Tool reads: Data From, Remarks, Document Type columns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343814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377 source rows spanning Apr–Jul 2026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26334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82112" y="1298448"/>
            <a:ext cx="2724912" cy="3218688"/>
          </a:xfrm>
          <a:prstGeom prst="ROUNDED_RECTANGLE">
            <a:avLst>
              <a:gd name="adj" fmla="val 4027"/>
            </a:avLst>
          </a:prstGeom>
          <a:solidFill>
            <a:srgbClr val="FFFDE7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298448"/>
            <a:ext cx="2724912" cy="475488"/>
          </a:xfrm>
          <a:prstGeom prst="RECTANGLE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82112" y="129844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THIS TOOL DOES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8470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Filters: 2B data + remark matches selected month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3774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Captures cross-month invoices via remark logic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90779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Splits: Invoice → b2b,  Credit Note → cdnr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43814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Maps GST rate, POS codes, date format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96849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Writes to a timestamped copy of Munim template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916168" y="26334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9904" y="1298448"/>
            <a:ext cx="2724912" cy="3218688"/>
          </a:xfrm>
          <a:prstGeom prst="ROUNDED_RECTANGLE">
            <a:avLst>
              <a:gd name="adj" fmla="val 4027"/>
            </a:avLst>
          </a:prstGeom>
          <a:solidFill>
            <a:srgbClr val="E0F2F1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9904" y="1298448"/>
            <a:ext cx="2724912" cy="475488"/>
          </a:xfrm>
          <a:prstGeom prst="RECTANGLE">
            <a:avLst/>
          </a:prstGeom>
          <a:solidFill>
            <a:srgbClr val="006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89904" y="129844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18470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Munim-ready .xlsx with b2b and cdnr sheets filled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23774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Team uploads to Munim — no editing needed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290779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Munim API pushes to IMS Portal (GSTN)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343814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Invoices show as Accepted on IMS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396849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▸  Original template is never modified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9 / 14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  |  2nd Level — IMS Acceptance Reconciliation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8638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After Munim pushes data to IMS, a second Python tool verifies every acceptance — closing the compliance loop completely.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43584"/>
            <a:ext cx="1920240" cy="1170432"/>
          </a:xfrm>
          <a:prstGeom prst="ROUNDED_RECTANGLE">
            <a:avLst>
              <a:gd name="adj" fmla="val 9375"/>
            </a:avLst>
          </a:prstGeom>
          <a:solidFill>
            <a:srgbClr val="1A23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298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Step 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5361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Our Matched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Invoice List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Extracted via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this tool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1243584"/>
            <a:ext cx="1920240" cy="1170432"/>
          </a:xfrm>
          <a:prstGeom prst="ROUNDED_RECTANGLE">
            <a:avLst>
              <a:gd name="adj" fmla="val 9375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68880" y="1298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Step 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5361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Munim Pushes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 IMS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Via licensed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API key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243584"/>
            <a:ext cx="1920240" cy="1170432"/>
          </a:xfrm>
          <a:prstGeom prst="ROUNDED_RECTANGLE">
            <a:avLst>
              <a:gd name="adj" fmla="val 9375"/>
            </a:avLst>
          </a:prstGeom>
          <a:solidFill>
            <a:srgbClr val="006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1298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Step 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5361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IMS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GST Portal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Munim export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0" y="1243584"/>
            <a:ext cx="1920240" cy="1170432"/>
          </a:xfrm>
          <a:prstGeom prst="ROUNDED_RECTANGLE">
            <a:avLst>
              <a:gd name="adj" fmla="val 9375"/>
            </a:avLst>
          </a:prstGeom>
          <a:solidFill>
            <a:srgbClr val="6A1B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1298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Step 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5361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IMS Recon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Python: compare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</a:rPr>
              <a:t>&amp; flag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</a:rPr>
              <a:t>Reconciliation Outcomes: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852928"/>
            <a:ext cx="1920240" cy="1051560"/>
          </a:xfrm>
          <a:prstGeom prst="ROUNDED_RECTANGLE">
            <a:avLst>
              <a:gd name="adj" fmla="val 8696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Confirmed Accepted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3255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Matched + Accepted on IMS — ITC can be claimed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68880" y="2852928"/>
            <a:ext cx="1920240" cy="1051560"/>
          </a:xfrm>
          <a:prstGeom prst="ROUNDED_RECTANGLE">
            <a:avLst>
              <a:gd name="adj" fmla="val 8696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</a:rPr>
              <a:t>Pending on IMS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255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Pushed but not actioned — follow up needed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852928"/>
            <a:ext cx="1920240" cy="1051560"/>
          </a:xfrm>
          <a:prstGeom prst="ROUNDED_RECTANGLE">
            <a:avLst>
              <a:gd name="adj" fmla="val 8696"/>
            </a:avLst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Rejected on IMS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255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Needs investigation or supplier amendment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58000" y="2852928"/>
            <a:ext cx="1920240" cy="1051560"/>
          </a:xfrm>
          <a:prstGeom prst="ROUNDED_RECTANGLE">
            <a:avLst>
              <a:gd name="adj" fmla="val 8696"/>
            </a:avLst>
          </a:prstGeom>
          <a:solidFill>
            <a:srgbClr val="FBE9E7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360C"/>
                </a:solidFill>
              </a:rPr>
              <a:t>Not Found on IMS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3255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In our list but absent from IMS — check Munim upload status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20040" y="39776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24242"/>
                </a:solidFill>
              </a:rPr>
              <a:t>This gives IJR &amp; Co. a complete audit trail — matched, pushed, accepted, and verified — for every invoice in every return period.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10 / 14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  |  Key Features of the Tool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188720"/>
          </a:xfrm>
          <a:prstGeom prst="ROUNDED_RECTANGLE">
            <a:avLst>
              <a:gd name="adj" fmla="val 7692"/>
            </a:avLst>
          </a:prstGeom>
          <a:solidFill>
            <a:srgbClr val="F8F9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384048" cy="118872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1887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85953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7E"/>
                </a:solidFill>
              </a:rPr>
              <a:t>Cross-Month Invoice Pickup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252728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Filters by the remark text (not the Month column) — so a 'Matched in July' remark on an April invoice gets picked up correctly when July is selected.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1188720"/>
          </a:xfrm>
          <a:prstGeom prst="ROUNDED_RECTANGLE">
            <a:avLst>
              <a:gd name="adj" fmla="val 7692"/>
            </a:avLst>
          </a:prstGeom>
          <a:solidFill>
            <a:srgbClr val="F8F9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384048" cy="118872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1887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85953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Automatic Document-Type Split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252728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Invoices are written to the b2b sheet; Credit Notes to the cdnr sheet — zero manual sorting. Document Type is read directly from the source data.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4160520" cy="1188720"/>
          </a:xfrm>
          <a:prstGeom prst="ROUNDED_RECTANGLE">
            <a:avLst>
              <a:gd name="adj" fmla="val 7692"/>
            </a:avLst>
          </a:prstGeom>
          <a:solidFill>
            <a:srgbClr val="F8F9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57984"/>
            <a:ext cx="384048" cy="1188720"/>
          </a:xfrm>
          <a:prstGeom prst="RECTANGLE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2542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21284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Smart GST Rate Assignment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606040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18% where IGST/CGST/SGST total is non-zero; 0% where all taxes are nil. Satisfies Munim's mandatory rate field without any manual decision-making.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157984"/>
            <a:ext cx="4160520" cy="1188720"/>
          </a:xfrm>
          <a:prstGeom prst="ROUNDED_RECTANGLE">
            <a:avLst>
              <a:gd name="adj" fmla="val 7692"/>
            </a:avLst>
          </a:prstGeom>
          <a:solidFill>
            <a:srgbClr val="F8F9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157984"/>
            <a:ext cx="384048" cy="1188720"/>
          </a:xfrm>
          <a:prstGeom prst="RECTANGLE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2542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21284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Place of Supply Code Mapping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2606040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Converts full state names (e.g. 'Jammu and Kashmir') to Munim's required code format ('01-Jammu &amp; Kashmir'). Falls back to GSTIN prefix if name is unclear.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160520" cy="1188720"/>
          </a:xfrm>
          <a:prstGeom prst="ROUNDED_RECTANGLE">
            <a:avLst>
              <a:gd name="adj" fmla="val 7692"/>
            </a:avLst>
          </a:prstGeom>
          <a:solidFill>
            <a:srgbClr val="F8F9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11296"/>
            <a:ext cx="384048" cy="118872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20" y="389534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56616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Template-Safe — Originals Intact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959352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The tool always copies the Munim template before writing. Your original template is never modified. Each run produces a new timestamped file, preserving every version.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511296"/>
            <a:ext cx="4160520" cy="1188720"/>
          </a:xfrm>
          <a:prstGeom prst="ROUNDED_RECTANGLE">
            <a:avLst>
              <a:gd name="adj" fmla="val 7692"/>
            </a:avLst>
          </a:prstGeom>
          <a:solidFill>
            <a:srgbClr val="F8F9FF"/>
          </a:solidFill>
          <a:ln w="25400">
            <a:solidFill>
              <a:srgbClr val="455A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511296"/>
            <a:ext cx="384048" cy="1188720"/>
          </a:xfrm>
          <a:prstGeom prst="RECTANGLE">
            <a:avLst/>
          </a:prstGeom>
          <a:solidFill>
            <a:srgbClr val="455A6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63440" y="389534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56616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No-Code GUI for the Entire Team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959352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Tkinter GUI lets any team member — regardless of technical background — browse files, pick a month, and click Run. No terminal, no scripts, no manual steps.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11 / 14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  |  Impact on IJR &amp; Co. Operations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234440"/>
          </a:xfrm>
          <a:prstGeom prst="ROUNDED_RECTANGLE">
            <a:avLst>
              <a:gd name="adj" fmla="val 8889"/>
            </a:avLst>
          </a:prstGeom>
          <a:solidFill>
            <a:srgbClr val="F5F7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886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</a:rPr>
              <a:t>335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Invoices processed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across Apr–Jul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20240" cy="1234440"/>
          </a:xfrm>
          <a:prstGeom prst="ROUNDED_RECTANGLE">
            <a:avLst>
              <a:gd name="adj" fmla="val 8889"/>
            </a:avLst>
          </a:prstGeom>
          <a:solidFill>
            <a:srgbClr val="F5F7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50592" y="886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&lt; 2 min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450592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Time per month vs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hours of manual entry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20240" cy="1234440"/>
          </a:xfrm>
          <a:prstGeom prst="ROUNDED_RECTANGLE">
            <a:avLst>
              <a:gd name="adj" fmla="val 8889"/>
            </a:avLst>
          </a:prstGeom>
          <a:solidFill>
            <a:srgbClr val="F5F7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886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</a:rPr>
              <a:t>Zero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Manual data-entry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errors now possible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1920240" cy="1234440"/>
          </a:xfrm>
          <a:prstGeom prst="ROUNDED_RECTANGLE">
            <a:avLst>
              <a:gd name="adj" fmla="val 8889"/>
            </a:avLst>
          </a:prstGeom>
          <a:solidFill>
            <a:srgbClr val="F5F7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03136" y="886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1B9A"/>
                </a:solidFill>
              </a:rPr>
              <a:t>6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Team members who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</a:rPr>
              <a:t>can run this independently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240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Before This Tool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2402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After This Tool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33472"/>
            <a:ext cx="4206240" cy="1920240"/>
          </a:xfrm>
          <a:prstGeom prst="ROUNDED_RECTANGLE">
            <a:avLst>
              <a:gd name="adj" fmla="val 4762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33472"/>
            <a:ext cx="4160520" cy="1920240"/>
          </a:xfrm>
          <a:prstGeom prst="ROUNDED_RECTANGLE">
            <a:avLst>
              <a:gd name="adj" fmla="val 4762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2715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✗  Copy-paste each invoice row from the recon sheet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3072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✗  Manually identify invoices vs credit notes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✗  Risk of GSTIN/date/value copy errors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37856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✗  Cross-month invoices frequently missed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142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✗  Senior team member spent hours each month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7157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</a:rPr>
              <a:t>✓  Select month and click Run — done in seconds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0723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</a:rPr>
              <a:t>✓  Automatic split: b2b and cdnr, zero sorting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4290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</a:rPr>
              <a:t>✓  All values read directly from source — no manual touch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7856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</a:rPr>
              <a:t>✓  Cross-month invoices captured correctly via remark filter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4142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32"/>
                </a:solidFill>
              </a:rPr>
              <a:t>✓  Any team member can run it independently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12 / 14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12  |  Future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49640" cy="868680"/>
          </a:xfrm>
          <a:prstGeom prst="ROUNDED_RECTANGLE">
            <a:avLst>
              <a:gd name="adj" fmla="val 10526"/>
            </a:avLst>
          </a:prstGeom>
          <a:solidFill>
            <a:srgbClr val="F8F9FF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66928" cy="8686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0515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36992" y="1078992"/>
            <a:ext cx="777240" cy="256032"/>
          </a:xfrm>
          <a:prstGeom prst="ROUNDED_RECTANGLE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36992" y="1078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8503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Standalone EXE Distribution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2252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Convert the Python tool to a .exe using PyInstaller — runs on any Windows computer without Python installed. Double-click, no setup, no dependencies. Distributable across the firm and to clients.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49640" cy="868680"/>
          </a:xfrm>
          <a:prstGeom prst="ROUNDED_RECTANGLE">
            <a:avLst>
              <a:gd name="adj" fmla="val 10526"/>
            </a:avLst>
          </a:prstGeom>
          <a:solidFill>
            <a:srgbClr val="F8F9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10512"/>
            <a:ext cx="566928" cy="86868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2057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2084832"/>
            <a:ext cx="777240" cy="256032"/>
          </a:xfrm>
          <a:prstGeom prst="ROUNDED_RECTANGLE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36992" y="20848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8562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IMS Acceptance Reconciliation Tool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2311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Build the 2nd-level reconciliation module: compare our Matched invoice list against the IMS Portal status report to verify every accepted invoice and automatically flag Pending, Rejected, or Missing ones.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8549640" cy="868680"/>
          </a:xfrm>
          <a:prstGeom prst="ROUNDED_RECTANGLE">
            <a:avLst>
              <a:gd name="adj" fmla="val 10526"/>
            </a:avLst>
          </a:prstGeom>
          <a:solidFill>
            <a:srgbClr val="F8F9FF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16352"/>
            <a:ext cx="566928" cy="868680"/>
          </a:xfrm>
          <a:prstGeom prst="RECTANGLE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4320" y="30632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36992" y="3090672"/>
            <a:ext cx="777240" cy="256032"/>
          </a:xfrm>
          <a:prstGeom prst="ROUNDED_RECTANGLE">
            <a:avLst>
              <a:gd name="adj" fmla="val 21429"/>
            </a:avLst>
          </a:prstGeom>
          <a:solidFill>
            <a:srgbClr val="FF8F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36992" y="30906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Concept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28620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</a:rPr>
              <a:t>Multi-Client Batch Processing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2369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Tag records by client GSTIN and generate separate Munim templates per client in one run — enabling the tool to serve all of IJR &amp; Co.'s GST clients without running the process separately for each.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22192"/>
            <a:ext cx="8549640" cy="868680"/>
          </a:xfrm>
          <a:prstGeom prst="ROUNDED_RECTANGLE">
            <a:avLst>
              <a:gd name="adj" fmla="val 10526"/>
            </a:avLst>
          </a:prstGeom>
          <a:solidFill>
            <a:srgbClr val="F8F9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822192"/>
            <a:ext cx="566928" cy="868680"/>
          </a:xfrm>
          <a:prstGeom prst="RECTANGLE">
            <a:avLst/>
          </a:prstGeom>
          <a:solidFill>
            <a:srgbClr val="6A1B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4320" y="40690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36992" y="4096512"/>
            <a:ext cx="777240" cy="256032"/>
          </a:xfrm>
          <a:prstGeom prst="ROUNDED_RECTANGLE">
            <a:avLst>
              <a:gd name="adj" fmla="val 21429"/>
            </a:avLst>
          </a:prstGeom>
          <a:solidFill>
            <a:srgbClr val="FF8F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36992" y="4096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Concept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3867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Auto Return Period Population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2428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Auto-detect and populate the Return Period column in the Munim template based on the selected month and financial year — removing the last remaining manual field in the upload template.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ANGLE">
            <a:avLst/>
          </a:prstGeom>
          <a:solidFill>
            <a:srgbClr val="1A237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4320" y="4855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CA Ravi Maan  |  IJR &amp; Co., Panchkula  |  AICA | L2 | Batch 85  |  ICAI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4855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A8DA"/>
                </a:solidFill>
              </a:rPr>
              <a:t>13 / 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Manual Entry to Intelligent Automation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5E8"/>
                </a:solidFill>
              </a:rPr>
              <a:t>▸   AICA Level 1 built the foundation — the Excel-macro GSTR-2B vs Books ITC Reconciliation tool, already running monthly at IJR &amp; Co.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5E8"/>
                </a:solidFill>
              </a:rPr>
              <a:t>▸   AICA Level 2 extended that foundation into a Python-powered automation tool that extracts, transforms, and prepares data for Munim IMS submission — eliminating all manual steps.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5E8"/>
                </a:solidFill>
              </a:rPr>
              <a:t>▸   The tool is a practical bridge: it removes every manual step between reconciliation and Munim upload, saving significant time, eliminating data-entry risk, and empowering the entire team.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5E8"/>
                </a:solidFill>
              </a:rPr>
              <a:t>▸   It demonstrates how AI (Claude), programming (Python), and CA domain expertise combine to solve a real GST compliance challenge — without touching any regulated API or requiring any technical background from the user.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133088"/>
            <a:ext cx="8229600" cy="36576"/>
          </a:xfrm>
          <a:prstGeom prst="RECTANGLE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4224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Prepared by: CA Ravi Maan  |  AICA | L2 | Batch 85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42245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A825"/>
                </a:solidFill>
              </a:rPr>
              <a:t>IJR &amp; Co., Panchkula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2026-09-02T08:57:04Z</dcterms:created>
  <dcterms:modified xsi:type="dcterms:W3CDTF">2026-09-02T08:57:04Z</dcterms:modified>
</cp:coreProperties>
</file>