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embeddedFontLst>
    <p:embeddedFont>
      <p:font typeface="Public Sans"/>
      <p:regular r:id="rId201314"/>
    </p:embeddedFont>
    <p:embeddedFont>
      <p:font typeface="Public Sans Medium"/>
      <p:regular r:id="rId201315"/>
    </p:embeddedFont>
    <p:embeddedFont>
      <p:font typeface="Public Sans SemiBold"/>
      <p:regular r:id="rId201316"/>
    </p:embeddedFont>
    <p:embeddedFont>
      <p:font typeface="Public Sans Bold"/>
      <p:regular r:id="rId201317"/>
    </p:embeddedFont>
    <p:embeddedFont>
      <p:font typeface="Sora SemiBold"/>
      <p:regular r:id="rId201318"/>
    </p:embeddedFont>
    <p:embeddedFont>
      <p:font typeface="Sora ExtraBold"/>
      <p:regular r:id="rId201319"/>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capstone demonstration: an automated solution built specifically to transform manual bank statement reviews into structured, reviewable financial analysis for audit and advisory engagements.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three foundational goals: saving practitioner hours, eliminating calculation errors through strict reconciliation rules, and accelerating executive insight into cash flow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the ingestion layer normalizes inconsistent PDF and spreadsheet table layouts into uniform database fields required for automated reconciliation.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four operational phases: upload, data structuring, AI categorization with rule-based reconciliation, and standardized export.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dashboard functions: grouping receipts and payments, tracking net cash movement and the running balance, and flagging concentrations and anomalies for professional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the three-page architecture: Page 1 covers management insights, Page 2 delivers cash flow analytics and categorization, and Page 3 documents exceptions and high-risk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the presentation by reinforcing the tripartite value proposition (efficiency, consistency, insight) while affirming the necessity of professional CA judgment.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reconciliation logic: opening balance plus credits minus debits must equal the closing balance, and any exception is listed for professional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monthly view: inflows against outflows shows the direction of cash flow, and the liquidity trend shows whether the balance is building or tightening.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restating what the capstone shows: a faster, more consistent first pass over bank statements. Stress that the generated findings guide the professional's review; they do not replace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2-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2.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1" Type="http://schemas.openxmlformats.org/officeDocument/2006/relationships/image" Target="../media/image-1004-1.jpeg"/><Relationship Id="rId2" Type="http://schemas.openxmlformats.org/officeDocument/2006/relationships/image" Target="../media/image-1002-2.pn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20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master 2">
    <p:bg>
      <p:bgPr>
        <a:solidFill>
          <a:srgbClr val="F9FAFC"/>
        </a:solidFill>
      </p:bgPr>
    </p:bg>
    <p:spTree>
      <p:nvGrpSpPr>
        <p:cNvPr id="1" name=""/>
        <p:cNvGrpSpPr/>
        <p:nvPr/>
      </p:nvGrpSpPr>
      <p:grpSpPr>
        <a:xfrm>
          <a:off x="0" y="0"/>
          <a:ext cx="0" cy="0"/>
          <a:chOff x="0" y="0"/>
          <a:chExt cx="0" cy="0"/>
        </a:xfrm>
      </p:grpSpPr>
      <p:pic>
        <p:nvPicPr>
          <p:cNvPr id="2" name="Image 0" descr="preencoded.png">
            <a:hlinkClick r:id="rId2" tooltip=""/>
          </p:cNvPr>
          <p:cNvPicPr>
            <a:picLocks noChangeAspect="1"/>
          </p:cNvPicPr>
          <p:nvPr/>
        </p:nvPicPr>
        <p:blipFill>
          <a:blip r:embed="rId1"/>
          <a:stretch>
            <a:fillRect/>
          </a:stretch>
        </p:blipFill>
        <p:spPr>
          <a:xfrm>
            <a:off x="11076875" y="65589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master 3">
    <p:bg>
      <p:bgPr>
        <a:solidFill>
          <a:srgbClr val="F9FAF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Shape 0"/>
          <p:cNvSpPr/>
          <p:nvPr/>
        </p:nvSpPr>
        <p:spPr>
          <a:xfrm>
            <a:off x="0" y="0"/>
            <a:ext cx="12191695" cy="6858000"/>
          </a:xfrm>
          <a:prstGeom prst="rect">
            <a:avLst/>
          </a:prstGeom>
          <a:solidFill>
            <a:srgbClr val="000000">
              <a:alpha val="25000"/>
            </a:srgbClr>
          </a:solidFill>
          <a:ln/>
        </p:spPr>
      </p:sp>
      <p:pic>
        <p:nvPicPr>
          <p:cNvPr id="4" name="Image 1" descr="preencoded.png">
            <a:hlinkClick r:id="rId3" tooltip=""/>
          </p:cNvPr>
          <p:cNvPicPr>
            <a:picLocks noChangeAspect="1"/>
          </p:cNvPicPr>
          <p:nvPr/>
        </p:nvPicPr>
        <p:blipFill>
          <a:blip r:embed="rId2"/>
          <a:stretch>
            <a:fillRect/>
          </a:stretch>
        </p:blipFill>
        <p:spPr>
          <a:xfrm>
            <a:off x="11076875" y="65589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65156" y="585153"/>
            <a:ext cx="2994446" cy="205680"/>
          </a:xfrm>
          <a:prstGeom prst="rect">
            <a:avLst/>
          </a:prstGeom>
          <a:noFill/>
          <a:ln/>
        </p:spPr>
        <p:txBody>
          <a:bodyPr wrap="none" lIns="0" tIns="0" rIns="0" bIns="0" rtlCol="0" anchor="t"/>
          <a:lstStyle/>
          <a:p>
            <a:pPr algn="l" indent="0" marL="0">
              <a:lnSpc>
                <a:spcPct val="113000"/>
              </a:lnSpc>
              <a:buNone/>
            </a:pPr>
            <a:r>
              <a:rPr lang="en-US" sz="1200" spc="96" kern="100" dirty="0">
                <a:solidFill>
                  <a:srgbClr val="FFFFFF"/>
                </a:solidFill>
                <a:latin typeface="Public Sans" pitchFamily="34" charset="0"/>
                <a:ea typeface="Public Sans" pitchFamily="34" charset="-122"/>
                <a:cs typeface="Public Sans" pitchFamily="34" charset="-120"/>
              </a:rPr>
              <a:t>AICA LEVEL 2 · CAPSTONE PROJECT</a:t>
            </a:r>
            <a:endParaRPr lang="en-US" sz="1200" dirty="0"/>
          </a:p>
        </p:txBody>
      </p:sp>
      <p:sp>
        <p:nvSpPr>
          <p:cNvPr id="3" name="Text 1"/>
          <p:cNvSpPr/>
          <p:nvPr/>
        </p:nvSpPr>
        <p:spPr>
          <a:xfrm>
            <a:off x="4216791" y="585153"/>
            <a:ext cx="3226513" cy="205680"/>
          </a:xfrm>
          <a:prstGeom prst="rect">
            <a:avLst/>
          </a:prstGeom>
          <a:noFill/>
          <a:ln/>
        </p:spPr>
        <p:txBody>
          <a:bodyPr wrap="none" lIns="0" tIns="0" rIns="0" bIns="0" rtlCol="0" anchor="t"/>
          <a:lstStyle/>
          <a:p>
            <a:pPr algn="l" indent="0" marL="0">
              <a:lnSpc>
                <a:spcPct val="113000"/>
              </a:lnSpc>
              <a:buNone/>
            </a:pPr>
            <a:r>
              <a:rPr lang="en-US" sz="1200" spc="96" kern="100" dirty="0">
                <a:solidFill>
                  <a:srgbClr val="FFFFFF"/>
                </a:solidFill>
                <a:latin typeface="Public Sans" pitchFamily="34" charset="0"/>
                <a:ea typeface="Public Sans" pitchFamily="34" charset="-122"/>
                <a:cs typeface="Public Sans" pitchFamily="34" charset="-120"/>
              </a:rPr>
              <a:t>CAPSTONE PROJECT DEMONSTRATION</a:t>
            </a:r>
            <a:endParaRPr lang="en-US" sz="1200" dirty="0"/>
          </a:p>
        </p:txBody>
      </p:sp>
      <p:sp>
        <p:nvSpPr>
          <p:cNvPr id="4" name="Text 2"/>
          <p:cNvSpPr/>
          <p:nvPr/>
        </p:nvSpPr>
        <p:spPr>
          <a:xfrm>
            <a:off x="765156" y="1155005"/>
            <a:ext cx="8019849" cy="1422400"/>
          </a:xfrm>
          <a:prstGeom prst="rect">
            <a:avLst/>
          </a:prstGeom>
          <a:noFill/>
          <a:ln/>
        </p:spPr>
        <p:txBody>
          <a:bodyPr wrap="square" lIns="0" tIns="0" rIns="0" bIns="0" rtlCol="0" anchor="t">
            <a:normAutofit/>
          </a:bodyPr>
          <a:lstStyle/>
          <a:p>
            <a:pPr algn="l" indent="0" marL="0">
              <a:lnSpc>
                <a:spcPct val="83000"/>
              </a:lnSpc>
              <a:buNone/>
            </a:pPr>
            <a:r>
              <a:rPr lang="en-US" sz="5600" spc="-84" kern="100" dirty="0">
                <a:solidFill>
                  <a:srgbClr val="FFFFFF"/>
                </a:solidFill>
                <a:latin typeface="Sora ExtraBold" pitchFamily="34" charset="0"/>
                <a:ea typeface="Sora ExtraBold" pitchFamily="34" charset="-122"/>
                <a:cs typeface="Sora ExtraBold" pitchFamily="34" charset="-120"/>
              </a:rPr>
              <a:t>AI-Powered Bank Statement Analyzer</a:t>
            </a:r>
            <a:endParaRPr lang="en-US" sz="5600" dirty="0"/>
          </a:p>
        </p:txBody>
      </p:sp>
      <p:sp>
        <p:nvSpPr>
          <p:cNvPr id="5" name="Text 3"/>
          <p:cNvSpPr/>
          <p:nvPr/>
        </p:nvSpPr>
        <p:spPr>
          <a:xfrm>
            <a:off x="765156" y="2732980"/>
            <a:ext cx="8019849" cy="736600"/>
          </a:xfrm>
          <a:prstGeom prst="rect">
            <a:avLst/>
          </a:prstGeom>
          <a:noFill/>
          <a:ln/>
        </p:spPr>
        <p:txBody>
          <a:bodyPr wrap="square" lIns="0" tIns="0" rIns="0" bIns="0" rtlCol="0" anchor="t">
            <a:normAutofit/>
          </a:bodyPr>
          <a:lstStyle/>
          <a:p>
            <a:pPr algn="l" indent="0" marL="0">
              <a:lnSpc>
                <a:spcPct val="121000"/>
              </a:lnSpc>
              <a:buNone/>
            </a:pPr>
            <a:r>
              <a:rPr lang="en-US" sz="2000" dirty="0">
                <a:solidFill>
                  <a:srgbClr val="FFFFFF"/>
                </a:solidFill>
                <a:latin typeface="Public Sans" pitchFamily="34" charset="0"/>
                <a:ea typeface="Public Sans" pitchFamily="34" charset="-122"/>
                <a:cs typeface="Public Sans" pitchFamily="34" charset="-120"/>
              </a:rPr>
              <a:t>Automating bank statement analysis for Chartered Accountants, auditors and finance teams</a:t>
            </a:r>
            <a:endParaRPr lang="en-US" sz="2000" dirty="0"/>
          </a:p>
        </p:txBody>
      </p:sp>
      <p:sp>
        <p:nvSpPr>
          <p:cNvPr id="6" name="Text 4"/>
          <p:cNvSpPr/>
          <p:nvPr/>
        </p:nvSpPr>
        <p:spPr>
          <a:xfrm>
            <a:off x="765156" y="3930352"/>
            <a:ext cx="8629434" cy="214313"/>
          </a:xfrm>
          <a:prstGeom prst="rect">
            <a:avLst/>
          </a:prstGeom>
          <a:noFill/>
          <a:ln/>
        </p:spPr>
        <p:txBody>
          <a:bodyPr wrap="none" lIns="0" tIns="0" rIns="0" bIns="0" rtlCol="0" anchor="t"/>
          <a:lstStyle/>
          <a:p>
            <a:pPr algn="l" indent="0" marL="0">
              <a:lnSpc>
                <a:spcPct val="112000"/>
              </a:lnSpc>
              <a:buNone/>
            </a:pPr>
            <a:r>
              <a:rPr lang="en-US" sz="1250" b="1" spc="12" kern="100" dirty="0">
                <a:solidFill>
                  <a:srgbClr val="FFFFFF"/>
                </a:solidFill>
                <a:latin typeface="Public Sans Bold" pitchFamily="34" charset="0"/>
                <a:ea typeface="Public Sans Bold" pitchFamily="34" charset="-122"/>
                <a:cs typeface="Public Sans Bold" pitchFamily="34" charset="-120"/>
              </a:rPr>
              <a:t>CA Gopal Abbaraju</a:t>
            </a:r>
            <a:pPr algn="l" indent="0" marL="0">
              <a:lnSpc>
                <a:spcPct val="112000"/>
              </a:lnSpc>
              <a:buNone/>
            </a:pPr>
            <a:r>
              <a:rPr lang="en-US" sz="1250" spc="12" kern="100" dirty="0">
                <a:solidFill>
                  <a:srgbClr val="FFFFFF"/>
                </a:solidFill>
                <a:latin typeface="Public Sans" pitchFamily="34" charset="0"/>
                <a:ea typeface="Public Sans" pitchFamily="34" charset="-122"/>
                <a:cs typeface="Public Sans" pitchFamily="34" charset="-120"/>
              </a:rPr>
              <a:t> · AICA - LEVEL-2-B94 · Visakhapatnam</a:t>
            </a:r>
            <a:endParaRPr lang="en-US" sz="1250" dirty="0"/>
          </a:p>
        </p:txBody>
      </p:sp>
      <p:sp>
        <p:nvSpPr>
          <p:cNvPr id="7" name="Shape 5"/>
          <p:cNvSpPr/>
          <p:nvPr/>
        </p:nvSpPr>
        <p:spPr>
          <a:xfrm>
            <a:off x="3981846" y="584200"/>
            <a:ext cx="12700" cy="205680"/>
          </a:xfrm>
          <a:prstGeom prst="rect">
            <a:avLst/>
          </a:prstGeom>
          <a:solidFill>
            <a:srgbClr val="A7B3BE"/>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09585" y="612458"/>
            <a:ext cx="11582110"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536270"/>
                </a:solidFill>
                <a:latin typeface="Public Sans Medium" pitchFamily="34" charset="0"/>
                <a:ea typeface="Public Sans Medium" pitchFamily="34" charset="-122"/>
                <a:cs typeface="Public Sans Medium" pitchFamily="34" charset="-120"/>
              </a:rPr>
              <a:t>AICA LEVEL 2 · CAPSTONE PROJECT</a:t>
            </a:r>
            <a:endParaRPr lang="en-US" sz="1200" dirty="0"/>
          </a:p>
        </p:txBody>
      </p:sp>
      <p:sp>
        <p:nvSpPr>
          <p:cNvPr id="3" name="Text 1"/>
          <p:cNvSpPr/>
          <p:nvPr/>
        </p:nvSpPr>
        <p:spPr>
          <a:xfrm>
            <a:off x="609585" y="914312"/>
            <a:ext cx="10972526" cy="910233"/>
          </a:xfrm>
          <a:prstGeom prst="rect">
            <a:avLst/>
          </a:prstGeom>
          <a:noFill/>
          <a:ln/>
        </p:spPr>
        <p:txBody>
          <a:bodyPr wrap="square" lIns="0" tIns="0" rIns="0" bIns="0" rtlCol="0" anchor="t">
            <a:normAutofit/>
          </a:bodyPr>
          <a:lstStyle/>
          <a:p>
            <a:pPr algn="l" indent="0" marL="0">
              <a:lnSpc>
                <a:spcPct val="93000"/>
              </a:lnSpc>
              <a:buNone/>
            </a:pPr>
            <a:r>
              <a:rPr lang="en-US" sz="3200" spc="-32" kern="100" dirty="0">
                <a:solidFill>
                  <a:srgbClr val="1B2632"/>
                </a:solidFill>
                <a:latin typeface="Sora SemiBold" pitchFamily="34" charset="0"/>
                <a:ea typeface="Sora SemiBold" pitchFamily="34" charset="-122"/>
                <a:cs typeface="Sora SemiBold" pitchFamily="34" charset="-120"/>
              </a:rPr>
              <a:t>From manual statement review to structured, reviewable analysis</a:t>
            </a:r>
            <a:endParaRPr lang="en-US" sz="3200" dirty="0"/>
          </a:p>
        </p:txBody>
      </p:sp>
      <p:sp>
        <p:nvSpPr>
          <p:cNvPr id="4" name="Shape 2"/>
          <p:cNvSpPr/>
          <p:nvPr/>
        </p:nvSpPr>
        <p:spPr>
          <a:xfrm>
            <a:off x="609585" y="2006798"/>
            <a:ext cx="3572877" cy="3649464"/>
          </a:xfrm>
          <a:prstGeom prst="rect">
            <a:avLst/>
          </a:prstGeom>
          <a:solidFill>
            <a:srgbClr val="E7EAF0"/>
          </a:solidFill>
          <a:ln/>
        </p:spPr>
      </p:sp>
      <p:pic>
        <p:nvPicPr>
          <p:cNvPr id="5" name="Image 0" descr="preencoded.png">    </p:cNvPr>
          <p:cNvPicPr>
            <a:picLocks noChangeAspect="1"/>
          </p:cNvPicPr>
          <p:nvPr/>
        </p:nvPicPr>
        <p:blipFill>
          <a:blip r:embed="rId1"/>
          <a:stretch>
            <a:fillRect/>
          </a:stretch>
        </p:blipFill>
        <p:spPr>
          <a:xfrm>
            <a:off x="863578" y="2286198"/>
            <a:ext cx="431789" cy="431800"/>
          </a:xfrm>
          <a:prstGeom prst="rect">
            <a:avLst/>
          </a:prstGeom>
        </p:spPr>
      </p:pic>
      <p:sp>
        <p:nvSpPr>
          <p:cNvPr id="6" name="Text 3"/>
          <p:cNvSpPr/>
          <p:nvPr/>
        </p:nvSpPr>
        <p:spPr>
          <a:xfrm>
            <a:off x="863578" y="2877066"/>
            <a:ext cx="3064890" cy="411460"/>
          </a:xfrm>
          <a:prstGeom prst="rect">
            <a:avLst/>
          </a:prstGeom>
          <a:noFill/>
          <a:ln/>
        </p:spPr>
        <p:txBody>
          <a:bodyPr wrap="none" lIns="0" tIns="0" rIns="0" bIns="0" rtlCol="0" anchor="t"/>
          <a:lstStyle/>
          <a:p>
            <a:pPr algn="l" indent="0" marL="0">
              <a:lnSpc>
                <a:spcPct val="113000"/>
              </a:lnSpc>
              <a:buNone/>
            </a:pPr>
            <a:r>
              <a:rPr lang="en-US" sz="2400" spc="-24" kern="100" dirty="0">
                <a:solidFill>
                  <a:srgbClr val="1B2632"/>
                </a:solidFill>
                <a:latin typeface="Public Sans" pitchFamily="34" charset="0"/>
                <a:ea typeface="Public Sans" pitchFamily="34" charset="-122"/>
                <a:cs typeface="Public Sans" pitchFamily="34" charset="-120"/>
              </a:rPr>
              <a:t>Reduce manual effort</a:t>
            </a:r>
            <a:endParaRPr lang="en-US" sz="2400" dirty="0"/>
          </a:p>
        </p:txBody>
      </p:sp>
      <p:sp>
        <p:nvSpPr>
          <p:cNvPr id="7" name="Text 4"/>
          <p:cNvSpPr/>
          <p:nvPr/>
        </p:nvSpPr>
        <p:spPr>
          <a:xfrm>
            <a:off x="863578" y="3437434"/>
            <a:ext cx="3064890" cy="1067991"/>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Eliminate repetitive reading, data entry, and manual transaction sorting across multi-page statements.</a:t>
            </a:r>
            <a:endParaRPr lang="en-US" sz="1450" dirty="0"/>
          </a:p>
        </p:txBody>
      </p:sp>
      <p:sp>
        <p:nvSpPr>
          <p:cNvPr id="8" name="Shape 5"/>
          <p:cNvSpPr/>
          <p:nvPr/>
        </p:nvSpPr>
        <p:spPr>
          <a:xfrm>
            <a:off x="4309359" y="2006798"/>
            <a:ext cx="3572976" cy="3649464"/>
          </a:xfrm>
          <a:prstGeom prst="rect">
            <a:avLst/>
          </a:prstGeom>
          <a:solidFill>
            <a:srgbClr val="E7EAF0"/>
          </a:solidFill>
          <a:ln/>
        </p:spPr>
      </p:sp>
      <p:pic>
        <p:nvPicPr>
          <p:cNvPr id="9" name="Image 1" descr="preencoded.png">    </p:cNvPr>
          <p:cNvPicPr>
            <a:picLocks noChangeAspect="1"/>
          </p:cNvPicPr>
          <p:nvPr/>
        </p:nvPicPr>
        <p:blipFill>
          <a:blip r:embed="rId2"/>
          <a:stretch>
            <a:fillRect/>
          </a:stretch>
        </p:blipFill>
        <p:spPr>
          <a:xfrm>
            <a:off x="4563353" y="2286198"/>
            <a:ext cx="431789" cy="431800"/>
          </a:xfrm>
          <a:prstGeom prst="rect">
            <a:avLst/>
          </a:prstGeom>
        </p:spPr>
      </p:pic>
      <p:sp>
        <p:nvSpPr>
          <p:cNvPr id="10" name="Text 6"/>
          <p:cNvSpPr/>
          <p:nvPr/>
        </p:nvSpPr>
        <p:spPr>
          <a:xfrm>
            <a:off x="4563353" y="2877066"/>
            <a:ext cx="3064989" cy="411460"/>
          </a:xfrm>
          <a:prstGeom prst="rect">
            <a:avLst/>
          </a:prstGeom>
          <a:noFill/>
          <a:ln/>
        </p:spPr>
        <p:txBody>
          <a:bodyPr wrap="none" lIns="0" tIns="0" rIns="0" bIns="0" rtlCol="0" anchor="t"/>
          <a:lstStyle/>
          <a:p>
            <a:pPr algn="l" indent="0" marL="0">
              <a:lnSpc>
                <a:spcPct val="113000"/>
              </a:lnSpc>
              <a:buNone/>
            </a:pPr>
            <a:r>
              <a:rPr lang="en-US" sz="2400" spc="-24" kern="100" dirty="0">
                <a:solidFill>
                  <a:srgbClr val="1B2632"/>
                </a:solidFill>
                <a:latin typeface="Public Sans" pitchFamily="34" charset="0"/>
                <a:ea typeface="Public Sans" pitchFamily="34" charset="-122"/>
                <a:cs typeface="Public Sans" pitchFamily="34" charset="-120"/>
              </a:rPr>
              <a:t>Improve accuracy</a:t>
            </a:r>
            <a:endParaRPr lang="en-US" sz="2400" dirty="0"/>
          </a:p>
        </p:txBody>
      </p:sp>
      <p:sp>
        <p:nvSpPr>
          <p:cNvPr id="11" name="Text 7"/>
          <p:cNvSpPr/>
          <p:nvPr/>
        </p:nvSpPr>
        <p:spPr>
          <a:xfrm>
            <a:off x="4563353" y="3437434"/>
            <a:ext cx="3064989" cy="800993"/>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Standardize data extraction with automated reconciliation checks and arithmetic validation.</a:t>
            </a:r>
            <a:endParaRPr lang="en-US" sz="1450" dirty="0"/>
          </a:p>
        </p:txBody>
      </p:sp>
      <p:sp>
        <p:nvSpPr>
          <p:cNvPr id="12" name="Shape 8"/>
          <p:cNvSpPr/>
          <p:nvPr/>
        </p:nvSpPr>
        <p:spPr>
          <a:xfrm>
            <a:off x="8009233" y="2006798"/>
            <a:ext cx="3572877" cy="3649464"/>
          </a:xfrm>
          <a:prstGeom prst="rect">
            <a:avLst/>
          </a:prstGeom>
          <a:solidFill>
            <a:srgbClr val="E7EAF0"/>
          </a:solidFill>
          <a:ln/>
        </p:spPr>
      </p:sp>
      <p:pic>
        <p:nvPicPr>
          <p:cNvPr id="13" name="Image 2" descr="preencoded.png">    </p:cNvPr>
          <p:cNvPicPr>
            <a:picLocks noChangeAspect="1"/>
          </p:cNvPicPr>
          <p:nvPr/>
        </p:nvPicPr>
        <p:blipFill>
          <a:blip r:embed="rId3"/>
          <a:stretch>
            <a:fillRect/>
          </a:stretch>
        </p:blipFill>
        <p:spPr>
          <a:xfrm>
            <a:off x="8263227" y="2286198"/>
            <a:ext cx="431789" cy="431800"/>
          </a:xfrm>
          <a:prstGeom prst="rect">
            <a:avLst/>
          </a:prstGeom>
        </p:spPr>
      </p:pic>
      <p:sp>
        <p:nvSpPr>
          <p:cNvPr id="14" name="Text 9"/>
          <p:cNvSpPr/>
          <p:nvPr/>
        </p:nvSpPr>
        <p:spPr>
          <a:xfrm>
            <a:off x="8263227" y="2877066"/>
            <a:ext cx="3064890" cy="411460"/>
          </a:xfrm>
          <a:prstGeom prst="rect">
            <a:avLst/>
          </a:prstGeom>
          <a:noFill/>
          <a:ln/>
        </p:spPr>
        <p:txBody>
          <a:bodyPr wrap="none" lIns="0" tIns="0" rIns="0" bIns="0" rtlCol="0" anchor="t"/>
          <a:lstStyle/>
          <a:p>
            <a:pPr algn="l" indent="0" marL="0">
              <a:lnSpc>
                <a:spcPct val="113000"/>
              </a:lnSpc>
              <a:buNone/>
            </a:pPr>
            <a:r>
              <a:rPr lang="en-US" sz="2400" spc="-24" kern="100" dirty="0">
                <a:solidFill>
                  <a:srgbClr val="1B2632"/>
                </a:solidFill>
                <a:latin typeface="Public Sans" pitchFamily="34" charset="0"/>
                <a:ea typeface="Public Sans" pitchFamily="34" charset="-122"/>
                <a:cs typeface="Public Sans" pitchFamily="34" charset="-120"/>
              </a:rPr>
              <a:t>Support decisions</a:t>
            </a:r>
            <a:endParaRPr lang="en-US" sz="2400" dirty="0"/>
          </a:p>
        </p:txBody>
      </p:sp>
      <p:sp>
        <p:nvSpPr>
          <p:cNvPr id="15" name="Text 10"/>
          <p:cNvSpPr/>
          <p:nvPr/>
        </p:nvSpPr>
        <p:spPr>
          <a:xfrm>
            <a:off x="8263227" y="3437434"/>
            <a:ext cx="3064890" cy="1067991"/>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Deliver immediate visibility into cash inflows, outflows, balance movements, and transaction anomalies.</a:t>
            </a:r>
            <a:endParaRPr lang="en-US" sz="1450" dirty="0"/>
          </a:p>
        </p:txBody>
      </p:sp>
      <p:sp>
        <p:nvSpPr>
          <p:cNvPr id="16" name="Text 11"/>
          <p:cNvSpPr/>
          <p:nvPr/>
        </p:nvSpPr>
        <p:spPr>
          <a:xfrm>
            <a:off x="609585" y="5929709"/>
            <a:ext cx="10972526" cy="322263"/>
          </a:xfrm>
          <a:prstGeom prst="rect">
            <a:avLst/>
          </a:prstGeom>
          <a:noFill/>
          <a:ln/>
        </p:spPr>
        <p:txBody>
          <a:bodyPr wrap="square" lIns="0" tIns="101598" rIns="0" bIns="0" rtlCol="0" anchor="t">
            <a:normAutofit/>
          </a:bodyPr>
          <a:lstStyle/>
          <a:p>
            <a:pPr algn="l" indent="0" marL="0">
              <a:lnSpc>
                <a:spcPct val="112000"/>
              </a:lnSpc>
              <a:buNone/>
            </a:pPr>
            <a:r>
              <a:rPr lang="en-US" sz="1250" dirty="0">
                <a:solidFill>
                  <a:srgbClr val="536270"/>
                </a:solidFill>
                <a:latin typeface="Public Sans" pitchFamily="34" charset="0"/>
                <a:ea typeface="Public Sans" pitchFamily="34" charset="-122"/>
                <a:cs typeface="Public Sans" pitchFamily="34" charset="-120"/>
              </a:rPr>
              <a:t>Project objective · Built for audit verification, management review, and credit appraisal workflows.</a:t>
            </a:r>
            <a:endParaRPr lang="en-US" sz="1250" dirty="0"/>
          </a:p>
        </p:txBody>
      </p:sp>
      <p:sp>
        <p:nvSpPr>
          <p:cNvPr id="17" name="Text 12"/>
          <p:cNvSpPr/>
          <p:nvPr/>
        </p:nvSpPr>
        <p:spPr>
          <a:xfrm>
            <a:off x="11811994" y="6451898"/>
            <a:ext cx="379701" cy="202505"/>
          </a:xfrm>
          <a:prstGeom prst="rect">
            <a:avLst/>
          </a:prstGeom>
          <a:noFill/>
          <a:ln/>
        </p:spPr>
        <p:txBody>
          <a:bodyPr wrap="none" lIns="0" tIns="0" rIns="0" bIns="0" rtlCol="0" anchor="ctr"/>
          <a:lstStyle/>
          <a:p>
            <a:pPr algn="l" indent="0" marL="0">
              <a:lnSpc>
                <a:spcPct val="121000"/>
              </a:lnSpc>
              <a:buNone/>
            </a:pPr>
            <a:r>
              <a:rPr lang="en-US" sz="1100" spc="44" kern="100" dirty="0">
                <a:solidFill>
                  <a:srgbClr val="536270"/>
                </a:solidFill>
                <a:latin typeface="Public Sans" pitchFamily="34" charset="0"/>
                <a:ea typeface="Public Sans" pitchFamily="34" charset="-122"/>
                <a:cs typeface="Public Sans" pitchFamily="34" charset="-120"/>
              </a:rPr>
              <a:t>02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09585" y="612458"/>
            <a:ext cx="11582110"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536270"/>
                </a:solidFill>
                <a:latin typeface="Public Sans Medium" pitchFamily="34" charset="0"/>
                <a:ea typeface="Public Sans Medium" pitchFamily="34" charset="-122"/>
                <a:cs typeface="Public Sans Medium" pitchFamily="34" charset="-120"/>
              </a:rPr>
              <a:t>AICA LEVEL 2 · CAPSTONE PROJECT</a:t>
            </a:r>
            <a:endParaRPr lang="en-US" sz="1200" dirty="0"/>
          </a:p>
        </p:txBody>
      </p:sp>
      <p:sp>
        <p:nvSpPr>
          <p:cNvPr id="3" name="Text 1"/>
          <p:cNvSpPr/>
          <p:nvPr/>
        </p:nvSpPr>
        <p:spPr>
          <a:xfrm>
            <a:off x="609585" y="900033"/>
            <a:ext cx="10972526" cy="411460"/>
          </a:xfrm>
          <a:prstGeom prst="rect">
            <a:avLst/>
          </a:prstGeom>
          <a:noFill/>
          <a:ln/>
        </p:spPr>
        <p:txBody>
          <a:bodyPr wrap="none" lIns="0" tIns="0" rIns="0" bIns="0" rtlCol="0" anchor="t"/>
          <a:lstStyle/>
          <a:p>
            <a:pPr algn="l" indent="0" marL="0">
              <a:lnSpc>
                <a:spcPct val="113000"/>
              </a:lnSpc>
              <a:buNone/>
            </a:pPr>
            <a:r>
              <a:rPr lang="en-US" sz="2400" spc="-24" kern="100" dirty="0">
                <a:solidFill>
                  <a:srgbClr val="1B2632"/>
                </a:solidFill>
                <a:latin typeface="Public Sans" pitchFamily="34" charset="0"/>
                <a:ea typeface="Public Sans" pitchFamily="34" charset="-122"/>
                <a:cs typeface="Public Sans" pitchFamily="34" charset="-120"/>
              </a:rPr>
              <a:t>Multi-format statement ingestion and standardized data extraction</a:t>
            </a:r>
            <a:endParaRPr lang="en-US" sz="2400" dirty="0"/>
          </a:p>
        </p:txBody>
      </p:sp>
      <p:sp>
        <p:nvSpPr>
          <p:cNvPr id="4" name="Shape 2"/>
          <p:cNvSpPr/>
          <p:nvPr/>
        </p:nvSpPr>
        <p:spPr>
          <a:xfrm>
            <a:off x="609585" y="1460401"/>
            <a:ext cx="5333867" cy="4291707"/>
          </a:xfrm>
          <a:prstGeom prst="roundRect">
            <a:avLst>
              <a:gd name="adj" fmla="val 755"/>
            </a:avLst>
          </a:prstGeom>
          <a:solidFill>
            <a:srgbClr val="E7EAF0"/>
          </a:solidFill>
          <a:ln/>
        </p:spPr>
      </p:sp>
      <p:sp>
        <p:nvSpPr>
          <p:cNvPr id="5" name="Text 3"/>
          <p:cNvSpPr/>
          <p:nvPr/>
        </p:nvSpPr>
        <p:spPr>
          <a:xfrm>
            <a:off x="787380" y="1641058"/>
            <a:ext cx="5156071"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536270"/>
                </a:solidFill>
                <a:latin typeface="Public Sans Medium" pitchFamily="34" charset="0"/>
                <a:ea typeface="Public Sans Medium" pitchFamily="34" charset="-122"/>
                <a:cs typeface="Public Sans Medium" pitchFamily="34" charset="-120"/>
              </a:rPr>
              <a:t>INPUT FORMATS</a:t>
            </a:r>
            <a:endParaRPr lang="en-US" sz="1200" dirty="0"/>
          </a:p>
        </p:txBody>
      </p:sp>
      <p:sp>
        <p:nvSpPr>
          <p:cNvPr id="6" name="Text 4"/>
          <p:cNvSpPr/>
          <p:nvPr/>
        </p:nvSpPr>
        <p:spPr>
          <a:xfrm>
            <a:off x="787380" y="1928634"/>
            <a:ext cx="4978275" cy="411460"/>
          </a:xfrm>
          <a:prstGeom prst="rect">
            <a:avLst/>
          </a:prstGeom>
          <a:noFill/>
          <a:ln/>
        </p:spPr>
        <p:txBody>
          <a:bodyPr wrap="none" lIns="0" tIns="0" rIns="0" bIns="0" rtlCol="0" anchor="t"/>
          <a:lstStyle/>
          <a:p>
            <a:pPr algn="l" indent="0" marL="0">
              <a:lnSpc>
                <a:spcPct val="113000"/>
              </a:lnSpc>
              <a:buNone/>
            </a:pPr>
            <a:r>
              <a:rPr lang="en-US" sz="2400" spc="-24" kern="100" dirty="0">
                <a:solidFill>
                  <a:srgbClr val="1B2632"/>
                </a:solidFill>
                <a:latin typeface="Public Sans" pitchFamily="34" charset="0"/>
                <a:ea typeface="Public Sans" pitchFamily="34" charset="-122"/>
                <a:cs typeface="Public Sans" pitchFamily="34" charset="-120"/>
              </a:rPr>
              <a:t>Supported files</a:t>
            </a:r>
            <a:endParaRPr lang="en-US" sz="2400" dirty="0"/>
          </a:p>
        </p:txBody>
      </p:sp>
      <p:sp>
        <p:nvSpPr>
          <p:cNvPr id="7" name="Shape 5"/>
          <p:cNvSpPr/>
          <p:nvPr/>
        </p:nvSpPr>
        <p:spPr>
          <a:xfrm>
            <a:off x="787380" y="2541389"/>
            <a:ext cx="4978275" cy="31651"/>
          </a:xfrm>
          <a:prstGeom prst="roundRect">
            <a:avLst>
              <a:gd name="adj" fmla="val 49998"/>
            </a:avLst>
          </a:prstGeom>
          <a:solidFill>
            <a:srgbClr val="1B2632"/>
          </a:solidFill>
          <a:ln/>
        </p:spPr>
      </p:sp>
      <p:sp>
        <p:nvSpPr>
          <p:cNvPr id="8" name="Text 6"/>
          <p:cNvSpPr/>
          <p:nvPr/>
        </p:nvSpPr>
        <p:spPr>
          <a:xfrm>
            <a:off x="787380" y="2752527"/>
            <a:ext cx="4978275" cy="2516981"/>
          </a:xfrm>
          <a:prstGeom prst="rect">
            <a:avLst/>
          </a:prstGeom>
          <a:noFill/>
          <a:ln/>
        </p:spPr>
        <p:txBody>
          <a:bodyPr wrap="square" lIns="0" tIns="0" rIns="0" bIns="0" rtlCol="0" anchor="t">
            <a:normAutofit/>
          </a:bodyPr>
          <a:lstStyle/>
          <a:p>
            <a:pPr algn="l" indent="0" marL="0">
              <a:lnSpc>
                <a:spcPct val="121000"/>
              </a:lnSpc>
              <a:spcAft>
                <a:spcPts val="950"/>
              </a:spcAft>
              <a:buNone/>
            </a:pPr>
            <a:r>
              <a:rPr lang="en-US" sz="1450" dirty="0">
                <a:solidFill>
                  <a:srgbClr val="3A4756"/>
                </a:solidFill>
                <a:latin typeface="Public Sans" pitchFamily="34" charset="0"/>
                <a:ea typeface="Public Sans" pitchFamily="34" charset="-122"/>
                <a:cs typeface="Public Sans" pitchFamily="34" charset="-120"/>
              </a:rPr>
              <a:t>The analyzer ingests multiple source formats directly without manual pre-conversion:</a:t>
            </a:r>
            <a:endParaRPr lang="en-US" sz="1450" dirty="0"/>
          </a:p>
          <a:p>
            <a:pPr algn="l" indent="0" marL="0">
              <a:lnSpc>
                <a:spcPct val="121000"/>
              </a:lnSpc>
              <a:spcAft>
                <a:spcPts val="950"/>
              </a:spcAft>
              <a:buNone/>
            </a:pPr>
            <a:r>
              <a:rPr lang="en-US" sz="1450" b="1" dirty="0">
                <a:solidFill>
                  <a:srgbClr val="3A4756"/>
                </a:solidFill>
                <a:latin typeface="Public Sans Bold" pitchFamily="34" charset="0"/>
                <a:ea typeface="Public Sans Bold" pitchFamily="34" charset="-122"/>
                <a:cs typeface="Public Sans Bold" pitchFamily="34" charset="-120"/>
              </a:rPr>
              <a:t>PDF bank statements</a:t>
            </a:r>
            <a:pPr algn="l" indent="0" marL="0">
              <a:lnSpc>
                <a:spcPct val="121000"/>
              </a:lnSpc>
              <a:spcAft>
                <a:spcPts val="950"/>
              </a:spcAft>
              <a:buNone/>
            </a:pPr>
            <a:r>
              <a:rPr lang="en-US" sz="1450" dirty="0">
                <a:solidFill>
                  <a:srgbClr val="3A4756"/>
                </a:solidFill>
                <a:latin typeface="Public Sans" pitchFamily="34" charset="0"/>
                <a:ea typeface="Public Sans" pitchFamily="34" charset="-122"/>
                <a:cs typeface="Public Sans" pitchFamily="34" charset="-120"/>
              </a:rPr>
              <a:t> — Native digital and scanned transaction records</a:t>
            </a:r>
            <a:endParaRPr lang="en-US" sz="1450" dirty="0"/>
          </a:p>
          <a:p>
            <a:pPr algn="l" indent="0" marL="0">
              <a:lnSpc>
                <a:spcPct val="121000"/>
              </a:lnSpc>
              <a:spcAft>
                <a:spcPts val="950"/>
              </a:spcAft>
              <a:buNone/>
            </a:pPr>
            <a:r>
              <a:rPr lang="en-US" sz="1450" b="1" dirty="0">
                <a:solidFill>
                  <a:srgbClr val="3A4756"/>
                </a:solidFill>
                <a:latin typeface="Public Sans Bold" pitchFamily="34" charset="0"/>
                <a:ea typeface="Public Sans Bold" pitchFamily="34" charset="-122"/>
                <a:cs typeface="Public Sans Bold" pitchFamily="34" charset="-120"/>
              </a:rPr>
              <a:t>Excel workbooks (.xlsx)</a:t>
            </a:r>
            <a:pPr algn="l" indent="0" marL="0">
              <a:lnSpc>
                <a:spcPct val="121000"/>
              </a:lnSpc>
              <a:spcAft>
                <a:spcPts val="950"/>
              </a:spcAft>
              <a:buNone/>
            </a:pPr>
            <a:r>
              <a:rPr lang="en-US" sz="1450" dirty="0">
                <a:solidFill>
                  <a:srgbClr val="3A4756"/>
                </a:solidFill>
                <a:latin typeface="Public Sans" pitchFamily="34" charset="0"/>
                <a:ea typeface="Public Sans" pitchFamily="34" charset="-122"/>
                <a:cs typeface="Public Sans" pitchFamily="34" charset="-120"/>
              </a:rPr>
              <a:t> — Standard multi-sheet bank downloads</a:t>
            </a:r>
            <a:endParaRPr lang="en-US" sz="1450" dirty="0"/>
          </a:p>
          <a:p>
            <a:pPr algn="l" indent="0" marL="0">
              <a:lnSpc>
                <a:spcPct val="121000"/>
              </a:lnSpc>
              <a:buNone/>
            </a:pPr>
            <a:r>
              <a:rPr lang="en-US" sz="1450" b="1" dirty="0">
                <a:solidFill>
                  <a:srgbClr val="3A4756"/>
                </a:solidFill>
                <a:latin typeface="Public Sans Bold" pitchFamily="34" charset="0"/>
                <a:ea typeface="Public Sans Bold" pitchFamily="34" charset="-122"/>
                <a:cs typeface="Public Sans Bold" pitchFamily="34" charset="-120"/>
              </a:rPr>
              <a:t>CSV transaction files</a:t>
            </a:r>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 — Raw exports and system ledger feeds</a:t>
            </a:r>
            <a:endParaRPr lang="en-US" sz="1450" dirty="0"/>
          </a:p>
        </p:txBody>
      </p:sp>
      <p:sp>
        <p:nvSpPr>
          <p:cNvPr id="9" name="Shape 7"/>
          <p:cNvSpPr/>
          <p:nvPr/>
        </p:nvSpPr>
        <p:spPr>
          <a:xfrm>
            <a:off x="6248244" y="1460401"/>
            <a:ext cx="5333867" cy="4291707"/>
          </a:xfrm>
          <a:prstGeom prst="roundRect">
            <a:avLst>
              <a:gd name="adj" fmla="val 755"/>
            </a:avLst>
          </a:prstGeom>
          <a:noFill/>
          <a:ln w="25399">
            <a:solidFill>
              <a:srgbClr val="CDD0D6"/>
            </a:solidFill>
            <a:prstDash val="solid"/>
          </a:ln>
        </p:spPr>
      </p:sp>
      <p:sp>
        <p:nvSpPr>
          <p:cNvPr id="10" name="Text 8"/>
          <p:cNvSpPr/>
          <p:nvPr/>
        </p:nvSpPr>
        <p:spPr>
          <a:xfrm>
            <a:off x="6451439" y="1666458"/>
            <a:ext cx="5130672"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536270"/>
                </a:solidFill>
                <a:latin typeface="Public Sans Medium" pitchFamily="34" charset="0"/>
                <a:ea typeface="Public Sans Medium" pitchFamily="34" charset="-122"/>
                <a:cs typeface="Public Sans Medium" pitchFamily="34" charset="-120"/>
              </a:rPr>
              <a:t>DATA STRUCTURE</a:t>
            </a:r>
            <a:endParaRPr lang="en-US" sz="1200" dirty="0"/>
          </a:p>
        </p:txBody>
      </p:sp>
      <p:sp>
        <p:nvSpPr>
          <p:cNvPr id="11" name="Text 9"/>
          <p:cNvSpPr/>
          <p:nvPr/>
        </p:nvSpPr>
        <p:spPr>
          <a:xfrm>
            <a:off x="6451439" y="1954034"/>
            <a:ext cx="4927477" cy="411460"/>
          </a:xfrm>
          <a:prstGeom prst="rect">
            <a:avLst/>
          </a:prstGeom>
          <a:noFill/>
          <a:ln/>
        </p:spPr>
        <p:txBody>
          <a:bodyPr wrap="none" lIns="0" tIns="0" rIns="0" bIns="0" rtlCol="0" anchor="t"/>
          <a:lstStyle/>
          <a:p>
            <a:pPr algn="l" indent="0" marL="0">
              <a:lnSpc>
                <a:spcPct val="113000"/>
              </a:lnSpc>
              <a:buNone/>
            </a:pPr>
            <a:r>
              <a:rPr lang="en-US" sz="2400" spc="-24" kern="100" dirty="0">
                <a:solidFill>
                  <a:srgbClr val="1B2632"/>
                </a:solidFill>
                <a:latin typeface="Public Sans" pitchFamily="34" charset="0"/>
                <a:ea typeface="Public Sans" pitchFamily="34" charset="-122"/>
                <a:cs typeface="Public Sans" pitchFamily="34" charset="-120"/>
              </a:rPr>
              <a:t>Extracted transaction fields</a:t>
            </a:r>
            <a:endParaRPr lang="en-US" sz="2400" dirty="0"/>
          </a:p>
        </p:txBody>
      </p:sp>
      <p:sp>
        <p:nvSpPr>
          <p:cNvPr id="12" name="Shape 10"/>
          <p:cNvSpPr/>
          <p:nvPr/>
        </p:nvSpPr>
        <p:spPr>
          <a:xfrm>
            <a:off x="6451439" y="2566789"/>
            <a:ext cx="4927378" cy="31651"/>
          </a:xfrm>
          <a:prstGeom prst="roundRect">
            <a:avLst>
              <a:gd name="adj" fmla="val 49998"/>
            </a:avLst>
          </a:prstGeom>
          <a:solidFill>
            <a:srgbClr val="1B2632"/>
          </a:solidFill>
          <a:ln/>
        </p:spPr>
      </p:sp>
      <p:sp>
        <p:nvSpPr>
          <p:cNvPr id="13" name="Text 11"/>
          <p:cNvSpPr/>
          <p:nvPr/>
        </p:nvSpPr>
        <p:spPr>
          <a:xfrm>
            <a:off x="6451439" y="2777927"/>
            <a:ext cx="4927477" cy="2770981"/>
          </a:xfrm>
          <a:prstGeom prst="rect">
            <a:avLst/>
          </a:prstGeom>
          <a:noFill/>
          <a:ln/>
        </p:spPr>
        <p:txBody>
          <a:bodyPr wrap="square" lIns="0" tIns="0" rIns="0" bIns="0" rtlCol="0" anchor="t">
            <a:normAutofit/>
          </a:bodyPr>
          <a:lstStyle/>
          <a:p>
            <a:pPr algn="l" indent="0" marL="0">
              <a:lnSpc>
                <a:spcPct val="121000"/>
              </a:lnSpc>
              <a:spcAft>
                <a:spcPts val="950"/>
              </a:spcAft>
              <a:buNone/>
            </a:pPr>
            <a:r>
              <a:rPr lang="en-US" sz="1450" dirty="0">
                <a:solidFill>
                  <a:srgbClr val="3A4756"/>
                </a:solidFill>
                <a:latin typeface="Public Sans" pitchFamily="34" charset="0"/>
                <a:ea typeface="Public Sans" pitchFamily="34" charset="-122"/>
                <a:cs typeface="Public Sans" pitchFamily="34" charset="-120"/>
              </a:rPr>
              <a:t>Each transaction row is normalized into standardized verification parameters:</a:t>
            </a:r>
            <a:endParaRPr lang="en-US" sz="1450" dirty="0"/>
          </a:p>
          <a:p>
            <a:pPr algn="l" indent="0" marL="0">
              <a:lnSpc>
                <a:spcPct val="121000"/>
              </a:lnSpc>
              <a:spcAft>
                <a:spcPts val="950"/>
              </a:spcAft>
              <a:buNone/>
            </a:pPr>
            <a:r>
              <a:rPr lang="en-US" sz="1450" b="1" dirty="0">
                <a:solidFill>
                  <a:srgbClr val="3A4756"/>
                </a:solidFill>
                <a:latin typeface="Public Sans Bold" pitchFamily="34" charset="0"/>
                <a:ea typeface="Public Sans Bold" pitchFamily="34" charset="-122"/>
                <a:cs typeface="Public Sans Bold" pitchFamily="34" charset="-120"/>
              </a:rPr>
              <a:t>Transaction date</a:t>
            </a:r>
            <a:pPr algn="l" indent="0" marL="0">
              <a:lnSpc>
                <a:spcPct val="121000"/>
              </a:lnSpc>
              <a:spcAft>
                <a:spcPts val="950"/>
              </a:spcAft>
              <a:buNone/>
            </a:pPr>
            <a:r>
              <a:rPr lang="en-US" sz="1450" dirty="0">
                <a:solidFill>
                  <a:srgbClr val="3A4756"/>
                </a:solidFill>
                <a:latin typeface="Public Sans" pitchFamily="34" charset="0"/>
                <a:ea typeface="Public Sans" pitchFamily="34" charset="-122"/>
                <a:cs typeface="Public Sans" pitchFamily="34" charset="-120"/>
              </a:rPr>
              <a:t> — Chronological booking timeline</a:t>
            </a:r>
            <a:endParaRPr lang="en-US" sz="1450" dirty="0"/>
          </a:p>
          <a:p>
            <a:pPr algn="l" indent="0" marL="0">
              <a:lnSpc>
                <a:spcPct val="121000"/>
              </a:lnSpc>
              <a:spcAft>
                <a:spcPts val="950"/>
              </a:spcAft>
              <a:buNone/>
            </a:pPr>
            <a:r>
              <a:rPr lang="en-US" sz="1450" b="1" dirty="0">
                <a:solidFill>
                  <a:srgbClr val="3A4756"/>
                </a:solidFill>
                <a:latin typeface="Public Sans Bold" pitchFamily="34" charset="0"/>
                <a:ea typeface="Public Sans Bold" pitchFamily="34" charset="-122"/>
                <a:cs typeface="Public Sans Bold" pitchFamily="34" charset="-120"/>
              </a:rPr>
              <a:t>Narration / particulars</a:t>
            </a:r>
            <a:pPr algn="l" indent="0" marL="0">
              <a:lnSpc>
                <a:spcPct val="121000"/>
              </a:lnSpc>
              <a:spcAft>
                <a:spcPts val="950"/>
              </a:spcAft>
              <a:buNone/>
            </a:pPr>
            <a:r>
              <a:rPr lang="en-US" sz="1450" dirty="0">
                <a:solidFill>
                  <a:srgbClr val="3A4756"/>
                </a:solidFill>
                <a:latin typeface="Public Sans" pitchFamily="34" charset="0"/>
                <a:ea typeface="Public Sans" pitchFamily="34" charset="-122"/>
                <a:cs typeface="Public Sans" pitchFamily="34" charset="-120"/>
              </a:rPr>
              <a:t> — Counterparty and transaction details</a:t>
            </a:r>
            <a:endParaRPr lang="en-US" sz="1450" dirty="0"/>
          </a:p>
          <a:p>
            <a:pPr algn="l" indent="0" marL="0">
              <a:lnSpc>
                <a:spcPct val="121000"/>
              </a:lnSpc>
              <a:spcAft>
                <a:spcPts val="950"/>
              </a:spcAft>
              <a:buNone/>
            </a:pPr>
            <a:r>
              <a:rPr lang="en-US" sz="1450" b="1" dirty="0">
                <a:solidFill>
                  <a:srgbClr val="3A4756"/>
                </a:solidFill>
                <a:latin typeface="Public Sans Bold" pitchFamily="34" charset="0"/>
                <a:ea typeface="Public Sans Bold" pitchFamily="34" charset="-122"/>
                <a:cs typeface="Public Sans Bold" pitchFamily="34" charset="-120"/>
              </a:rPr>
              <a:t>Debit amount</a:t>
            </a:r>
            <a:pPr algn="l" indent="0" marL="0">
              <a:lnSpc>
                <a:spcPct val="121000"/>
              </a:lnSpc>
              <a:spcAft>
                <a:spcPts val="950"/>
              </a:spcAft>
              <a:buNone/>
            </a:pPr>
            <a:r>
              <a:rPr lang="en-US" sz="1450" dirty="0">
                <a:solidFill>
                  <a:srgbClr val="3A4756"/>
                </a:solidFill>
                <a:latin typeface="Public Sans" pitchFamily="34" charset="0"/>
                <a:ea typeface="Public Sans" pitchFamily="34" charset="-122"/>
                <a:cs typeface="Public Sans" pitchFamily="34" charset="-120"/>
              </a:rPr>
              <a:t> — Outflow expenditure</a:t>
            </a:r>
            <a:endParaRPr lang="en-US" sz="1450" dirty="0"/>
          </a:p>
          <a:p>
            <a:pPr algn="l" indent="0" marL="0">
              <a:lnSpc>
                <a:spcPct val="121000"/>
              </a:lnSpc>
              <a:spcAft>
                <a:spcPts val="950"/>
              </a:spcAft>
              <a:buNone/>
            </a:pPr>
            <a:r>
              <a:rPr lang="en-US" sz="1450" b="1" dirty="0">
                <a:solidFill>
                  <a:srgbClr val="3A4756"/>
                </a:solidFill>
                <a:latin typeface="Public Sans Bold" pitchFamily="34" charset="0"/>
                <a:ea typeface="Public Sans Bold" pitchFamily="34" charset="-122"/>
                <a:cs typeface="Public Sans Bold" pitchFamily="34" charset="-120"/>
              </a:rPr>
              <a:t>Credit amount</a:t>
            </a:r>
            <a:pPr algn="l" indent="0" marL="0">
              <a:lnSpc>
                <a:spcPct val="121000"/>
              </a:lnSpc>
              <a:spcAft>
                <a:spcPts val="950"/>
              </a:spcAft>
              <a:buNone/>
            </a:pPr>
            <a:r>
              <a:rPr lang="en-US" sz="1450" dirty="0">
                <a:solidFill>
                  <a:srgbClr val="3A4756"/>
                </a:solidFill>
                <a:latin typeface="Public Sans" pitchFamily="34" charset="0"/>
                <a:ea typeface="Public Sans" pitchFamily="34" charset="-122"/>
                <a:cs typeface="Public Sans" pitchFamily="34" charset="-120"/>
              </a:rPr>
              <a:t> — Inflow receipts</a:t>
            </a:r>
            <a:endParaRPr lang="en-US" sz="1450" dirty="0"/>
          </a:p>
          <a:p>
            <a:pPr algn="l" indent="0" marL="0">
              <a:lnSpc>
                <a:spcPct val="121000"/>
              </a:lnSpc>
              <a:buNone/>
            </a:pPr>
            <a:r>
              <a:rPr lang="en-US" sz="1450" b="1" dirty="0">
                <a:solidFill>
                  <a:srgbClr val="3A4756"/>
                </a:solidFill>
                <a:latin typeface="Public Sans Bold" pitchFamily="34" charset="0"/>
                <a:ea typeface="Public Sans Bold" pitchFamily="34" charset="-122"/>
                <a:cs typeface="Public Sans Bold" pitchFamily="34" charset="-120"/>
              </a:rPr>
              <a:t>Running balance</a:t>
            </a:r>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 — Closing ledger position</a:t>
            </a:r>
            <a:endParaRPr lang="en-US" sz="1450" dirty="0"/>
          </a:p>
        </p:txBody>
      </p:sp>
      <p:sp>
        <p:nvSpPr>
          <p:cNvPr id="14" name="Text 12"/>
          <p:cNvSpPr/>
          <p:nvPr/>
        </p:nvSpPr>
        <p:spPr>
          <a:xfrm>
            <a:off x="609585" y="5949355"/>
            <a:ext cx="10972526" cy="322263"/>
          </a:xfrm>
          <a:prstGeom prst="rect">
            <a:avLst/>
          </a:prstGeom>
          <a:noFill/>
          <a:ln/>
        </p:spPr>
        <p:txBody>
          <a:bodyPr wrap="square" lIns="0" tIns="101598" rIns="0" bIns="0" rtlCol="0" anchor="t">
            <a:normAutofit/>
          </a:bodyPr>
          <a:lstStyle/>
          <a:p>
            <a:pPr algn="l" indent="0" marL="0">
              <a:lnSpc>
                <a:spcPct val="112000"/>
              </a:lnSpc>
              <a:buNone/>
            </a:pPr>
            <a:r>
              <a:rPr lang="en-US" sz="1250" dirty="0">
                <a:solidFill>
                  <a:srgbClr val="536270"/>
                </a:solidFill>
                <a:latin typeface="Public Sans" pitchFamily="34" charset="0"/>
                <a:ea typeface="Public Sans" pitchFamily="34" charset="-122"/>
                <a:cs typeface="Public Sans" pitchFamily="34" charset="-120"/>
              </a:rPr>
              <a:t>Standardization layer handles diverse Indian banking statement layouts into a unified analytical schema.</a:t>
            </a:r>
            <a:endParaRPr lang="en-US" sz="1250" dirty="0"/>
          </a:p>
        </p:txBody>
      </p:sp>
      <p:sp>
        <p:nvSpPr>
          <p:cNvPr id="15" name="Text 13"/>
          <p:cNvSpPr/>
          <p:nvPr/>
        </p:nvSpPr>
        <p:spPr>
          <a:xfrm>
            <a:off x="11808125" y="6451898"/>
            <a:ext cx="383570" cy="202505"/>
          </a:xfrm>
          <a:prstGeom prst="rect">
            <a:avLst/>
          </a:prstGeom>
          <a:noFill/>
          <a:ln/>
        </p:spPr>
        <p:txBody>
          <a:bodyPr wrap="none" lIns="0" tIns="0" rIns="0" bIns="0" rtlCol="0" anchor="ctr"/>
          <a:lstStyle/>
          <a:p>
            <a:pPr algn="l" indent="0" marL="0">
              <a:lnSpc>
                <a:spcPct val="121000"/>
              </a:lnSpc>
              <a:buNone/>
            </a:pPr>
            <a:r>
              <a:rPr lang="en-US" sz="1100" spc="44" kern="100" dirty="0">
                <a:solidFill>
                  <a:srgbClr val="536270"/>
                </a:solidFill>
                <a:latin typeface="Public Sans" pitchFamily="34" charset="0"/>
                <a:ea typeface="Public Sans" pitchFamily="34" charset="-122"/>
                <a:cs typeface="Public Sans" pitchFamily="34" charset="-120"/>
              </a:rPr>
              <a:t>03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09585" y="612458"/>
            <a:ext cx="11582110"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536270"/>
                </a:solidFill>
                <a:latin typeface="Public Sans Medium" pitchFamily="34" charset="0"/>
                <a:ea typeface="Public Sans Medium" pitchFamily="34" charset="-122"/>
                <a:cs typeface="Public Sans Medium" pitchFamily="34" charset="-120"/>
              </a:rPr>
              <a:t>AICA LEVEL 2 · CAPSTONE PROJECT</a:t>
            </a:r>
            <a:endParaRPr lang="en-US" sz="1200" dirty="0"/>
          </a:p>
        </p:txBody>
      </p:sp>
      <p:sp>
        <p:nvSpPr>
          <p:cNvPr id="3" name="Text 1"/>
          <p:cNvSpPr/>
          <p:nvPr/>
        </p:nvSpPr>
        <p:spPr>
          <a:xfrm>
            <a:off x="609585" y="914312"/>
            <a:ext cx="10972526" cy="910233"/>
          </a:xfrm>
          <a:prstGeom prst="rect">
            <a:avLst/>
          </a:prstGeom>
          <a:noFill/>
          <a:ln/>
        </p:spPr>
        <p:txBody>
          <a:bodyPr wrap="square" lIns="0" tIns="0" rIns="0" bIns="0" rtlCol="0" anchor="t">
            <a:normAutofit/>
          </a:bodyPr>
          <a:lstStyle/>
          <a:p>
            <a:pPr algn="l" indent="0" marL="0">
              <a:lnSpc>
                <a:spcPct val="93000"/>
              </a:lnSpc>
              <a:buNone/>
            </a:pPr>
            <a:r>
              <a:rPr lang="en-US" sz="3200" spc="-32" kern="100" dirty="0">
                <a:solidFill>
                  <a:srgbClr val="1B2632"/>
                </a:solidFill>
                <a:latin typeface="Sora SemiBold" pitchFamily="34" charset="0"/>
                <a:ea typeface="Sora SemiBold" pitchFamily="34" charset="-122"/>
                <a:cs typeface="Sora SemiBold" pitchFamily="34" charset="-120"/>
              </a:rPr>
              <a:t>Four-stage processing pipeline from raw file to audit report</a:t>
            </a:r>
            <a:endParaRPr lang="en-US" sz="3200" dirty="0"/>
          </a:p>
        </p:txBody>
      </p:sp>
      <p:sp>
        <p:nvSpPr>
          <p:cNvPr id="4" name="Shape 2"/>
          <p:cNvSpPr/>
          <p:nvPr/>
        </p:nvSpPr>
        <p:spPr>
          <a:xfrm>
            <a:off x="609585" y="2057598"/>
            <a:ext cx="2647884" cy="2907804"/>
          </a:xfrm>
          <a:prstGeom prst="rect">
            <a:avLst/>
          </a:prstGeom>
          <a:noFill/>
          <a:ln w="25399">
            <a:solidFill>
              <a:srgbClr val="CDD0D6"/>
            </a:solidFill>
            <a:prstDash val="solid"/>
          </a:ln>
        </p:spPr>
      </p:sp>
      <p:sp>
        <p:nvSpPr>
          <p:cNvPr id="5" name="Text 3"/>
          <p:cNvSpPr/>
          <p:nvPr/>
        </p:nvSpPr>
        <p:spPr>
          <a:xfrm>
            <a:off x="838179" y="2311598"/>
            <a:ext cx="858320" cy="237530"/>
          </a:xfrm>
          <a:prstGeom prst="rect">
            <a:avLst/>
          </a:prstGeom>
          <a:noFill/>
          <a:ln/>
        </p:spPr>
        <p:txBody>
          <a:bodyPr wrap="none" lIns="0" tIns="0" rIns="0" bIns="0" rtlCol="0" anchor="t"/>
          <a:lstStyle/>
          <a:p>
            <a:pPr algn="l" indent="0" marL="0">
              <a:lnSpc>
                <a:spcPct val="83000"/>
              </a:lnSpc>
              <a:buNone/>
            </a:pPr>
            <a:r>
              <a:rPr lang="en-US" sz="1850" dirty="0">
                <a:solidFill>
                  <a:srgbClr val="0E7C86"/>
                </a:solidFill>
                <a:latin typeface="Public Sans SemiBold" pitchFamily="34" charset="0"/>
                <a:ea typeface="Public Sans SemiBold" pitchFamily="34" charset="-122"/>
                <a:cs typeface="Public Sans SemiBold" pitchFamily="34" charset="-120"/>
              </a:rPr>
              <a:t>01</a:t>
            </a:r>
            <a:endParaRPr lang="en-US" sz="1850" dirty="0"/>
          </a:p>
        </p:txBody>
      </p:sp>
      <p:sp>
        <p:nvSpPr>
          <p:cNvPr id="6" name="Shape 4"/>
          <p:cNvSpPr/>
          <p:nvPr/>
        </p:nvSpPr>
        <p:spPr>
          <a:xfrm>
            <a:off x="838179" y="2635448"/>
            <a:ext cx="2190695" cy="19050"/>
          </a:xfrm>
          <a:prstGeom prst="rect">
            <a:avLst/>
          </a:prstGeom>
          <a:solidFill>
            <a:srgbClr val="0E7C86"/>
          </a:solidFill>
          <a:ln/>
        </p:spPr>
      </p:sp>
      <p:sp>
        <p:nvSpPr>
          <p:cNvPr id="7" name="Text 5"/>
          <p:cNvSpPr/>
          <p:nvPr/>
        </p:nvSpPr>
        <p:spPr>
          <a:xfrm>
            <a:off x="838179" y="2816046"/>
            <a:ext cx="2190695" cy="411460"/>
          </a:xfrm>
          <a:prstGeom prst="rect">
            <a:avLst/>
          </a:prstGeom>
          <a:noFill/>
          <a:ln/>
        </p:spPr>
        <p:txBody>
          <a:bodyPr wrap="none" lIns="0" tIns="0" rIns="0" bIns="0" rtlCol="0" anchor="t"/>
          <a:lstStyle/>
          <a:p>
            <a:pPr algn="l" indent="0" marL="0">
              <a:lnSpc>
                <a:spcPct val="113000"/>
              </a:lnSpc>
              <a:buNone/>
            </a:pPr>
            <a:r>
              <a:rPr lang="en-US" sz="2400" spc="-24" kern="100" dirty="0">
                <a:solidFill>
                  <a:srgbClr val="1B2632"/>
                </a:solidFill>
                <a:latin typeface="Public Sans" pitchFamily="34" charset="0"/>
                <a:ea typeface="Public Sans" pitchFamily="34" charset="-122"/>
                <a:cs typeface="Public Sans" pitchFamily="34" charset="-120"/>
              </a:rPr>
              <a:t>Upload</a:t>
            </a:r>
            <a:endParaRPr lang="en-US" sz="2400" dirty="0"/>
          </a:p>
        </p:txBody>
      </p:sp>
      <p:sp>
        <p:nvSpPr>
          <p:cNvPr id="8" name="Text 6"/>
          <p:cNvSpPr/>
          <p:nvPr/>
        </p:nvSpPr>
        <p:spPr>
          <a:xfrm>
            <a:off x="838179" y="3376414"/>
            <a:ext cx="2190695" cy="1067991"/>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Select and ingest sample bank statements in PDF, Excel, or CSV format into the processing engine.</a:t>
            </a:r>
            <a:endParaRPr lang="en-US" sz="1450" dirty="0"/>
          </a:p>
        </p:txBody>
      </p:sp>
      <p:sp>
        <p:nvSpPr>
          <p:cNvPr id="9" name="Shape 7"/>
          <p:cNvSpPr/>
          <p:nvPr/>
        </p:nvSpPr>
        <p:spPr>
          <a:xfrm>
            <a:off x="3384465" y="2057598"/>
            <a:ext cx="2647884" cy="2907804"/>
          </a:xfrm>
          <a:prstGeom prst="rect">
            <a:avLst/>
          </a:prstGeom>
          <a:noFill/>
          <a:ln w="25399">
            <a:solidFill>
              <a:srgbClr val="CDD0D6"/>
            </a:solidFill>
            <a:prstDash val="solid"/>
          </a:ln>
        </p:spPr>
      </p:sp>
      <p:sp>
        <p:nvSpPr>
          <p:cNvPr id="10" name="Text 8"/>
          <p:cNvSpPr/>
          <p:nvPr/>
        </p:nvSpPr>
        <p:spPr>
          <a:xfrm>
            <a:off x="3613060" y="2311598"/>
            <a:ext cx="905547" cy="237530"/>
          </a:xfrm>
          <a:prstGeom prst="rect">
            <a:avLst/>
          </a:prstGeom>
          <a:noFill/>
          <a:ln/>
        </p:spPr>
        <p:txBody>
          <a:bodyPr wrap="none" lIns="0" tIns="0" rIns="0" bIns="0" rtlCol="0" anchor="t"/>
          <a:lstStyle/>
          <a:p>
            <a:pPr algn="l" indent="0" marL="0">
              <a:lnSpc>
                <a:spcPct val="83000"/>
              </a:lnSpc>
              <a:buNone/>
            </a:pPr>
            <a:r>
              <a:rPr lang="en-US" sz="1850" dirty="0">
                <a:solidFill>
                  <a:srgbClr val="0E7C86"/>
                </a:solidFill>
                <a:latin typeface="Public Sans SemiBold" pitchFamily="34" charset="0"/>
                <a:ea typeface="Public Sans SemiBold" pitchFamily="34" charset="-122"/>
                <a:cs typeface="Public Sans SemiBold" pitchFamily="34" charset="-120"/>
              </a:rPr>
              <a:t>02</a:t>
            </a:r>
            <a:endParaRPr lang="en-US" sz="1850" dirty="0"/>
          </a:p>
        </p:txBody>
      </p:sp>
      <p:sp>
        <p:nvSpPr>
          <p:cNvPr id="11" name="Shape 9"/>
          <p:cNvSpPr/>
          <p:nvPr/>
        </p:nvSpPr>
        <p:spPr>
          <a:xfrm>
            <a:off x="3613060" y="2635448"/>
            <a:ext cx="2190695" cy="19050"/>
          </a:xfrm>
          <a:prstGeom prst="rect">
            <a:avLst/>
          </a:prstGeom>
          <a:solidFill>
            <a:srgbClr val="0E7C86"/>
          </a:solidFill>
          <a:ln/>
        </p:spPr>
      </p:sp>
      <p:sp>
        <p:nvSpPr>
          <p:cNvPr id="12" name="Text 10"/>
          <p:cNvSpPr/>
          <p:nvPr/>
        </p:nvSpPr>
        <p:spPr>
          <a:xfrm>
            <a:off x="3613060" y="2816046"/>
            <a:ext cx="2190695" cy="411460"/>
          </a:xfrm>
          <a:prstGeom prst="rect">
            <a:avLst/>
          </a:prstGeom>
          <a:noFill/>
          <a:ln/>
        </p:spPr>
        <p:txBody>
          <a:bodyPr wrap="none" lIns="0" tIns="0" rIns="0" bIns="0" rtlCol="0" anchor="t"/>
          <a:lstStyle/>
          <a:p>
            <a:pPr algn="l" indent="0" marL="0">
              <a:lnSpc>
                <a:spcPct val="113000"/>
              </a:lnSpc>
              <a:buNone/>
            </a:pPr>
            <a:r>
              <a:rPr lang="en-US" sz="2400" spc="-24" kern="100" dirty="0">
                <a:solidFill>
                  <a:srgbClr val="1B2632"/>
                </a:solidFill>
                <a:latin typeface="Public Sans" pitchFamily="34" charset="0"/>
                <a:ea typeface="Public Sans" pitchFamily="34" charset="-122"/>
                <a:cs typeface="Public Sans" pitchFamily="34" charset="-120"/>
              </a:rPr>
              <a:t>Process</a:t>
            </a:r>
            <a:endParaRPr lang="en-US" sz="2400" dirty="0"/>
          </a:p>
        </p:txBody>
      </p:sp>
      <p:sp>
        <p:nvSpPr>
          <p:cNvPr id="13" name="Text 11"/>
          <p:cNvSpPr/>
          <p:nvPr/>
        </p:nvSpPr>
        <p:spPr>
          <a:xfrm>
            <a:off x="3613060" y="3376414"/>
            <a:ext cx="2190695" cy="1334988"/>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Extract text, parse table structures, map fields, and validate debit and credit totals automatically.</a:t>
            </a:r>
            <a:endParaRPr lang="en-US" sz="1450" dirty="0"/>
          </a:p>
        </p:txBody>
      </p:sp>
      <p:sp>
        <p:nvSpPr>
          <p:cNvPr id="14" name="Shape 12"/>
          <p:cNvSpPr/>
          <p:nvPr/>
        </p:nvSpPr>
        <p:spPr>
          <a:xfrm>
            <a:off x="6159346" y="2057598"/>
            <a:ext cx="2647884" cy="2907804"/>
          </a:xfrm>
          <a:prstGeom prst="rect">
            <a:avLst/>
          </a:prstGeom>
          <a:noFill/>
          <a:ln w="25399">
            <a:solidFill>
              <a:srgbClr val="CDD0D6"/>
            </a:solidFill>
            <a:prstDash val="solid"/>
          </a:ln>
        </p:spPr>
      </p:sp>
      <p:sp>
        <p:nvSpPr>
          <p:cNvPr id="15" name="Text 13"/>
          <p:cNvSpPr/>
          <p:nvPr/>
        </p:nvSpPr>
        <p:spPr>
          <a:xfrm>
            <a:off x="6387940" y="2311598"/>
            <a:ext cx="911996" cy="237530"/>
          </a:xfrm>
          <a:prstGeom prst="rect">
            <a:avLst/>
          </a:prstGeom>
          <a:noFill/>
          <a:ln/>
        </p:spPr>
        <p:txBody>
          <a:bodyPr wrap="none" lIns="0" tIns="0" rIns="0" bIns="0" rtlCol="0" anchor="t"/>
          <a:lstStyle/>
          <a:p>
            <a:pPr algn="l" indent="0" marL="0">
              <a:lnSpc>
                <a:spcPct val="83000"/>
              </a:lnSpc>
              <a:buNone/>
            </a:pPr>
            <a:r>
              <a:rPr lang="en-US" sz="1850" dirty="0">
                <a:solidFill>
                  <a:srgbClr val="0E7C86"/>
                </a:solidFill>
                <a:latin typeface="Public Sans SemiBold" pitchFamily="34" charset="0"/>
                <a:ea typeface="Public Sans SemiBold" pitchFamily="34" charset="-122"/>
                <a:cs typeface="Public Sans SemiBold" pitchFamily="34" charset="-120"/>
              </a:rPr>
              <a:t>03</a:t>
            </a:r>
            <a:endParaRPr lang="en-US" sz="1850" dirty="0"/>
          </a:p>
        </p:txBody>
      </p:sp>
      <p:sp>
        <p:nvSpPr>
          <p:cNvPr id="16" name="Shape 14"/>
          <p:cNvSpPr/>
          <p:nvPr/>
        </p:nvSpPr>
        <p:spPr>
          <a:xfrm>
            <a:off x="6387940" y="2635448"/>
            <a:ext cx="2190695" cy="19050"/>
          </a:xfrm>
          <a:prstGeom prst="rect">
            <a:avLst/>
          </a:prstGeom>
          <a:solidFill>
            <a:srgbClr val="0E7C86"/>
          </a:solidFill>
          <a:ln/>
        </p:spPr>
      </p:sp>
      <p:sp>
        <p:nvSpPr>
          <p:cNvPr id="17" name="Text 15"/>
          <p:cNvSpPr/>
          <p:nvPr/>
        </p:nvSpPr>
        <p:spPr>
          <a:xfrm>
            <a:off x="6387940" y="2816046"/>
            <a:ext cx="2190695" cy="411460"/>
          </a:xfrm>
          <a:prstGeom prst="rect">
            <a:avLst/>
          </a:prstGeom>
          <a:noFill/>
          <a:ln/>
        </p:spPr>
        <p:txBody>
          <a:bodyPr wrap="none" lIns="0" tIns="0" rIns="0" bIns="0" rtlCol="0" anchor="t"/>
          <a:lstStyle/>
          <a:p>
            <a:pPr algn="l" indent="0" marL="0">
              <a:lnSpc>
                <a:spcPct val="113000"/>
              </a:lnSpc>
              <a:buNone/>
            </a:pPr>
            <a:r>
              <a:rPr lang="en-US" sz="2400" spc="-24" kern="100" dirty="0">
                <a:solidFill>
                  <a:srgbClr val="1B2632"/>
                </a:solidFill>
                <a:latin typeface="Public Sans" pitchFamily="34" charset="0"/>
                <a:ea typeface="Public Sans" pitchFamily="34" charset="-122"/>
                <a:cs typeface="Public Sans" pitchFamily="34" charset="-120"/>
              </a:rPr>
              <a:t>Analyze</a:t>
            </a:r>
            <a:endParaRPr lang="en-US" sz="2400" dirty="0"/>
          </a:p>
        </p:txBody>
      </p:sp>
      <p:sp>
        <p:nvSpPr>
          <p:cNvPr id="18" name="Text 16"/>
          <p:cNvSpPr/>
          <p:nvPr/>
        </p:nvSpPr>
        <p:spPr>
          <a:xfrm>
            <a:off x="6387940" y="3376414"/>
            <a:ext cx="2190695" cy="1334988"/>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Categorize transactions, compute monthly liquidity flows, and flag unusual or high-value items.</a:t>
            </a:r>
            <a:endParaRPr lang="en-US" sz="1450" dirty="0"/>
          </a:p>
        </p:txBody>
      </p:sp>
      <p:sp>
        <p:nvSpPr>
          <p:cNvPr id="19" name="Shape 17"/>
          <p:cNvSpPr/>
          <p:nvPr/>
        </p:nvSpPr>
        <p:spPr>
          <a:xfrm>
            <a:off x="8934226" y="2057598"/>
            <a:ext cx="2647884" cy="2907804"/>
          </a:xfrm>
          <a:prstGeom prst="rect">
            <a:avLst/>
          </a:prstGeom>
          <a:noFill/>
          <a:ln w="25399">
            <a:solidFill>
              <a:srgbClr val="CDD0D6"/>
            </a:solidFill>
            <a:prstDash val="solid"/>
          </a:ln>
        </p:spPr>
      </p:sp>
      <p:sp>
        <p:nvSpPr>
          <p:cNvPr id="20" name="Text 18"/>
          <p:cNvSpPr/>
          <p:nvPr/>
        </p:nvSpPr>
        <p:spPr>
          <a:xfrm>
            <a:off x="9162821" y="2311598"/>
            <a:ext cx="911202" cy="237530"/>
          </a:xfrm>
          <a:prstGeom prst="rect">
            <a:avLst/>
          </a:prstGeom>
          <a:noFill/>
          <a:ln/>
        </p:spPr>
        <p:txBody>
          <a:bodyPr wrap="none" lIns="0" tIns="0" rIns="0" bIns="0" rtlCol="0" anchor="t"/>
          <a:lstStyle/>
          <a:p>
            <a:pPr algn="l" indent="0" marL="0">
              <a:lnSpc>
                <a:spcPct val="83000"/>
              </a:lnSpc>
              <a:buNone/>
            </a:pPr>
            <a:r>
              <a:rPr lang="en-US" sz="1850" dirty="0">
                <a:solidFill>
                  <a:srgbClr val="0E7C86"/>
                </a:solidFill>
                <a:latin typeface="Public Sans SemiBold" pitchFamily="34" charset="0"/>
                <a:ea typeface="Public Sans SemiBold" pitchFamily="34" charset="-122"/>
                <a:cs typeface="Public Sans SemiBold" pitchFamily="34" charset="-120"/>
              </a:rPr>
              <a:t>04</a:t>
            </a:r>
            <a:endParaRPr lang="en-US" sz="1850" dirty="0"/>
          </a:p>
        </p:txBody>
      </p:sp>
      <p:sp>
        <p:nvSpPr>
          <p:cNvPr id="21" name="Shape 19"/>
          <p:cNvSpPr/>
          <p:nvPr/>
        </p:nvSpPr>
        <p:spPr>
          <a:xfrm>
            <a:off x="9162821" y="2635448"/>
            <a:ext cx="2190695" cy="19050"/>
          </a:xfrm>
          <a:prstGeom prst="rect">
            <a:avLst/>
          </a:prstGeom>
          <a:solidFill>
            <a:srgbClr val="0E7C86"/>
          </a:solidFill>
          <a:ln/>
        </p:spPr>
      </p:sp>
      <p:sp>
        <p:nvSpPr>
          <p:cNvPr id="22" name="Text 20"/>
          <p:cNvSpPr/>
          <p:nvPr/>
        </p:nvSpPr>
        <p:spPr>
          <a:xfrm>
            <a:off x="9162821" y="2816046"/>
            <a:ext cx="2190695" cy="411460"/>
          </a:xfrm>
          <a:prstGeom prst="rect">
            <a:avLst/>
          </a:prstGeom>
          <a:noFill/>
          <a:ln/>
        </p:spPr>
        <p:txBody>
          <a:bodyPr wrap="none" lIns="0" tIns="0" rIns="0" bIns="0" rtlCol="0" anchor="t"/>
          <a:lstStyle/>
          <a:p>
            <a:pPr algn="l" indent="0" marL="0">
              <a:lnSpc>
                <a:spcPct val="113000"/>
              </a:lnSpc>
              <a:buNone/>
            </a:pPr>
            <a:r>
              <a:rPr lang="en-US" sz="2400" spc="-24" kern="100" dirty="0">
                <a:solidFill>
                  <a:srgbClr val="1B2632"/>
                </a:solidFill>
                <a:latin typeface="Public Sans" pitchFamily="34" charset="0"/>
                <a:ea typeface="Public Sans" pitchFamily="34" charset="-122"/>
                <a:cs typeface="Public Sans" pitchFamily="34" charset="-120"/>
              </a:rPr>
              <a:t>Export</a:t>
            </a:r>
            <a:endParaRPr lang="en-US" sz="2400" dirty="0"/>
          </a:p>
        </p:txBody>
      </p:sp>
      <p:sp>
        <p:nvSpPr>
          <p:cNvPr id="23" name="Text 21"/>
          <p:cNvSpPr/>
          <p:nvPr/>
        </p:nvSpPr>
        <p:spPr>
          <a:xfrm>
            <a:off x="9162821" y="3376414"/>
            <a:ext cx="2190695" cy="1334988"/>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Generate an audit-ready multi-page PDF report with executive summaries and exception logs.</a:t>
            </a:r>
            <a:endParaRPr lang="en-US" sz="1450" dirty="0"/>
          </a:p>
        </p:txBody>
      </p:sp>
      <p:sp>
        <p:nvSpPr>
          <p:cNvPr id="24" name="Shape 22"/>
          <p:cNvSpPr/>
          <p:nvPr/>
        </p:nvSpPr>
        <p:spPr>
          <a:xfrm>
            <a:off x="609585" y="5321002"/>
            <a:ext cx="10972526" cy="889595"/>
          </a:xfrm>
          <a:prstGeom prst="rect">
            <a:avLst/>
          </a:prstGeom>
          <a:solidFill>
            <a:srgbClr val="E4EAEF"/>
          </a:solidFill>
          <a:ln/>
        </p:spPr>
      </p:sp>
      <p:sp>
        <p:nvSpPr>
          <p:cNvPr id="25" name="Text 23"/>
          <p:cNvSpPr/>
          <p:nvPr/>
        </p:nvSpPr>
        <p:spPr>
          <a:xfrm>
            <a:off x="863578" y="5498802"/>
            <a:ext cx="10464538" cy="533995"/>
          </a:xfrm>
          <a:prstGeom prst="rect">
            <a:avLst/>
          </a:prstGeom>
          <a:noFill/>
          <a:ln/>
        </p:spPr>
        <p:txBody>
          <a:bodyPr wrap="square" lIns="0" tIns="0" rIns="0" bIns="0" rtlCol="0" anchor="t">
            <a:normAutofit/>
          </a:bodyPr>
          <a:lstStyle/>
          <a:p>
            <a:pPr algn="l" indent="0" marL="0">
              <a:lnSpc>
                <a:spcPct val="121000"/>
              </a:lnSpc>
              <a:buNone/>
            </a:pPr>
            <a:r>
              <a:rPr lang="en-US" sz="1450" b="1" dirty="0">
                <a:solidFill>
                  <a:srgbClr val="3A4756"/>
                </a:solidFill>
                <a:latin typeface="Public Sans Bold" pitchFamily="34" charset="0"/>
                <a:ea typeface="Public Sans Bold" pitchFamily="34" charset="-122"/>
                <a:cs typeface="Public Sans Bold" pitchFamily="34" charset="-120"/>
              </a:rPr>
              <a:t>Live demonstration stage:</a:t>
            </a:r>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 Following this architectural overview, the presentation transitions directly to a live application demonstration of the workflow.</a:t>
            </a:r>
            <a:endParaRPr lang="en-US" sz="1450" dirty="0"/>
          </a:p>
        </p:txBody>
      </p:sp>
      <p:sp>
        <p:nvSpPr>
          <p:cNvPr id="26" name="Text 24"/>
          <p:cNvSpPr/>
          <p:nvPr/>
        </p:nvSpPr>
        <p:spPr>
          <a:xfrm>
            <a:off x="11807629" y="6451898"/>
            <a:ext cx="384066" cy="202505"/>
          </a:xfrm>
          <a:prstGeom prst="rect">
            <a:avLst/>
          </a:prstGeom>
          <a:noFill/>
          <a:ln/>
        </p:spPr>
        <p:txBody>
          <a:bodyPr wrap="none" lIns="0" tIns="0" rIns="0" bIns="0" rtlCol="0" anchor="ctr"/>
          <a:lstStyle/>
          <a:p>
            <a:pPr algn="l" indent="0" marL="0">
              <a:lnSpc>
                <a:spcPct val="121000"/>
              </a:lnSpc>
              <a:buNone/>
            </a:pPr>
            <a:r>
              <a:rPr lang="en-US" sz="1100" spc="44" kern="100" dirty="0">
                <a:solidFill>
                  <a:srgbClr val="536270"/>
                </a:solidFill>
                <a:latin typeface="Public Sans" pitchFamily="34" charset="0"/>
                <a:ea typeface="Public Sans" pitchFamily="34" charset="-122"/>
                <a:cs typeface="Public Sans" pitchFamily="34" charset="-120"/>
              </a:rPr>
              <a:t>04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09585" y="612458"/>
            <a:ext cx="11582110"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536270"/>
                </a:solidFill>
                <a:latin typeface="Public Sans Medium" pitchFamily="34" charset="0"/>
                <a:ea typeface="Public Sans Medium" pitchFamily="34" charset="-122"/>
                <a:cs typeface="Public Sans Medium" pitchFamily="34" charset="-120"/>
              </a:rPr>
              <a:t>AICA LEVEL 2 · CAPSTONE PROJECT</a:t>
            </a:r>
            <a:endParaRPr lang="en-US" sz="1200" dirty="0"/>
          </a:p>
        </p:txBody>
      </p:sp>
      <p:sp>
        <p:nvSpPr>
          <p:cNvPr id="3" name="Text 1"/>
          <p:cNvSpPr/>
          <p:nvPr/>
        </p:nvSpPr>
        <p:spPr>
          <a:xfrm>
            <a:off x="609585" y="914312"/>
            <a:ext cx="10972526" cy="455116"/>
          </a:xfrm>
          <a:prstGeom prst="rect">
            <a:avLst/>
          </a:prstGeom>
          <a:noFill/>
          <a:ln/>
        </p:spPr>
        <p:txBody>
          <a:bodyPr wrap="none" lIns="0" tIns="0" rIns="0" bIns="0" rtlCol="0" anchor="t"/>
          <a:lstStyle/>
          <a:p>
            <a:pPr algn="l" indent="0" marL="0">
              <a:lnSpc>
                <a:spcPct val="93000"/>
              </a:lnSpc>
              <a:buNone/>
            </a:pPr>
            <a:r>
              <a:rPr lang="en-US" sz="3200" spc="-32" kern="100" dirty="0">
                <a:solidFill>
                  <a:srgbClr val="1B2632"/>
                </a:solidFill>
                <a:latin typeface="Sora SemiBold" pitchFamily="34" charset="0"/>
                <a:ea typeface="Sora SemiBold" pitchFamily="34" charset="-122"/>
                <a:cs typeface="Sora SemiBold" pitchFamily="34" charset="-120"/>
              </a:rPr>
              <a:t>Analysis dashboard: core analysis functions</a:t>
            </a:r>
            <a:endParaRPr lang="en-US" sz="3200" dirty="0"/>
          </a:p>
        </p:txBody>
      </p:sp>
      <p:sp>
        <p:nvSpPr>
          <p:cNvPr id="4" name="Shape 2"/>
          <p:cNvSpPr/>
          <p:nvPr/>
        </p:nvSpPr>
        <p:spPr>
          <a:xfrm>
            <a:off x="609585" y="1500882"/>
            <a:ext cx="2647884" cy="2024955"/>
          </a:xfrm>
          <a:prstGeom prst="rect">
            <a:avLst/>
          </a:prstGeom>
          <a:solidFill>
            <a:srgbClr val="E7EAF0"/>
          </a:solidFill>
          <a:ln/>
        </p:spPr>
      </p:sp>
      <p:sp>
        <p:nvSpPr>
          <p:cNvPr id="5" name="Text 3"/>
          <p:cNvSpPr/>
          <p:nvPr/>
        </p:nvSpPr>
        <p:spPr>
          <a:xfrm>
            <a:off x="812780" y="1682254"/>
            <a:ext cx="2444689" cy="214313"/>
          </a:xfrm>
          <a:prstGeom prst="rect">
            <a:avLst/>
          </a:prstGeom>
          <a:noFill/>
          <a:ln/>
        </p:spPr>
        <p:txBody>
          <a:bodyPr wrap="none" lIns="0" tIns="0" rIns="0" bIns="0" rtlCol="0" anchor="t"/>
          <a:lstStyle/>
          <a:p>
            <a:pPr algn="l" indent="0" marL="0">
              <a:lnSpc>
                <a:spcPct val="112000"/>
              </a:lnSpc>
              <a:buNone/>
            </a:pPr>
            <a:r>
              <a:rPr lang="en-US" sz="1250" dirty="0">
                <a:solidFill>
                  <a:srgbClr val="536270"/>
                </a:solidFill>
                <a:latin typeface="Public Sans" pitchFamily="34" charset="0"/>
                <a:ea typeface="Public Sans" pitchFamily="34" charset="-122"/>
                <a:cs typeface="Public Sans" pitchFamily="34" charset="-120"/>
              </a:rPr>
              <a:t>Inflow analysis</a:t>
            </a:r>
            <a:endParaRPr lang="en-US" sz="1250" dirty="0"/>
          </a:p>
        </p:txBody>
      </p:sp>
      <p:sp>
        <p:nvSpPr>
          <p:cNvPr id="6" name="Text 4"/>
          <p:cNvSpPr/>
          <p:nvPr/>
        </p:nvSpPr>
        <p:spPr>
          <a:xfrm>
            <a:off x="812780" y="2113005"/>
            <a:ext cx="2241494" cy="304800"/>
          </a:xfrm>
          <a:prstGeom prst="rect">
            <a:avLst/>
          </a:prstGeom>
          <a:noFill/>
          <a:ln/>
        </p:spPr>
        <p:txBody>
          <a:bodyPr wrap="none" lIns="0" tIns="0" rIns="0" bIns="0" rtlCol="0" anchor="t"/>
          <a:lstStyle/>
          <a:p>
            <a:pPr algn="l" indent="0" marL="0">
              <a:lnSpc>
                <a:spcPct val="83000"/>
              </a:lnSpc>
              <a:buNone/>
            </a:pPr>
            <a:r>
              <a:rPr lang="en-US" sz="2400" spc="-48" kern="100" dirty="0">
                <a:solidFill>
                  <a:srgbClr val="1B2632"/>
                </a:solidFill>
                <a:latin typeface="Public Sans" pitchFamily="34" charset="0"/>
                <a:ea typeface="Public Sans" pitchFamily="34" charset="-122"/>
                <a:cs typeface="Public Sans" pitchFamily="34" charset="-120"/>
              </a:rPr>
              <a:t>Receipts</a:t>
            </a:r>
            <a:endParaRPr lang="en-US" sz="2400" dirty="0"/>
          </a:p>
        </p:txBody>
      </p:sp>
      <p:sp>
        <p:nvSpPr>
          <p:cNvPr id="7" name="Text 5"/>
          <p:cNvSpPr/>
          <p:nvPr/>
        </p:nvSpPr>
        <p:spPr>
          <a:xfrm>
            <a:off x="812780" y="2547045"/>
            <a:ext cx="2241494" cy="800993"/>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Groups incoming receipts by source and counterparty.</a:t>
            </a:r>
            <a:endParaRPr lang="en-US" sz="1450" dirty="0"/>
          </a:p>
        </p:txBody>
      </p:sp>
      <p:sp>
        <p:nvSpPr>
          <p:cNvPr id="8" name="Shape 6"/>
          <p:cNvSpPr/>
          <p:nvPr/>
        </p:nvSpPr>
        <p:spPr>
          <a:xfrm>
            <a:off x="3384465" y="1500882"/>
            <a:ext cx="2647884" cy="2024955"/>
          </a:xfrm>
          <a:prstGeom prst="rect">
            <a:avLst/>
          </a:prstGeom>
          <a:solidFill>
            <a:srgbClr val="E7EAF0"/>
          </a:solidFill>
          <a:ln/>
        </p:spPr>
      </p:sp>
      <p:sp>
        <p:nvSpPr>
          <p:cNvPr id="9" name="Text 7"/>
          <p:cNvSpPr/>
          <p:nvPr/>
        </p:nvSpPr>
        <p:spPr>
          <a:xfrm>
            <a:off x="3587660" y="1682254"/>
            <a:ext cx="2444689" cy="214313"/>
          </a:xfrm>
          <a:prstGeom prst="rect">
            <a:avLst/>
          </a:prstGeom>
          <a:noFill/>
          <a:ln/>
        </p:spPr>
        <p:txBody>
          <a:bodyPr wrap="none" lIns="0" tIns="0" rIns="0" bIns="0" rtlCol="0" anchor="t"/>
          <a:lstStyle/>
          <a:p>
            <a:pPr algn="l" indent="0" marL="0">
              <a:lnSpc>
                <a:spcPct val="112000"/>
              </a:lnSpc>
              <a:buNone/>
            </a:pPr>
            <a:r>
              <a:rPr lang="en-US" sz="1250" dirty="0">
                <a:solidFill>
                  <a:srgbClr val="536270"/>
                </a:solidFill>
                <a:latin typeface="Public Sans" pitchFamily="34" charset="0"/>
                <a:ea typeface="Public Sans" pitchFamily="34" charset="-122"/>
                <a:cs typeface="Public Sans" pitchFamily="34" charset="-120"/>
              </a:rPr>
              <a:t>Outflow analysis</a:t>
            </a:r>
            <a:endParaRPr lang="en-US" sz="1250" dirty="0"/>
          </a:p>
        </p:txBody>
      </p:sp>
      <p:sp>
        <p:nvSpPr>
          <p:cNvPr id="10" name="Text 8"/>
          <p:cNvSpPr/>
          <p:nvPr/>
        </p:nvSpPr>
        <p:spPr>
          <a:xfrm>
            <a:off x="3587660" y="2113005"/>
            <a:ext cx="2241494" cy="304800"/>
          </a:xfrm>
          <a:prstGeom prst="rect">
            <a:avLst/>
          </a:prstGeom>
          <a:noFill/>
          <a:ln/>
        </p:spPr>
        <p:txBody>
          <a:bodyPr wrap="none" lIns="0" tIns="0" rIns="0" bIns="0" rtlCol="0" anchor="t"/>
          <a:lstStyle/>
          <a:p>
            <a:pPr algn="l" indent="0" marL="0">
              <a:lnSpc>
                <a:spcPct val="83000"/>
              </a:lnSpc>
              <a:buNone/>
            </a:pPr>
            <a:r>
              <a:rPr lang="en-US" sz="2400" spc="-48" kern="100" dirty="0">
                <a:solidFill>
                  <a:srgbClr val="1B2632"/>
                </a:solidFill>
                <a:latin typeface="Public Sans" pitchFamily="34" charset="0"/>
                <a:ea typeface="Public Sans" pitchFamily="34" charset="-122"/>
                <a:cs typeface="Public Sans" pitchFamily="34" charset="-120"/>
              </a:rPr>
              <a:t>Payments</a:t>
            </a:r>
            <a:endParaRPr lang="en-US" sz="2400" dirty="0"/>
          </a:p>
        </p:txBody>
      </p:sp>
      <p:sp>
        <p:nvSpPr>
          <p:cNvPr id="11" name="Text 9"/>
          <p:cNvSpPr/>
          <p:nvPr/>
        </p:nvSpPr>
        <p:spPr>
          <a:xfrm>
            <a:off x="3587660" y="2547045"/>
            <a:ext cx="2241494" cy="800993"/>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Organises outgoing payments by purpose and payee.</a:t>
            </a:r>
            <a:endParaRPr lang="en-US" sz="1450" dirty="0"/>
          </a:p>
        </p:txBody>
      </p:sp>
      <p:sp>
        <p:nvSpPr>
          <p:cNvPr id="12" name="Shape 10"/>
          <p:cNvSpPr/>
          <p:nvPr/>
        </p:nvSpPr>
        <p:spPr>
          <a:xfrm>
            <a:off x="6159346" y="1500882"/>
            <a:ext cx="2647884" cy="2024955"/>
          </a:xfrm>
          <a:prstGeom prst="rect">
            <a:avLst/>
          </a:prstGeom>
          <a:solidFill>
            <a:srgbClr val="E7EAF0"/>
          </a:solidFill>
          <a:ln/>
        </p:spPr>
      </p:sp>
      <p:sp>
        <p:nvSpPr>
          <p:cNvPr id="13" name="Text 11"/>
          <p:cNvSpPr/>
          <p:nvPr/>
        </p:nvSpPr>
        <p:spPr>
          <a:xfrm>
            <a:off x="6362541" y="1682254"/>
            <a:ext cx="2444689" cy="214313"/>
          </a:xfrm>
          <a:prstGeom prst="rect">
            <a:avLst/>
          </a:prstGeom>
          <a:noFill/>
          <a:ln/>
        </p:spPr>
        <p:txBody>
          <a:bodyPr wrap="none" lIns="0" tIns="0" rIns="0" bIns="0" rtlCol="0" anchor="t"/>
          <a:lstStyle/>
          <a:p>
            <a:pPr algn="l" indent="0" marL="0">
              <a:lnSpc>
                <a:spcPct val="112000"/>
              </a:lnSpc>
              <a:buNone/>
            </a:pPr>
            <a:r>
              <a:rPr lang="en-US" sz="1250" dirty="0">
                <a:solidFill>
                  <a:srgbClr val="536270"/>
                </a:solidFill>
                <a:latin typeface="Public Sans" pitchFamily="34" charset="0"/>
                <a:ea typeface="Public Sans" pitchFamily="34" charset="-122"/>
                <a:cs typeface="Public Sans" pitchFamily="34" charset="-120"/>
              </a:rPr>
              <a:t>Net cash flow</a:t>
            </a:r>
            <a:endParaRPr lang="en-US" sz="1250" dirty="0"/>
          </a:p>
        </p:txBody>
      </p:sp>
      <p:sp>
        <p:nvSpPr>
          <p:cNvPr id="14" name="Text 12"/>
          <p:cNvSpPr/>
          <p:nvPr/>
        </p:nvSpPr>
        <p:spPr>
          <a:xfrm>
            <a:off x="6362541" y="2113005"/>
            <a:ext cx="2241494" cy="304800"/>
          </a:xfrm>
          <a:prstGeom prst="rect">
            <a:avLst/>
          </a:prstGeom>
          <a:noFill/>
          <a:ln/>
        </p:spPr>
        <p:txBody>
          <a:bodyPr wrap="none" lIns="0" tIns="0" rIns="0" bIns="0" rtlCol="0" anchor="t"/>
          <a:lstStyle/>
          <a:p>
            <a:pPr algn="l" indent="0" marL="0">
              <a:lnSpc>
                <a:spcPct val="83000"/>
              </a:lnSpc>
              <a:buNone/>
            </a:pPr>
            <a:r>
              <a:rPr lang="en-US" sz="2400" spc="-48" kern="100" dirty="0">
                <a:solidFill>
                  <a:srgbClr val="1B2632"/>
                </a:solidFill>
                <a:latin typeface="Public Sans" pitchFamily="34" charset="0"/>
                <a:ea typeface="Public Sans" pitchFamily="34" charset="-122"/>
                <a:cs typeface="Public Sans" pitchFamily="34" charset="-120"/>
              </a:rPr>
              <a:t>Surplus view</a:t>
            </a:r>
            <a:endParaRPr lang="en-US" sz="2400" dirty="0"/>
          </a:p>
        </p:txBody>
      </p:sp>
      <p:sp>
        <p:nvSpPr>
          <p:cNvPr id="15" name="Text 13"/>
          <p:cNvSpPr/>
          <p:nvPr/>
        </p:nvSpPr>
        <p:spPr>
          <a:xfrm>
            <a:off x="6362541" y="2547045"/>
            <a:ext cx="2241494" cy="800993"/>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Shows the direction of cash movement across each period.</a:t>
            </a:r>
            <a:endParaRPr lang="en-US" sz="1450" dirty="0"/>
          </a:p>
        </p:txBody>
      </p:sp>
      <p:sp>
        <p:nvSpPr>
          <p:cNvPr id="16" name="Shape 14"/>
          <p:cNvSpPr/>
          <p:nvPr/>
        </p:nvSpPr>
        <p:spPr>
          <a:xfrm>
            <a:off x="8934226" y="1500882"/>
            <a:ext cx="2647884" cy="2024955"/>
          </a:xfrm>
          <a:prstGeom prst="rect">
            <a:avLst/>
          </a:prstGeom>
          <a:solidFill>
            <a:srgbClr val="E7EAF0"/>
          </a:solidFill>
          <a:ln/>
        </p:spPr>
      </p:sp>
      <p:sp>
        <p:nvSpPr>
          <p:cNvPr id="17" name="Text 15"/>
          <p:cNvSpPr/>
          <p:nvPr/>
        </p:nvSpPr>
        <p:spPr>
          <a:xfrm>
            <a:off x="9137421" y="1682254"/>
            <a:ext cx="2444689" cy="214313"/>
          </a:xfrm>
          <a:prstGeom prst="rect">
            <a:avLst/>
          </a:prstGeom>
          <a:noFill/>
          <a:ln/>
        </p:spPr>
        <p:txBody>
          <a:bodyPr wrap="none" lIns="0" tIns="0" rIns="0" bIns="0" rtlCol="0" anchor="t"/>
          <a:lstStyle/>
          <a:p>
            <a:pPr algn="l" indent="0" marL="0">
              <a:lnSpc>
                <a:spcPct val="112000"/>
              </a:lnSpc>
              <a:buNone/>
            </a:pPr>
            <a:r>
              <a:rPr lang="en-US" sz="1250" dirty="0">
                <a:solidFill>
                  <a:srgbClr val="536270"/>
                </a:solidFill>
                <a:latin typeface="Public Sans" pitchFamily="34" charset="0"/>
                <a:ea typeface="Public Sans" pitchFamily="34" charset="-122"/>
                <a:cs typeface="Public Sans" pitchFamily="34" charset="-120"/>
              </a:rPr>
              <a:t>Balance tracking</a:t>
            </a:r>
            <a:endParaRPr lang="en-US" sz="1250" dirty="0"/>
          </a:p>
        </p:txBody>
      </p:sp>
      <p:sp>
        <p:nvSpPr>
          <p:cNvPr id="18" name="Text 16"/>
          <p:cNvSpPr/>
          <p:nvPr/>
        </p:nvSpPr>
        <p:spPr>
          <a:xfrm>
            <a:off x="9137421" y="2113005"/>
            <a:ext cx="2241494" cy="304800"/>
          </a:xfrm>
          <a:prstGeom prst="rect">
            <a:avLst/>
          </a:prstGeom>
          <a:noFill/>
          <a:ln/>
        </p:spPr>
        <p:txBody>
          <a:bodyPr wrap="none" lIns="0" tIns="0" rIns="0" bIns="0" rtlCol="0" anchor="t"/>
          <a:lstStyle/>
          <a:p>
            <a:pPr algn="l" indent="0" marL="0">
              <a:lnSpc>
                <a:spcPct val="83000"/>
              </a:lnSpc>
              <a:buNone/>
            </a:pPr>
            <a:r>
              <a:rPr lang="en-US" sz="2400" spc="-48" kern="100" dirty="0">
                <a:solidFill>
                  <a:srgbClr val="1B2632"/>
                </a:solidFill>
                <a:latin typeface="Public Sans" pitchFamily="34" charset="0"/>
                <a:ea typeface="Public Sans" pitchFamily="34" charset="-122"/>
                <a:cs typeface="Public Sans" pitchFamily="34" charset="-120"/>
              </a:rPr>
              <a:t>Ledger position</a:t>
            </a:r>
            <a:endParaRPr lang="en-US" sz="2400" dirty="0"/>
          </a:p>
        </p:txBody>
      </p:sp>
      <p:sp>
        <p:nvSpPr>
          <p:cNvPr id="19" name="Text 17"/>
          <p:cNvSpPr/>
          <p:nvPr/>
        </p:nvSpPr>
        <p:spPr>
          <a:xfrm>
            <a:off x="9137421" y="2547045"/>
            <a:ext cx="2241494" cy="800993"/>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Follows the running balance from opening to closing.</a:t>
            </a:r>
            <a:endParaRPr lang="en-US" sz="14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09585" y="3703638"/>
          <a:ext cx="10972526" cy="914400"/>
        </p:xfrm>
        <a:graphic>
          <a:graphicData uri="http://schemas.openxmlformats.org/drawingml/2006/table">
            <a:tbl>
              <a:tblPr/>
              <a:tblGrid>
                <a:gridCol w="4608397"/>
                <a:gridCol w="6364128"/>
              </a:tblGrid>
              <a:tr h="333764">
                <a:tc>
                  <a:txBody>
                    <a:bodyPr/>
                    <a:lstStyle/>
                    <a:p>
                      <a:pPr algn="l" indent="0" marL="0">
                        <a:buNone/>
                      </a:pPr>
                      <a:r>
                        <a:rPr lang="en-US" sz="1200" spc="96" kern="100" dirty="0">
                          <a:solidFill>
                            <a:srgbClr val="1B2632"/>
                          </a:solidFill>
                          <a:latin typeface="Public Sans" pitchFamily="34" charset="0"/>
                          <a:ea typeface="Public Sans" pitchFamily="34" charset="-122"/>
                          <a:cs typeface="Public Sans" pitchFamily="34" charset="-120"/>
                        </a:rPr>
                        <a:t>ANALYSIS AREA</a:t>
                      </a:r>
                      <a:endParaRPr lang="en-US" sz="1200" dirty="0">
                        <a:latin typeface="Public Sans" charset="0"/>
                        <a:ea typeface="Public Sans" charset="0"/>
                        <a:cs typeface="Public Sans" charset="0"/>
                      </a:endParaRPr>
                    </a:p>
                  </a:txBody>
                  <a:tcPr marL="109535" marR="109535" marT="58419" marB="58419"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F9FAFC"/>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c>
                  <a:txBody>
                    <a:bodyPr/>
                    <a:lstStyle/>
                    <a:p>
                      <a:pPr algn="r" indent="0" marL="0">
                        <a:buNone/>
                      </a:pPr>
                      <a:r>
                        <a:rPr lang="en-US" sz="1200" spc="96" kern="100" dirty="0">
                          <a:solidFill>
                            <a:srgbClr val="1B2632"/>
                          </a:solidFill>
                          <a:latin typeface="Public Sans" pitchFamily="34" charset="0"/>
                          <a:ea typeface="Public Sans" pitchFamily="34" charset="-122"/>
                          <a:cs typeface="Public Sans" pitchFamily="34" charset="-120"/>
                        </a:rPr>
                        <a:t>WHAT THE DASHBOARD SURFACES</a:t>
                      </a:r>
                      <a:endParaRPr lang="en-US" sz="1200" dirty="0">
                        <a:latin typeface="Public Sans" charset="0"/>
                        <a:ea typeface="Public Sans" charset="0"/>
                        <a:cs typeface="Public Sans" charset="0"/>
                      </a:endParaRPr>
                    </a:p>
                  </a:txBody>
                  <a:tcPr marL="109535" marR="109535" marT="58419" marB="58419"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F9FAFC"/>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r>
              <a:tr h="498363">
                <a:tc>
                  <a:txBody>
                    <a:bodyPr/>
                    <a:lstStyle/>
                    <a:p>
                      <a:pPr algn="l" indent="0" marL="0">
                        <a:buNone/>
                      </a:pPr>
                      <a:r>
                        <a:rPr lang="en-US" sz="1700" dirty="0">
                          <a:solidFill>
                            <a:srgbClr val="3A4756"/>
                          </a:solidFill>
                          <a:latin typeface="Public Sans" pitchFamily="34" charset="0"/>
                          <a:ea typeface="Public Sans" pitchFamily="34" charset="-122"/>
                          <a:cs typeface="Public Sans" pitchFamily="34" charset="-120"/>
                        </a:rPr>
                        <a:t>Receipt concentration</a:t>
                      </a:r>
                      <a:endParaRPr lang="en-US" sz="1700" dirty="0">
                        <a:latin typeface="Public Sans" charset="0"/>
                        <a:ea typeface="Public Sans" charset="0"/>
                        <a:cs typeface="Public Sans" charset="0"/>
                      </a:endParaRPr>
                    </a:p>
                  </a:txBody>
                  <a:tcPr marL="161921" marR="161921" marT="86358" marB="8635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c>
                  <a:txBody>
                    <a:bodyPr/>
                    <a:lstStyle/>
                    <a:p>
                      <a:pPr algn="r" indent="0" marL="0">
                        <a:buNone/>
                      </a:pPr>
                      <a:r>
                        <a:rPr lang="en-US" sz="1700" b="1" dirty="0">
                          <a:solidFill>
                            <a:srgbClr val="3A4756"/>
                          </a:solidFill>
                          <a:latin typeface="Public Sans" pitchFamily="34" charset="0"/>
                          <a:ea typeface="Public Sans" pitchFamily="34" charset="-122"/>
                          <a:cs typeface="Public Sans" pitchFamily="34" charset="-120"/>
                        </a:rPr>
                        <a:t>Where inflows depend on a small number of sources</a:t>
                      </a:r>
                      <a:endParaRPr lang="en-US" sz="1700" dirty="0">
                        <a:latin typeface="Public Sans" charset="0"/>
                        <a:ea typeface="Public Sans" charset="0"/>
                        <a:cs typeface="Public Sans" charset="0"/>
                      </a:endParaRPr>
                    </a:p>
                  </a:txBody>
                  <a:tcPr marL="161921" marR="161921" marT="86358" marB="8635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r>
              <a:tr h="498363">
                <a:tc>
                  <a:txBody>
                    <a:bodyPr/>
                    <a:lstStyle/>
                    <a:p>
                      <a:pPr algn="l" indent="0" marL="0">
                        <a:buNone/>
                      </a:pPr>
                      <a:r>
                        <a:rPr lang="en-US" sz="1700" dirty="0">
                          <a:solidFill>
                            <a:srgbClr val="3A4756"/>
                          </a:solidFill>
                          <a:latin typeface="Public Sans" pitchFamily="34" charset="0"/>
                          <a:ea typeface="Public Sans" pitchFamily="34" charset="-122"/>
                          <a:cs typeface="Public Sans" pitchFamily="34" charset="-120"/>
                        </a:rPr>
                        <a:t>Bank charges &amp; fees</a:t>
                      </a:r>
                      <a:endParaRPr lang="en-US" sz="1700" dirty="0">
                        <a:latin typeface="Public Sans" charset="0"/>
                        <a:ea typeface="Public Sans" charset="0"/>
                        <a:cs typeface="Public Sans" charset="0"/>
                      </a:endParaRPr>
                    </a:p>
                  </a:txBody>
                  <a:tcPr marL="161921" marR="161921" marT="86358" marB="8635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c>
                  <a:txBody>
                    <a:bodyPr/>
                    <a:lstStyle/>
                    <a:p>
                      <a:pPr algn="r" indent="0" marL="0">
                        <a:buNone/>
                      </a:pPr>
                      <a:r>
                        <a:rPr lang="en-US" sz="1700" b="1" dirty="0">
                          <a:solidFill>
                            <a:srgbClr val="3A4756"/>
                          </a:solidFill>
                          <a:latin typeface="Public Sans" pitchFamily="34" charset="0"/>
                          <a:ea typeface="Public Sans" pitchFamily="34" charset="-122"/>
                          <a:cs typeface="Public Sans" pitchFamily="34" charset="-120"/>
                        </a:rPr>
                        <a:t>Fee and charge activity isolated for review</a:t>
                      </a:r>
                      <a:endParaRPr lang="en-US" sz="1700" dirty="0">
                        <a:latin typeface="Public Sans" charset="0"/>
                        <a:ea typeface="Public Sans" charset="0"/>
                        <a:cs typeface="Public Sans" charset="0"/>
                      </a:endParaRPr>
                    </a:p>
                  </a:txBody>
                  <a:tcPr marL="161921" marR="161921" marT="86358" marB="8635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r>
              <a:tr h="485664">
                <a:tc>
                  <a:txBody>
                    <a:bodyPr/>
                    <a:lstStyle/>
                    <a:p>
                      <a:pPr algn="l" indent="0" marL="0">
                        <a:buNone/>
                      </a:pPr>
                      <a:r>
                        <a:rPr lang="en-US" sz="1700" dirty="0">
                          <a:solidFill>
                            <a:srgbClr val="3A4756"/>
                          </a:solidFill>
                          <a:latin typeface="Public Sans" pitchFamily="34" charset="0"/>
                          <a:ea typeface="Public Sans" pitchFamily="34" charset="-122"/>
                          <a:cs typeface="Public Sans" pitchFamily="34" charset="-120"/>
                        </a:rPr>
                        <a:t>Transaction anomalies</a:t>
                      </a:r>
                      <a:endParaRPr lang="en-US" sz="1700" dirty="0">
                        <a:latin typeface="Public Sans" charset="0"/>
                        <a:ea typeface="Public Sans" charset="0"/>
                        <a:cs typeface="Public Sans" charset="0"/>
                      </a:endParaRPr>
                    </a:p>
                  </a:txBody>
                  <a:tcPr marL="161921" marR="161921" marT="86358" marB="8635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F9FAFC"/>
                      </a:solidFill>
                      <a:prstDash val="solid"/>
                      <a:round/>
                      <a:headEnd type="none" w="med" len="med"/>
                      <a:tailEnd type="none" w="med" len="med"/>
                    </a:lnB>
                  </a:tcPr>
                </a:tc>
                <a:tc>
                  <a:txBody>
                    <a:bodyPr/>
                    <a:lstStyle/>
                    <a:p>
                      <a:pPr algn="r" indent="0" marL="0">
                        <a:buNone/>
                      </a:pPr>
                      <a:r>
                        <a:rPr lang="en-US" sz="1700" b="1" dirty="0">
                          <a:solidFill>
                            <a:srgbClr val="3A4756"/>
                          </a:solidFill>
                          <a:latin typeface="Public Sans" pitchFamily="34" charset="0"/>
                          <a:ea typeface="Public Sans" pitchFamily="34" charset="-122"/>
                          <a:cs typeface="Public Sans" pitchFamily="34" charset="-120"/>
                        </a:rPr>
                        <a:t>Unusual or high-value items flagged for CA review</a:t>
                      </a:r>
                      <a:endParaRPr lang="en-US" sz="1700" dirty="0">
                        <a:latin typeface="Public Sans" charset="0"/>
                        <a:ea typeface="Public Sans" charset="0"/>
                        <a:cs typeface="Public Sans" charset="0"/>
                      </a:endParaRPr>
                    </a:p>
                  </a:txBody>
                  <a:tcPr marL="161921" marR="161921" marT="86358" marB="8635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F9FAFC"/>
                      </a:solidFill>
                      <a:prstDash val="solid"/>
                      <a:round/>
                      <a:headEnd type="none" w="med" len="med"/>
                      <a:tailEnd type="none" w="med" len="med"/>
                    </a:lnB>
                  </a:tcPr>
                </a:tc>
              </a:tr>
            </a:tbl>
          </a:graphicData>
        </a:graphic>
      </p:graphicFrame>
      <p:sp>
        <p:nvSpPr>
          <p:cNvPr id="21" name="Text 18"/>
          <p:cNvSpPr/>
          <p:nvPr/>
        </p:nvSpPr>
        <p:spPr>
          <a:xfrm>
            <a:off x="609585" y="5929709"/>
            <a:ext cx="10972526" cy="322263"/>
          </a:xfrm>
          <a:prstGeom prst="rect">
            <a:avLst/>
          </a:prstGeom>
          <a:noFill/>
          <a:ln/>
        </p:spPr>
        <p:txBody>
          <a:bodyPr wrap="square" lIns="0" tIns="101598" rIns="0" bIns="0" rtlCol="0" anchor="t">
            <a:normAutofit/>
          </a:bodyPr>
          <a:lstStyle/>
          <a:p>
            <a:pPr algn="l" indent="0" marL="0">
              <a:lnSpc>
                <a:spcPct val="112000"/>
              </a:lnSpc>
              <a:buNone/>
            </a:pPr>
            <a:r>
              <a:rPr lang="en-US" sz="1250" dirty="0">
                <a:solidFill>
                  <a:srgbClr val="536270"/>
                </a:solidFill>
                <a:latin typeface="Public Sans" pitchFamily="34" charset="0"/>
                <a:ea typeface="Public Sans" pitchFamily="34" charset="-122"/>
                <a:cs typeface="Public Sans" pitchFamily="34" charset="-120"/>
              </a:rPr>
              <a:t>Dashboard outputs are generated from the uploaded statement data and serve as review prompts, not conclusions.</a:t>
            </a:r>
            <a:endParaRPr lang="en-US" sz="1250" dirty="0"/>
          </a:p>
        </p:txBody>
      </p:sp>
      <p:sp>
        <p:nvSpPr>
          <p:cNvPr id="22" name="Text 19"/>
          <p:cNvSpPr/>
          <p:nvPr/>
        </p:nvSpPr>
        <p:spPr>
          <a:xfrm>
            <a:off x="11805744" y="6451898"/>
            <a:ext cx="385951" cy="202505"/>
          </a:xfrm>
          <a:prstGeom prst="rect">
            <a:avLst/>
          </a:prstGeom>
          <a:noFill/>
          <a:ln/>
        </p:spPr>
        <p:txBody>
          <a:bodyPr wrap="none" lIns="0" tIns="0" rIns="0" bIns="0" rtlCol="0" anchor="ctr"/>
          <a:lstStyle/>
          <a:p>
            <a:pPr algn="l" indent="0" marL="0">
              <a:lnSpc>
                <a:spcPct val="121000"/>
              </a:lnSpc>
              <a:buNone/>
            </a:pPr>
            <a:r>
              <a:rPr lang="en-US" sz="1100" spc="44" kern="100" dirty="0">
                <a:solidFill>
                  <a:srgbClr val="536270"/>
                </a:solidFill>
                <a:latin typeface="Public Sans" pitchFamily="34" charset="0"/>
                <a:ea typeface="Public Sans" pitchFamily="34" charset="-122"/>
                <a:cs typeface="Public Sans" pitchFamily="34" charset="-120"/>
              </a:rPr>
              <a:t>05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09585" y="612458"/>
            <a:ext cx="11582110"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536270"/>
                </a:solidFill>
                <a:latin typeface="Public Sans Medium" pitchFamily="34" charset="0"/>
                <a:ea typeface="Public Sans Medium" pitchFamily="34" charset="-122"/>
                <a:cs typeface="Public Sans Medium" pitchFamily="34" charset="-120"/>
              </a:rPr>
              <a:t>AICA LEVEL 2 · CAPSTONE PROJECT</a:t>
            </a:r>
            <a:endParaRPr lang="en-US" sz="1200" dirty="0"/>
          </a:p>
        </p:txBody>
      </p:sp>
      <p:sp>
        <p:nvSpPr>
          <p:cNvPr id="3" name="Text 1"/>
          <p:cNvSpPr/>
          <p:nvPr/>
        </p:nvSpPr>
        <p:spPr>
          <a:xfrm>
            <a:off x="609585" y="914312"/>
            <a:ext cx="10972526" cy="910233"/>
          </a:xfrm>
          <a:prstGeom prst="rect">
            <a:avLst/>
          </a:prstGeom>
          <a:noFill/>
          <a:ln/>
        </p:spPr>
        <p:txBody>
          <a:bodyPr wrap="square" lIns="0" tIns="0" rIns="0" bIns="0" rtlCol="0" anchor="t">
            <a:normAutofit/>
          </a:bodyPr>
          <a:lstStyle/>
          <a:p>
            <a:pPr algn="l" indent="0" marL="0">
              <a:lnSpc>
                <a:spcPct val="93000"/>
              </a:lnSpc>
              <a:buNone/>
            </a:pPr>
            <a:r>
              <a:rPr lang="en-US" sz="3200" spc="-32" kern="100" dirty="0">
                <a:solidFill>
                  <a:srgbClr val="1B2632"/>
                </a:solidFill>
                <a:latin typeface="Sora SemiBold" pitchFamily="34" charset="0"/>
                <a:ea typeface="Sora SemiBold" pitchFamily="34" charset="-122"/>
                <a:cs typeface="Sora SemiBold" pitchFamily="34" charset="-120"/>
              </a:rPr>
              <a:t>Automated generation of a structured three-page audit report</a:t>
            </a:r>
            <a:endParaRPr lang="en-US" sz="3200" dirty="0"/>
          </a:p>
        </p:txBody>
      </p:sp>
      <p:sp>
        <p:nvSpPr>
          <p:cNvPr id="4" name="Shape 2"/>
          <p:cNvSpPr/>
          <p:nvPr/>
        </p:nvSpPr>
        <p:spPr>
          <a:xfrm>
            <a:off x="609585" y="2032198"/>
            <a:ext cx="3454314" cy="3624064"/>
          </a:xfrm>
          <a:prstGeom prst="roundRect">
            <a:avLst>
              <a:gd name="adj" fmla="val 937"/>
            </a:avLst>
          </a:prstGeom>
          <a:solidFill>
            <a:srgbClr val="E7EAF0"/>
          </a:solidFill>
          <a:ln/>
        </p:spPr>
      </p:sp>
      <p:sp>
        <p:nvSpPr>
          <p:cNvPr id="5" name="Shape 3"/>
          <p:cNvSpPr/>
          <p:nvPr/>
        </p:nvSpPr>
        <p:spPr>
          <a:xfrm>
            <a:off x="863578" y="2311598"/>
            <a:ext cx="889474" cy="336649"/>
          </a:xfrm>
          <a:prstGeom prst="roundRect">
            <a:avLst>
              <a:gd name="adj" fmla="val 7696"/>
            </a:avLst>
          </a:prstGeom>
          <a:solidFill>
            <a:srgbClr val="D1F7FA"/>
          </a:solidFill>
          <a:ln/>
        </p:spPr>
      </p:sp>
      <p:sp>
        <p:nvSpPr>
          <p:cNvPr id="6" name="Text 4"/>
          <p:cNvSpPr/>
          <p:nvPr/>
        </p:nvSpPr>
        <p:spPr>
          <a:xfrm>
            <a:off x="993056" y="2386386"/>
            <a:ext cx="1240104" cy="207268"/>
          </a:xfrm>
          <a:prstGeom prst="rect">
            <a:avLst/>
          </a:prstGeom>
          <a:noFill/>
          <a:ln/>
        </p:spPr>
        <p:txBody>
          <a:bodyPr wrap="none" lIns="0" tIns="0" rIns="0" bIns="0" rtlCol="0" anchor="t"/>
          <a:lstStyle/>
          <a:p>
            <a:pPr algn="l" indent="0" marL="0">
              <a:lnSpc>
                <a:spcPct val="100000"/>
              </a:lnSpc>
              <a:buNone/>
            </a:pPr>
            <a:r>
              <a:rPr lang="en-US" sz="1350" spc="82" kern="100" dirty="0">
                <a:solidFill>
                  <a:srgbClr val="3A4756"/>
                </a:solidFill>
                <a:latin typeface="Public Sans SemiBold" pitchFamily="34" charset="0"/>
                <a:ea typeface="Public Sans SemiBold" pitchFamily="34" charset="-122"/>
                <a:cs typeface="Public Sans SemiBold" pitchFamily="34" charset="-120"/>
              </a:rPr>
              <a:t>PAGE 1</a:t>
            </a:r>
            <a:endParaRPr lang="en-US" sz="1350" dirty="0"/>
          </a:p>
        </p:txBody>
      </p:sp>
      <p:sp>
        <p:nvSpPr>
          <p:cNvPr id="7" name="Text 5"/>
          <p:cNvSpPr/>
          <p:nvPr/>
        </p:nvSpPr>
        <p:spPr>
          <a:xfrm>
            <a:off x="863578" y="2807315"/>
            <a:ext cx="2946326" cy="411460"/>
          </a:xfrm>
          <a:prstGeom prst="rect">
            <a:avLst/>
          </a:prstGeom>
          <a:noFill/>
          <a:ln/>
        </p:spPr>
        <p:txBody>
          <a:bodyPr wrap="none" lIns="0" tIns="0" rIns="0" bIns="0" rtlCol="0" anchor="t"/>
          <a:lstStyle/>
          <a:p>
            <a:pPr algn="l" indent="0" marL="0">
              <a:lnSpc>
                <a:spcPct val="113000"/>
              </a:lnSpc>
              <a:buNone/>
            </a:pPr>
            <a:r>
              <a:rPr lang="en-US" sz="2400" spc="-24" kern="100" dirty="0">
                <a:solidFill>
                  <a:srgbClr val="1B2632"/>
                </a:solidFill>
                <a:latin typeface="Public Sans" pitchFamily="34" charset="0"/>
                <a:ea typeface="Public Sans" pitchFamily="34" charset="-122"/>
                <a:cs typeface="Public Sans" pitchFamily="34" charset="-120"/>
              </a:rPr>
              <a:t>Executive summary</a:t>
            </a:r>
            <a:endParaRPr lang="en-US" sz="2400" dirty="0"/>
          </a:p>
        </p:txBody>
      </p:sp>
      <p:sp>
        <p:nvSpPr>
          <p:cNvPr id="8" name="Shape 6"/>
          <p:cNvSpPr/>
          <p:nvPr/>
        </p:nvSpPr>
        <p:spPr>
          <a:xfrm>
            <a:off x="863578" y="3420070"/>
            <a:ext cx="2946227" cy="31651"/>
          </a:xfrm>
          <a:prstGeom prst="roundRect">
            <a:avLst>
              <a:gd name="adj" fmla="val 49998"/>
            </a:avLst>
          </a:prstGeom>
          <a:solidFill>
            <a:srgbClr val="1B2632"/>
          </a:solidFill>
          <a:ln/>
        </p:spPr>
      </p:sp>
      <p:sp>
        <p:nvSpPr>
          <p:cNvPr id="9" name="Text 7"/>
          <p:cNvSpPr/>
          <p:nvPr/>
        </p:nvSpPr>
        <p:spPr>
          <a:xfrm>
            <a:off x="863578" y="3631208"/>
            <a:ext cx="2946326" cy="1067991"/>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Opening and closing balance verification, total credit and debit reconciliations, and high-level management cash insights.</a:t>
            </a:r>
            <a:endParaRPr lang="en-US" sz="1450" dirty="0"/>
          </a:p>
        </p:txBody>
      </p:sp>
      <p:sp>
        <p:nvSpPr>
          <p:cNvPr id="10" name="Shape 8"/>
          <p:cNvSpPr/>
          <p:nvPr/>
        </p:nvSpPr>
        <p:spPr>
          <a:xfrm>
            <a:off x="4368691" y="2032198"/>
            <a:ext cx="3454314" cy="3624064"/>
          </a:xfrm>
          <a:prstGeom prst="roundRect">
            <a:avLst>
              <a:gd name="adj" fmla="val 937"/>
            </a:avLst>
          </a:prstGeom>
          <a:solidFill>
            <a:srgbClr val="E7EAF0"/>
          </a:solidFill>
          <a:ln/>
        </p:spPr>
      </p:sp>
      <p:sp>
        <p:nvSpPr>
          <p:cNvPr id="11" name="Shape 9"/>
          <p:cNvSpPr/>
          <p:nvPr/>
        </p:nvSpPr>
        <p:spPr>
          <a:xfrm>
            <a:off x="4622684" y="2311598"/>
            <a:ext cx="923803" cy="336649"/>
          </a:xfrm>
          <a:prstGeom prst="roundRect">
            <a:avLst>
              <a:gd name="adj" fmla="val 7696"/>
            </a:avLst>
          </a:prstGeom>
          <a:solidFill>
            <a:srgbClr val="D1F7FA"/>
          </a:solidFill>
          <a:ln/>
        </p:spPr>
      </p:sp>
      <p:sp>
        <p:nvSpPr>
          <p:cNvPr id="12" name="Text 10"/>
          <p:cNvSpPr/>
          <p:nvPr/>
        </p:nvSpPr>
        <p:spPr>
          <a:xfrm>
            <a:off x="4752162" y="2386386"/>
            <a:ext cx="1274433" cy="207268"/>
          </a:xfrm>
          <a:prstGeom prst="rect">
            <a:avLst/>
          </a:prstGeom>
          <a:noFill/>
          <a:ln/>
        </p:spPr>
        <p:txBody>
          <a:bodyPr wrap="none" lIns="0" tIns="0" rIns="0" bIns="0" rtlCol="0" anchor="t"/>
          <a:lstStyle/>
          <a:p>
            <a:pPr algn="l" indent="0" marL="0">
              <a:lnSpc>
                <a:spcPct val="100000"/>
              </a:lnSpc>
              <a:buNone/>
            </a:pPr>
            <a:r>
              <a:rPr lang="en-US" sz="1350" spc="82" kern="100" dirty="0">
                <a:solidFill>
                  <a:srgbClr val="3A4756"/>
                </a:solidFill>
                <a:latin typeface="Public Sans SemiBold" pitchFamily="34" charset="0"/>
                <a:ea typeface="Public Sans SemiBold" pitchFamily="34" charset="-122"/>
                <a:cs typeface="Public Sans SemiBold" pitchFamily="34" charset="-120"/>
              </a:rPr>
              <a:t>PAGE 2</a:t>
            </a:r>
            <a:endParaRPr lang="en-US" sz="1350" dirty="0"/>
          </a:p>
        </p:txBody>
      </p:sp>
      <p:sp>
        <p:nvSpPr>
          <p:cNvPr id="13" name="Text 11"/>
          <p:cNvSpPr/>
          <p:nvPr/>
        </p:nvSpPr>
        <p:spPr>
          <a:xfrm>
            <a:off x="4622684" y="2807315"/>
            <a:ext cx="2946326" cy="822920"/>
          </a:xfrm>
          <a:prstGeom prst="rect">
            <a:avLst/>
          </a:prstGeom>
          <a:noFill/>
          <a:ln/>
        </p:spPr>
        <p:txBody>
          <a:bodyPr wrap="square" lIns="0" tIns="0" rIns="0" bIns="0" rtlCol="0" anchor="t">
            <a:normAutofit/>
          </a:bodyPr>
          <a:lstStyle/>
          <a:p>
            <a:pPr algn="l" indent="0" marL="0">
              <a:lnSpc>
                <a:spcPct val="113000"/>
              </a:lnSpc>
              <a:buNone/>
            </a:pPr>
            <a:r>
              <a:rPr lang="en-US" sz="2400" spc="-24" kern="100" dirty="0">
                <a:solidFill>
                  <a:srgbClr val="1B2632"/>
                </a:solidFill>
                <a:latin typeface="Public Sans" pitchFamily="34" charset="0"/>
                <a:ea typeface="Public Sans" pitchFamily="34" charset="-122"/>
                <a:cs typeface="Public Sans" pitchFamily="34" charset="-120"/>
              </a:rPr>
              <a:t>Monthly trends &amp; categories</a:t>
            </a:r>
            <a:endParaRPr lang="en-US" sz="2400" dirty="0"/>
          </a:p>
        </p:txBody>
      </p:sp>
      <p:sp>
        <p:nvSpPr>
          <p:cNvPr id="14" name="Shape 12"/>
          <p:cNvSpPr/>
          <p:nvPr/>
        </p:nvSpPr>
        <p:spPr>
          <a:xfrm>
            <a:off x="4622684" y="3831530"/>
            <a:ext cx="2946227" cy="31651"/>
          </a:xfrm>
          <a:prstGeom prst="roundRect">
            <a:avLst>
              <a:gd name="adj" fmla="val 49998"/>
            </a:avLst>
          </a:prstGeom>
          <a:solidFill>
            <a:srgbClr val="1B2632"/>
          </a:solidFill>
          <a:ln/>
        </p:spPr>
      </p:sp>
      <p:sp>
        <p:nvSpPr>
          <p:cNvPr id="15" name="Text 13"/>
          <p:cNvSpPr/>
          <p:nvPr/>
        </p:nvSpPr>
        <p:spPr>
          <a:xfrm>
            <a:off x="4622684" y="4042668"/>
            <a:ext cx="2946326" cy="1067991"/>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Monthly inflows versus outflows chart, monthly reconciliation table, and exhaustive category classification breakdown.</a:t>
            </a:r>
            <a:endParaRPr lang="en-US" sz="1450" dirty="0"/>
          </a:p>
        </p:txBody>
      </p:sp>
      <p:sp>
        <p:nvSpPr>
          <p:cNvPr id="16" name="Shape 14"/>
          <p:cNvSpPr/>
          <p:nvPr/>
        </p:nvSpPr>
        <p:spPr>
          <a:xfrm>
            <a:off x="8127797" y="2032198"/>
            <a:ext cx="3454314" cy="3624064"/>
          </a:xfrm>
          <a:prstGeom prst="roundRect">
            <a:avLst>
              <a:gd name="adj" fmla="val 937"/>
            </a:avLst>
          </a:prstGeom>
          <a:solidFill>
            <a:srgbClr val="E7EAF0"/>
          </a:solidFill>
          <a:ln/>
        </p:spPr>
      </p:sp>
      <p:sp>
        <p:nvSpPr>
          <p:cNvPr id="17" name="Shape 15"/>
          <p:cNvSpPr/>
          <p:nvPr/>
        </p:nvSpPr>
        <p:spPr>
          <a:xfrm>
            <a:off x="8381790" y="2311598"/>
            <a:ext cx="929260" cy="336649"/>
          </a:xfrm>
          <a:prstGeom prst="roundRect">
            <a:avLst>
              <a:gd name="adj" fmla="val 7696"/>
            </a:avLst>
          </a:prstGeom>
          <a:solidFill>
            <a:srgbClr val="D1F7FA"/>
          </a:solidFill>
          <a:ln/>
        </p:spPr>
      </p:sp>
      <p:sp>
        <p:nvSpPr>
          <p:cNvPr id="18" name="Text 16"/>
          <p:cNvSpPr/>
          <p:nvPr/>
        </p:nvSpPr>
        <p:spPr>
          <a:xfrm>
            <a:off x="8511268" y="2386386"/>
            <a:ext cx="1279890" cy="207268"/>
          </a:xfrm>
          <a:prstGeom prst="rect">
            <a:avLst/>
          </a:prstGeom>
          <a:noFill/>
          <a:ln/>
        </p:spPr>
        <p:txBody>
          <a:bodyPr wrap="none" lIns="0" tIns="0" rIns="0" bIns="0" rtlCol="0" anchor="t"/>
          <a:lstStyle/>
          <a:p>
            <a:pPr algn="l" indent="0" marL="0">
              <a:lnSpc>
                <a:spcPct val="100000"/>
              </a:lnSpc>
              <a:buNone/>
            </a:pPr>
            <a:r>
              <a:rPr lang="en-US" sz="1350" spc="82" kern="100" dirty="0">
                <a:solidFill>
                  <a:srgbClr val="3A4756"/>
                </a:solidFill>
                <a:latin typeface="Public Sans SemiBold" pitchFamily="34" charset="0"/>
                <a:ea typeface="Public Sans SemiBold" pitchFamily="34" charset="-122"/>
                <a:cs typeface="Public Sans SemiBold" pitchFamily="34" charset="-120"/>
              </a:rPr>
              <a:t>PAGE 3</a:t>
            </a:r>
            <a:endParaRPr lang="en-US" sz="1350" dirty="0"/>
          </a:p>
        </p:txBody>
      </p:sp>
      <p:sp>
        <p:nvSpPr>
          <p:cNvPr id="19" name="Text 17"/>
          <p:cNvSpPr/>
          <p:nvPr/>
        </p:nvSpPr>
        <p:spPr>
          <a:xfrm>
            <a:off x="8381790" y="2807315"/>
            <a:ext cx="2946326" cy="822920"/>
          </a:xfrm>
          <a:prstGeom prst="rect">
            <a:avLst/>
          </a:prstGeom>
          <a:noFill/>
          <a:ln/>
        </p:spPr>
        <p:txBody>
          <a:bodyPr wrap="square" lIns="0" tIns="0" rIns="0" bIns="0" rtlCol="0" anchor="t">
            <a:normAutofit/>
          </a:bodyPr>
          <a:lstStyle/>
          <a:p>
            <a:pPr algn="l" indent="0" marL="0">
              <a:lnSpc>
                <a:spcPct val="113000"/>
              </a:lnSpc>
              <a:buNone/>
            </a:pPr>
            <a:r>
              <a:rPr lang="en-US" sz="2400" spc="-24" kern="100" dirty="0">
                <a:solidFill>
                  <a:srgbClr val="1B2632"/>
                </a:solidFill>
                <a:latin typeface="Public Sans" pitchFamily="34" charset="0"/>
                <a:ea typeface="Public Sans" pitchFamily="34" charset="-122"/>
                <a:cs typeface="Public Sans" pitchFamily="34" charset="-120"/>
              </a:rPr>
              <a:t>Exceptions &amp; anomalies</a:t>
            </a:r>
            <a:endParaRPr lang="en-US" sz="2400" dirty="0"/>
          </a:p>
        </p:txBody>
      </p:sp>
      <p:sp>
        <p:nvSpPr>
          <p:cNvPr id="20" name="Shape 18"/>
          <p:cNvSpPr/>
          <p:nvPr/>
        </p:nvSpPr>
        <p:spPr>
          <a:xfrm>
            <a:off x="8381790" y="3831530"/>
            <a:ext cx="2946227" cy="31651"/>
          </a:xfrm>
          <a:prstGeom prst="roundRect">
            <a:avLst>
              <a:gd name="adj" fmla="val 49998"/>
            </a:avLst>
          </a:prstGeom>
          <a:solidFill>
            <a:srgbClr val="1B2632"/>
          </a:solidFill>
          <a:ln/>
        </p:spPr>
      </p:sp>
      <p:sp>
        <p:nvSpPr>
          <p:cNvPr id="21" name="Text 19"/>
          <p:cNvSpPr/>
          <p:nvPr/>
        </p:nvSpPr>
        <p:spPr>
          <a:xfrm>
            <a:off x="8381790" y="4042668"/>
            <a:ext cx="2946326" cy="1067991"/>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Itemized high-value transactions, cash withdrawal flags, counterparty concentrations, and zero-exception validation logs.</a:t>
            </a:r>
            <a:endParaRPr lang="en-US" sz="1450" dirty="0"/>
          </a:p>
        </p:txBody>
      </p:sp>
      <p:sp>
        <p:nvSpPr>
          <p:cNvPr id="22" name="Text 20"/>
          <p:cNvSpPr/>
          <p:nvPr/>
        </p:nvSpPr>
        <p:spPr>
          <a:xfrm>
            <a:off x="609585" y="5929709"/>
            <a:ext cx="10972526" cy="322263"/>
          </a:xfrm>
          <a:prstGeom prst="rect">
            <a:avLst/>
          </a:prstGeom>
          <a:noFill/>
          <a:ln/>
        </p:spPr>
        <p:txBody>
          <a:bodyPr wrap="square" lIns="0" tIns="101598" rIns="0" bIns="0" rtlCol="0" anchor="t">
            <a:normAutofit/>
          </a:bodyPr>
          <a:lstStyle/>
          <a:p>
            <a:pPr algn="l" indent="0" marL="0">
              <a:lnSpc>
                <a:spcPct val="112000"/>
              </a:lnSpc>
              <a:buNone/>
            </a:pPr>
            <a:r>
              <a:rPr lang="en-US" sz="1250" dirty="0">
                <a:solidFill>
                  <a:srgbClr val="536270"/>
                </a:solidFill>
                <a:latin typeface="Public Sans" pitchFamily="34" charset="0"/>
                <a:ea typeface="Public Sans" pitchFamily="34" charset="-122"/>
                <a:cs typeface="Public Sans" pitchFamily="34" charset="-120"/>
              </a:rPr>
              <a:t>Complete three-page PDF output designed to be archived in audit workpapers or submitted to credit committees.</a:t>
            </a:r>
            <a:endParaRPr lang="en-US" sz="1250" dirty="0"/>
          </a:p>
        </p:txBody>
      </p:sp>
      <p:sp>
        <p:nvSpPr>
          <p:cNvPr id="23" name="Text 21"/>
          <p:cNvSpPr/>
          <p:nvPr/>
        </p:nvSpPr>
        <p:spPr>
          <a:xfrm>
            <a:off x="11809216" y="6451898"/>
            <a:ext cx="382479" cy="202505"/>
          </a:xfrm>
          <a:prstGeom prst="rect">
            <a:avLst/>
          </a:prstGeom>
          <a:noFill/>
          <a:ln/>
        </p:spPr>
        <p:txBody>
          <a:bodyPr wrap="none" lIns="0" tIns="0" rIns="0" bIns="0" rtlCol="0" anchor="ctr"/>
          <a:lstStyle/>
          <a:p>
            <a:pPr algn="l" indent="0" marL="0">
              <a:lnSpc>
                <a:spcPct val="121000"/>
              </a:lnSpc>
              <a:buNone/>
            </a:pPr>
            <a:r>
              <a:rPr lang="en-US" sz="1100" spc="44" kern="100" dirty="0">
                <a:solidFill>
                  <a:srgbClr val="536270"/>
                </a:solidFill>
                <a:latin typeface="Public Sans" pitchFamily="34" charset="0"/>
                <a:ea typeface="Public Sans" pitchFamily="34" charset="-122"/>
                <a:cs typeface="Public Sans" pitchFamily="34" charset="-120"/>
              </a:rPr>
              <a:t>06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09585" y="612458"/>
            <a:ext cx="11582110"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FFFFFF"/>
                </a:solidFill>
                <a:latin typeface="Public Sans Medium" pitchFamily="34" charset="0"/>
                <a:ea typeface="Public Sans Medium" pitchFamily="34" charset="-122"/>
                <a:cs typeface="Public Sans Medium" pitchFamily="34" charset="-120"/>
              </a:rPr>
              <a:t>AICA LEVEL 2 · CAPSTONE PROJECT</a:t>
            </a:r>
            <a:endParaRPr lang="en-US" sz="1200" dirty="0"/>
          </a:p>
        </p:txBody>
      </p:sp>
      <p:sp>
        <p:nvSpPr>
          <p:cNvPr id="3" name="Text 1"/>
          <p:cNvSpPr/>
          <p:nvPr/>
        </p:nvSpPr>
        <p:spPr>
          <a:xfrm>
            <a:off x="609585" y="921576"/>
            <a:ext cx="10972526" cy="568920"/>
          </a:xfrm>
          <a:prstGeom prst="rect">
            <a:avLst/>
          </a:prstGeom>
          <a:noFill/>
          <a:ln/>
        </p:spPr>
        <p:txBody>
          <a:bodyPr wrap="none" lIns="0" tIns="0" rIns="0" bIns="0" rtlCol="0" anchor="t"/>
          <a:lstStyle/>
          <a:p>
            <a:pPr algn="l" indent="0" marL="0">
              <a:lnSpc>
                <a:spcPct val="93000"/>
              </a:lnSpc>
              <a:buNone/>
            </a:pPr>
            <a:r>
              <a:rPr lang="en-US" sz="4000" spc="-40" kern="100" dirty="0">
                <a:solidFill>
                  <a:srgbClr val="FFFFFF"/>
                </a:solidFill>
                <a:latin typeface="Sora SemiBold" pitchFamily="34" charset="0"/>
                <a:ea typeface="Sora SemiBold" pitchFamily="34" charset="-122"/>
                <a:cs typeface="Sora SemiBold" pitchFamily="34" charset="-120"/>
              </a:rPr>
              <a:t>Business value and closing</a:t>
            </a:r>
            <a:endParaRPr lang="en-US" sz="4000" dirty="0"/>
          </a:p>
        </p:txBody>
      </p:sp>
      <p:sp>
        <p:nvSpPr>
          <p:cNvPr id="4" name="Text 2"/>
          <p:cNvSpPr/>
          <p:nvPr/>
        </p:nvSpPr>
        <p:spPr>
          <a:xfrm>
            <a:off x="609585" y="1678186"/>
            <a:ext cx="10972526" cy="736600"/>
          </a:xfrm>
          <a:prstGeom prst="rect">
            <a:avLst/>
          </a:prstGeom>
          <a:noFill/>
          <a:ln/>
        </p:spPr>
        <p:txBody>
          <a:bodyPr wrap="square" lIns="0" tIns="0" rIns="0" bIns="0" rtlCol="0" anchor="t">
            <a:normAutofit/>
          </a:bodyPr>
          <a:lstStyle/>
          <a:p>
            <a:pPr algn="l" indent="0" marL="0">
              <a:lnSpc>
                <a:spcPct val="121000"/>
              </a:lnSpc>
              <a:buNone/>
            </a:pPr>
            <a:r>
              <a:rPr lang="en-US" sz="2000" dirty="0">
                <a:solidFill>
                  <a:srgbClr val="FFFFFF"/>
                </a:solidFill>
                <a:latin typeface="Public Sans" pitchFamily="34" charset="0"/>
                <a:ea typeface="Public Sans" pitchFamily="34" charset="-122"/>
                <a:cs typeface="Public Sans" pitchFamily="34" charset="-120"/>
              </a:rPr>
              <a:t>Practical automation delivering efficiency, consistency, and insight for the modern Chartered Accountant.</a:t>
            </a:r>
            <a:endParaRPr lang="en-US" sz="2000" dirty="0"/>
          </a:p>
        </p:txBody>
      </p:sp>
      <p:sp>
        <p:nvSpPr>
          <p:cNvPr id="5" name="Shape 3"/>
          <p:cNvSpPr/>
          <p:nvPr/>
        </p:nvSpPr>
        <p:spPr>
          <a:xfrm>
            <a:off x="609585" y="2617986"/>
            <a:ext cx="3555911" cy="1671538"/>
          </a:xfrm>
          <a:prstGeom prst="rect">
            <a:avLst/>
          </a:prstGeom>
          <a:solidFill>
            <a:srgbClr val="E4EAEF"/>
          </a:solidFill>
          <a:ln/>
        </p:spPr>
      </p:sp>
      <p:sp>
        <p:nvSpPr>
          <p:cNvPr id="6" name="Text 4"/>
          <p:cNvSpPr/>
          <p:nvPr/>
        </p:nvSpPr>
        <p:spPr>
          <a:xfrm>
            <a:off x="838179" y="2829758"/>
            <a:ext cx="3098722" cy="308570"/>
          </a:xfrm>
          <a:prstGeom prst="rect">
            <a:avLst/>
          </a:prstGeom>
          <a:noFill/>
          <a:ln/>
        </p:spPr>
        <p:txBody>
          <a:bodyPr wrap="none" lIns="0" tIns="0" rIns="0" bIns="0" rtlCol="0" anchor="t"/>
          <a:lstStyle/>
          <a:p>
            <a:pPr algn="l" indent="0" marL="0">
              <a:lnSpc>
                <a:spcPct val="113000"/>
              </a:lnSpc>
              <a:buNone/>
            </a:pPr>
            <a:r>
              <a:rPr lang="en-US" sz="1800" spc="-18" kern="100" dirty="0">
                <a:solidFill>
                  <a:srgbClr val="3A4756"/>
                </a:solidFill>
                <a:latin typeface="Public Sans" pitchFamily="34" charset="0"/>
                <a:ea typeface="Public Sans" pitchFamily="34" charset="-122"/>
                <a:cs typeface="Public Sans" pitchFamily="34" charset="-120"/>
              </a:rPr>
              <a:t>Efficiency</a:t>
            </a:r>
            <a:endParaRPr lang="en-US" sz="1800" dirty="0"/>
          </a:p>
        </p:txBody>
      </p:sp>
      <p:sp>
        <p:nvSpPr>
          <p:cNvPr id="7" name="Text 5"/>
          <p:cNvSpPr/>
          <p:nvPr/>
        </p:nvSpPr>
        <p:spPr>
          <a:xfrm>
            <a:off x="838179" y="3285331"/>
            <a:ext cx="3098722" cy="800993"/>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Saves hours spent on repetitive bank transaction extraction and manual sorting.</a:t>
            </a:r>
            <a:endParaRPr lang="en-US" sz="1450" dirty="0"/>
          </a:p>
        </p:txBody>
      </p:sp>
      <p:sp>
        <p:nvSpPr>
          <p:cNvPr id="8" name="Shape 6"/>
          <p:cNvSpPr/>
          <p:nvPr/>
        </p:nvSpPr>
        <p:spPr>
          <a:xfrm>
            <a:off x="4317892" y="2617986"/>
            <a:ext cx="3555911" cy="1671538"/>
          </a:xfrm>
          <a:prstGeom prst="rect">
            <a:avLst/>
          </a:prstGeom>
          <a:solidFill>
            <a:srgbClr val="E4EAEF"/>
          </a:solidFill>
          <a:ln/>
        </p:spPr>
      </p:sp>
      <p:sp>
        <p:nvSpPr>
          <p:cNvPr id="9" name="Text 7"/>
          <p:cNvSpPr/>
          <p:nvPr/>
        </p:nvSpPr>
        <p:spPr>
          <a:xfrm>
            <a:off x="4546486" y="2829758"/>
            <a:ext cx="3098722" cy="308570"/>
          </a:xfrm>
          <a:prstGeom prst="rect">
            <a:avLst/>
          </a:prstGeom>
          <a:noFill/>
          <a:ln/>
        </p:spPr>
        <p:txBody>
          <a:bodyPr wrap="none" lIns="0" tIns="0" rIns="0" bIns="0" rtlCol="0" anchor="t"/>
          <a:lstStyle/>
          <a:p>
            <a:pPr algn="l" indent="0" marL="0">
              <a:lnSpc>
                <a:spcPct val="113000"/>
              </a:lnSpc>
              <a:buNone/>
            </a:pPr>
            <a:r>
              <a:rPr lang="en-US" sz="1800" spc="-18" kern="100" dirty="0">
                <a:solidFill>
                  <a:srgbClr val="3A4756"/>
                </a:solidFill>
                <a:latin typeface="Public Sans" pitchFamily="34" charset="0"/>
                <a:ea typeface="Public Sans" pitchFamily="34" charset="-122"/>
                <a:cs typeface="Public Sans" pitchFamily="34" charset="-120"/>
              </a:rPr>
              <a:t>Consistency</a:t>
            </a:r>
            <a:endParaRPr lang="en-US" sz="1800" dirty="0"/>
          </a:p>
        </p:txBody>
      </p:sp>
      <p:sp>
        <p:nvSpPr>
          <p:cNvPr id="10" name="Text 8"/>
          <p:cNvSpPr/>
          <p:nvPr/>
        </p:nvSpPr>
        <p:spPr>
          <a:xfrm>
            <a:off x="4546486" y="3285331"/>
            <a:ext cx="3098722" cy="800993"/>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Enforces standardized parsing and uniform review rules across engagements.</a:t>
            </a:r>
            <a:endParaRPr lang="en-US" sz="1450" dirty="0"/>
          </a:p>
        </p:txBody>
      </p:sp>
      <p:sp>
        <p:nvSpPr>
          <p:cNvPr id="11" name="Shape 9"/>
          <p:cNvSpPr/>
          <p:nvPr/>
        </p:nvSpPr>
        <p:spPr>
          <a:xfrm>
            <a:off x="8026199" y="2617986"/>
            <a:ext cx="3555911" cy="1671538"/>
          </a:xfrm>
          <a:prstGeom prst="rect">
            <a:avLst/>
          </a:prstGeom>
          <a:solidFill>
            <a:srgbClr val="E4EAEF"/>
          </a:solidFill>
          <a:ln/>
        </p:spPr>
      </p:sp>
      <p:sp>
        <p:nvSpPr>
          <p:cNvPr id="12" name="Text 10"/>
          <p:cNvSpPr/>
          <p:nvPr/>
        </p:nvSpPr>
        <p:spPr>
          <a:xfrm>
            <a:off x="8254793" y="2829758"/>
            <a:ext cx="3098722" cy="308570"/>
          </a:xfrm>
          <a:prstGeom prst="rect">
            <a:avLst/>
          </a:prstGeom>
          <a:noFill/>
          <a:ln/>
        </p:spPr>
        <p:txBody>
          <a:bodyPr wrap="none" lIns="0" tIns="0" rIns="0" bIns="0" rtlCol="0" anchor="t"/>
          <a:lstStyle/>
          <a:p>
            <a:pPr algn="l" indent="0" marL="0">
              <a:lnSpc>
                <a:spcPct val="113000"/>
              </a:lnSpc>
              <a:buNone/>
            </a:pPr>
            <a:r>
              <a:rPr lang="en-US" sz="1800" spc="-18" kern="100" dirty="0">
                <a:solidFill>
                  <a:srgbClr val="3A4756"/>
                </a:solidFill>
                <a:latin typeface="Public Sans" pitchFamily="34" charset="0"/>
                <a:ea typeface="Public Sans" pitchFamily="34" charset="-122"/>
                <a:cs typeface="Public Sans" pitchFamily="34" charset="-120"/>
              </a:rPr>
              <a:t>Insight</a:t>
            </a:r>
            <a:endParaRPr lang="en-US" sz="1800" dirty="0"/>
          </a:p>
        </p:txBody>
      </p:sp>
      <p:sp>
        <p:nvSpPr>
          <p:cNvPr id="13" name="Text 11"/>
          <p:cNvSpPr/>
          <p:nvPr/>
        </p:nvSpPr>
        <p:spPr>
          <a:xfrm>
            <a:off x="8254793" y="3285331"/>
            <a:ext cx="3098722" cy="800993"/>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Empowers finance teams to instantly identify liquidity trends, anomalies, and review prompts.</a:t>
            </a:r>
            <a:endParaRPr lang="en-US" sz="1450" dirty="0"/>
          </a:p>
        </p:txBody>
      </p:sp>
      <p:sp>
        <p:nvSpPr>
          <p:cNvPr id="14" name="Shape 12"/>
          <p:cNvSpPr/>
          <p:nvPr/>
        </p:nvSpPr>
        <p:spPr>
          <a:xfrm>
            <a:off x="609585" y="4492724"/>
            <a:ext cx="10972526" cy="1429643"/>
          </a:xfrm>
          <a:prstGeom prst="rect">
            <a:avLst/>
          </a:prstGeom>
          <a:solidFill>
            <a:srgbClr val="E4EAEF"/>
          </a:solidFill>
          <a:ln/>
        </p:spPr>
      </p:sp>
      <p:sp>
        <p:nvSpPr>
          <p:cNvPr id="15" name="Shape 13"/>
          <p:cNvSpPr/>
          <p:nvPr/>
        </p:nvSpPr>
        <p:spPr>
          <a:xfrm>
            <a:off x="838179" y="4724499"/>
            <a:ext cx="10515337" cy="38100"/>
          </a:xfrm>
          <a:prstGeom prst="roundRect">
            <a:avLst>
              <a:gd name="adj" fmla="val 49999"/>
            </a:avLst>
          </a:prstGeom>
          <a:solidFill>
            <a:srgbClr val="0E7C86"/>
          </a:solidFill>
          <a:ln/>
        </p:spPr>
      </p:sp>
      <p:sp>
        <p:nvSpPr>
          <p:cNvPr id="16" name="Text 14"/>
          <p:cNvSpPr/>
          <p:nvPr/>
        </p:nvSpPr>
        <p:spPr>
          <a:xfrm>
            <a:off x="838179" y="4943574"/>
            <a:ext cx="6705432" cy="800993"/>
          </a:xfrm>
          <a:prstGeom prst="rect">
            <a:avLst/>
          </a:prstGeom>
          <a:noFill/>
          <a:ln/>
        </p:spPr>
        <p:txBody>
          <a:bodyPr wrap="square" lIns="0" tIns="0" rIns="0" bIns="0" rtlCol="0" anchor="t">
            <a:normAutofit/>
          </a:bodyPr>
          <a:lstStyle/>
          <a:p>
            <a:pPr algn="l" indent="0" marL="0">
              <a:lnSpc>
                <a:spcPct val="121000"/>
              </a:lnSpc>
              <a:buNone/>
            </a:pPr>
            <a:r>
              <a:rPr lang="en-US" sz="1450" b="1" dirty="0">
                <a:solidFill>
                  <a:srgbClr val="3A4756"/>
                </a:solidFill>
                <a:latin typeface="Public Sans Bold" pitchFamily="34" charset="0"/>
                <a:ea typeface="Public Sans Bold" pitchFamily="34" charset="-122"/>
                <a:cs typeface="Public Sans Bold" pitchFamily="34" charset="-120"/>
              </a:rPr>
              <a:t>Professional caution:</a:t>
            </a:r>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 Generated findings serve as review prompts, not independent audit conclusions. CA verification of source records remains essential.</a:t>
            </a:r>
            <a:endParaRPr lang="en-US" sz="1450" dirty="0"/>
          </a:p>
        </p:txBody>
      </p:sp>
      <p:sp>
        <p:nvSpPr>
          <p:cNvPr id="17" name="Text 15"/>
          <p:cNvSpPr/>
          <p:nvPr/>
        </p:nvSpPr>
        <p:spPr>
          <a:xfrm>
            <a:off x="8000800" y="5133280"/>
            <a:ext cx="3352716" cy="428625"/>
          </a:xfrm>
          <a:prstGeom prst="rect">
            <a:avLst/>
          </a:prstGeom>
          <a:noFill/>
          <a:ln/>
        </p:spPr>
        <p:txBody>
          <a:bodyPr wrap="square" lIns="0" tIns="0" rIns="0" bIns="0" rtlCol="0" anchor="t">
            <a:normAutofit/>
          </a:bodyPr>
          <a:lstStyle/>
          <a:p>
            <a:pPr algn="r" indent="0" marL="0">
              <a:lnSpc>
                <a:spcPct val="112000"/>
              </a:lnSpc>
              <a:buNone/>
            </a:pPr>
            <a:r>
              <a:rPr lang="en-US" sz="1250" b="1" dirty="0">
                <a:solidFill>
                  <a:srgbClr val="3A4756"/>
                </a:solidFill>
                <a:latin typeface="Public Sans Bold" pitchFamily="34" charset="0"/>
                <a:ea typeface="Public Sans Bold" pitchFamily="34" charset="-122"/>
                <a:cs typeface="Public Sans Bold" pitchFamily="34" charset="-120"/>
              </a:rPr>
              <a:t>CA Gopal Abbaraju</a:t>
            </a:r>
            <a:endParaRPr lang="en-US" sz="1250" dirty="0"/>
          </a:p>
          <a:p>
            <a:pPr algn="r" indent="0" marL="0">
              <a:lnSpc>
                <a:spcPct val="112000"/>
              </a:lnSpc>
              <a:buNone/>
            </a:pPr>
            <a:r>
              <a:rPr lang="en-US" sz="1250" dirty="0">
                <a:solidFill>
                  <a:srgbClr val="3A4756"/>
                </a:solidFill>
                <a:latin typeface="Public Sans" pitchFamily="34" charset="0"/>
                <a:ea typeface="Public Sans" pitchFamily="34" charset="-122"/>
                <a:cs typeface="Public Sans" pitchFamily="34" charset="-120"/>
              </a:rPr>
              <a:t>AICA - LEVEL-2-B94 · Visakhapatnam</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09585" y="612458"/>
            <a:ext cx="11582110"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536270"/>
                </a:solidFill>
                <a:latin typeface="Public Sans Medium" pitchFamily="34" charset="0"/>
                <a:ea typeface="Public Sans Medium" pitchFamily="34" charset="-122"/>
                <a:cs typeface="Public Sans Medium" pitchFamily="34" charset="-120"/>
              </a:rPr>
              <a:t>REPORT · PAGE 1 OVERVIEW</a:t>
            </a:r>
            <a:endParaRPr lang="en-US" sz="1200" dirty="0"/>
          </a:p>
        </p:txBody>
      </p:sp>
      <p:sp>
        <p:nvSpPr>
          <p:cNvPr id="3" name="Text 1"/>
          <p:cNvSpPr/>
          <p:nvPr/>
        </p:nvSpPr>
        <p:spPr>
          <a:xfrm>
            <a:off x="609585" y="914312"/>
            <a:ext cx="10972526" cy="455116"/>
          </a:xfrm>
          <a:prstGeom prst="rect">
            <a:avLst/>
          </a:prstGeom>
          <a:noFill/>
          <a:ln/>
        </p:spPr>
        <p:txBody>
          <a:bodyPr wrap="none" lIns="0" tIns="0" rIns="0" bIns="0" rtlCol="0" anchor="t"/>
          <a:lstStyle/>
          <a:p>
            <a:pPr algn="l" indent="0" marL="0">
              <a:lnSpc>
                <a:spcPct val="93000"/>
              </a:lnSpc>
              <a:buNone/>
            </a:pPr>
            <a:r>
              <a:rPr lang="en-US" sz="3200" spc="-32" kern="100" dirty="0">
                <a:solidFill>
                  <a:srgbClr val="1B2632"/>
                </a:solidFill>
                <a:latin typeface="Sora SemiBold" pitchFamily="34" charset="0"/>
                <a:ea typeface="Sora SemiBold" pitchFamily="34" charset="-122"/>
                <a:cs typeface="Sora SemiBold" pitchFamily="34" charset="-120"/>
              </a:rPr>
              <a:t>Executive summary: verification approach</a:t>
            </a:r>
            <a:endParaRPr lang="en-US" sz="3200" dirty="0"/>
          </a:p>
        </p:txBody>
      </p:sp>
      <p:sp>
        <p:nvSpPr>
          <p:cNvPr id="4" name="Text 2"/>
          <p:cNvSpPr/>
          <p:nvPr/>
        </p:nvSpPr>
        <p:spPr>
          <a:xfrm>
            <a:off x="609585" y="1564382"/>
            <a:ext cx="11582110" cy="266998"/>
          </a:xfrm>
          <a:prstGeom prst="rect">
            <a:avLst/>
          </a:prstGeom>
          <a:noFill/>
          <a:ln/>
        </p:spPr>
        <p:txBody>
          <a:bodyPr wrap="none" lIns="0" tIns="0" rIns="0" bIns="0" rtlCol="0" anchor="t"/>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Each generated report opens with the checks performed on the source statement.</a:t>
            </a:r>
            <a:endParaRPr lang="en-US" sz="14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09585" y="1983780"/>
          <a:ext cx="10972526" cy="914400"/>
        </p:xfrm>
        <a:graphic>
          <a:graphicData uri="http://schemas.openxmlformats.org/drawingml/2006/table">
            <a:tbl>
              <a:tblPr/>
              <a:tblGrid>
                <a:gridCol w="3730631"/>
                <a:gridCol w="4388931"/>
                <a:gridCol w="2852964"/>
              </a:tblGrid>
              <a:tr h="369481">
                <a:tc>
                  <a:txBody>
                    <a:bodyPr/>
                    <a:lstStyle/>
                    <a:p>
                      <a:pPr algn="l" indent="0" marL="0">
                        <a:buNone/>
                      </a:pPr>
                      <a:r>
                        <a:rPr lang="en-US" sz="1200" spc="96" kern="100" dirty="0">
                          <a:solidFill>
                            <a:srgbClr val="1B2632"/>
                          </a:solidFill>
                          <a:latin typeface="Public Sans" pitchFamily="34" charset="0"/>
                          <a:ea typeface="Public Sans" pitchFamily="34" charset="-122"/>
                          <a:cs typeface="Public Sans" pitchFamily="34" charset="-120"/>
                        </a:rPr>
                        <a:t>CHECK</a:t>
                      </a:r>
                      <a:endParaRPr lang="en-US" sz="1200" dirty="0">
                        <a:latin typeface="Public Sans" charset="0"/>
                        <a:ea typeface="Public Sans" charset="0"/>
                        <a:cs typeface="Public Sans" charset="0"/>
                      </a:endParaRPr>
                    </a:p>
                  </a:txBody>
                  <a:tcPr marL="126997" marR="126997" marT="76198" marB="7619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F9FAFC"/>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c>
                  <a:txBody>
                    <a:bodyPr/>
                    <a:lstStyle/>
                    <a:p>
                      <a:pPr algn="l" indent="0" marL="0">
                        <a:buNone/>
                      </a:pPr>
                      <a:r>
                        <a:rPr lang="en-US" sz="1200" spc="96" kern="100" dirty="0">
                          <a:solidFill>
                            <a:srgbClr val="1B2632"/>
                          </a:solidFill>
                          <a:latin typeface="Public Sans" pitchFamily="34" charset="0"/>
                          <a:ea typeface="Public Sans" pitchFamily="34" charset="-122"/>
                          <a:cs typeface="Public Sans" pitchFamily="34" charset="-120"/>
                        </a:rPr>
                        <a:t>WHAT IT CONFIRMS</a:t>
                      </a:r>
                      <a:endParaRPr lang="en-US" sz="1200" dirty="0">
                        <a:latin typeface="Public Sans" charset="0"/>
                        <a:ea typeface="Public Sans" charset="0"/>
                        <a:cs typeface="Public Sans" charset="0"/>
                      </a:endParaRPr>
                    </a:p>
                  </a:txBody>
                  <a:tcPr marL="126997" marR="126997" marT="76198" marB="7619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F9FAFC"/>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c>
                  <a:txBody>
                    <a:bodyPr/>
                    <a:lstStyle/>
                    <a:p>
                      <a:pPr algn="l" indent="0" marL="0">
                        <a:buNone/>
                      </a:pPr>
                      <a:r>
                        <a:rPr lang="en-US" sz="1200" spc="96" kern="100" dirty="0">
                          <a:solidFill>
                            <a:srgbClr val="1B2632"/>
                          </a:solidFill>
                          <a:latin typeface="Public Sans" pitchFamily="34" charset="0"/>
                          <a:ea typeface="Public Sans" pitchFamily="34" charset="-122"/>
                          <a:cs typeface="Public Sans" pitchFamily="34" charset="-120"/>
                        </a:rPr>
                        <a:t>AUDIT VERIFICATION STATUS</a:t>
                      </a:r>
                      <a:endParaRPr lang="en-US" sz="1200" dirty="0">
                        <a:latin typeface="Public Sans" charset="0"/>
                        <a:ea typeface="Public Sans" charset="0"/>
                        <a:cs typeface="Public Sans" charset="0"/>
                      </a:endParaRPr>
                    </a:p>
                  </a:txBody>
                  <a:tcPr marL="126997" marR="126997" marT="76198" marB="7619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F9FAFC"/>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r>
              <a:tr h="784801">
                <a:tc>
                  <a:txBody>
                    <a:bodyPr/>
                    <a:lstStyle/>
                    <a:p>
                      <a:pPr algn="l" indent="0" marL="0">
                        <a:buNone/>
                      </a:pPr>
                      <a:r>
                        <a:rPr lang="en-US" sz="1700" b="1" dirty="0">
                          <a:solidFill>
                            <a:srgbClr val="3A4756"/>
                          </a:solidFill>
                          <a:latin typeface="Public Sans" pitchFamily="34" charset="0"/>
                          <a:ea typeface="Public Sans" pitchFamily="34" charset="-122"/>
                          <a:cs typeface="Public Sans" pitchFamily="34" charset="-120"/>
                        </a:rPr>
                        <a:t>Balance roll-forward</a:t>
                      </a:r>
                      <a:endParaRPr lang="en-US" sz="1700" dirty="0">
                        <a:latin typeface="Public Sans" charset="0"/>
                        <a:ea typeface="Public Sans" charset="0"/>
                        <a:cs typeface="Public Sans" charset="0"/>
                      </a:endParaRPr>
                    </a:p>
                  </a:txBody>
                  <a:tcPr marL="126997" marR="126997" marT="76198" marB="7619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c>
                  <a:txBody>
                    <a:bodyPr/>
                    <a:lstStyle/>
                    <a:p>
                      <a:pPr algn="l" indent="0" marL="0">
                        <a:buNone/>
                      </a:pPr>
                      <a:r>
                        <a:rPr lang="en-US" sz="1700" dirty="0">
                          <a:solidFill>
                            <a:srgbClr val="3A4756"/>
                          </a:solidFill>
                          <a:latin typeface="Public Sans" pitchFamily="34" charset="0"/>
                          <a:ea typeface="Public Sans" pitchFamily="34" charset="-122"/>
                          <a:cs typeface="Public Sans" pitchFamily="34" charset="-120"/>
                        </a:rPr>
                        <a:t>Opening and closing balances connect through the ledger</a:t>
                      </a:r>
                      <a:endParaRPr lang="en-US" sz="1700" dirty="0">
                        <a:latin typeface="Public Sans" charset="0"/>
                        <a:ea typeface="Public Sans" charset="0"/>
                        <a:cs typeface="Public Sans" charset="0"/>
                      </a:endParaRPr>
                    </a:p>
                  </a:txBody>
                  <a:tcPr marL="126997" marR="126997" marT="76198" marB="7619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c>
                  <a:txBody>
                    <a:bodyPr/>
                    <a:lstStyle/>
                    <a:p>
                      <a:pPr algn="l" indent="0" marL="0">
                        <a:buNone/>
                      </a:pPr>
                      <a:r>
                        <a:rPr lang="en-US" sz="1150" spc="66" kern="100" dirty="0">
                          <a:solidFill>
                            <a:srgbClr val="3A4756"/>
                          </a:solidFill>
                          <a:latin typeface="Public Sans" pitchFamily="34" charset="0"/>
                          <a:ea typeface="Public Sans" pitchFamily="34" charset="-122"/>
                          <a:cs typeface="Public Sans" pitchFamily="34" charset="-120"/>
                        </a:rPr>
                        <a:t>Reconciled</a:t>
                      </a:r>
                      <a:endParaRPr lang="en-US" sz="1100" dirty="0">
                        <a:latin typeface="Public Sans" charset="0"/>
                        <a:ea typeface="Public Sans" charset="0"/>
                        <a:cs typeface="Public Sans" charset="0"/>
                      </a:endParaRPr>
                    </a:p>
                  </a:txBody>
                  <a:tcPr marL="126997" marR="126997" marT="76198" marB="7619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r>
              <a:tr h="784801">
                <a:tc>
                  <a:txBody>
                    <a:bodyPr/>
                    <a:lstStyle/>
                    <a:p>
                      <a:pPr algn="l" indent="0" marL="0">
                        <a:buNone/>
                      </a:pPr>
                      <a:r>
                        <a:rPr lang="en-US" sz="1700" b="1" dirty="0">
                          <a:solidFill>
                            <a:srgbClr val="3A4756"/>
                          </a:solidFill>
                          <a:latin typeface="Public Sans" pitchFamily="34" charset="0"/>
                          <a:ea typeface="Public Sans" pitchFamily="34" charset="-122"/>
                          <a:cs typeface="Public Sans" pitchFamily="34" charset="-120"/>
                        </a:rPr>
                        <a:t>Credit and debit totals</a:t>
                      </a:r>
                      <a:endParaRPr lang="en-US" sz="1700" dirty="0">
                        <a:latin typeface="Public Sans" charset="0"/>
                        <a:ea typeface="Public Sans" charset="0"/>
                        <a:cs typeface="Public Sans" charset="0"/>
                      </a:endParaRPr>
                    </a:p>
                  </a:txBody>
                  <a:tcPr marL="126997" marR="126997" marT="76198" marB="7619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c>
                  <a:txBody>
                    <a:bodyPr/>
                    <a:lstStyle/>
                    <a:p>
                      <a:pPr algn="l" indent="0" marL="0">
                        <a:buNone/>
                      </a:pPr>
                      <a:r>
                        <a:rPr lang="en-US" sz="1700" dirty="0">
                          <a:solidFill>
                            <a:srgbClr val="3A4756"/>
                          </a:solidFill>
                          <a:latin typeface="Public Sans" pitchFamily="34" charset="0"/>
                          <a:ea typeface="Public Sans" pitchFamily="34" charset="-122"/>
                          <a:cs typeface="Public Sans" pitchFamily="34" charset="-120"/>
                        </a:rPr>
                        <a:t>Totals agree with the underlying transaction rows</a:t>
                      </a:r>
                      <a:endParaRPr lang="en-US" sz="1700" dirty="0">
                        <a:latin typeface="Public Sans" charset="0"/>
                        <a:ea typeface="Public Sans" charset="0"/>
                        <a:cs typeface="Public Sans" charset="0"/>
                      </a:endParaRPr>
                    </a:p>
                  </a:txBody>
                  <a:tcPr marL="126997" marR="126997" marT="76198" marB="7619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c>
                  <a:txBody>
                    <a:bodyPr/>
                    <a:lstStyle/>
                    <a:p>
                      <a:pPr algn="l" indent="0" marL="0">
                        <a:buNone/>
                      </a:pPr>
                      <a:r>
                        <a:rPr lang="en-US" sz="1150" spc="66" kern="100" dirty="0">
                          <a:solidFill>
                            <a:srgbClr val="3A4756"/>
                          </a:solidFill>
                          <a:latin typeface="Public Sans" pitchFamily="34" charset="0"/>
                          <a:ea typeface="Public Sans" pitchFamily="34" charset="-122"/>
                          <a:cs typeface="Public Sans" pitchFamily="34" charset="-120"/>
                        </a:rPr>
                        <a:t>Verified</a:t>
                      </a:r>
                      <a:endParaRPr lang="en-US" sz="1100" dirty="0">
                        <a:latin typeface="Public Sans" charset="0"/>
                        <a:ea typeface="Public Sans" charset="0"/>
                        <a:cs typeface="Public Sans" charset="0"/>
                      </a:endParaRPr>
                    </a:p>
                  </a:txBody>
                  <a:tcPr marL="126997" marR="126997" marT="76198" marB="7619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r>
              <a:tr h="471773">
                <a:tc>
                  <a:txBody>
                    <a:bodyPr/>
                    <a:lstStyle/>
                    <a:p>
                      <a:pPr algn="l" indent="0" marL="0">
                        <a:buNone/>
                      </a:pPr>
                      <a:r>
                        <a:rPr lang="en-US" sz="1700" b="1" dirty="0">
                          <a:solidFill>
                            <a:srgbClr val="3A4756"/>
                          </a:solidFill>
                          <a:latin typeface="Public Sans" pitchFamily="34" charset="0"/>
                          <a:ea typeface="Public Sans" pitchFamily="34" charset="-122"/>
                          <a:cs typeface="Public Sans" pitchFamily="34" charset="-120"/>
                        </a:rPr>
                        <a:t>Transaction completeness</a:t>
                      </a:r>
                      <a:endParaRPr lang="en-US" sz="1700" dirty="0">
                        <a:latin typeface="Public Sans" charset="0"/>
                        <a:ea typeface="Public Sans" charset="0"/>
                        <a:cs typeface="Public Sans" charset="0"/>
                      </a:endParaRPr>
                    </a:p>
                  </a:txBody>
                  <a:tcPr marL="126997" marR="126997" marT="76198" marB="7619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c>
                  <a:txBody>
                    <a:bodyPr/>
                    <a:lstStyle/>
                    <a:p>
                      <a:pPr algn="l" indent="0" marL="0">
                        <a:buNone/>
                      </a:pPr>
                      <a:r>
                        <a:rPr lang="en-US" sz="1700" dirty="0">
                          <a:solidFill>
                            <a:srgbClr val="3A4756"/>
                          </a:solidFill>
                          <a:latin typeface="Public Sans" pitchFamily="34" charset="0"/>
                          <a:ea typeface="Public Sans" pitchFamily="34" charset="-122"/>
                          <a:cs typeface="Public Sans" pitchFamily="34" charset="-120"/>
                        </a:rPr>
                        <a:t>Every extracted row is captured once</a:t>
                      </a:r>
                      <a:endParaRPr lang="en-US" sz="1700" dirty="0">
                        <a:latin typeface="Public Sans" charset="0"/>
                        <a:ea typeface="Public Sans" charset="0"/>
                        <a:cs typeface="Public Sans" charset="0"/>
                      </a:endParaRPr>
                    </a:p>
                  </a:txBody>
                  <a:tcPr marL="126997" marR="126997" marT="76198" marB="7619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c>
                  <a:txBody>
                    <a:bodyPr/>
                    <a:lstStyle/>
                    <a:p>
                      <a:pPr algn="l" indent="0" marL="0">
                        <a:buNone/>
                      </a:pPr>
                      <a:r>
                        <a:rPr lang="en-US" sz="1150" spc="66" kern="100" dirty="0">
                          <a:solidFill>
                            <a:srgbClr val="3A4756"/>
                          </a:solidFill>
                          <a:latin typeface="Public Sans" pitchFamily="34" charset="0"/>
                          <a:ea typeface="Public Sans" pitchFamily="34" charset="-122"/>
                          <a:cs typeface="Public Sans" pitchFamily="34" charset="-120"/>
                        </a:rPr>
                        <a:t>Verified</a:t>
                      </a:r>
                      <a:endParaRPr lang="en-US" sz="1100" dirty="0">
                        <a:latin typeface="Public Sans" charset="0"/>
                        <a:ea typeface="Public Sans" charset="0"/>
                        <a:cs typeface="Public Sans" charset="0"/>
                      </a:endParaRPr>
                    </a:p>
                  </a:txBody>
                  <a:tcPr marL="126997" marR="126997" marT="76198" marB="7619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1B2632"/>
                      </a:solidFill>
                      <a:prstDash val="solid"/>
                      <a:round/>
                      <a:headEnd type="none" w="med" len="med"/>
                      <a:tailEnd type="none" w="med" len="med"/>
                    </a:lnB>
                  </a:tcPr>
                </a:tc>
              </a:tr>
              <a:tr h="778451">
                <a:tc>
                  <a:txBody>
                    <a:bodyPr/>
                    <a:lstStyle/>
                    <a:p>
                      <a:pPr algn="l" indent="0" marL="0">
                        <a:buNone/>
                      </a:pPr>
                      <a:r>
                        <a:rPr lang="en-US" sz="1700" b="1" dirty="0">
                          <a:solidFill>
                            <a:srgbClr val="3A4756"/>
                          </a:solidFill>
                          <a:latin typeface="Public Sans" pitchFamily="34" charset="0"/>
                          <a:ea typeface="Public Sans" pitchFamily="34" charset="-122"/>
                          <a:cs typeface="Public Sans" pitchFamily="34" charset="-120"/>
                        </a:rPr>
                        <a:t>Validation exceptions</a:t>
                      </a:r>
                      <a:endParaRPr lang="en-US" sz="1700" dirty="0">
                        <a:latin typeface="Public Sans" charset="0"/>
                        <a:ea typeface="Public Sans" charset="0"/>
                        <a:cs typeface="Public Sans" charset="0"/>
                      </a:endParaRPr>
                    </a:p>
                  </a:txBody>
                  <a:tcPr marL="126997" marR="126997" marT="76198" marB="7619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F9FAFC"/>
                      </a:solidFill>
                      <a:prstDash val="solid"/>
                      <a:round/>
                      <a:headEnd type="none" w="med" len="med"/>
                      <a:tailEnd type="none" w="med" len="med"/>
                    </a:lnB>
                  </a:tcPr>
                </a:tc>
                <a:tc>
                  <a:txBody>
                    <a:bodyPr/>
                    <a:lstStyle/>
                    <a:p>
                      <a:pPr algn="l" indent="0" marL="0">
                        <a:buNone/>
                      </a:pPr>
                      <a:r>
                        <a:rPr lang="en-US" sz="1700" dirty="0">
                          <a:solidFill>
                            <a:srgbClr val="3A4756"/>
                          </a:solidFill>
                          <a:latin typeface="Public Sans" pitchFamily="34" charset="0"/>
                          <a:ea typeface="Public Sans" pitchFamily="34" charset="-122"/>
                          <a:cs typeface="Public Sans" pitchFamily="34" charset="-120"/>
                        </a:rPr>
                        <a:t>Rows failing arithmetic or format rules are listed</a:t>
                      </a:r>
                      <a:endParaRPr lang="en-US" sz="1700" dirty="0">
                        <a:latin typeface="Public Sans" charset="0"/>
                        <a:ea typeface="Public Sans" charset="0"/>
                        <a:cs typeface="Public Sans" charset="0"/>
                      </a:endParaRPr>
                    </a:p>
                  </a:txBody>
                  <a:tcPr marL="126997" marR="126997" marT="76198" marB="7619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F9FAFC"/>
                      </a:solidFill>
                      <a:prstDash val="solid"/>
                      <a:round/>
                      <a:headEnd type="none" w="med" len="med"/>
                      <a:tailEnd type="none" w="med" len="med"/>
                    </a:lnB>
                  </a:tcPr>
                </a:tc>
                <a:tc>
                  <a:txBody>
                    <a:bodyPr/>
                    <a:lstStyle/>
                    <a:p>
                      <a:pPr algn="l" indent="0" marL="0">
                        <a:buNone/>
                      </a:pPr>
                      <a:r>
                        <a:rPr lang="en-US" sz="1150" spc="66" kern="100" dirty="0">
                          <a:solidFill>
                            <a:srgbClr val="3A4756"/>
                          </a:solidFill>
                          <a:latin typeface="Public Sans" pitchFamily="34" charset="0"/>
                          <a:ea typeface="Public Sans" pitchFamily="34" charset="-122"/>
                          <a:cs typeface="Public Sans" pitchFamily="34" charset="-120"/>
                        </a:rPr>
                        <a:t>Reviewed</a:t>
                      </a:r>
                      <a:endParaRPr lang="en-US" sz="1100" dirty="0">
                        <a:latin typeface="Public Sans" charset="0"/>
                        <a:ea typeface="Public Sans" charset="0"/>
                        <a:cs typeface="Public Sans" charset="0"/>
                      </a:endParaRPr>
                    </a:p>
                  </a:txBody>
                  <a:tcPr marL="126997" marR="126997" marT="76198" marB="76198" anchor="ctr">
                    <a:lnL w="12700" cap="flat" cmpd="sng" algn="ctr">
                      <a:solidFill>
                        <a:srgbClr val="F9FAFC"/>
                      </a:solidFill>
                      <a:prstDash val="solid"/>
                      <a:round/>
                      <a:headEnd type="none" w="med" len="med"/>
                      <a:tailEnd type="none" w="med" len="med"/>
                    </a:lnL>
                    <a:lnR w="12700" cap="flat" cmpd="sng" algn="ctr">
                      <a:solidFill>
                        <a:srgbClr val="F9FAFC"/>
                      </a:solidFill>
                      <a:prstDash val="solid"/>
                      <a:round/>
                      <a:headEnd type="none" w="med" len="med"/>
                      <a:tailEnd type="none" w="med" len="med"/>
                    </a:lnR>
                    <a:lnT w="12700" cap="flat" cmpd="sng" algn="ctr">
                      <a:solidFill>
                        <a:srgbClr val="1B2632"/>
                      </a:solidFill>
                      <a:prstDash val="solid"/>
                      <a:round/>
                      <a:headEnd type="none" w="med" len="med"/>
                      <a:tailEnd type="none" w="med" len="med"/>
                    </a:lnT>
                    <a:lnB w="12700" cap="flat" cmpd="sng" algn="ctr">
                      <a:solidFill>
                        <a:srgbClr val="F9FAFC"/>
                      </a:solidFill>
                      <a:prstDash val="solid"/>
                      <a:round/>
                      <a:headEnd type="none" w="med" len="med"/>
                      <a:tailEnd type="none" w="med" len="med"/>
                    </a:lnB>
                  </a:tcPr>
                </a:tc>
              </a:tr>
            </a:tbl>
          </a:graphicData>
        </a:graphic>
      </p:graphicFrame>
      <p:sp>
        <p:nvSpPr>
          <p:cNvPr id="6" name="Text 3"/>
          <p:cNvSpPr/>
          <p:nvPr/>
        </p:nvSpPr>
        <p:spPr>
          <a:xfrm>
            <a:off x="609585" y="5929709"/>
            <a:ext cx="10972526" cy="322263"/>
          </a:xfrm>
          <a:prstGeom prst="rect">
            <a:avLst/>
          </a:prstGeom>
          <a:noFill/>
          <a:ln/>
        </p:spPr>
        <p:txBody>
          <a:bodyPr wrap="square" lIns="0" tIns="101598" rIns="0" bIns="0" rtlCol="0" anchor="t">
            <a:normAutofit/>
          </a:bodyPr>
          <a:lstStyle/>
          <a:p>
            <a:pPr algn="l" indent="0" marL="0">
              <a:lnSpc>
                <a:spcPct val="112000"/>
              </a:lnSpc>
              <a:buNone/>
            </a:pPr>
            <a:r>
              <a:rPr lang="en-US" sz="1250" dirty="0">
                <a:solidFill>
                  <a:srgbClr val="536270"/>
                </a:solidFill>
                <a:latin typeface="Public Sans" pitchFamily="34" charset="0"/>
                <a:ea typeface="Public Sans" pitchFamily="34" charset="-122"/>
                <a:cs typeface="Public Sans" pitchFamily="34" charset="-120"/>
              </a:rPr>
              <a:t>Reconciliation logic: Opening balance + total credits − total debits = closing balance, tested on every statement.</a:t>
            </a:r>
            <a:endParaRPr lang="en-US" sz="1250" dirty="0"/>
          </a:p>
        </p:txBody>
      </p:sp>
      <p:sp>
        <p:nvSpPr>
          <p:cNvPr id="7" name="Text 4"/>
          <p:cNvSpPr/>
          <p:nvPr/>
        </p:nvSpPr>
        <p:spPr>
          <a:xfrm>
            <a:off x="11805744" y="6451898"/>
            <a:ext cx="385951" cy="202505"/>
          </a:xfrm>
          <a:prstGeom prst="rect">
            <a:avLst/>
          </a:prstGeom>
          <a:noFill/>
          <a:ln/>
        </p:spPr>
        <p:txBody>
          <a:bodyPr wrap="none" lIns="0" tIns="0" rIns="0" bIns="0" rtlCol="0" anchor="ctr"/>
          <a:lstStyle/>
          <a:p>
            <a:pPr algn="l" indent="0" marL="0">
              <a:lnSpc>
                <a:spcPct val="121000"/>
              </a:lnSpc>
              <a:buNone/>
            </a:pPr>
            <a:r>
              <a:rPr lang="en-US" sz="1100" spc="44" kern="100" dirty="0">
                <a:solidFill>
                  <a:srgbClr val="536270"/>
                </a:solidFill>
                <a:latin typeface="Public Sans" pitchFamily="34" charset="0"/>
                <a:ea typeface="Public Sans" pitchFamily="34" charset="-122"/>
                <a:cs typeface="Public Sans" pitchFamily="34" charset="-120"/>
              </a:rPr>
              <a:t>08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09585" y="612458"/>
            <a:ext cx="11582110"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536270"/>
                </a:solidFill>
                <a:latin typeface="Public Sans Medium" pitchFamily="34" charset="0"/>
                <a:ea typeface="Public Sans Medium" pitchFamily="34" charset="-122"/>
                <a:cs typeface="Public Sans Medium" pitchFamily="34" charset="-120"/>
              </a:rPr>
              <a:t>REPORT · PAGE 2 ANALYSIS</a:t>
            </a:r>
            <a:endParaRPr lang="en-US" sz="1200" dirty="0"/>
          </a:p>
        </p:txBody>
      </p:sp>
      <p:sp>
        <p:nvSpPr>
          <p:cNvPr id="3" name="Text 1"/>
          <p:cNvSpPr/>
          <p:nvPr/>
        </p:nvSpPr>
        <p:spPr>
          <a:xfrm>
            <a:off x="609585" y="914312"/>
            <a:ext cx="10972526" cy="455116"/>
          </a:xfrm>
          <a:prstGeom prst="rect">
            <a:avLst/>
          </a:prstGeom>
          <a:noFill/>
          <a:ln/>
        </p:spPr>
        <p:txBody>
          <a:bodyPr wrap="none" lIns="0" tIns="0" rIns="0" bIns="0" rtlCol="0" anchor="t"/>
          <a:lstStyle/>
          <a:p>
            <a:pPr algn="l" indent="0" marL="0">
              <a:lnSpc>
                <a:spcPct val="93000"/>
              </a:lnSpc>
              <a:buNone/>
            </a:pPr>
            <a:r>
              <a:rPr lang="en-US" sz="3200" spc="-32" kern="100" dirty="0">
                <a:solidFill>
                  <a:srgbClr val="1B2632"/>
                </a:solidFill>
                <a:latin typeface="Sora SemiBold" pitchFamily="34" charset="0"/>
                <a:ea typeface="Sora SemiBold" pitchFamily="34" charset="-122"/>
                <a:cs typeface="Sora SemiBold" pitchFamily="34" charset="-120"/>
              </a:rPr>
              <a:t>Monthly cash flow and liquidity analysis</a:t>
            </a:r>
            <a:endParaRPr lang="en-US" sz="3200" dirty="0"/>
          </a:p>
        </p:txBody>
      </p:sp>
      <p:sp>
        <p:nvSpPr>
          <p:cNvPr id="4" name="Shape 2"/>
          <p:cNvSpPr/>
          <p:nvPr/>
        </p:nvSpPr>
        <p:spPr>
          <a:xfrm>
            <a:off x="609585" y="1551682"/>
            <a:ext cx="5333867" cy="1770955"/>
          </a:xfrm>
          <a:prstGeom prst="roundRect">
            <a:avLst>
              <a:gd name="adj" fmla="val 1829"/>
            </a:avLst>
          </a:prstGeom>
          <a:solidFill>
            <a:srgbClr val="E7EAF0"/>
          </a:solidFill>
          <a:ln/>
        </p:spPr>
      </p:sp>
      <p:sp>
        <p:nvSpPr>
          <p:cNvPr id="5" name="Text 3"/>
          <p:cNvSpPr/>
          <p:nvPr/>
        </p:nvSpPr>
        <p:spPr>
          <a:xfrm>
            <a:off x="812780" y="1761550"/>
            <a:ext cx="4927477" cy="411460"/>
          </a:xfrm>
          <a:prstGeom prst="rect">
            <a:avLst/>
          </a:prstGeom>
          <a:noFill/>
          <a:ln/>
        </p:spPr>
        <p:txBody>
          <a:bodyPr wrap="none" lIns="0" tIns="0" rIns="0" bIns="0" rtlCol="0" anchor="t"/>
          <a:lstStyle/>
          <a:p>
            <a:pPr algn="l" indent="0" marL="0">
              <a:lnSpc>
                <a:spcPct val="113000"/>
              </a:lnSpc>
              <a:buNone/>
            </a:pPr>
            <a:r>
              <a:rPr lang="en-US" sz="2400" spc="-24" kern="100" dirty="0">
                <a:solidFill>
                  <a:srgbClr val="1B2632"/>
                </a:solidFill>
                <a:latin typeface="Public Sans" pitchFamily="34" charset="0"/>
                <a:ea typeface="Public Sans" pitchFamily="34" charset="-122"/>
                <a:cs typeface="Public Sans" pitchFamily="34" charset="-120"/>
              </a:rPr>
              <a:t>Inflows versus outflows</a:t>
            </a:r>
            <a:endParaRPr lang="en-US" sz="2400" dirty="0"/>
          </a:p>
        </p:txBody>
      </p:sp>
      <p:sp>
        <p:nvSpPr>
          <p:cNvPr id="6" name="Shape 4"/>
          <p:cNvSpPr/>
          <p:nvPr/>
        </p:nvSpPr>
        <p:spPr>
          <a:xfrm>
            <a:off x="812780" y="2374305"/>
            <a:ext cx="4927378" cy="31651"/>
          </a:xfrm>
          <a:prstGeom prst="roundRect">
            <a:avLst>
              <a:gd name="adj" fmla="val 49998"/>
            </a:avLst>
          </a:prstGeom>
          <a:solidFill>
            <a:srgbClr val="1B2632"/>
          </a:solidFill>
          <a:ln/>
        </p:spPr>
      </p:sp>
      <p:sp>
        <p:nvSpPr>
          <p:cNvPr id="7" name="Text 5"/>
          <p:cNvSpPr/>
          <p:nvPr/>
        </p:nvSpPr>
        <p:spPr>
          <a:xfrm>
            <a:off x="812780" y="2585442"/>
            <a:ext cx="4927477" cy="533995"/>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Compares receipts and payments period by period to show the direction of operating cash flow.</a:t>
            </a:r>
            <a:endParaRPr lang="en-US" sz="1450" dirty="0"/>
          </a:p>
        </p:txBody>
      </p:sp>
      <p:sp>
        <p:nvSpPr>
          <p:cNvPr id="8" name="Shape 6"/>
          <p:cNvSpPr/>
          <p:nvPr/>
        </p:nvSpPr>
        <p:spPr>
          <a:xfrm>
            <a:off x="6248244" y="1551682"/>
            <a:ext cx="5333867" cy="1770955"/>
          </a:xfrm>
          <a:prstGeom prst="roundRect">
            <a:avLst>
              <a:gd name="adj" fmla="val 1829"/>
            </a:avLst>
          </a:prstGeom>
          <a:solidFill>
            <a:srgbClr val="E7EAF0"/>
          </a:solidFill>
          <a:ln/>
        </p:spPr>
      </p:sp>
      <p:sp>
        <p:nvSpPr>
          <p:cNvPr id="9" name="Text 7"/>
          <p:cNvSpPr/>
          <p:nvPr/>
        </p:nvSpPr>
        <p:spPr>
          <a:xfrm>
            <a:off x="6451439" y="1761550"/>
            <a:ext cx="4927477" cy="411460"/>
          </a:xfrm>
          <a:prstGeom prst="rect">
            <a:avLst/>
          </a:prstGeom>
          <a:noFill/>
          <a:ln/>
        </p:spPr>
        <p:txBody>
          <a:bodyPr wrap="none" lIns="0" tIns="0" rIns="0" bIns="0" rtlCol="0" anchor="t"/>
          <a:lstStyle/>
          <a:p>
            <a:pPr algn="l" indent="0" marL="0">
              <a:lnSpc>
                <a:spcPct val="113000"/>
              </a:lnSpc>
              <a:buNone/>
            </a:pPr>
            <a:r>
              <a:rPr lang="en-US" sz="2400" spc="-24" kern="100" dirty="0">
                <a:solidFill>
                  <a:srgbClr val="1B2632"/>
                </a:solidFill>
                <a:latin typeface="Public Sans" pitchFamily="34" charset="0"/>
                <a:ea typeface="Public Sans" pitchFamily="34" charset="-122"/>
                <a:cs typeface="Public Sans" pitchFamily="34" charset="-120"/>
              </a:rPr>
              <a:t>Liquidity position</a:t>
            </a:r>
            <a:endParaRPr lang="en-US" sz="2400" dirty="0"/>
          </a:p>
        </p:txBody>
      </p:sp>
      <p:sp>
        <p:nvSpPr>
          <p:cNvPr id="10" name="Shape 8"/>
          <p:cNvSpPr/>
          <p:nvPr/>
        </p:nvSpPr>
        <p:spPr>
          <a:xfrm>
            <a:off x="6451439" y="2374305"/>
            <a:ext cx="4927378" cy="31651"/>
          </a:xfrm>
          <a:prstGeom prst="roundRect">
            <a:avLst>
              <a:gd name="adj" fmla="val 49998"/>
            </a:avLst>
          </a:prstGeom>
          <a:solidFill>
            <a:srgbClr val="1B2632"/>
          </a:solidFill>
          <a:ln/>
        </p:spPr>
      </p:sp>
      <p:sp>
        <p:nvSpPr>
          <p:cNvPr id="11" name="Text 9"/>
          <p:cNvSpPr/>
          <p:nvPr/>
        </p:nvSpPr>
        <p:spPr>
          <a:xfrm>
            <a:off x="6451439" y="2585442"/>
            <a:ext cx="4927477" cy="533995"/>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Tracks how the running balance moves across each month, highlighting periods of tightening or build-up.</a:t>
            </a:r>
            <a:endParaRPr lang="en-US" sz="1450" dirty="0"/>
          </a:p>
        </p:txBody>
      </p:sp>
      <p:sp>
        <p:nvSpPr>
          <p:cNvPr id="12" name="Text 10"/>
          <p:cNvSpPr/>
          <p:nvPr/>
        </p:nvSpPr>
        <p:spPr>
          <a:xfrm>
            <a:off x="609585" y="3554809"/>
            <a:ext cx="10972526" cy="750888"/>
          </a:xfrm>
          <a:prstGeom prst="rect">
            <a:avLst/>
          </a:prstGeom>
          <a:noFill/>
          <a:ln/>
        </p:spPr>
        <p:txBody>
          <a:bodyPr wrap="square" lIns="0" tIns="101598" rIns="0" bIns="0" rtlCol="0" anchor="t">
            <a:normAutofit/>
          </a:bodyPr>
          <a:lstStyle/>
          <a:p>
            <a:pPr algn="l" indent="0" marL="0">
              <a:lnSpc>
                <a:spcPct val="112000"/>
              </a:lnSpc>
              <a:buNone/>
            </a:pPr>
            <a:r>
              <a:rPr lang="en-US" sz="1250" dirty="0">
                <a:solidFill>
                  <a:srgbClr val="536270"/>
                </a:solidFill>
                <a:latin typeface="Public Sans" pitchFamily="34" charset="0"/>
                <a:ea typeface="Public Sans" pitchFamily="34" charset="-122"/>
                <a:cs typeface="Public Sans" pitchFamily="34" charset="-120"/>
              </a:rPr>
              <a:t>Monthly views are presented as trends for review; figures are drawn from the uploaded statement, not reproduced here. Transactions are first grouped into accounting categories (foreign exchange, supplier payments, loan proceeds, customer receipts, payroll, statutory and operating charges) so each group can be reviewed.</a:t>
            </a:r>
            <a:endParaRPr lang="en-US" sz="1250" dirty="0"/>
          </a:p>
        </p:txBody>
      </p:sp>
      <p:sp>
        <p:nvSpPr>
          <p:cNvPr id="13" name="Text 11"/>
          <p:cNvSpPr/>
          <p:nvPr/>
        </p:nvSpPr>
        <p:spPr>
          <a:xfrm>
            <a:off x="11808919" y="6451898"/>
            <a:ext cx="382776" cy="202505"/>
          </a:xfrm>
          <a:prstGeom prst="rect">
            <a:avLst/>
          </a:prstGeom>
          <a:noFill/>
          <a:ln/>
        </p:spPr>
        <p:txBody>
          <a:bodyPr wrap="none" lIns="0" tIns="0" rIns="0" bIns="0" rtlCol="0" anchor="ctr"/>
          <a:lstStyle/>
          <a:p>
            <a:pPr algn="l" indent="0" marL="0">
              <a:lnSpc>
                <a:spcPct val="121000"/>
              </a:lnSpc>
              <a:buNone/>
            </a:pPr>
            <a:r>
              <a:rPr lang="en-US" sz="1100" spc="44" kern="100" dirty="0">
                <a:solidFill>
                  <a:srgbClr val="536270"/>
                </a:solidFill>
                <a:latin typeface="Public Sans" pitchFamily="34" charset="0"/>
                <a:ea typeface="Public Sans" pitchFamily="34" charset="-122"/>
                <a:cs typeface="Public Sans" pitchFamily="34" charset="-120"/>
              </a:rPr>
              <a:t>09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09585" y="612458"/>
            <a:ext cx="11582110" cy="198041"/>
          </a:xfrm>
          <a:prstGeom prst="rect">
            <a:avLst/>
          </a:prstGeom>
          <a:noFill/>
          <a:ln/>
        </p:spPr>
        <p:txBody>
          <a:bodyPr wrap="none" lIns="0" tIns="0" rIns="0" bIns="0" rtlCol="0" anchor="t"/>
          <a:lstStyle/>
          <a:p>
            <a:pPr algn="l" indent="0" marL="0">
              <a:lnSpc>
                <a:spcPct val="108000"/>
              </a:lnSpc>
              <a:buNone/>
            </a:pPr>
            <a:r>
              <a:rPr lang="en-US" sz="1200" spc="96" kern="100" dirty="0">
                <a:solidFill>
                  <a:srgbClr val="536270"/>
                </a:solidFill>
                <a:latin typeface="Public Sans Medium" pitchFamily="34" charset="0"/>
                <a:ea typeface="Public Sans Medium" pitchFamily="34" charset="-122"/>
                <a:cs typeface="Public Sans Medium" pitchFamily="34" charset="-120"/>
              </a:rPr>
              <a:t>AICA LEVEL 2 · CAPSTONE PROJECT</a:t>
            </a:r>
            <a:endParaRPr lang="en-US" sz="1200" dirty="0"/>
          </a:p>
        </p:txBody>
      </p:sp>
      <p:sp>
        <p:nvSpPr>
          <p:cNvPr id="3" name="Text 1"/>
          <p:cNvSpPr/>
          <p:nvPr/>
        </p:nvSpPr>
        <p:spPr>
          <a:xfrm>
            <a:off x="609585" y="914312"/>
            <a:ext cx="10972526" cy="910233"/>
          </a:xfrm>
          <a:prstGeom prst="rect">
            <a:avLst/>
          </a:prstGeom>
          <a:noFill/>
          <a:ln/>
        </p:spPr>
        <p:txBody>
          <a:bodyPr wrap="square" lIns="0" tIns="0" rIns="0" bIns="0" rtlCol="0" anchor="t">
            <a:normAutofit/>
          </a:bodyPr>
          <a:lstStyle/>
          <a:p>
            <a:pPr algn="l" indent="0" marL="0">
              <a:lnSpc>
                <a:spcPct val="93000"/>
              </a:lnSpc>
              <a:buNone/>
            </a:pPr>
            <a:r>
              <a:rPr lang="en-US" sz="3200" spc="-32" kern="100" dirty="0">
                <a:solidFill>
                  <a:srgbClr val="1B2632"/>
                </a:solidFill>
                <a:latin typeface="Sora SemiBold" pitchFamily="34" charset="0"/>
                <a:ea typeface="Sora SemiBold" pitchFamily="34" charset="-122"/>
                <a:cs typeface="Sora SemiBold" pitchFamily="34" charset="-120"/>
              </a:rPr>
              <a:t>Conclusion: an automated first pass for professional review</a:t>
            </a:r>
            <a:endParaRPr lang="en-US" sz="3200" dirty="0"/>
          </a:p>
        </p:txBody>
      </p:sp>
      <p:sp>
        <p:nvSpPr>
          <p:cNvPr id="4" name="Text 2"/>
          <p:cNvSpPr/>
          <p:nvPr/>
        </p:nvSpPr>
        <p:spPr>
          <a:xfrm>
            <a:off x="609585" y="2019498"/>
            <a:ext cx="10972526" cy="736600"/>
          </a:xfrm>
          <a:prstGeom prst="rect">
            <a:avLst/>
          </a:prstGeom>
          <a:noFill/>
          <a:ln/>
        </p:spPr>
        <p:txBody>
          <a:bodyPr wrap="square" lIns="0" tIns="0" rIns="0" bIns="0" rtlCol="0" anchor="t">
            <a:normAutofit/>
          </a:bodyPr>
          <a:lstStyle/>
          <a:p>
            <a:pPr algn="l" indent="0" marL="0">
              <a:lnSpc>
                <a:spcPct val="121000"/>
              </a:lnSpc>
              <a:buNone/>
            </a:pPr>
            <a:r>
              <a:rPr lang="en-US" sz="2000" dirty="0">
                <a:solidFill>
                  <a:srgbClr val="3A4756"/>
                </a:solidFill>
                <a:latin typeface="Public Sans" pitchFamily="34" charset="0"/>
                <a:ea typeface="Public Sans" pitchFamily="34" charset="-122"/>
                <a:cs typeface="Public Sans" pitchFamily="34" charset="-120"/>
              </a:rPr>
              <a:t>The capstone demonstrates how bank statements can move from raw files to structured, reviewable analysis.</a:t>
            </a:r>
            <a:endParaRPr lang="en-US" sz="2000" dirty="0"/>
          </a:p>
        </p:txBody>
      </p:sp>
      <p:sp>
        <p:nvSpPr>
          <p:cNvPr id="5" name="Shape 3"/>
          <p:cNvSpPr/>
          <p:nvPr/>
        </p:nvSpPr>
        <p:spPr>
          <a:xfrm>
            <a:off x="609585" y="2959298"/>
            <a:ext cx="3555911" cy="1887736"/>
          </a:xfrm>
          <a:prstGeom prst="roundRect">
            <a:avLst>
              <a:gd name="adj" fmla="val 1716"/>
            </a:avLst>
          </a:prstGeom>
          <a:solidFill>
            <a:srgbClr val="E7EAF0"/>
          </a:solidFill>
          <a:ln/>
        </p:spPr>
      </p:sp>
      <p:sp>
        <p:nvSpPr>
          <p:cNvPr id="6" name="Text 4"/>
          <p:cNvSpPr/>
          <p:nvPr/>
        </p:nvSpPr>
        <p:spPr>
          <a:xfrm>
            <a:off x="812780" y="3145671"/>
            <a:ext cx="3149521" cy="308570"/>
          </a:xfrm>
          <a:prstGeom prst="rect">
            <a:avLst/>
          </a:prstGeom>
          <a:noFill/>
          <a:ln/>
        </p:spPr>
        <p:txBody>
          <a:bodyPr wrap="none" lIns="0" tIns="0" rIns="0" bIns="0" rtlCol="0" anchor="t"/>
          <a:lstStyle/>
          <a:p>
            <a:pPr algn="l" indent="0" marL="0">
              <a:lnSpc>
                <a:spcPct val="113000"/>
              </a:lnSpc>
              <a:buNone/>
            </a:pPr>
            <a:r>
              <a:rPr lang="en-US" sz="1800" spc="-18" kern="100" dirty="0">
                <a:solidFill>
                  <a:srgbClr val="1B2632"/>
                </a:solidFill>
                <a:latin typeface="Public Sans" pitchFamily="34" charset="0"/>
                <a:ea typeface="Public Sans" pitchFamily="34" charset="-122"/>
                <a:cs typeface="Public Sans" pitchFamily="34" charset="-120"/>
              </a:rPr>
              <a:t>What it demonstrates</a:t>
            </a:r>
            <a:endParaRPr lang="en-US" sz="1800" dirty="0"/>
          </a:p>
        </p:txBody>
      </p:sp>
      <p:sp>
        <p:nvSpPr>
          <p:cNvPr id="7" name="Text 5"/>
          <p:cNvSpPr/>
          <p:nvPr/>
        </p:nvSpPr>
        <p:spPr>
          <a:xfrm>
            <a:off x="812780" y="3601244"/>
            <a:ext cx="3149521" cy="1067991"/>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Ingestion of PDF, Excel and CSV statements, standardized field extraction, classification, cash flow views and a structured report.</a:t>
            </a:r>
            <a:endParaRPr lang="en-US" sz="1450" dirty="0"/>
          </a:p>
        </p:txBody>
      </p:sp>
      <p:sp>
        <p:nvSpPr>
          <p:cNvPr id="8" name="Shape 6"/>
          <p:cNvSpPr/>
          <p:nvPr/>
        </p:nvSpPr>
        <p:spPr>
          <a:xfrm>
            <a:off x="4317892" y="2959298"/>
            <a:ext cx="3555911" cy="1887736"/>
          </a:xfrm>
          <a:prstGeom prst="roundRect">
            <a:avLst>
              <a:gd name="adj" fmla="val 1716"/>
            </a:avLst>
          </a:prstGeom>
          <a:solidFill>
            <a:srgbClr val="E7EAF0"/>
          </a:solidFill>
          <a:ln/>
        </p:spPr>
      </p:sp>
      <p:sp>
        <p:nvSpPr>
          <p:cNvPr id="9" name="Text 7"/>
          <p:cNvSpPr/>
          <p:nvPr/>
        </p:nvSpPr>
        <p:spPr>
          <a:xfrm>
            <a:off x="4521087" y="3145671"/>
            <a:ext cx="3149521" cy="308570"/>
          </a:xfrm>
          <a:prstGeom prst="rect">
            <a:avLst/>
          </a:prstGeom>
          <a:noFill/>
          <a:ln/>
        </p:spPr>
        <p:txBody>
          <a:bodyPr wrap="none" lIns="0" tIns="0" rIns="0" bIns="0" rtlCol="0" anchor="t"/>
          <a:lstStyle/>
          <a:p>
            <a:pPr algn="l" indent="0" marL="0">
              <a:lnSpc>
                <a:spcPct val="113000"/>
              </a:lnSpc>
              <a:buNone/>
            </a:pPr>
            <a:r>
              <a:rPr lang="en-US" sz="1800" spc="-18" kern="100" dirty="0">
                <a:solidFill>
                  <a:srgbClr val="1B2632"/>
                </a:solidFill>
                <a:latin typeface="Public Sans" pitchFamily="34" charset="0"/>
                <a:ea typeface="Public Sans" pitchFamily="34" charset="-122"/>
                <a:cs typeface="Public Sans" pitchFamily="34" charset="-120"/>
              </a:rPr>
              <a:t>Why it matters</a:t>
            </a:r>
            <a:endParaRPr lang="en-US" sz="1800" dirty="0"/>
          </a:p>
        </p:txBody>
      </p:sp>
      <p:sp>
        <p:nvSpPr>
          <p:cNvPr id="10" name="Text 8"/>
          <p:cNvSpPr/>
          <p:nvPr/>
        </p:nvSpPr>
        <p:spPr>
          <a:xfrm>
            <a:off x="4521087" y="3601244"/>
            <a:ext cx="3149521" cy="1067991"/>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Chartered Accountants and finance teams spend less time on repetitive extraction and sorting, and more time on judgment.</a:t>
            </a:r>
            <a:endParaRPr lang="en-US" sz="1450" dirty="0"/>
          </a:p>
        </p:txBody>
      </p:sp>
      <p:sp>
        <p:nvSpPr>
          <p:cNvPr id="11" name="Shape 9"/>
          <p:cNvSpPr/>
          <p:nvPr/>
        </p:nvSpPr>
        <p:spPr>
          <a:xfrm>
            <a:off x="8026199" y="2959298"/>
            <a:ext cx="3555911" cy="1887736"/>
          </a:xfrm>
          <a:prstGeom prst="roundRect">
            <a:avLst>
              <a:gd name="adj" fmla="val 1716"/>
            </a:avLst>
          </a:prstGeom>
          <a:solidFill>
            <a:srgbClr val="E7EAF0"/>
          </a:solidFill>
          <a:ln/>
        </p:spPr>
      </p:sp>
      <p:sp>
        <p:nvSpPr>
          <p:cNvPr id="12" name="Text 10"/>
          <p:cNvSpPr/>
          <p:nvPr/>
        </p:nvSpPr>
        <p:spPr>
          <a:xfrm>
            <a:off x="8229394" y="3145671"/>
            <a:ext cx="3149521" cy="308570"/>
          </a:xfrm>
          <a:prstGeom prst="rect">
            <a:avLst/>
          </a:prstGeom>
          <a:noFill/>
          <a:ln/>
        </p:spPr>
        <p:txBody>
          <a:bodyPr wrap="none" lIns="0" tIns="0" rIns="0" bIns="0" rtlCol="0" anchor="t"/>
          <a:lstStyle/>
          <a:p>
            <a:pPr algn="l" indent="0" marL="0">
              <a:lnSpc>
                <a:spcPct val="113000"/>
              </a:lnSpc>
              <a:buNone/>
            </a:pPr>
            <a:r>
              <a:rPr lang="en-US" sz="1800" spc="-18" kern="100" dirty="0">
                <a:solidFill>
                  <a:srgbClr val="1B2632"/>
                </a:solidFill>
                <a:latin typeface="Public Sans" pitchFamily="34" charset="0"/>
                <a:ea typeface="Public Sans" pitchFamily="34" charset="-122"/>
                <a:cs typeface="Public Sans" pitchFamily="34" charset="-120"/>
              </a:rPr>
              <a:t>What the report enables</a:t>
            </a:r>
            <a:endParaRPr lang="en-US" sz="1800" dirty="0"/>
          </a:p>
        </p:txBody>
      </p:sp>
      <p:sp>
        <p:nvSpPr>
          <p:cNvPr id="13" name="Text 11"/>
          <p:cNvSpPr/>
          <p:nvPr/>
        </p:nvSpPr>
        <p:spPr>
          <a:xfrm>
            <a:off x="8229394" y="3601244"/>
            <a:ext cx="3149521" cy="1067991"/>
          </a:xfrm>
          <a:prstGeom prst="rect">
            <a:avLst/>
          </a:prstGeom>
          <a:noFill/>
          <a:ln/>
        </p:spPr>
        <p:txBody>
          <a:bodyPr wrap="square" lIns="0" tIns="0" rIns="0" bIns="0" rtlCol="0" anchor="t">
            <a:normAutofit/>
          </a:bodyPr>
          <a:lstStyle/>
          <a:p>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A consistent, multi-page review pack that supports audit workpapers, management discussion and credit appraisal.</a:t>
            </a:r>
            <a:endParaRPr lang="en-US" sz="1450" dirty="0"/>
          </a:p>
        </p:txBody>
      </p:sp>
      <p:sp>
        <p:nvSpPr>
          <p:cNvPr id="14" name="Shape 12"/>
          <p:cNvSpPr/>
          <p:nvPr/>
        </p:nvSpPr>
        <p:spPr>
          <a:xfrm>
            <a:off x="609585" y="5085755"/>
            <a:ext cx="10972526" cy="1162645"/>
          </a:xfrm>
          <a:prstGeom prst="rect">
            <a:avLst/>
          </a:prstGeom>
          <a:solidFill>
            <a:srgbClr val="E4EAEF"/>
          </a:solidFill>
          <a:ln/>
        </p:spPr>
      </p:sp>
      <p:sp>
        <p:nvSpPr>
          <p:cNvPr id="15" name="Shape 13"/>
          <p:cNvSpPr/>
          <p:nvPr/>
        </p:nvSpPr>
        <p:spPr>
          <a:xfrm>
            <a:off x="838179" y="5317530"/>
            <a:ext cx="10515337" cy="38100"/>
          </a:xfrm>
          <a:prstGeom prst="roundRect">
            <a:avLst>
              <a:gd name="adj" fmla="val 49999"/>
            </a:avLst>
          </a:prstGeom>
          <a:solidFill>
            <a:srgbClr val="0E7C86"/>
          </a:solidFill>
          <a:ln/>
        </p:spPr>
      </p:sp>
      <p:sp>
        <p:nvSpPr>
          <p:cNvPr id="16" name="Text 14"/>
          <p:cNvSpPr/>
          <p:nvPr/>
        </p:nvSpPr>
        <p:spPr>
          <a:xfrm>
            <a:off x="838179" y="5536605"/>
            <a:ext cx="10515337" cy="533995"/>
          </a:xfrm>
          <a:prstGeom prst="rect">
            <a:avLst/>
          </a:prstGeom>
          <a:noFill/>
          <a:ln/>
        </p:spPr>
        <p:txBody>
          <a:bodyPr wrap="square" lIns="0" tIns="0" rIns="0" bIns="0" rtlCol="0" anchor="t">
            <a:normAutofit/>
          </a:bodyPr>
          <a:lstStyle/>
          <a:p>
            <a:pPr algn="l" indent="0" marL="0">
              <a:lnSpc>
                <a:spcPct val="121000"/>
              </a:lnSpc>
              <a:buNone/>
            </a:pPr>
            <a:r>
              <a:rPr lang="en-US" sz="1450" b="1" dirty="0">
                <a:solidFill>
                  <a:srgbClr val="3A4756"/>
                </a:solidFill>
                <a:latin typeface="Public Sans Bold" pitchFamily="34" charset="0"/>
                <a:ea typeface="Public Sans Bold" pitchFamily="34" charset="-122"/>
                <a:cs typeface="Public Sans Bold" pitchFamily="34" charset="-120"/>
              </a:rPr>
              <a:t>Professional boundary:</a:t>
            </a:r>
            <a:pPr algn="l" indent="0" marL="0">
              <a:lnSpc>
                <a:spcPct val="121000"/>
              </a:lnSpc>
              <a:buNone/>
            </a:pPr>
            <a:r>
              <a:rPr lang="en-US" sz="1450" dirty="0">
                <a:solidFill>
                  <a:srgbClr val="3A4756"/>
                </a:solidFill>
                <a:latin typeface="Public Sans" pitchFamily="34" charset="0"/>
                <a:ea typeface="Public Sans" pitchFamily="34" charset="-122"/>
                <a:cs typeface="Public Sans" pitchFamily="34" charset="-120"/>
              </a:rPr>
              <a:t> Outputs are review prompts, not independent audit conclusions. CA verification of source records and professional judgment remain essential.</a:t>
            </a:r>
            <a:endParaRPr lang="en-US" sz="1450" dirty="0"/>
          </a:p>
        </p:txBody>
      </p:sp>
      <p:sp>
        <p:nvSpPr>
          <p:cNvPr id="17" name="Text 15"/>
          <p:cNvSpPr/>
          <p:nvPr/>
        </p:nvSpPr>
        <p:spPr>
          <a:xfrm>
            <a:off x="11838386" y="6451898"/>
            <a:ext cx="353309" cy="202505"/>
          </a:xfrm>
          <a:prstGeom prst="rect">
            <a:avLst/>
          </a:prstGeom>
          <a:noFill/>
          <a:ln/>
        </p:spPr>
        <p:txBody>
          <a:bodyPr wrap="none" lIns="0" tIns="0" rIns="0" bIns="0" rtlCol="0" anchor="ctr"/>
          <a:lstStyle/>
          <a:p>
            <a:pPr algn="l" indent="0" marL="0">
              <a:lnSpc>
                <a:spcPct val="121000"/>
              </a:lnSpc>
              <a:buNone/>
            </a:pPr>
            <a:r>
              <a:rPr lang="en-US" sz="1100" spc="44" kern="100" dirty="0">
                <a:solidFill>
                  <a:srgbClr val="536270"/>
                </a:solidFill>
                <a:latin typeface="Public Sans" pitchFamily="34" charset="0"/>
                <a:ea typeface="Public Sans" pitchFamily="34" charset="-122"/>
                <a:cs typeface="Public Sans" pitchFamily="34" charset="-120"/>
              </a:rPr>
              <a:t>10</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2026-10-15T13:42:15Z</dcterms:created>
  <dcterms:modified xsi:type="dcterms:W3CDTF">2026-10-15T13:42:15Z</dcterms:modified>
</cp:coreProperties>
</file>