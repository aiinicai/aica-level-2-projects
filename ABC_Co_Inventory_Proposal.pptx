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43205D-48D8-40AE-907B-F3439C205A2A}" v="11" dt="2026-09-20T07:01:12.7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ish Thakkar" userId="6e58673d-92b4-4af7-8e65-97b4b06713c1" providerId="ADAL" clId="{7C667766-2FCF-40F3-8A9D-D8AC9F2A91F4}"/>
    <pc:docChg chg="undo custSel addSld modSld modNotesMaster">
      <pc:chgData name="Ashish Thakkar" userId="6e58673d-92b4-4af7-8e65-97b4b06713c1" providerId="ADAL" clId="{7C667766-2FCF-40F3-8A9D-D8AC9F2A91F4}" dt="2026-09-20T07:01:12.737" v="10" actId="20577"/>
      <pc:docMkLst>
        <pc:docMk/>
      </pc:docMkLst>
      <pc:sldChg chg="addSp modSp mod modNotes">
        <pc:chgData name="Ashish Thakkar" userId="6e58673d-92b4-4af7-8e65-97b4b06713c1" providerId="ADAL" clId="{7C667766-2FCF-40F3-8A9D-D8AC9F2A91F4}" dt="2026-09-20T07:01:12.737" v="10" actId="20577"/>
        <pc:sldMkLst>
          <pc:docMk/>
          <pc:sldMk cId="0" sldId="256"/>
        </pc:sldMkLst>
        <pc:spChg chg="mo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6"/>
            <ac:spMk id="4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6"/>
            <ac:spMk id="5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6"/>
            <ac:spMk id="6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Ashish Thakkar" userId="6e58673d-92b4-4af7-8e65-97b4b06713c1" providerId="ADAL" clId="{7C667766-2FCF-40F3-8A9D-D8AC9F2A91F4}" dt="2026-09-20T07:01:12.737" v="10" actId="20577"/>
          <ac:spMkLst>
            <pc:docMk/>
            <pc:sldMk cId="0" sldId="256"/>
            <ac:spMk id="10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6"/>
            <ac:spMk id="11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6"/>
            <ac:spMk id="13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6"/>
            <ac:spMk id="14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6"/>
            <ac:spMk id="15" creationId="{00000000-0000-0000-0000-000000000000}"/>
          </ac:spMkLst>
        </pc:spChg>
      </pc:sldChg>
      <pc:sldChg chg="addSp modSp mod modNotes">
        <pc:chgData name="Ashish Thakkar" userId="6e58673d-92b4-4af7-8e65-97b4b06713c1" providerId="ADAL" clId="{7C667766-2FCF-40F3-8A9D-D8AC9F2A91F4}" dt="2026-09-20T07:00:05.889" v="0" actId="26606"/>
        <pc:sldMkLst>
          <pc:docMk/>
          <pc:sldMk cId="0" sldId="257"/>
        </pc:sldMkLst>
        <pc:spChg chg="mo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7"/>
            <ac:spMk id="6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7"/>
            <ac:spMk id="9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7"/>
            <ac:spMk id="11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7"/>
            <ac:spMk id="13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7"/>
            <ac:spMk id="14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7"/>
            <ac:spMk id="15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7"/>
            <ac:spMk id="18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7"/>
            <ac:spMk id="19" creationId="{00000000-0000-0000-0000-000000000000}"/>
          </ac:spMkLst>
        </pc:spChg>
      </pc:sldChg>
      <pc:sldChg chg="addSp modSp mod modNotes">
        <pc:chgData name="Ashish Thakkar" userId="6e58673d-92b4-4af7-8e65-97b4b06713c1" providerId="ADAL" clId="{7C667766-2FCF-40F3-8A9D-D8AC9F2A91F4}" dt="2026-09-20T07:00:05.889" v="0" actId="26606"/>
        <pc:sldMkLst>
          <pc:docMk/>
          <pc:sldMk cId="0" sldId="258"/>
        </pc:sldMkLst>
        <pc:spChg chg="mo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8"/>
            <ac:spMk id="8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8"/>
            <ac:spMk id="9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8"/>
            <ac:spMk id="14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8"/>
            <ac:spMk id="21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8"/>
            <ac:spMk id="22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8"/>
            <ac:spMk id="26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8"/>
            <ac:spMk id="27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8"/>
            <ac:spMk id="31" creationId="{00000000-0000-0000-0000-000000000000}"/>
          </ac:spMkLst>
        </pc:spChg>
      </pc:sldChg>
      <pc:sldChg chg="addSp modSp mod modNotes">
        <pc:chgData name="Ashish Thakkar" userId="6e58673d-92b4-4af7-8e65-97b4b06713c1" providerId="ADAL" clId="{7C667766-2FCF-40F3-8A9D-D8AC9F2A91F4}" dt="2026-09-20T07:00:05.889" v="0" actId="26606"/>
        <pc:sldMkLst>
          <pc:docMk/>
          <pc:sldMk cId="0" sldId="259"/>
        </pc:sldMkLst>
        <pc:spChg chg="mo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9"/>
            <ac:spMk id="2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9"/>
            <ac:spMk id="12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9"/>
            <ac:spMk id="13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9"/>
            <ac:spMk id="14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9"/>
            <ac:spMk id="16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9"/>
            <ac:spMk id="17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9"/>
            <ac:spMk id="18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9"/>
            <ac:spMk id="21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9"/>
            <ac:spMk id="22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59"/>
            <ac:spMk id="23" creationId="{00000000-0000-0000-0000-000000000000}"/>
          </ac:spMkLst>
        </pc:spChg>
      </pc:sldChg>
      <pc:sldChg chg="addSp modSp mod modNotes">
        <pc:chgData name="Ashish Thakkar" userId="6e58673d-92b4-4af7-8e65-97b4b06713c1" providerId="ADAL" clId="{7C667766-2FCF-40F3-8A9D-D8AC9F2A91F4}" dt="2026-09-20T07:00:05.889" v="0" actId="26606"/>
        <pc:sldMkLst>
          <pc:docMk/>
          <pc:sldMk cId="0" sldId="260"/>
        </pc:sldMkLst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0"/>
            <ac:spMk id="9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0"/>
            <ac:spMk id="11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0"/>
            <ac:spMk id="21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0"/>
            <ac:spMk id="22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0"/>
            <ac:spMk id="26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0"/>
            <ac:spMk id="29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0"/>
            <ac:spMk id="33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0"/>
            <ac:spMk id="35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0"/>
            <ac:spMk id="38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0"/>
            <ac:spMk id="42" creationId="{00000000-0000-0000-0000-000000000000}"/>
          </ac:spMkLst>
        </pc:spChg>
      </pc:sldChg>
      <pc:sldChg chg="addSp modSp mod modNotes">
        <pc:chgData name="Ashish Thakkar" userId="6e58673d-92b4-4af7-8e65-97b4b06713c1" providerId="ADAL" clId="{7C667766-2FCF-40F3-8A9D-D8AC9F2A91F4}" dt="2026-09-20T07:00:05.889" v="0" actId="26606"/>
        <pc:sldMkLst>
          <pc:docMk/>
          <pc:sldMk cId="0" sldId="261"/>
        </pc:sldMkLst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1"/>
            <ac:spMk id="6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1"/>
            <ac:spMk id="10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1"/>
            <ac:spMk id="14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1"/>
            <ac:spMk id="15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1"/>
            <ac:spMk id="16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1"/>
            <ac:spMk id="17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1"/>
            <ac:spMk id="19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1"/>
            <ac:spMk id="20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1"/>
            <ac:spMk id="24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1"/>
            <ac:spMk id="26" creationId="{00000000-0000-0000-0000-000000000000}"/>
          </ac:spMkLst>
        </pc:spChg>
      </pc:sldChg>
      <pc:sldChg chg="addSp modSp mod modNotes">
        <pc:chgData name="Ashish Thakkar" userId="6e58673d-92b4-4af7-8e65-97b4b06713c1" providerId="ADAL" clId="{7C667766-2FCF-40F3-8A9D-D8AC9F2A91F4}" dt="2026-09-20T07:00:05.889" v="0" actId="26606"/>
        <pc:sldMkLst>
          <pc:docMk/>
          <pc:sldMk cId="0" sldId="262"/>
        </pc:sldMkLst>
        <pc:spChg chg="mo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2"/>
            <ac:spMk id="5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2"/>
            <ac:spMk id="6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2"/>
            <ac:spMk id="10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2"/>
            <ac:spMk id="15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2"/>
            <ac:spMk id="18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2"/>
            <ac:spMk id="19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2"/>
            <ac:spMk id="22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2"/>
            <ac:spMk id="27" creationId="{00000000-0000-0000-0000-000000000000}"/>
          </ac:spMkLst>
        </pc:spChg>
      </pc:sldChg>
      <pc:sldChg chg="addSp modSp mod modNotes">
        <pc:chgData name="Ashish Thakkar" userId="6e58673d-92b4-4af7-8e65-97b4b06713c1" providerId="ADAL" clId="{7C667766-2FCF-40F3-8A9D-D8AC9F2A91F4}" dt="2026-09-20T07:00:05.889" v="0" actId="26606"/>
        <pc:sldMkLst>
          <pc:docMk/>
          <pc:sldMk cId="0" sldId="263"/>
        </pc:sldMkLst>
        <pc:spChg chg="mo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3"/>
            <ac:spMk id="5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3"/>
            <ac:spMk id="6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3"/>
            <ac:spMk id="8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3"/>
            <ac:spMk id="10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3"/>
            <ac:spMk id="12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3"/>
            <ac:spMk id="13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3"/>
            <ac:spMk id="16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3"/>
            <ac:spMk id="17" creationId="{00000000-0000-0000-0000-000000000000}"/>
          </ac:spMkLst>
        </pc:spChg>
      </pc:sldChg>
      <pc:sldChg chg="addSp modSp mod modNotes">
        <pc:chgData name="Ashish Thakkar" userId="6e58673d-92b4-4af7-8e65-97b4b06713c1" providerId="ADAL" clId="{7C667766-2FCF-40F3-8A9D-D8AC9F2A91F4}" dt="2026-09-20T07:00:05.889" v="0" actId="26606"/>
        <pc:sldMkLst>
          <pc:docMk/>
          <pc:sldMk cId="0" sldId="264"/>
        </pc:sldMkLst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4"/>
            <ac:spMk id="5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4"/>
            <ac:spMk id="6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4"/>
            <ac:spMk id="10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4"/>
            <ac:spMk id="13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4"/>
            <ac:spMk id="14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4"/>
            <ac:spMk id="25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4"/>
            <ac:spMk id="29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4"/>
            <ac:spMk id="30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4"/>
            <ac:spMk id="34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4"/>
            <ac:spMk id="44" creationId="{00000000-0000-0000-0000-000000000000}"/>
          </ac:spMkLst>
        </pc:spChg>
      </pc:sldChg>
      <pc:sldChg chg="addSp modSp mod modNotes">
        <pc:chgData name="Ashish Thakkar" userId="6e58673d-92b4-4af7-8e65-97b4b06713c1" providerId="ADAL" clId="{7C667766-2FCF-40F3-8A9D-D8AC9F2A91F4}" dt="2026-09-20T07:00:05.889" v="0" actId="26606"/>
        <pc:sldMkLst>
          <pc:docMk/>
          <pc:sldMk cId="0" sldId="265"/>
        </pc:sldMkLst>
        <pc:spChg chg="mo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5"/>
            <ac:spMk id="4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5"/>
            <ac:spMk id="5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5"/>
            <ac:spMk id="8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5"/>
            <ac:spMk id="12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5"/>
            <ac:spMk id="17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5"/>
            <ac:spMk id="18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5"/>
            <ac:spMk id="26" creationId="{00000000-0000-0000-0000-000000000000}"/>
          </ac:spMkLst>
        </pc:spChg>
        <pc:spChg chg="add">
          <ac:chgData name="Ashish Thakkar" userId="6e58673d-92b4-4af7-8e65-97b4b06713c1" providerId="ADAL" clId="{7C667766-2FCF-40F3-8A9D-D8AC9F2A91F4}" dt="2026-09-20T07:00:05.889" v="0" actId="26606"/>
          <ac:spMkLst>
            <pc:docMk/>
            <pc:sldMk cId="0" sldId="265"/>
            <ac:spMk id="29" creationId="{00000000-0000-0000-0000-000000000000}"/>
          </ac:spMkLst>
        </pc:spChg>
      </pc:sldChg>
      <pc:sldChg chg="add">
        <pc:chgData name="Ashish Thakkar" userId="6e58673d-92b4-4af7-8e65-97b4b06713c1" providerId="ADAL" clId="{7C667766-2FCF-40F3-8A9D-D8AC9F2A91F4}" dt="2026-09-20T07:00:05.889" v="0" actId="26606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757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731520" y="65836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300" b="1" i="0" spc="120">
                <a:solidFill>
                  <a:srgbClr val="13B8A6"/>
                </a:solidFill>
                <a:latin typeface="Aptos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61872"/>
            <a:ext cx="667512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Aptos Display"/>
              </a:rPr>
              <a:t>Inventory Management
&amp; Approval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044952"/>
            <a:ext cx="1051560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346704"/>
            <a:ext cx="5669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ABC &amp; Co Mobile 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22191"/>
            <a:ext cx="6309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DE4EE"/>
                </a:solidFill>
                <a:latin typeface="Aptos"/>
              </a:rPr>
              <a:t>Centralized stock control, approvals and management reporting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5138928"/>
            <a:ext cx="5715000" cy="0"/>
          </a:xfrm>
          <a:prstGeom prst="line">
            <a:avLst/>
          </a:prstGeom>
          <a:ln w="10160">
            <a:solidFill>
              <a:srgbClr val="5D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5367528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3B8A6"/>
                </a:solidFill>
                <a:latin typeface="Aptos"/>
              </a:rPr>
              <a:t>PREPARED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528523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>
                <a:solidFill>
                  <a:srgbClr val="FFFFFF"/>
                </a:solidFill>
                <a:latin typeface="Aptos"/>
              </a:rPr>
              <a:t>Ashishkumar </a:t>
            </a:r>
            <a:r>
              <a:rPr sz="1800" b="1" i="0" dirty="0" err="1">
                <a:solidFill>
                  <a:srgbClr val="FFFFFF"/>
                </a:solidFill>
                <a:latin typeface="Aptos"/>
              </a:rPr>
              <a:t>Rameshbhai</a:t>
            </a:r>
            <a:r>
              <a:rPr sz="1800" b="1" i="0" dirty="0">
                <a:solidFill>
                  <a:srgbClr val="FFFFFF"/>
                </a:solidFill>
                <a:latin typeface="Aptos"/>
              </a:rPr>
              <a:t> Thakkar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5650992"/>
            <a:ext cx="47548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DE4EE"/>
                </a:solidFill>
                <a:latin typeface="Aptos"/>
              </a:rPr>
              <a:t>AICA Level 2 Participant  •  Ahmedabad Batch L2B88</a:t>
            </a:r>
          </a:p>
        </p:txBody>
      </p:sp>
      <p:sp>
        <p:nvSpPr>
          <p:cNvPr id="12" name="Oval 11"/>
          <p:cNvSpPr/>
          <p:nvPr/>
        </p:nvSpPr>
        <p:spPr>
          <a:xfrm>
            <a:off x="8595360" y="960120"/>
            <a:ext cx="2423160" cy="2423160"/>
          </a:xfrm>
          <a:prstGeom prst="ellipse">
            <a:avLst/>
          </a:prstGeom>
          <a:noFill/>
          <a:ln w="254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418320" y="1874519"/>
            <a:ext cx="1417320" cy="1417320"/>
          </a:xfrm>
          <a:prstGeom prst="ellipse">
            <a:avLst/>
          </a:prstGeom>
          <a:noFill/>
          <a:ln w="2540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101583" y="3913632"/>
            <a:ext cx="164592" cy="164592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835640" y="1170432"/>
            <a:ext cx="146304" cy="146304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893808" y="4828032"/>
            <a:ext cx="109728" cy="109728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 flipV="1">
            <a:off x="8229600" y="2606040"/>
            <a:ext cx="1810512" cy="1389888"/>
          </a:xfrm>
          <a:prstGeom prst="line">
            <a:avLst/>
          </a:prstGeom>
          <a:ln w="12700">
            <a:solidFill>
              <a:srgbClr val="5D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131552" y="1316736"/>
            <a:ext cx="749808" cy="1261872"/>
          </a:xfrm>
          <a:prstGeom prst="line">
            <a:avLst/>
          </a:prstGeom>
          <a:ln w="12700">
            <a:solidFill>
              <a:srgbClr val="5D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8503920" y="38404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D6B82"/>
                </a:solidFill>
                <a:latin typeface="Aptos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56616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BFF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82338"/>
                </a:solidFill>
                <a:latin typeface="Aptos Display"/>
              </a:rPr>
              <a:t>The business needs one operating view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069848"/>
            <a:ext cx="1216151" cy="0"/>
          </a:xfrm>
          <a:prstGeom prst="line">
            <a:avLst/>
          </a:prstGeom>
          <a:ln w="381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1444752"/>
            <a:ext cx="105613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338"/>
                </a:solidFill>
                <a:latin typeface="Aptos Display"/>
              </a:rPr>
              <a:t>ABC &amp; Co’s expanding product range and store operations now require a centralized system to keep inventory, users, approvals and performance visible in one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895344"/>
            <a:ext cx="4389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6BFF"/>
                </a:solidFill>
                <a:latin typeface="Aptos Display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407408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D6B82"/>
                </a:solidFill>
                <a:latin typeface="Aptos"/>
              </a:rPr>
              <a:t>GROWING PORTFOLIO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828032"/>
            <a:ext cx="3154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2338"/>
                </a:solidFill>
                <a:latin typeface="Aptos"/>
              </a:rPr>
              <a:t>Mobile phones, tablets, smart watches and accessories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13048" y="3886200"/>
            <a:ext cx="0" cy="1874520"/>
          </a:xfrm>
          <a:prstGeom prst="line">
            <a:avLst/>
          </a:prstGeom>
          <a:ln w="1270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0" y="3895344"/>
            <a:ext cx="4389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6BFF"/>
                </a:solidFill>
                <a:latin typeface="Aptos Display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407408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D6B82"/>
                </a:solidFill>
                <a:latin typeface="Aptos"/>
              </a:rPr>
              <a:t>OPERATIONAL 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828032"/>
            <a:ext cx="3154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2338"/>
                </a:solidFill>
                <a:latin typeface="Aptos"/>
              </a:rPr>
              <a:t>Stock, users and approvals across stores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78040" y="3886200"/>
            <a:ext cx="0" cy="1874520"/>
          </a:xfrm>
          <a:prstGeom prst="line">
            <a:avLst/>
          </a:prstGeom>
          <a:ln w="1270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26679" y="3895344"/>
            <a:ext cx="4389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6BFF"/>
                </a:solidFill>
                <a:latin typeface="Aptos Display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407408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D6B82"/>
                </a:solidFill>
                <a:latin typeface="Aptos"/>
              </a:rPr>
              <a:t>MANAGEMENT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828032"/>
            <a:ext cx="3154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2338"/>
                </a:solidFill>
                <a:latin typeface="Aptos"/>
              </a:rPr>
              <a:t>Faster access to inventory and performance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19672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82"/>
                </a:solidFill>
                <a:latin typeface="Aptos"/>
              </a:rPr>
              <a:t>ABC &amp; Co | Inventory Management &amp; Approval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8503920" y="38404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D6B82"/>
                </a:solidFill>
                <a:latin typeface="Aptos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56616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BFF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82338"/>
                </a:solidFill>
                <a:latin typeface="Aptos Display"/>
              </a:rPr>
              <a:t>Manual processes create six control gaps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069848"/>
            <a:ext cx="1216151" cy="0"/>
          </a:xfrm>
          <a:prstGeom prst="line">
            <a:avLst/>
          </a:prstGeom>
          <a:ln w="381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1353312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D6B82"/>
                </a:solidFill>
                <a:latin typeface="Aptos"/>
              </a:rPr>
              <a:t>The current approach limits traceability, speed and confidence in inventory decisions.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103120"/>
            <a:ext cx="384048" cy="38404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84831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2338"/>
                </a:solidFill>
                <a:latin typeface="Aptos"/>
              </a:rPr>
              <a:t>Manual stock tracking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71600" y="2743200"/>
            <a:ext cx="4389120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77240" y="3310127"/>
            <a:ext cx="384048" cy="38404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31012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91839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2338"/>
                </a:solidFill>
                <a:latin typeface="Aptos"/>
              </a:rPr>
              <a:t>Difficulty tracking IMEI / serial numbers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71600" y="3950207"/>
            <a:ext cx="4389120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77240" y="4517136"/>
            <a:ext cx="384048" cy="38404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5171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98848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2338"/>
                </a:solidFill>
                <a:latin typeface="Aptos"/>
              </a:rPr>
              <a:t>Lack of approval workflow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71600" y="5157216"/>
            <a:ext cx="4389120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28231" y="2103120"/>
            <a:ext cx="384048" cy="384048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1" y="21031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084831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82338"/>
                </a:solidFill>
                <a:latin typeface="Aptos"/>
              </a:rPr>
              <a:t>Limited inventory visibility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22592" y="2743200"/>
            <a:ext cx="4389120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428231" y="3310127"/>
            <a:ext cx="384048" cy="384048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1" y="331012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3291839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2338"/>
                </a:solidFill>
                <a:latin typeface="Aptos"/>
              </a:rPr>
              <a:t>Delayed management reporting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22592" y="3950207"/>
            <a:ext cx="4389120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428231" y="4517136"/>
            <a:ext cx="384048" cy="384048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8231" y="45171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4498848"/>
            <a:ext cx="4663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82338"/>
                </a:solidFill>
                <a:latin typeface="Aptos"/>
              </a:rPr>
              <a:t>Risk of stock variance and leakage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22592" y="5157216"/>
            <a:ext cx="4389120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108192" y="2057400"/>
            <a:ext cx="0" cy="3721608"/>
          </a:xfrm>
          <a:prstGeom prst="line">
            <a:avLst/>
          </a:prstGeom>
          <a:ln w="1270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6519672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82"/>
                </a:solidFill>
                <a:latin typeface="Aptos"/>
              </a:rPr>
              <a:t>ABC &amp; Co | Inventory Management &amp; Approval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8503920" y="38404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D6B82"/>
                </a:solidFill>
                <a:latin typeface="Aptos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56616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BFF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82338"/>
                </a:solidFill>
                <a:latin typeface="Aptos Display"/>
              </a:rPr>
              <a:t>A unified platform closes the control gap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069848"/>
            <a:ext cx="1216151" cy="0"/>
          </a:xfrm>
          <a:prstGeom prst="line">
            <a:avLst/>
          </a:prstGeom>
          <a:ln w="381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1371600"/>
            <a:ext cx="106527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338"/>
                </a:solidFill>
                <a:latin typeface="Aptos Display"/>
              </a:rPr>
              <a:t>Build a single, scalable Inventory Management System that connects access, approvals, stock monitoring and reporting — with a mobile-friendly experience.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80160" y="3840480"/>
            <a:ext cx="9601200" cy="0"/>
          </a:xfrm>
          <a:prstGeom prst="line">
            <a:avLst/>
          </a:prstGeom>
          <a:ln w="3810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43000" y="3264408"/>
            <a:ext cx="1170432" cy="117043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264408"/>
            <a:ext cx="1170432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617720"/>
            <a:ext cx="20574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338"/>
                </a:solidFill>
                <a:latin typeface="Aptos"/>
              </a:rPr>
              <a:t>ROLE-BASED
ACCESS</a:t>
            </a:r>
          </a:p>
        </p:txBody>
      </p:sp>
      <p:sp>
        <p:nvSpPr>
          <p:cNvPr id="13" name="Oval 12"/>
          <p:cNvSpPr/>
          <p:nvPr/>
        </p:nvSpPr>
        <p:spPr>
          <a:xfrm>
            <a:off x="4023360" y="3264408"/>
            <a:ext cx="1170432" cy="1170432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0" y="3264408"/>
            <a:ext cx="1170432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4617720"/>
            <a:ext cx="20574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338"/>
                </a:solidFill>
                <a:latin typeface="Aptos"/>
              </a:rPr>
              <a:t>APPROVAL
WORKFLOW</a:t>
            </a:r>
          </a:p>
        </p:txBody>
      </p:sp>
      <p:sp>
        <p:nvSpPr>
          <p:cNvPr id="16" name="Oval 15"/>
          <p:cNvSpPr/>
          <p:nvPr/>
        </p:nvSpPr>
        <p:spPr>
          <a:xfrm>
            <a:off x="6903720" y="3264408"/>
            <a:ext cx="1170432" cy="1170432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03720" y="3264408"/>
            <a:ext cx="1170432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4617720"/>
            <a:ext cx="20574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338"/>
                </a:solidFill>
                <a:latin typeface="Aptos"/>
              </a:rPr>
              <a:t>STOCK
MONITORING</a:t>
            </a:r>
          </a:p>
        </p:txBody>
      </p:sp>
      <p:sp>
        <p:nvSpPr>
          <p:cNvPr id="19" name="Oval 18"/>
          <p:cNvSpPr/>
          <p:nvPr/>
        </p:nvSpPr>
        <p:spPr>
          <a:xfrm>
            <a:off x="9784080" y="3264408"/>
            <a:ext cx="1170432" cy="117043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0" y="3264408"/>
            <a:ext cx="1170432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7" y="4617720"/>
            <a:ext cx="20574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338"/>
                </a:solidFill>
                <a:latin typeface="Aptos"/>
              </a:rPr>
              <a:t>DASHBOARD &amp;
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9392" y="574243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D6B82"/>
                </a:solidFill>
                <a:latin typeface="Aptos"/>
              </a:rPr>
              <a:t>ONE SCALABLE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19672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82"/>
                </a:solidFill>
                <a:latin typeface="Aptos"/>
              </a:rPr>
              <a:t>ABC &amp; Co | Inventory Management &amp; Approval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8503920" y="38404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D6B82"/>
                </a:solidFill>
                <a:latin typeface="Aptos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56616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BFF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82338"/>
                </a:solidFill>
                <a:latin typeface="Aptos Display"/>
              </a:rPr>
              <a:t>Eight capabilities anchor the first release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069848"/>
            <a:ext cx="1216151" cy="0"/>
          </a:xfrm>
          <a:prstGeom prst="line">
            <a:avLst/>
          </a:prstGeom>
          <a:ln w="381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1353312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D6B82"/>
                </a:solidFill>
                <a:latin typeface="Aptos"/>
              </a:rPr>
              <a:t>The proposed scope covers the core data, transaction and reporting needs of store operations.</a:t>
            </a:r>
          </a:p>
        </p:txBody>
      </p:sp>
      <p:sp>
        <p:nvSpPr>
          <p:cNvPr id="9" name="Oval 8"/>
          <p:cNvSpPr/>
          <p:nvPr/>
        </p:nvSpPr>
        <p:spPr>
          <a:xfrm>
            <a:off x="804672" y="2011680"/>
            <a:ext cx="384048" cy="38404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0116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93392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2338"/>
                </a:solidFill>
                <a:latin typeface="Aptos"/>
              </a:rPr>
              <a:t>User &amp; Role Management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08176" y="2542032"/>
            <a:ext cx="4352544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04672" y="2926080"/>
            <a:ext cx="384048" cy="38404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9260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2907792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82338"/>
                </a:solidFill>
                <a:latin typeface="Aptos"/>
              </a:rPr>
              <a:t>Item Master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08176" y="3456432"/>
            <a:ext cx="4352544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04672" y="3840480"/>
            <a:ext cx="384048" cy="38404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8404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3822192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82338"/>
                </a:solidFill>
                <a:latin typeface="Aptos"/>
              </a:rPr>
              <a:t>Supplier Master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08176" y="4370832"/>
            <a:ext cx="4352544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4672" y="4754880"/>
            <a:ext cx="384048" cy="384048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7548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6" y="4736592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82338"/>
                </a:solidFill>
                <a:latin typeface="Aptos"/>
              </a:rPr>
              <a:t>Stock In / Stock Out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08176" y="5285232"/>
            <a:ext cx="4352544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428232" y="2011680"/>
            <a:ext cx="384048" cy="384048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2" y="20116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1736" y="1993392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2338"/>
                </a:solidFill>
                <a:latin typeface="Aptos"/>
              </a:rPr>
              <a:t>Warehouse Management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31736" y="2542032"/>
            <a:ext cx="4352544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428232" y="2926080"/>
            <a:ext cx="384048" cy="384048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8232" y="29260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31736" y="2907792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82338"/>
                </a:solidFill>
                <a:latin typeface="Aptos"/>
              </a:rPr>
              <a:t>Approval Workflow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31736" y="3456432"/>
            <a:ext cx="4352544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428232" y="3840480"/>
            <a:ext cx="384048" cy="384048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28232" y="38404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31736" y="3822192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82338"/>
                </a:solidFill>
                <a:latin typeface="Aptos"/>
              </a:rPr>
              <a:t>Dashboard &amp; Reports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31736" y="4370832"/>
            <a:ext cx="4352544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428232" y="4754880"/>
            <a:ext cx="384048" cy="384048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28232" y="47548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31736" y="4736592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82338"/>
                </a:solidFill>
                <a:latin typeface="Aptos"/>
              </a:rPr>
              <a:t>Excel &amp; PDF Export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031736" y="5285232"/>
            <a:ext cx="4352544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089904" y="1920240"/>
            <a:ext cx="0" cy="3822192"/>
          </a:xfrm>
          <a:prstGeom prst="line">
            <a:avLst/>
          </a:prstGeom>
          <a:ln w="1270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8" y="6519672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82"/>
                </a:solidFill>
                <a:latin typeface="Aptos"/>
              </a:rPr>
              <a:t>ABC &amp; Co | Inventory Management &amp; Approval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8503920" y="38404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D6B82"/>
                </a:solidFill>
                <a:latin typeface="Aptos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56616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BFF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82338"/>
                </a:solidFill>
                <a:latin typeface="Aptos Display"/>
              </a:rPr>
              <a:t>A clear four-stage approval path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069848"/>
            <a:ext cx="1216151" cy="0"/>
          </a:xfrm>
          <a:prstGeom prst="line">
            <a:avLst/>
          </a:prstGeom>
          <a:ln w="381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1353312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D6B82"/>
                </a:solidFill>
                <a:latin typeface="Aptos"/>
              </a:rPr>
              <a:t>Each transaction advances only after the required authorization is complete.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17320" y="3246120"/>
            <a:ext cx="9326880" cy="0"/>
          </a:xfrm>
          <a:prstGeom prst="line">
            <a:avLst/>
          </a:prstGeom>
          <a:ln w="5080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05840" y="2633472"/>
            <a:ext cx="1225296" cy="122529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33472"/>
            <a:ext cx="1225296" cy="12252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142232"/>
            <a:ext cx="208483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338"/>
                </a:solidFill>
                <a:latin typeface="Aptos"/>
              </a:rPr>
              <a:t>STORE
EXECUTIVE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480060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B82"/>
                </a:solidFill>
                <a:latin typeface="Aptos"/>
              </a:rPr>
              <a:t>Initiates transaction</a:t>
            </a:r>
          </a:p>
        </p:txBody>
      </p:sp>
      <p:sp>
        <p:nvSpPr>
          <p:cNvPr id="14" name="Oval 13"/>
          <p:cNvSpPr/>
          <p:nvPr/>
        </p:nvSpPr>
        <p:spPr>
          <a:xfrm>
            <a:off x="3886200" y="2633472"/>
            <a:ext cx="1225296" cy="1225296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86200" y="2633472"/>
            <a:ext cx="1225296" cy="12252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4142232"/>
            <a:ext cx="208483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338"/>
                </a:solidFill>
                <a:latin typeface="Aptos"/>
              </a:rPr>
              <a:t>MANAGER
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480060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B82"/>
                </a:solidFill>
                <a:latin typeface="Aptos"/>
              </a:rPr>
              <a:t>Reviews and approves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0" y="2633472"/>
            <a:ext cx="1225296" cy="1225296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2633472"/>
            <a:ext cx="1225296" cy="12252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4142232"/>
            <a:ext cx="208483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338"/>
                </a:solidFill>
                <a:latin typeface="Aptos"/>
              </a:rPr>
              <a:t>OWNER
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480060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B82"/>
                </a:solidFill>
                <a:latin typeface="Aptos"/>
              </a:rPr>
              <a:t>Only when required</a:t>
            </a:r>
          </a:p>
        </p:txBody>
      </p:sp>
      <p:sp>
        <p:nvSpPr>
          <p:cNvPr id="22" name="Oval 21"/>
          <p:cNvSpPr/>
          <p:nvPr/>
        </p:nvSpPr>
        <p:spPr>
          <a:xfrm>
            <a:off x="9646919" y="2633472"/>
            <a:ext cx="1225296" cy="122529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46919" y="2633472"/>
            <a:ext cx="1225296" cy="12252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1" y="4142232"/>
            <a:ext cx="208483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338"/>
                </a:solidFill>
                <a:latin typeface="Aptos"/>
              </a:rPr>
              <a:t>TRANSACTION
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480060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B82"/>
                </a:solidFill>
                <a:latin typeface="Aptos"/>
              </a:rPr>
              <a:t>Updates inventory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19672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82"/>
                </a:solidFill>
                <a:latin typeface="Aptos"/>
              </a:rPr>
              <a:t>ABC &amp; Co | Inventory Management &amp; Approval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8503920" y="38404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D6B82"/>
                </a:solidFill>
                <a:latin typeface="Aptos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56616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BFF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82338"/>
                </a:solidFill>
                <a:latin typeface="Aptos Display"/>
              </a:rPr>
              <a:t>A practical stack for desktop and web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069848"/>
            <a:ext cx="1216151" cy="0"/>
          </a:xfrm>
          <a:prstGeom prst="line">
            <a:avLst/>
          </a:prstGeom>
          <a:ln w="381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1353312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D6B82"/>
                </a:solidFill>
                <a:latin typeface="Aptos"/>
              </a:rPr>
              <a:t>A modern service layer and proven reporting tools keep the solution modular and scalable.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6BFF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1911096"/>
            <a:ext cx="7406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2338"/>
                </a:solidFill>
                <a:latin typeface="Aptos"/>
              </a:rPr>
              <a:t>Flet / Responsive HTML UI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340864"/>
            <a:ext cx="10351008" cy="0"/>
          </a:xfrm>
          <a:prstGeom prst="line">
            <a:avLst/>
          </a:prstGeom>
          <a:ln w="889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505456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6BFF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478024"/>
            <a:ext cx="7406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2338"/>
                </a:solidFill>
                <a:latin typeface="Aptos"/>
              </a:rPr>
              <a:t>FastAPI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2907792"/>
            <a:ext cx="10351008" cy="0"/>
          </a:xfrm>
          <a:prstGeom prst="line">
            <a:avLst/>
          </a:prstGeom>
          <a:ln w="889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3072384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6BFF"/>
                </a:solidFill>
                <a:latin typeface="Aptos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3044952"/>
            <a:ext cx="7406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2338"/>
                </a:solidFill>
                <a:latin typeface="Aptos"/>
              </a:rPr>
              <a:t>PostgreSQL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74720"/>
            <a:ext cx="10351008" cy="0"/>
          </a:xfrm>
          <a:prstGeom prst="line">
            <a:avLst/>
          </a:prstGeom>
          <a:ln w="889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3639312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6BFF"/>
                </a:solidFill>
                <a:latin typeface="Aptos"/>
              </a:rPr>
              <a:t>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3611880"/>
            <a:ext cx="7406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2338"/>
                </a:solidFill>
                <a:latin typeface="Aptos"/>
              </a:rPr>
              <a:t>JWT &amp; RBAC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41648"/>
            <a:ext cx="10351008" cy="0"/>
          </a:xfrm>
          <a:prstGeom prst="line">
            <a:avLst/>
          </a:prstGeom>
          <a:ln w="889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4206240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3B8A6"/>
                </a:solidFill>
                <a:latin typeface="Aptos"/>
              </a:rPr>
              <a:t>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4178807"/>
            <a:ext cx="7406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2338"/>
                </a:solidFill>
                <a:latin typeface="Aptos"/>
              </a:rPr>
              <a:t>Pandas + OpenPyXL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4608576"/>
            <a:ext cx="10351008" cy="0"/>
          </a:xfrm>
          <a:prstGeom prst="line">
            <a:avLst/>
          </a:prstGeom>
          <a:ln w="889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477316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3B8A6"/>
                </a:solidFill>
                <a:latin typeface="Aptos"/>
              </a:rPr>
              <a:t>PDF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4745736"/>
            <a:ext cx="7406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2338"/>
                </a:solidFill>
                <a:latin typeface="Aptos"/>
              </a:rPr>
              <a:t>ReportLab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5175504"/>
            <a:ext cx="10351008" cy="0"/>
          </a:xfrm>
          <a:prstGeom prst="line">
            <a:avLst/>
          </a:prstGeom>
          <a:ln w="889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" y="5340096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3B8A6"/>
                </a:solidFill>
                <a:latin typeface="Aptos"/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432" y="5312664"/>
            <a:ext cx="74066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2338"/>
                </a:solidFill>
                <a:latin typeface="Aptos"/>
              </a:rPr>
              <a:t>Windows EXE + Web Access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960" y="5742432"/>
            <a:ext cx="10351008" cy="0"/>
          </a:xfrm>
          <a:prstGeom prst="line">
            <a:avLst/>
          </a:prstGeom>
          <a:ln w="889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6519672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82"/>
                </a:solidFill>
                <a:latin typeface="Aptos"/>
              </a:rPr>
              <a:t>ABC &amp; Co | Inventory Management &amp; Approval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8503920" y="38404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D6B82"/>
                </a:solidFill>
                <a:latin typeface="Apto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56616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BFF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82338"/>
                </a:solidFill>
                <a:latin typeface="Aptos Display"/>
              </a:rPr>
              <a:t>Four layers connect users and inventory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069848"/>
            <a:ext cx="1216151" cy="0"/>
          </a:xfrm>
          <a:prstGeom prst="line">
            <a:avLst/>
          </a:prstGeom>
          <a:ln w="381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1353312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D6B82"/>
                </a:solidFill>
                <a:latin typeface="Aptos"/>
              </a:rPr>
              <a:t>The architecture separates experience, application logic, services and data for easier control and growth.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9048" y="2468880"/>
            <a:ext cx="0" cy="2999232"/>
          </a:xfrm>
          <a:prstGeom prst="line">
            <a:avLst/>
          </a:prstGeom>
          <a:ln w="25400">
            <a:solidFill>
              <a:srgbClr val="5D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118207" y="2057400"/>
            <a:ext cx="7955279" cy="69494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37663" y="2148840"/>
            <a:ext cx="3500323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7636" y="2139696"/>
            <a:ext cx="37764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Admin  •  Store  •  Manager  •  Owner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52547" y="2980944"/>
            <a:ext cx="7086600" cy="694944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72003" y="3072384"/>
            <a:ext cx="311810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INVENTORY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2383" y="3063239"/>
            <a:ext cx="33421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Operational interface and workflow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86887" y="3904487"/>
            <a:ext cx="6217920" cy="694944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6343" y="3995927"/>
            <a:ext cx="27358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FASTAPI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7130" y="3986783"/>
            <a:ext cx="290779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Business rules, security and integrations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1227" y="4828032"/>
            <a:ext cx="5349240" cy="694944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40683" y="4919472"/>
            <a:ext cx="235366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POSTGRESQL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1878" y="4910328"/>
            <a:ext cx="247345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Inventory and transaction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19672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82"/>
                </a:solidFill>
                <a:latin typeface="Aptos"/>
              </a:rPr>
              <a:t>ABC &amp; Co | Inventory Management &amp; Approval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8503920" y="38404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D6B82"/>
                </a:solidFill>
                <a:latin typeface="Aptos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56616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BFF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82338"/>
                </a:solidFill>
                <a:latin typeface="Aptos Display"/>
              </a:rPr>
              <a:t>Phase 1 delivers the operational core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069848"/>
            <a:ext cx="1216151" cy="0"/>
          </a:xfrm>
          <a:prstGeom prst="line">
            <a:avLst/>
          </a:prstGeom>
          <a:ln w="381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1353312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D6B82"/>
                </a:solidFill>
                <a:latin typeface="Aptos"/>
              </a:rPr>
              <a:t>The first release establishes secure access, master data, stock movement, approvals and reporting.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029968"/>
            <a:ext cx="347472" cy="347472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0208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002536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2338"/>
                </a:solidFill>
                <a:latin typeface="Aptos"/>
              </a:rPr>
              <a:t>Login &amp; Security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35607" y="2532888"/>
            <a:ext cx="4279393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68680" y="2926080"/>
            <a:ext cx="347472" cy="347472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9169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2898648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82338"/>
                </a:solidFill>
                <a:latin typeface="Aptos"/>
              </a:rPr>
              <a:t>User Management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35607" y="3429000"/>
            <a:ext cx="4279393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68680" y="3822191"/>
            <a:ext cx="347472" cy="347472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81304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7" y="3794759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82338"/>
                </a:solidFill>
                <a:latin typeface="Aptos"/>
              </a:rPr>
              <a:t>Item Master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35607" y="4325112"/>
            <a:ext cx="4279393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68680" y="4718304"/>
            <a:ext cx="347472" cy="347472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7091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5607" y="4690872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82338"/>
                </a:solidFill>
                <a:latin typeface="Aptos"/>
              </a:rPr>
              <a:t>Supplier Master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35607" y="5221224"/>
            <a:ext cx="4279393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400800" y="2029968"/>
            <a:ext cx="347472" cy="347472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20208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2002536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2338"/>
                </a:solidFill>
                <a:latin typeface="Aptos"/>
              </a:rPr>
              <a:t>Stock Transactions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67728" y="2532888"/>
            <a:ext cx="4279392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400800" y="2926080"/>
            <a:ext cx="347472" cy="347472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29169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2898648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82338"/>
                </a:solidFill>
                <a:latin typeface="Aptos"/>
              </a:rPr>
              <a:t>Approval Flow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967728" y="3429000"/>
            <a:ext cx="4279392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400800" y="3822191"/>
            <a:ext cx="347472" cy="347472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381304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794759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82338"/>
                </a:solidFill>
                <a:latin typeface="Aptos"/>
              </a:rPr>
              <a:t>Dashboard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967728" y="4325112"/>
            <a:ext cx="4279392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400800" y="4718304"/>
            <a:ext cx="347472" cy="347472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47091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4690872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82338"/>
                </a:solidFill>
                <a:latin typeface="Aptos"/>
              </a:rPr>
              <a:t>Reports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967728" y="5221224"/>
            <a:ext cx="4279392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071616" y="1920240"/>
            <a:ext cx="0" cy="3794760"/>
          </a:xfrm>
          <a:prstGeom prst="line">
            <a:avLst/>
          </a:prstGeom>
          <a:ln w="1270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68680" y="5870448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BFF"/>
                </a:solidFill>
                <a:latin typeface="Aptos"/>
              </a:rPr>
              <a:t>SECURE FOUNDATION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87044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3B8A6"/>
                </a:solidFill>
                <a:latin typeface="Aptos"/>
              </a:rPr>
              <a:t>ACTIONABLE VISIBILITY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519672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82"/>
                </a:solidFill>
                <a:latin typeface="Aptos"/>
              </a:rPr>
              <a:t>ABC &amp; Co | Inventory Management &amp; Approval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8503920" y="38404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D6B82"/>
                </a:solidFill>
                <a:latin typeface="Aptos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56616"/>
            <a:ext cx="3840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6BFF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82338"/>
                </a:solidFill>
                <a:latin typeface="Aptos Display"/>
              </a:rPr>
              <a:t>One system tightens operational control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069848"/>
            <a:ext cx="1216151" cy="0"/>
          </a:xfrm>
          <a:prstGeom prst="line">
            <a:avLst/>
          </a:prstGeom>
          <a:ln w="381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04672" y="1517904"/>
            <a:ext cx="365760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2F6BFF"/>
                </a:solidFill>
                <a:latin typeface="Aptos Display"/>
              </a:rPr>
              <a:t>REAL-TIME
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18688"/>
            <a:ext cx="3474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82338"/>
                </a:solidFill>
                <a:latin typeface="Aptos"/>
              </a:rPr>
              <a:t>A unified operating view reduces manual effort, accelerates approvals and strengthens stock governance.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09160" y="1572768"/>
            <a:ext cx="0" cy="4187952"/>
          </a:xfrm>
          <a:prstGeom prst="line">
            <a:avLst/>
          </a:prstGeom>
          <a:ln w="1524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30368" y="1737360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6BFF"/>
                </a:solidFill>
                <a:latin typeface="Aptos Display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7296" y="1719072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2338"/>
                </a:solidFill>
                <a:latin typeface="Aptos"/>
              </a:rPr>
              <a:t>Reduced manual effort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30368" y="2578608"/>
            <a:ext cx="2697480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30368" y="3044952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6BFF"/>
                </a:solidFill>
                <a:latin typeface="Aptos Display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7296" y="3026664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2338"/>
                </a:solidFill>
                <a:latin typeface="Aptos"/>
              </a:rPr>
              <a:t>Faster approvals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30368" y="3886200"/>
            <a:ext cx="2697480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30368" y="4352544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6BFF"/>
                </a:solidFill>
                <a:latin typeface="Aptos Display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7296" y="4334256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2338"/>
                </a:solidFill>
                <a:latin typeface="Aptos"/>
              </a:rPr>
              <a:t>Better stock control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30368" y="5193792"/>
            <a:ext cx="2697480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385048" y="1737360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B8A6"/>
                </a:solidFill>
                <a:latin typeface="Aptos Display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1976" y="1719072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2338"/>
                </a:solidFill>
                <a:latin typeface="Aptos"/>
              </a:rPr>
              <a:t>Management dashboard insights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85048" y="2578608"/>
            <a:ext cx="2697480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85048" y="3044952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B8A6"/>
                </a:solidFill>
                <a:latin typeface="Aptos Display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1976" y="3026664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2338"/>
                </a:solidFill>
                <a:latin typeface="Aptos"/>
              </a:rPr>
              <a:t>Scalable mobile expansion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385048" y="3886200"/>
            <a:ext cx="2697480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85048" y="4352544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B8A6"/>
                </a:solidFill>
                <a:latin typeface="Aptos Display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1976" y="4334256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82338"/>
                </a:solidFill>
                <a:latin typeface="Aptos"/>
              </a:rPr>
              <a:t>Scalable web expansion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85048" y="5193792"/>
            <a:ext cx="2697480" cy="0"/>
          </a:xfrm>
          <a:prstGeom prst="line">
            <a:avLst/>
          </a:prstGeom>
          <a:ln w="10160">
            <a:solidFill>
              <a:srgbClr val="DD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6519672"/>
            <a:ext cx="6217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B82"/>
                </a:solidFill>
                <a:latin typeface="Aptos"/>
              </a:rPr>
              <a:t>ABC &amp; Co | Inventory Management &amp; Approval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749807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2212848"/>
            <a:ext cx="1298448" cy="82296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2578608"/>
            <a:ext cx="6217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ABC &amp; Co Mobile 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063240"/>
            <a:ext cx="64922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dirty="0">
                <a:solidFill>
                  <a:srgbClr val="DDE4EE"/>
                </a:solidFill>
                <a:latin typeface="Aptos"/>
              </a:rPr>
              <a:t>Inventory Management &amp; </a:t>
            </a:r>
            <a:r>
              <a:rPr sz="1800" b="0" i="0">
                <a:solidFill>
                  <a:srgbClr val="DDE4EE"/>
                </a:solidFill>
                <a:latin typeface="Aptos"/>
              </a:rPr>
              <a:t>Approval System</a:t>
            </a:r>
            <a:endParaRPr lang="en-IN" sz="1800" b="0" i="0" dirty="0">
              <a:solidFill>
                <a:srgbClr val="DDE4EE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768096" y="4251960"/>
            <a:ext cx="5742432" cy="0"/>
          </a:xfrm>
          <a:prstGeom prst="line">
            <a:avLst/>
          </a:prstGeom>
          <a:ln w="10160">
            <a:solidFill>
              <a:srgbClr val="5D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8096" y="4507992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3B8A6"/>
                </a:solidFill>
                <a:latin typeface="Aptos"/>
              </a:rPr>
              <a:t>PREPARED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425696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Ashishkumar Rameshbhai Thakkar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791456"/>
            <a:ext cx="493776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DE4EE"/>
                </a:solidFill>
                <a:latin typeface="Aptos"/>
              </a:rPr>
              <a:t>AICA Level 2 Participant  •  Ahmedabad Batch L2B88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0" y="1143000"/>
            <a:ext cx="2651760" cy="2651760"/>
          </a:xfrm>
          <a:prstGeom prst="ellipse">
            <a:avLst/>
          </a:prstGeom>
          <a:noFill/>
          <a:ln w="254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400032" y="2304288"/>
            <a:ext cx="1536192" cy="1536192"/>
          </a:xfrm>
          <a:prstGeom prst="ellipse">
            <a:avLst/>
          </a:prstGeom>
          <a:noFill/>
          <a:ln w="2540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0" y="5047488"/>
            <a:ext cx="164592" cy="164592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99648" y="1481328"/>
            <a:ext cx="137160" cy="13716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131552" y="5394960"/>
            <a:ext cx="109728" cy="109728"/>
          </a:xfrm>
          <a:prstGeom prst="ellipse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 flipV="1">
            <a:off x="8357616" y="3675887"/>
            <a:ext cx="1380744" cy="1426465"/>
          </a:xfrm>
          <a:prstGeom prst="line">
            <a:avLst/>
          </a:prstGeom>
          <a:ln w="12700">
            <a:solidFill>
              <a:srgbClr val="5D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040112" y="1627632"/>
            <a:ext cx="886968" cy="1115568"/>
          </a:xfrm>
          <a:prstGeom prst="line">
            <a:avLst/>
          </a:prstGeom>
          <a:ln w="12700">
            <a:solidFill>
              <a:srgbClr val="5D6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628</Words>
  <Application>Microsoft Office PowerPoint</Application>
  <PresentationFormat>Widescreen</PresentationFormat>
  <Paragraphs>179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Ashish Thakkar</dc:creator>
  <cp:lastModifiedBy>Ashish Thakkar</cp:lastModifiedBy>
  <cp:revision>2</cp:revision>
  <dcterms:created xsi:type="dcterms:W3CDTF">2026-09-20T06:48:20Z</dcterms:created>
  <dcterms:modified xsi:type="dcterms:W3CDTF">2026-09-20T07:06:20Z</dcterms:modified>
</cp:coreProperties>
</file>