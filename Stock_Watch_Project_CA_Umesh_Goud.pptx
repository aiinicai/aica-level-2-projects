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2" r:id="rId5"/>
    <p:sldId id="260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02D"/>
          </a:solidFill>
          <a:ln>
            <a:solidFill>
              <a:srgbClr val="06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STOCK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D3B2"/>
                </a:solidFill>
                <a:latin typeface="Aptos"/>
              </a:rPr>
              <a:t>Research • Analyse •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AI-enabled Indian stock research,
forecasting and screening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463290"/>
            <a:ext cx="1481328" cy="411480"/>
          </a:xfrm>
          <a:prstGeom prst="roundRect">
            <a:avLst/>
          </a:prstGeom>
          <a:solidFill>
            <a:srgbClr val="00B89B"/>
          </a:solidFill>
          <a:ln>
            <a:solidFill>
              <a:srgbClr val="00B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554730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Market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2576" y="3463290"/>
            <a:ext cx="1481328" cy="411480"/>
          </a:xfrm>
          <a:prstGeom prst="roundRect">
            <a:avLst/>
          </a:prstGeom>
          <a:solidFill>
            <a:srgbClr val="2670F5"/>
          </a:solidFill>
          <a:ln>
            <a:solidFill>
              <a:srgbClr val="26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3554730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Bull / Bear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3463290"/>
            <a:ext cx="1481328" cy="411480"/>
          </a:xfrm>
          <a:prstGeom prst="roundRect">
            <a:avLst/>
          </a:prstGeom>
          <a:solidFill>
            <a:srgbClr val="665AB4"/>
          </a:solidFill>
          <a:ln>
            <a:solidFill>
              <a:srgbClr val="66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86784" y="3554730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NSE Screener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4892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8BCC6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5230368"/>
            <a:ext cx="3657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CA Umesh Goud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6875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8BCC6"/>
                </a:solidFill>
                <a:latin typeface="Aptos"/>
              </a:rPr>
              <a:t>Project Submission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658368"/>
            <a:ext cx="6080760" cy="5440680"/>
          </a:xfrm>
          <a:prstGeom prst="roundRect">
            <a:avLst/>
          </a:prstGeom>
          <a:solidFill>
            <a:srgbClr val="0D3445"/>
          </a:solidFill>
          <a:ln>
            <a:solidFill>
              <a:srgbClr val="2B5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tock_watch_ap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868680"/>
            <a:ext cx="5760720" cy="4983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23760" y="568756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ECFD7"/>
                </a:solidFill>
                <a:latin typeface="Aptos"/>
              </a:rPr>
              <a:t>Working Stock Watch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202D"/>
                </a:solidFill>
                <a:latin typeface="Aptos"/>
              </a:rPr>
              <a:t>Problem statement &amp;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06F79"/>
                </a:solidFill>
                <a:latin typeface="Aptos"/>
              </a:rPr>
              <a:t>Why Stock Watch was created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9F25198A-1160-DC8D-FE31-4F73D3772051}"/>
              </a:ext>
            </a:extLst>
          </p:cNvPr>
          <p:cNvSpPr/>
          <p:nvPr/>
        </p:nvSpPr>
        <p:spPr>
          <a:xfrm>
            <a:off x="594360" y="1371600"/>
            <a:ext cx="36576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E8030-1229-65BC-075B-35FF39F4B9E7}"/>
              </a:ext>
            </a:extLst>
          </p:cNvPr>
          <p:cNvSpPr txBox="1"/>
          <p:nvPr/>
        </p:nvSpPr>
        <p:spPr>
          <a:xfrm>
            <a:off x="868680" y="16276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84646"/>
                </a:solidFill>
                <a:latin typeface="Aptos"/>
              </a:rPr>
              <a:t>THE 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C43D76-F582-6C50-A835-A7E9453968B6}"/>
              </a:ext>
            </a:extLst>
          </p:cNvPr>
          <p:cNvSpPr txBox="1"/>
          <p:nvPr/>
        </p:nvSpPr>
        <p:spPr>
          <a:xfrm>
            <a:off x="868680" y="210312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22C"/>
                </a:solidFill>
                <a:latin typeface="Aptos"/>
              </a:defRPr>
            </a:pPr>
            <a:r>
              <a:t>Market data, ratios, charts and news are spread across multiple websites.</a:t>
            </a:r>
          </a:p>
          <a:p>
            <a:pPr>
              <a:spcAft>
                <a:spcPts val="1200"/>
              </a:spcAft>
              <a:defRPr sz="1600">
                <a:solidFill>
                  <a:srgbClr val="14222C"/>
                </a:solidFill>
                <a:latin typeface="Aptos"/>
              </a:defRPr>
            </a:pPr>
            <a:r>
              <a:t>Future-price views are often difficult to verify or compare over time.</a:t>
            </a:r>
          </a:p>
          <a:p>
            <a:pPr>
              <a:spcAft>
                <a:spcPts val="1200"/>
              </a:spcAft>
              <a:defRPr sz="1600">
                <a:solidFill>
                  <a:srgbClr val="14222C"/>
                </a:solidFill>
                <a:latin typeface="Aptos"/>
              </a:defRPr>
            </a:pPr>
            <a:r>
              <a:t>Manual stock screening across NSE companies is time-consuming.</a:t>
            </a:r>
          </a:p>
          <a:p>
            <a:pPr>
              <a:spcAft>
                <a:spcPts val="1200"/>
              </a:spcAft>
              <a:defRPr sz="1600">
                <a:solidFill>
                  <a:srgbClr val="14222C"/>
                </a:solidFill>
                <a:latin typeface="Aptos"/>
              </a:defRPr>
            </a:pPr>
            <a:r>
              <a:t>Users need one place to track projections against actual market prices.</a:t>
            </a: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31CBE9B2-9D51-1FF8-4AD2-9ACFCA4B96D8}"/>
              </a:ext>
            </a:extLst>
          </p:cNvPr>
          <p:cNvSpPr/>
          <p:nvPr/>
        </p:nvSpPr>
        <p:spPr>
          <a:xfrm>
            <a:off x="4526280" y="23317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00602-1A4C-8231-FFC7-9B8EB247BD7E}"/>
              </a:ext>
            </a:extLst>
          </p:cNvPr>
          <p:cNvSpPr txBox="1"/>
          <p:nvPr/>
        </p:nvSpPr>
        <p:spPr>
          <a:xfrm>
            <a:off x="4645152" y="2423160"/>
            <a:ext cx="6583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9">
            <a:extLst>
              <a:ext uri="{FF2B5EF4-FFF2-40B4-BE49-F238E27FC236}">
                <a16:creationId xmlns:a16="http://schemas.microsoft.com/office/drawing/2014/main" id="{31BD06E9-35C9-E205-8FAA-856BF16E6D86}"/>
              </a:ext>
            </a:extLst>
          </p:cNvPr>
          <p:cNvSpPr/>
          <p:nvPr/>
        </p:nvSpPr>
        <p:spPr>
          <a:xfrm>
            <a:off x="5715000" y="1371600"/>
            <a:ext cx="5870448" cy="4800600"/>
          </a:xfrm>
          <a:prstGeom prst="roundRect">
            <a:avLst>
              <a:gd name="adj" fmla="val 8000"/>
            </a:avLst>
          </a:prstGeom>
          <a:solidFill>
            <a:srgbClr val="06202D"/>
          </a:solidFill>
          <a:ln>
            <a:solidFill>
              <a:srgbClr val="06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1587D9-0809-31A8-A7F5-0C732BF98253}"/>
              </a:ext>
            </a:extLst>
          </p:cNvPr>
          <p:cNvSpPr txBox="1"/>
          <p:nvPr/>
        </p:nvSpPr>
        <p:spPr>
          <a:xfrm>
            <a:off x="6035040" y="1627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CDAB"/>
                </a:solidFill>
                <a:latin typeface="Aptos"/>
              </a:rPr>
              <a:t>STOCK WATCH SOLUTION</a:t>
            </a:r>
          </a:p>
        </p:txBody>
      </p: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CFB8E652-1786-B0DE-7F06-A126306EA66C}"/>
              </a:ext>
            </a:extLst>
          </p:cNvPr>
          <p:cNvSpPr/>
          <p:nvPr/>
        </p:nvSpPr>
        <p:spPr>
          <a:xfrm>
            <a:off x="6053328" y="2103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0A5A83-7DBB-D9A3-4389-4FE714EC3A59}"/>
              </a:ext>
            </a:extLst>
          </p:cNvPr>
          <p:cNvSpPr txBox="1"/>
          <p:nvPr/>
        </p:nvSpPr>
        <p:spPr>
          <a:xfrm>
            <a:off x="6181344" y="2212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Live / Latest Price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411406-CC2D-EA89-CB25-4D495CEF7DED}"/>
              </a:ext>
            </a:extLst>
          </p:cNvPr>
          <p:cNvSpPr txBox="1"/>
          <p:nvPr/>
        </p:nvSpPr>
        <p:spPr>
          <a:xfrm>
            <a:off x="6181344" y="2487168"/>
            <a:ext cx="2176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9D9E0"/>
                </a:solidFill>
                <a:latin typeface="Aptos"/>
              </a:rPr>
              <a:t>Charts, OHLC, market status and timestamps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B6E76C4A-813C-C64C-962E-C428BCE64C8E}"/>
              </a:ext>
            </a:extLst>
          </p:cNvPr>
          <p:cNvSpPr/>
          <p:nvPr/>
        </p:nvSpPr>
        <p:spPr>
          <a:xfrm>
            <a:off x="8887968" y="2103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44BD71-C2AD-9E19-4DD2-1A0B2FF6B7B0}"/>
              </a:ext>
            </a:extLst>
          </p:cNvPr>
          <p:cNvSpPr txBox="1"/>
          <p:nvPr/>
        </p:nvSpPr>
        <p:spPr>
          <a:xfrm>
            <a:off x="9015984" y="2212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Bull vs Bear Forecast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6952EE-43C1-EA10-9E55-C4F134719DBB}"/>
              </a:ext>
            </a:extLst>
          </p:cNvPr>
          <p:cNvSpPr txBox="1"/>
          <p:nvPr/>
        </p:nvSpPr>
        <p:spPr>
          <a:xfrm>
            <a:off x="9015984" y="2487168"/>
            <a:ext cx="2176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9D9E0"/>
                </a:solidFill>
                <a:latin typeface="Aptos"/>
              </a:rPr>
              <a:t>Two scenarios with probabilities totalling 100%</a:t>
            </a: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0BD7B78D-FCC0-C66A-7B1B-DF3867C0B76B}"/>
              </a:ext>
            </a:extLst>
          </p:cNvPr>
          <p:cNvSpPr/>
          <p:nvPr/>
        </p:nvSpPr>
        <p:spPr>
          <a:xfrm>
            <a:off x="6053328" y="3246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25409-085D-B403-19E1-A87FCA1146BE}"/>
              </a:ext>
            </a:extLst>
          </p:cNvPr>
          <p:cNvSpPr txBox="1"/>
          <p:nvPr/>
        </p:nvSpPr>
        <p:spPr>
          <a:xfrm>
            <a:off x="6181344" y="3355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Logic &amp; Sources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27CDC5-6387-6A1B-3071-155180F87AF6}"/>
              </a:ext>
            </a:extLst>
          </p:cNvPr>
          <p:cNvSpPr txBox="1"/>
          <p:nvPr/>
        </p:nvSpPr>
        <p:spPr>
          <a:xfrm>
            <a:off x="6181344" y="3630168"/>
            <a:ext cx="2176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9D9E0"/>
                </a:solidFill>
                <a:latin typeface="Aptos"/>
              </a:rPr>
              <a:t>Model, backtest, data source and calculation trail</a:t>
            </a:r>
          </a:p>
        </p:txBody>
      </p:sp>
      <p:sp>
        <p:nvSpPr>
          <p:cNvPr id="47" name="Rounded Rectangle 20">
            <a:extLst>
              <a:ext uri="{FF2B5EF4-FFF2-40B4-BE49-F238E27FC236}">
                <a16:creationId xmlns:a16="http://schemas.microsoft.com/office/drawing/2014/main" id="{386251DA-3459-572B-11E5-C0F996A8D947}"/>
              </a:ext>
            </a:extLst>
          </p:cNvPr>
          <p:cNvSpPr/>
          <p:nvPr/>
        </p:nvSpPr>
        <p:spPr>
          <a:xfrm>
            <a:off x="8887968" y="3246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2C941B-CBEB-1D14-D36D-6695F032FCA7}"/>
              </a:ext>
            </a:extLst>
          </p:cNvPr>
          <p:cNvSpPr txBox="1"/>
          <p:nvPr/>
        </p:nvSpPr>
        <p:spPr>
          <a:xfrm>
            <a:off x="9015984" y="3355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Projection Wishlist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23B511-1901-673B-7422-2BF5ED317F54}"/>
              </a:ext>
            </a:extLst>
          </p:cNvPr>
          <p:cNvSpPr txBox="1"/>
          <p:nvPr/>
        </p:nvSpPr>
        <p:spPr>
          <a:xfrm>
            <a:off x="9015984" y="3630168"/>
            <a:ext cx="2176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9D9E0"/>
                </a:solidFill>
                <a:latin typeface="Aptos"/>
              </a:rPr>
              <a:t>Pin forecasts and compare actual vs projected</a:t>
            </a:r>
          </a:p>
        </p:txBody>
      </p:sp>
      <p:sp>
        <p:nvSpPr>
          <p:cNvPr id="53" name="Rounded Rectangle 23">
            <a:extLst>
              <a:ext uri="{FF2B5EF4-FFF2-40B4-BE49-F238E27FC236}">
                <a16:creationId xmlns:a16="http://schemas.microsoft.com/office/drawing/2014/main" id="{C603BEF6-FE06-CF3B-925E-4698702B490B}"/>
              </a:ext>
            </a:extLst>
          </p:cNvPr>
          <p:cNvSpPr/>
          <p:nvPr/>
        </p:nvSpPr>
        <p:spPr>
          <a:xfrm>
            <a:off x="6053328" y="4389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843822-4813-EA0C-62DA-6EB9805ABD54}"/>
              </a:ext>
            </a:extLst>
          </p:cNvPr>
          <p:cNvSpPr txBox="1"/>
          <p:nvPr/>
        </p:nvSpPr>
        <p:spPr>
          <a:xfrm>
            <a:off x="6181344" y="4498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NSE Screener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D2C71F-CFFF-CBDA-B7BE-6786EC2796E3}"/>
              </a:ext>
            </a:extLst>
          </p:cNvPr>
          <p:cNvSpPr txBox="1"/>
          <p:nvPr/>
        </p:nvSpPr>
        <p:spPr>
          <a:xfrm>
            <a:off x="6181344" y="4773168"/>
            <a:ext cx="217627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C9D9E0"/>
                </a:solidFill>
                <a:latin typeface="Aptos"/>
              </a:rPr>
              <a:t>Filter companies by valuation, growth, sector and trend</a:t>
            </a:r>
            <a:r>
              <a:rPr lang="en-US" sz="1050" b="0" dirty="0">
                <a:solidFill>
                  <a:srgbClr val="C9D9E0"/>
                </a:solidFill>
                <a:latin typeface="Aptos"/>
              </a:rPr>
              <a:t> - WIP</a:t>
            </a:r>
            <a:endParaRPr sz="1050" b="0" dirty="0">
              <a:solidFill>
                <a:srgbClr val="C9D9E0"/>
              </a:solidFill>
              <a:latin typeface="Aptos"/>
            </a:endParaRPr>
          </a:p>
        </p:txBody>
      </p:sp>
      <p:sp>
        <p:nvSpPr>
          <p:cNvPr id="59" name="Rounded Rectangle 26">
            <a:extLst>
              <a:ext uri="{FF2B5EF4-FFF2-40B4-BE49-F238E27FC236}">
                <a16:creationId xmlns:a16="http://schemas.microsoft.com/office/drawing/2014/main" id="{7AEFC6F9-5757-2190-AE90-4313A3EBF516}"/>
              </a:ext>
            </a:extLst>
          </p:cNvPr>
          <p:cNvSpPr/>
          <p:nvPr/>
        </p:nvSpPr>
        <p:spPr>
          <a:xfrm>
            <a:off x="8887968" y="4389120"/>
            <a:ext cx="2450592" cy="8686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2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8AFB89-FAED-1BFB-12F1-A38A483D7AAC}"/>
              </a:ext>
            </a:extLst>
          </p:cNvPr>
          <p:cNvSpPr txBox="1"/>
          <p:nvPr/>
        </p:nvSpPr>
        <p:spPr>
          <a:xfrm>
            <a:off x="9015984" y="4498848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Aptos"/>
              </a:rPr>
              <a:t>Peer &amp; News Review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658C99-FC82-7351-E6A6-8CA8BCD0674E}"/>
              </a:ext>
            </a:extLst>
          </p:cNvPr>
          <p:cNvSpPr txBox="1"/>
          <p:nvPr/>
        </p:nvSpPr>
        <p:spPr>
          <a:xfrm>
            <a:off x="9015984" y="4773168"/>
            <a:ext cx="21762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C9D9E0"/>
                </a:solidFill>
                <a:latin typeface="Aptos"/>
              </a:rPr>
              <a:t>Compare relevant companies and review recent news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02D"/>
          </a:solidFill>
          <a:ln>
            <a:solidFill>
              <a:srgbClr val="06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How the application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58952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9CBD5"/>
                </a:solidFill>
                <a:latin typeface="Aptos"/>
              </a:rPr>
              <a:t>A transparent workflow from market data to measurable projection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6812280" cy="4983480"/>
          </a:xfrm>
          <a:prstGeom prst="roundRect">
            <a:avLst>
              <a:gd name="adj" fmla="val 8000"/>
            </a:avLst>
          </a:prstGeom>
          <a:solidFill>
            <a:srgbClr val="0B3042"/>
          </a:solidFill>
          <a:ln>
            <a:solidFill>
              <a:srgbClr val="2B5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tock_watch_ap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6492240" cy="455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135331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DCDAB"/>
                </a:solidFill>
                <a:latin typeface="Aptos"/>
              </a:rPr>
              <a:t>USER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9248" y="17830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9248" y="1828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176479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Search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029967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Autocomplete from NSE universe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2496312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99248" y="25420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78024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74320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Chart + technical + fundamentals + peers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3209544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9248" y="3255263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19125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45643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Bull / Bear targets + probability + stop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9248" y="3922776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396849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904488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Verify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16966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Data source + backtest + model methodology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9248" y="4636008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99248" y="46817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61772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Pin projection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882896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Immutable snapshot stored locally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99248" y="53492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9248" y="53949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5330952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FFFFFF"/>
                </a:solidFill>
                <a:latin typeface="Aptos"/>
              </a:rPr>
              <a:t>Track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559612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BED1DA"/>
                </a:solidFill>
                <a:latin typeface="Aptos"/>
              </a:rPr>
              <a:t>Actual vs projected until expiry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6202D"/>
                </a:solidFill>
                <a:latin typeface="Aptos"/>
              </a:rPr>
              <a:t>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E78"/>
                </a:solidFill>
                <a:latin typeface="Aptos"/>
              </a:rPr>
              <a:t>Python provides the intelligence; HTML/CSS/JavaScript provides the user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2876FF"/>
          </a:solidFill>
          <a:ln>
            <a:solidFill>
              <a:srgbClr val="28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HTML / CSS / 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Modern dashboard
+ Plotly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1965960" cy="960120"/>
          </a:xfrm>
          <a:prstGeom prst="roundRect">
            <a:avLst>
              <a:gd name="adj" fmla="val 8000"/>
            </a:avLst>
          </a:prstGeom>
          <a:solidFill>
            <a:srgbClr val="06202D"/>
          </a:solidFill>
          <a:ln>
            <a:solidFill>
              <a:srgbClr val="06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81528" y="1938528"/>
            <a:ext cx="174650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Python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2231136"/>
            <a:ext cx="1746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Business logic
+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1430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00B699"/>
          </a:solidFill>
          <a:ln>
            <a:solidFill>
              <a:srgbClr val="00B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3248" y="125272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3248" y="154533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yfinance initially
+ future live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4231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585BB1"/>
          </a:solidFill>
          <a:ln>
            <a:solidFill>
              <a:srgbClr val="585B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253288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Analysis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82549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Technical +
Fundamental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70332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E89323"/>
          </a:solidFill>
          <a:ln>
            <a:solidFill>
              <a:srgbClr val="E89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381304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Forecast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410565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Bull / Bear
Probability + Stop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8288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FA869"/>
          </a:solidFill>
          <a:ln>
            <a:solidFill>
              <a:srgbClr val="1F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36407" y="1938528"/>
            <a:ext cx="179222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7" y="2231136"/>
            <a:ext cx="17922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Aptos"/>
              </a:rPr>
              <a:t>Wishlist, settings,
projection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12680" y="1828800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7053A2"/>
          </a:solidFill>
          <a:ln>
            <a:solidFill>
              <a:srgbClr val="705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2407" y="1938528"/>
            <a:ext cx="138074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7" y="2231136"/>
            <a:ext cx="138074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>
                <a:solidFill>
                  <a:srgbClr val="FFFFFF"/>
                </a:solidFill>
                <a:latin typeface="Aptos"/>
              </a:rPr>
              <a:t>PDF</a:t>
            </a:r>
            <a:r>
              <a:rPr lang="en-US" sz="1050" dirty="0">
                <a:solidFill>
                  <a:srgbClr val="FFFFFF"/>
                </a:solidFill>
                <a:latin typeface="Aptos"/>
              </a:rPr>
              <a:t> </a:t>
            </a:r>
            <a:r>
              <a:rPr sz="1050" b="0" dirty="0">
                <a:solidFill>
                  <a:srgbClr val="FFFFFF"/>
                </a:solidFill>
                <a:latin typeface="Aptos"/>
              </a:rPr>
              <a:t>exports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2304288"/>
            <a:ext cx="320040" cy="0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937760" y="1627632"/>
            <a:ext cx="365760" cy="676656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7760" y="2304288"/>
            <a:ext cx="365760" cy="603504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37760" y="2304288"/>
            <a:ext cx="365760" cy="1883664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315200" y="2304288"/>
            <a:ext cx="411479" cy="603504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15200" y="2304288"/>
            <a:ext cx="411479" cy="1883664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738360" y="2304288"/>
            <a:ext cx="274320" cy="0"/>
          </a:xfrm>
          <a:prstGeom prst="line">
            <a:avLst/>
          </a:prstGeom>
          <a:ln w="25400">
            <a:solidFill>
              <a:srgbClr val="7891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1520" y="5257800"/>
            <a:ext cx="10881360" cy="749808"/>
          </a:xfrm>
          <a:prstGeom prst="roundRect">
            <a:avLst>
              <a:gd name="adj" fmla="val 8000"/>
            </a:avLst>
          </a:prstGeom>
          <a:solidFill>
            <a:srgbClr val="EEF8F5"/>
          </a:solidFill>
          <a:ln>
            <a:solidFill>
              <a:srgbClr val="B6E1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" y="5422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FA869"/>
                </a:solidFill>
                <a:latin typeface="Aptos"/>
              </a:rPr>
              <a:t>LOCAL-PC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376672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22C"/>
                </a:solidFill>
                <a:latin typeface="Aptos"/>
              </a:rPr>
              <a:t>Wishlist, projection history, preferences, cache and reports stay on the user's Windows PC.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669280"/>
            <a:ext cx="8138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E78"/>
                </a:solidFill>
                <a:latin typeface="Aptos"/>
              </a:rPr>
              <a:t>Future-ready: the same provider layer can accept a licensed real-time feed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6202D"/>
                </a:solidFill>
                <a:latin typeface="Aptos"/>
              </a:rPr>
              <a:t>Horizon-specific forecasting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698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06F79"/>
                </a:solidFill>
                <a:latin typeface="Aptos"/>
              </a:rPr>
              <a:t>Different time horizons use different information — not arbitrary percentage multiplication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520440" cy="420624"/>
          </a:xfrm>
          <a:prstGeom prst="roundRect">
            <a:avLst/>
          </a:prstGeom>
          <a:solidFill>
            <a:srgbClr val="2670F5"/>
          </a:solidFill>
          <a:ln>
            <a:solidFill>
              <a:srgbClr val="267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444752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INTRADAY / 1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9572"/>
            <a:ext cx="311810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Recent returns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Momentum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Volume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Intraday trend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ATR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rPr dirty="0"/>
              <a:t>Volatility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53312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43400" y="1353312"/>
            <a:ext cx="3520440" cy="420624"/>
          </a:xfrm>
          <a:prstGeom prst="roundRect">
            <a:avLst/>
          </a:prstGeom>
          <a:solidFill>
            <a:srgbClr val="00B89B"/>
          </a:solidFill>
          <a:ln>
            <a:solidFill>
              <a:srgbClr val="00B8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444752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09572"/>
            <a:ext cx="311810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Momentum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Technical indicators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Volume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Market trend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53312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83879" y="1353312"/>
            <a:ext cx="3520440" cy="420624"/>
          </a:xfrm>
          <a:prstGeom prst="roundRect">
            <a:avLst/>
          </a:prstGeom>
          <a:solidFill>
            <a:srgbClr val="665AB4"/>
          </a:solidFill>
          <a:ln>
            <a:solidFill>
              <a:srgbClr val="665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7" y="1444752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09572"/>
            <a:ext cx="311810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Technical trend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Volatility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Market / sector relative strength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75887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3675887"/>
            <a:ext cx="3520440" cy="420624"/>
          </a:xfrm>
          <a:prstGeom prst="roundRect">
            <a:avLst/>
          </a:prstGeom>
          <a:solidFill>
            <a:srgbClr val="E69726"/>
          </a:solidFill>
          <a:ln>
            <a:solidFill>
              <a:srgbClr val="E6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767327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241673"/>
            <a:ext cx="311810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Technical + fundamentals + sector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75887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43400" y="3675887"/>
            <a:ext cx="3520440" cy="420624"/>
          </a:xfrm>
          <a:prstGeom prst="roundRect">
            <a:avLst/>
          </a:prstGeom>
          <a:solidFill>
            <a:srgbClr val="1FA167"/>
          </a:solidFill>
          <a:ln>
            <a:solidFill>
              <a:srgbClr val="1FA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3767327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241673"/>
            <a:ext cx="311810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Fundamental growth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Valuation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Profitability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Sector &amp; market regime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675887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83879" y="3675887"/>
            <a:ext cx="3520440" cy="420624"/>
          </a:xfrm>
          <a:prstGeom prst="roundRect">
            <a:avLst/>
          </a:prstGeom>
          <a:solidFill>
            <a:srgbClr val="C75990"/>
          </a:solidFill>
          <a:ln>
            <a:solidFill>
              <a:srgbClr val="C75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7" y="3767327"/>
            <a:ext cx="3300984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4241673"/>
            <a:ext cx="311810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Long-term fundamentals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Revenue / profit growth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Valuation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Capital efficiency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Industry trends</a:t>
            </a:r>
          </a:p>
          <a:p>
            <a:pPr>
              <a:spcAft>
                <a:spcPts val="300"/>
              </a:spcAft>
              <a:defRPr sz="1300">
                <a:solidFill>
                  <a:srgbClr val="15242F"/>
                </a:solidFill>
                <a:latin typeface="Aptos"/>
              </a:defRPr>
            </a:pPr>
            <a:r>
              <a:t>Long-term historical behaviour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062472"/>
            <a:ext cx="10607040" cy="457200"/>
          </a:xfrm>
          <a:prstGeom prst="roundRect">
            <a:avLst/>
          </a:prstGeom>
          <a:solidFill>
            <a:srgbClr val="FFF4E1"/>
          </a:solidFill>
          <a:ln>
            <a:solidFill>
              <a:srgbClr val="F4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6181344"/>
            <a:ext cx="10241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90" b="1" dirty="0">
                <a:solidFill>
                  <a:srgbClr val="7D4E0E"/>
                </a:solidFill>
                <a:latin typeface="Aptos"/>
              </a:rPr>
              <a:t>RULE: </a:t>
            </a:r>
            <a:r>
              <a:rPr lang="en-IN" sz="1190" b="1" dirty="0">
                <a:solidFill>
                  <a:srgbClr val="7D4E0E"/>
                </a:solidFill>
                <a:latin typeface="Aptos"/>
              </a:rPr>
              <a:t>Do not</a:t>
            </a:r>
            <a:r>
              <a:rPr sz="1190" b="1" dirty="0">
                <a:solidFill>
                  <a:srgbClr val="7D4E0E"/>
                </a:solidFill>
                <a:latin typeface="Aptos"/>
              </a:rPr>
              <a:t> simply multiply current price by arbitrary percentages; the selected horizon determines which data and features receive emphasis.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525"/>
            <a:ext cx="12191695" cy="6858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6202D"/>
                </a:solidFill>
                <a:latin typeface="Aptos"/>
              </a:rPr>
              <a:t>Value delivered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D6E78"/>
                </a:solidFill>
                <a:latin typeface="Aptos"/>
              </a:rPr>
              <a:t>What Stock Watch demonstrates as a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0292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82496"/>
            <a:ext cx="2560320" cy="33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550" b="1" dirty="0">
                <a:solidFill>
                  <a:srgbClr val="2670F5"/>
                </a:solidFill>
                <a:latin typeface="Aptos"/>
              </a:rPr>
              <a:t>VALUE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084831"/>
            <a:ext cx="4434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One interface for market data, ratios, technicals, forecasts and peers.</a:t>
            </a:r>
          </a:p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Transparent Bull/Bear probabilities instead of unexplained target prices.</a:t>
            </a:r>
          </a:p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Projection Wishlist creates an audit trail of what the model predicted.</a:t>
            </a:r>
          </a:p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Actual-vs-projected tracking converts forecasting into measurable performance.</a:t>
            </a:r>
          </a:p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NSE Screener helps shortlist companies using valuation, growth and trend filters.</a:t>
            </a:r>
          </a:p>
          <a:p>
            <a:pPr>
              <a:spcAft>
                <a:spcPts val="800"/>
              </a:spcAft>
              <a:defRPr sz="1520">
                <a:solidFill>
                  <a:srgbClr val="14222C"/>
                </a:solidFill>
                <a:latin typeface="Aptos"/>
              </a:defRPr>
            </a:pPr>
            <a:r>
              <a:t>Local storage keeps personal project data on the user's own PC.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5312" y="1417320"/>
            <a:ext cx="5669280" cy="2743200"/>
          </a:xfrm>
          <a:prstGeom prst="roundRect">
            <a:avLst>
              <a:gd name="adj" fmla="val 8000"/>
            </a:avLst>
          </a:prstGeom>
          <a:solidFill>
            <a:srgbClr val="06202D"/>
          </a:solidFill>
          <a:ln>
            <a:solidFill>
              <a:srgbClr val="062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6824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DCDAB"/>
                </a:solidFill>
                <a:latin typeface="Aptos"/>
              </a:rPr>
              <a:t>LIMITATIONS /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yfinance is useful for research but not guaranteed exchange-grade real-time data.</a:t>
            </a:r>
          </a:p>
          <a:p>
            <a:pPr>
              <a:spcAft>
                <a:spcPts val="9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Forecasts are model-generated estimates and depend on the quality of available data.</a:t>
            </a:r>
          </a:p>
          <a:p>
            <a:pPr>
              <a:spcAft>
                <a:spcPts val="9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Future enhancement: licensed live market feed, stronger news sentiment and broader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407408"/>
            <a:ext cx="5669280" cy="1536192"/>
          </a:xfrm>
          <a:prstGeom prst="roundRect">
            <a:avLst>
              <a:gd name="adj" fmla="val 8000"/>
            </a:avLst>
          </a:prstGeom>
          <a:solidFill>
            <a:srgbClr val="E5F8F3"/>
          </a:solidFill>
          <a:ln>
            <a:solidFill>
              <a:srgbClr val="B0E0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6451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1FA869"/>
                </a:solidFill>
                <a:latin typeface="Aptos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956048"/>
            <a:ext cx="4892040" cy="86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6202D"/>
                </a:solidFill>
                <a:latin typeface="Aptos"/>
              </a:rPr>
              <a:t>Stock Watch combines research, forecasting, screening and post-forecast tracking in one practical desktop application</a:t>
            </a:r>
            <a:r>
              <a:rPr sz="1820" b="1" dirty="0">
                <a:solidFill>
                  <a:srgbClr val="06202D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41908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E78"/>
                </a:solidFill>
                <a:latin typeface="Aptos"/>
              </a:rPr>
              <a:t>Presented by CA Umesh Goud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2636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06202D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593</Words>
  <Application>Microsoft Office PowerPoint</Application>
  <PresentationFormat>Widescreen</PresentationFormat>
  <Paragraphs>121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Umesh Goud</cp:lastModifiedBy>
  <cp:revision>11</cp:revision>
  <dcterms:created xsi:type="dcterms:W3CDTF">2013-01-27T09:14:16Z</dcterms:created>
  <dcterms:modified xsi:type="dcterms:W3CDTF">2026-09-25T10:21:02Z</dcterms:modified>
  <cp:category/>
</cp:coreProperties>
</file>