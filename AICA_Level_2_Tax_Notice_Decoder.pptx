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7" d="100"/>
          <a:sy n="67" d="100"/>
        </p:scale>
        <p:origin x="548"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Hello, I am Vaibhav Jain, a Chartered Accountant. I prepared this educational project as part of the AICA Level 2 Course of ICAI. The application explores how AI can support notice analysis and response preparation while keeping the professional in control. This is an independent course project, with no claim of institutional endorsement.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problem goes beyond summarising a PDF. A response depends on a correct understanding of the notice, the evidence actually available and the applicable law. Missing records and adverse authorities can change the position. The project organises these activities in one guided workflow. The intended benefit is more consistent preparation. No measured time-saving or accuracy claim is made.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 first mapped the professional process and then implemented document extraction, including OCR for scanned pages. I added structured analysis, client-document review, legal research and an issue-wise strategy before drafting. The interface follows seven stages, ending with an editable reply and Word export. I tested the sample workflow and packaged the application with installation instructions. Source: project README.md and CHECKS.md.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app runs locally in a browser through Streamlit. PDF tools extract text and render scanned pages for Tesseract OCR. The AI integration uses structured responses validated with Pydantic. A separate research service uses web search. Excel and Word libraries support evidence processing and output. Local hosting does not mean live AI runs offline. Live requests require internet and the user's API credentials. Source: requirements.txt and README.md.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are actual screenshots from the app, using the fictional sample notice. The homepage shows the colour palette and seven-stage navigation. The decoded view identifies the notice type and relevant period, and highlights the reply date. The user must verify dates and OCR text against the original. Sample dates are fixed fictional dates. The interface wording about speed is not a performance guarantee. Screenshots captured from the local app on 21 September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client-document stage distinguishes notice requests from additional suggestions and allows the user to record availability and missing-document notes. Live review uses the records actually supplied. Research starts with editable public legal topics that the user checks for private details. The live research design considers statutory instruments and cases on both sides. The sample deliberately shows an offline research gap rather than invented authorities. Source: actual local sample screens and README.md.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strategy stage combines the available facts and gaps into an issue-wise plan. In live mode, drafting includes a separate AI critical-review pass. The user edits the reply before downloading Word. Uploaded records are not automatically attached or filed. The application flags stale strategy when key inputs change. These screenshots use the prewritten sample and do not demonstrate a completed live AI call. Source: local sample screens, case_service.py and case_workflow.py.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achievement is a working educational prototype with a complete sample workflow, OCR integration and editable Word output. The recorded checks report 40 tests passed across a full run and subsequent targeted tests. This is not a production certification. Live provider calls were not verified because credentials were unavailable. An important learning was to make uncertainty and missing evidence visible instead of treating a polished draft as proof of correctness. Source: CHECKS.md, verified on Windows with Python 3.14.6 on 21 September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project is an educational submission and carries no claim of institutional endorsement. It supports professional work but does not provide a certified legal opinion. Users remain responsible for confidentiality and review. The demonstration uses fictional, prewritten results. Real AI analysis and research require internet and API access. The app does not submit a reply to any tax portal, and no legally watertight result is promised.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 express my sincere gratitude to CA. Charanjot Singh Nanda, CA. Umesh Ramnarayan Sharma, CA. Vipin Agarwal and CA. Nishant Kumar. I also thank all faculty members and fellow colleagues for their guidance and shared learning. Thank you for your time. Acknowledgement names and designations reproduce the presenter's supplied wording.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5.jpeg"/></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7.jpe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72A49"/>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B9833C8-8669-4340-BDBA-6D0AB5D241F3}"/>
              </a:ext>
            </a:extLst>
          </p:cNvPr>
          <p:cNvSpPr>
            <a:spLocks noGrp="1"/>
          </p:cNvSpPr>
          <p:nvPr/>
        </p:nvSpPr>
        <p:spPr>
          <a:xfrm>
            <a:off x="609600" y="419100"/>
            <a:ext cx="10972800" cy="762000"/>
          </a:xfrm>
          <a:prstGeom prst="rect">
            <a:avLst/>
          </a:prstGeom>
          <a:noFill/>
          <a:ln w="0">
            <a:noFill/>
          </a:ln>
        </p:spPr>
        <p:txBody>
          <a:bodyPr>
            <a:noAutofit/>
          </a:bodyPr>
          <a:lstStyle/>
          <a:p>
            <a:pPr>
              <a:defRPr sz="3300" b="1">
                <a:solidFill>
                  <a:srgbClr val="FFFFFF"/>
                </a:solidFill>
                <a:latin typeface="Arial"/>
                <a:ea typeface="Arial"/>
                <a:cs typeface="Arial"/>
              </a:defRPr>
            </a:pPr>
            <a:r>
              <a:rPr sz="3300" b="1">
                <a:solidFill>
                  <a:srgbClr val="FFFFFF"/>
                </a:solidFill>
                <a:latin typeface="Arial"/>
                <a:ea typeface="Arial"/>
                <a:cs typeface="Arial"/>
              </a:rPr>
              <a:t>1-Click Tax Notice Decoder</a:t>
            </a:r>
          </a:p>
        </p:txBody>
      </p:sp>
      <p:sp>
        <p:nvSpPr>
          <p:cNvPr id="2" name="Rectangle 1">
            <a:extLst>
              <a:ext uri="{FF2B5EF4-FFF2-40B4-BE49-F238E27FC236}">
                <a16:creationId xmlns:a16="http://schemas.microsoft.com/office/drawing/2014/main" id="{A8F1F5F8-C8A8-4659-88BD-59F82CC10C6A}"/>
              </a:ext>
            </a:extLst>
          </p:cNvPr>
          <p:cNvSpPr>
            <a:spLocks noGrp="1"/>
          </p:cNvSpPr>
          <p:nvPr/>
        </p:nvSpPr>
        <p:spPr>
          <a:xfrm>
            <a:off x="609600" y="6467475"/>
            <a:ext cx="8572500" cy="228600"/>
          </a:xfrm>
          <a:prstGeom prst="rect">
            <a:avLst/>
          </a:prstGeom>
          <a:noFill/>
          <a:ln w="0">
            <a:noFill/>
          </a:ln>
        </p:spPr>
        <p:txBody>
          <a:bodyPr>
            <a:noAutofit/>
          </a:bodyPr>
          <a:lstStyle/>
          <a:p>
            <a:pPr>
              <a:defRPr sz="1200" b="0">
                <a:solidFill>
                  <a:srgbClr val="BDC9DD"/>
                </a:solidFill>
                <a:latin typeface="Arial"/>
                <a:ea typeface="Arial"/>
                <a:cs typeface="Arial"/>
              </a:defRPr>
            </a:pPr>
            <a:r>
              <a:rPr sz="1200" b="0">
                <a:solidFill>
                  <a:srgbClr val="BDC9DD"/>
                </a:solidFill>
                <a:latin typeface="Arial"/>
                <a:ea typeface="Arial"/>
                <a:cs typeface="Arial"/>
              </a:rPr>
              <a:t>AICA Level 2 course project</a:t>
            </a:r>
          </a:p>
        </p:txBody>
      </p:sp>
      <p:sp>
        <p:nvSpPr>
          <p:cNvPr id="3" name="Rectangle 2">
            <a:extLst>
              <a:ext uri="{FF2B5EF4-FFF2-40B4-BE49-F238E27FC236}">
                <a16:creationId xmlns:a16="http://schemas.microsoft.com/office/drawing/2014/main" id="{0EF59D76-D38E-4844-8107-242606D4F43F}"/>
              </a:ext>
            </a:extLst>
          </p:cNvPr>
          <p:cNvSpPr>
            <a:spLocks noGrp="1"/>
          </p:cNvSpPr>
          <p:nvPr/>
        </p:nvSpPr>
        <p:spPr>
          <a:xfrm>
            <a:off x="11049000" y="6438900"/>
            <a:ext cx="533400" cy="266700"/>
          </a:xfrm>
          <a:prstGeom prst="rect">
            <a:avLst/>
          </a:prstGeom>
          <a:noFill/>
          <a:ln w="0">
            <a:noFill/>
          </a:ln>
        </p:spPr>
        <p:txBody>
          <a:bodyPr>
            <a:noAutofit/>
          </a:bodyPr>
          <a:lstStyle/>
          <a:p>
            <a:pPr>
              <a:defRPr sz="1350" b="1">
                <a:solidFill>
                  <a:srgbClr val="C5A453"/>
                </a:solidFill>
                <a:latin typeface="Arial"/>
                <a:ea typeface="Arial"/>
                <a:cs typeface="Arial"/>
              </a:defRPr>
            </a:pPr>
            <a:r>
              <a:rPr sz="1350" b="1">
                <a:solidFill>
                  <a:srgbClr val="C5A453"/>
                </a:solidFill>
                <a:latin typeface="Arial"/>
                <a:ea typeface="Arial"/>
                <a:cs typeface="Arial"/>
              </a:rPr>
              <a:t>01</a:t>
            </a:r>
          </a:p>
        </p:txBody>
      </p:sp>
      <p:sp>
        <p:nvSpPr>
          <p:cNvPr id="4" name="Rectangle 3">
            <a:extLst>
              <a:ext uri="{FF2B5EF4-FFF2-40B4-BE49-F238E27FC236}">
                <a16:creationId xmlns:a16="http://schemas.microsoft.com/office/drawing/2014/main" id="{7373444B-51DE-41E7-9154-89782007948E}"/>
              </a:ext>
            </a:extLst>
          </p:cNvPr>
          <p:cNvSpPr>
            <a:spLocks noGrp="1"/>
          </p:cNvSpPr>
          <p:nvPr/>
        </p:nvSpPr>
        <p:spPr>
          <a:xfrm>
            <a:off x="647700" y="1476375"/>
            <a:ext cx="10477500" cy="609600"/>
          </a:xfrm>
          <a:prstGeom prst="rect">
            <a:avLst/>
          </a:prstGeom>
          <a:noFill/>
          <a:ln w="0">
            <a:noFill/>
          </a:ln>
        </p:spPr>
        <p:txBody>
          <a:bodyPr>
            <a:noAutofit/>
          </a:bodyPr>
          <a:lstStyle/>
          <a:p>
            <a:pPr>
              <a:defRPr sz="2550" b="0">
                <a:solidFill>
                  <a:srgbClr val="C5A453"/>
                </a:solidFill>
                <a:latin typeface="Arial"/>
                <a:ea typeface="Arial"/>
                <a:cs typeface="Arial"/>
              </a:defRPr>
            </a:pPr>
            <a:r>
              <a:rPr sz="2550" b="0">
                <a:solidFill>
                  <a:srgbClr val="C5A453"/>
                </a:solidFill>
                <a:latin typeface="Arial"/>
                <a:ea typeface="Arial"/>
                <a:cs typeface="Arial"/>
              </a:rPr>
              <a:t>Income Tax &amp; GST notice analysis</a:t>
            </a:r>
          </a:p>
        </p:txBody>
      </p:sp>
      <p:sp>
        <p:nvSpPr>
          <p:cNvPr id="5" name="Rectangle 4">
            <a:extLst>
              <a:ext uri="{FF2B5EF4-FFF2-40B4-BE49-F238E27FC236}">
                <a16:creationId xmlns:a16="http://schemas.microsoft.com/office/drawing/2014/main" id="{41A84418-B901-4FBC-8F99-F5DEF58679E9}"/>
              </a:ext>
            </a:extLst>
          </p:cNvPr>
          <p:cNvSpPr>
            <a:spLocks noGrp="1"/>
          </p:cNvSpPr>
          <p:nvPr/>
        </p:nvSpPr>
        <p:spPr>
          <a:xfrm>
            <a:off x="647700" y="2809875"/>
            <a:ext cx="10287000" cy="1143000"/>
          </a:xfrm>
          <a:prstGeom prst="rect">
            <a:avLst/>
          </a:prstGeom>
          <a:noFill/>
          <a:ln w="0">
            <a:noFill/>
          </a:ln>
        </p:spPr>
        <p:txBody>
          <a:bodyPr>
            <a:noAutofit/>
          </a:bodyPr>
          <a:lstStyle/>
          <a:p>
            <a:pPr>
              <a:defRPr sz="2850" b="1">
                <a:solidFill>
                  <a:srgbClr val="FFFFFF"/>
                </a:solidFill>
                <a:latin typeface="Arial"/>
                <a:ea typeface="Arial"/>
                <a:cs typeface="Arial"/>
              </a:defRPr>
            </a:pPr>
            <a:r>
              <a:rPr sz="2850" b="1">
                <a:solidFill>
                  <a:srgbClr val="FFFFFF"/>
                </a:solidFill>
                <a:latin typeface="Arial"/>
                <a:ea typeface="Arial"/>
                <a:cs typeface="Arial"/>
              </a:rPr>
              <a:t>Educational project</a:t>
            </a:r>
          </a:p>
          <a:p>
            <a:pPr>
              <a:defRPr sz="2850" b="1">
                <a:solidFill>
                  <a:srgbClr val="FFFFFF"/>
                </a:solidFill>
                <a:latin typeface="Arial"/>
                <a:ea typeface="Arial"/>
                <a:cs typeface="Arial"/>
              </a:defRPr>
            </a:pPr>
            <a:r>
              <a:rPr sz="2850" b="1">
                <a:solidFill>
                  <a:srgbClr val="FFFFFF"/>
                </a:solidFill>
                <a:latin typeface="Arial"/>
                <a:ea typeface="Arial"/>
                <a:cs typeface="Arial"/>
              </a:rPr>
              <a:t>AICA Level 2 Course of ICAI</a:t>
            </a:r>
          </a:p>
        </p:txBody>
      </p:sp>
      <p:sp>
        <p:nvSpPr>
          <p:cNvPr id="6" name="Rectangle 5">
            <a:extLst>
              <a:ext uri="{FF2B5EF4-FFF2-40B4-BE49-F238E27FC236}">
                <a16:creationId xmlns:a16="http://schemas.microsoft.com/office/drawing/2014/main" id="{93247952-0389-4013-8B85-BBC830FC3A27}"/>
              </a:ext>
            </a:extLst>
          </p:cNvPr>
          <p:cNvSpPr>
            <a:spLocks noGrp="1"/>
          </p:cNvSpPr>
          <p:nvPr/>
        </p:nvSpPr>
        <p:spPr>
          <a:xfrm>
            <a:off x="647700" y="4762500"/>
            <a:ext cx="10287000" cy="476250"/>
          </a:xfrm>
          <a:prstGeom prst="rect">
            <a:avLst/>
          </a:prstGeom>
          <a:noFill/>
          <a:ln w="0">
            <a:noFill/>
          </a:ln>
        </p:spPr>
        <p:txBody>
          <a:bodyPr>
            <a:noAutofit/>
          </a:bodyPr>
          <a:lstStyle/>
          <a:p>
            <a:pPr>
              <a:defRPr sz="2250" b="1">
                <a:solidFill>
                  <a:srgbClr val="FFE58B"/>
                </a:solidFill>
                <a:latin typeface="Arial"/>
                <a:ea typeface="Arial"/>
                <a:cs typeface="Arial"/>
              </a:defRPr>
            </a:pPr>
            <a:r>
              <a:rPr sz="2250" b="1">
                <a:solidFill>
                  <a:srgbClr val="FFE58B"/>
                </a:solidFill>
                <a:latin typeface="Arial"/>
                <a:ea typeface="Arial"/>
                <a:cs typeface="Arial"/>
              </a:rPr>
              <a:t>CA. Vaibhav Jain</a:t>
            </a:r>
          </a:p>
        </p:txBody>
      </p:sp>
      <p:sp>
        <p:nvSpPr>
          <p:cNvPr id="7" name="Rectangle 6">
            <a:extLst>
              <a:ext uri="{FF2B5EF4-FFF2-40B4-BE49-F238E27FC236}">
                <a16:creationId xmlns:a16="http://schemas.microsoft.com/office/drawing/2014/main" id="{3C7BFA00-9598-45FD-8A73-69C642D8DA90}"/>
              </a:ext>
            </a:extLst>
          </p:cNvPr>
          <p:cNvSpPr>
            <a:spLocks noGrp="1"/>
          </p:cNvSpPr>
          <p:nvPr/>
        </p:nvSpPr>
        <p:spPr>
          <a:xfrm>
            <a:off x="647700" y="5381625"/>
            <a:ext cx="10287000" cy="428625"/>
          </a:xfrm>
          <a:prstGeom prst="rect">
            <a:avLst/>
          </a:prstGeom>
          <a:noFill/>
          <a:ln w="0">
            <a:noFill/>
          </a:ln>
        </p:spPr>
        <p:txBody>
          <a:bodyPr>
            <a:noAutofit/>
          </a:bodyPr>
          <a:lstStyle/>
          <a:p>
            <a:pPr>
              <a:defRPr sz="1875" b="0">
                <a:solidFill>
                  <a:srgbClr val="CAD3E3"/>
                </a:solidFill>
                <a:latin typeface="Arial"/>
                <a:ea typeface="Arial"/>
                <a:cs typeface="Arial"/>
              </a:defRPr>
            </a:pPr>
            <a:r>
              <a:rPr sz="1875" b="0">
                <a:solidFill>
                  <a:srgbClr val="CAD3E3"/>
                </a:solidFill>
                <a:latin typeface="Arial"/>
                <a:ea typeface="Arial"/>
                <a:cs typeface="Arial"/>
              </a:rPr>
              <a:t>An AI-assisted workflow for professional review</a:t>
            </a:r>
          </a:p>
        </p:txBody>
      </p:sp>
      <p:sp>
        <p:nvSpPr>
          <p:cNvPr id="10" name="Rectangle 9">
            <a:extLst>
              <a:ext uri="{FF2B5EF4-FFF2-40B4-BE49-F238E27FC236}">
                <a16:creationId xmlns:a16="http://schemas.microsoft.com/office/drawing/2014/main" id="{9ED4EE62-29CE-C6B5-3F86-4AA5CF944995}"/>
              </a:ext>
            </a:extLst>
          </p:cNvPr>
          <p:cNvSpPr>
            <a:spLocks noGrp="1"/>
          </p:cNvSpPr>
          <p:nvPr/>
        </p:nvSpPr>
        <p:spPr>
          <a:xfrm>
            <a:off x="8134350" y="5429250"/>
            <a:ext cx="3266263" cy="381000"/>
          </a:xfrm>
          <a:prstGeom prst="rect">
            <a:avLst/>
          </a:prstGeom>
          <a:noFill/>
          <a:ln w="0">
            <a:noFill/>
          </a:ln>
        </p:spPr>
        <p:txBody>
          <a:bodyPr>
            <a:noAutofit/>
          </a:bodyPr>
          <a:lstStyle/>
          <a:p>
            <a:pPr algn="ctr">
              <a:defRPr sz="2100" b="1">
                <a:solidFill>
                  <a:srgbClr val="FFFFFF"/>
                </a:solidFill>
                <a:latin typeface="Arial"/>
                <a:ea typeface="Arial"/>
                <a:cs typeface="Arial"/>
              </a:defRPr>
            </a:pPr>
            <a:r>
              <a:rPr sz="2100" b="1" dirty="0">
                <a:solidFill>
                  <a:srgbClr val="FFFFFF"/>
                </a:solidFill>
                <a:latin typeface="Arial"/>
                <a:ea typeface="Arial"/>
                <a:cs typeface="Arial"/>
              </a:rPr>
              <a:t>CA. </a:t>
            </a:r>
            <a:r>
              <a:rPr lang="en-IN" sz="2100" b="1" dirty="0">
                <a:solidFill>
                  <a:srgbClr val="FFFFFF"/>
                </a:solidFill>
                <a:latin typeface="Arial"/>
                <a:ea typeface="Arial"/>
                <a:cs typeface="Arial"/>
              </a:rPr>
              <a:t>Vaibhav Jain</a:t>
            </a:r>
            <a:endParaRPr sz="2100" b="1" dirty="0">
              <a:solidFill>
                <a:srgbClr val="FFFFFF"/>
              </a:solidFill>
              <a:latin typeface="Arial"/>
              <a:ea typeface="Arial"/>
              <a:cs typeface="Arial"/>
            </a:endParaRPr>
          </a:p>
        </p:txBody>
      </p:sp>
      <p:sp>
        <p:nvSpPr>
          <p:cNvPr id="12" name="Rectangle 11">
            <a:extLst>
              <a:ext uri="{FF2B5EF4-FFF2-40B4-BE49-F238E27FC236}">
                <a16:creationId xmlns:a16="http://schemas.microsoft.com/office/drawing/2014/main" id="{D372DF69-ADE6-C886-0A8C-34EF19755B19}"/>
              </a:ext>
            </a:extLst>
          </p:cNvPr>
          <p:cNvSpPr>
            <a:spLocks noGrp="1"/>
          </p:cNvSpPr>
          <p:nvPr/>
        </p:nvSpPr>
        <p:spPr>
          <a:xfrm>
            <a:off x="8134350" y="5858918"/>
            <a:ext cx="3266264" cy="532357"/>
          </a:xfrm>
          <a:prstGeom prst="rect">
            <a:avLst/>
          </a:prstGeom>
          <a:noFill/>
          <a:ln w="0">
            <a:noFill/>
          </a:ln>
        </p:spPr>
        <p:txBody>
          <a:bodyPr>
            <a:noAutofit/>
          </a:bodyPr>
          <a:lstStyle/>
          <a:p>
            <a:pPr algn="ctr">
              <a:defRPr sz="1725" b="0">
                <a:solidFill>
                  <a:srgbClr val="CBD5E6"/>
                </a:solidFill>
                <a:latin typeface="Arial"/>
                <a:ea typeface="Arial"/>
                <a:cs typeface="Arial"/>
              </a:defRPr>
            </a:pPr>
            <a:r>
              <a:rPr lang="en-IN" sz="1725" dirty="0">
                <a:solidFill>
                  <a:srgbClr val="CBD5E6"/>
                </a:solidFill>
                <a:latin typeface="Arial"/>
                <a:ea typeface="Arial"/>
                <a:cs typeface="Arial"/>
              </a:rPr>
              <a:t>ICAI Membership No - 515700</a:t>
            </a:r>
            <a:endParaRPr sz="1725" b="0" dirty="0">
              <a:solidFill>
                <a:srgbClr val="CBD5E6"/>
              </a:solidFill>
              <a:latin typeface="Arial"/>
              <a:ea typeface="Arial"/>
              <a:cs typeface="Arial"/>
            </a:endParaRPr>
          </a:p>
        </p:txBody>
      </p:sp>
      <p:pic>
        <p:nvPicPr>
          <p:cNvPr id="14" name="Picture 13" descr="The image shows a person dressed in a blue suit and red tie, wearing a formal business attire.&#10;&#10;AI-generated content may be incorrect.">
            <a:extLst>
              <a:ext uri="{FF2B5EF4-FFF2-40B4-BE49-F238E27FC236}">
                <a16:creationId xmlns:a16="http://schemas.microsoft.com/office/drawing/2014/main" id="{FF0C9659-3601-0824-7AEA-611F54D7276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27263" y="3733278"/>
            <a:ext cx="1357357" cy="1677443"/>
          </a:xfrm>
          <a:prstGeom prst="rect">
            <a:avLst/>
          </a:prstGeom>
        </p:spPr>
      </p:pic>
    </p:spTree>
    <p:extLst>
      <p:ext uri="{BB962C8B-B14F-4D97-AF65-F5344CB8AC3E}">
        <p14:creationId xmlns:p14="http://schemas.microsoft.com/office/powerpoint/2010/main" val="4169268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5F8"/>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EE48F5CA-3AC2-49B1-915C-63C790E9CE29}"/>
              </a:ext>
            </a:extLst>
          </p:cNvPr>
          <p:cNvSpPr>
            <a:spLocks noGrp="1"/>
          </p:cNvSpPr>
          <p:nvPr/>
        </p:nvSpPr>
        <p:spPr>
          <a:xfrm>
            <a:off x="609600" y="419100"/>
            <a:ext cx="10972800" cy="762000"/>
          </a:xfrm>
          <a:prstGeom prst="rect">
            <a:avLst/>
          </a:prstGeom>
          <a:noFill/>
          <a:ln w="0">
            <a:noFill/>
          </a:ln>
        </p:spPr>
        <p:txBody>
          <a:bodyPr>
            <a:noAutofit/>
          </a:bodyPr>
          <a:lstStyle/>
          <a:p>
            <a:pPr>
              <a:defRPr sz="3300" b="1">
                <a:solidFill>
                  <a:srgbClr val="172A49"/>
                </a:solidFill>
                <a:latin typeface="Arial"/>
                <a:ea typeface="Arial"/>
                <a:cs typeface="Arial"/>
              </a:defRPr>
            </a:pPr>
            <a:r>
              <a:rPr sz="3300" b="1">
                <a:solidFill>
                  <a:srgbClr val="172A49"/>
                </a:solidFill>
                <a:latin typeface="Arial"/>
                <a:ea typeface="Arial"/>
                <a:cs typeface="Arial"/>
              </a:rPr>
              <a:t>The need</a:t>
            </a:r>
          </a:p>
        </p:txBody>
      </p:sp>
      <p:sp>
        <p:nvSpPr>
          <p:cNvPr id="2" name="Rectangle 1">
            <a:extLst>
              <a:ext uri="{FF2B5EF4-FFF2-40B4-BE49-F238E27FC236}">
                <a16:creationId xmlns:a16="http://schemas.microsoft.com/office/drawing/2014/main" id="{33FE49BF-A9BA-4107-BF23-00E8612849D6}"/>
              </a:ext>
            </a:extLst>
          </p:cNvPr>
          <p:cNvSpPr>
            <a:spLocks noGrp="1"/>
          </p:cNvSpPr>
          <p:nvPr/>
        </p:nvSpPr>
        <p:spPr>
          <a:xfrm>
            <a:off x="609600" y="6467475"/>
            <a:ext cx="8572500" cy="228600"/>
          </a:xfrm>
          <a:prstGeom prst="rect">
            <a:avLst/>
          </a:prstGeom>
          <a:noFill/>
          <a:ln w="0">
            <a:noFill/>
          </a:ln>
        </p:spPr>
        <p:txBody>
          <a:bodyPr>
            <a:noAutofit/>
          </a:bodyPr>
          <a:lstStyle/>
          <a:p>
            <a:pPr>
              <a:defRPr sz="1200" b="0">
                <a:solidFill>
                  <a:srgbClr val="596476"/>
                </a:solidFill>
                <a:latin typeface="Arial"/>
                <a:ea typeface="Arial"/>
                <a:cs typeface="Arial"/>
              </a:defRPr>
            </a:pPr>
            <a:r>
              <a:rPr sz="1200" b="0">
                <a:solidFill>
                  <a:srgbClr val="596476"/>
                </a:solidFill>
                <a:latin typeface="Arial"/>
                <a:ea typeface="Arial"/>
                <a:cs typeface="Arial"/>
              </a:rPr>
              <a:t>AICA Level 2 course project</a:t>
            </a:r>
          </a:p>
        </p:txBody>
      </p:sp>
      <p:sp>
        <p:nvSpPr>
          <p:cNvPr id="3" name="Rectangle 2">
            <a:extLst>
              <a:ext uri="{FF2B5EF4-FFF2-40B4-BE49-F238E27FC236}">
                <a16:creationId xmlns:a16="http://schemas.microsoft.com/office/drawing/2014/main" id="{0A43C8F1-CDC2-4CAC-9755-A29624BEFD82}"/>
              </a:ext>
            </a:extLst>
          </p:cNvPr>
          <p:cNvSpPr>
            <a:spLocks noGrp="1"/>
          </p:cNvSpPr>
          <p:nvPr/>
        </p:nvSpPr>
        <p:spPr>
          <a:xfrm>
            <a:off x="11049000" y="6438900"/>
            <a:ext cx="533400" cy="266700"/>
          </a:xfrm>
          <a:prstGeom prst="rect">
            <a:avLst/>
          </a:prstGeom>
          <a:noFill/>
          <a:ln w="0">
            <a:noFill/>
          </a:ln>
        </p:spPr>
        <p:txBody>
          <a:bodyPr>
            <a:noAutofit/>
          </a:bodyPr>
          <a:lstStyle/>
          <a:p>
            <a:pPr>
              <a:defRPr sz="1350" b="1">
                <a:solidFill>
                  <a:srgbClr val="742E46"/>
                </a:solidFill>
                <a:latin typeface="Arial"/>
                <a:ea typeface="Arial"/>
                <a:cs typeface="Arial"/>
              </a:defRPr>
            </a:pPr>
            <a:r>
              <a:rPr sz="1350" b="1">
                <a:solidFill>
                  <a:srgbClr val="742E46"/>
                </a:solidFill>
                <a:latin typeface="Arial"/>
                <a:ea typeface="Arial"/>
                <a:cs typeface="Arial"/>
              </a:rPr>
              <a:t>02</a:t>
            </a:r>
          </a:p>
        </p:txBody>
      </p:sp>
      <p:sp>
        <p:nvSpPr>
          <p:cNvPr id="4" name="Rectangle 3">
            <a:extLst>
              <a:ext uri="{FF2B5EF4-FFF2-40B4-BE49-F238E27FC236}">
                <a16:creationId xmlns:a16="http://schemas.microsoft.com/office/drawing/2014/main" id="{03826946-4C3C-4285-A7DC-1D7AEA5F7D10}"/>
              </a:ext>
            </a:extLst>
          </p:cNvPr>
          <p:cNvSpPr>
            <a:spLocks noGrp="1"/>
          </p:cNvSpPr>
          <p:nvPr/>
        </p:nvSpPr>
        <p:spPr>
          <a:xfrm>
            <a:off x="609600" y="1400175"/>
            <a:ext cx="10668000" cy="552450"/>
          </a:xfrm>
          <a:prstGeom prst="rect">
            <a:avLst/>
          </a:prstGeom>
          <a:noFill/>
          <a:ln w="0">
            <a:noFill/>
          </a:ln>
        </p:spPr>
        <p:txBody>
          <a:bodyPr>
            <a:noAutofit/>
          </a:bodyPr>
          <a:lstStyle/>
          <a:p>
            <a:pPr>
              <a:defRPr sz="2400" b="1">
                <a:solidFill>
                  <a:srgbClr val="315A97"/>
                </a:solidFill>
                <a:latin typeface="Arial"/>
                <a:ea typeface="Arial"/>
                <a:cs typeface="Arial"/>
              </a:defRPr>
            </a:pPr>
            <a:r>
              <a:rPr sz="2400" b="1">
                <a:solidFill>
                  <a:srgbClr val="315A97"/>
                </a:solidFill>
                <a:latin typeface="Arial"/>
                <a:ea typeface="Arial"/>
                <a:cs typeface="Arial"/>
              </a:rPr>
              <a:t>A useful reply starts well before drafting</a:t>
            </a:r>
          </a:p>
        </p:txBody>
      </p:sp>
      <p:sp>
        <p:nvSpPr>
          <p:cNvPr id="5" name="Rectangle 4">
            <a:extLst>
              <a:ext uri="{FF2B5EF4-FFF2-40B4-BE49-F238E27FC236}">
                <a16:creationId xmlns:a16="http://schemas.microsoft.com/office/drawing/2014/main" id="{BE1B21B1-4FC1-4401-A9A0-864CC03182F4}"/>
              </a:ext>
            </a:extLst>
          </p:cNvPr>
          <p:cNvSpPr>
            <a:spLocks noGrp="1"/>
          </p:cNvSpPr>
          <p:nvPr/>
        </p:nvSpPr>
        <p:spPr>
          <a:xfrm>
            <a:off x="609600" y="2362200"/>
            <a:ext cx="4857750" cy="419100"/>
          </a:xfrm>
          <a:prstGeom prst="rect">
            <a:avLst/>
          </a:prstGeom>
          <a:noFill/>
          <a:ln w="0">
            <a:noFill/>
          </a:ln>
        </p:spPr>
        <p:txBody>
          <a:bodyPr>
            <a:noAutofit/>
          </a:bodyPr>
          <a:lstStyle/>
          <a:p>
            <a:pPr>
              <a:defRPr sz="2100" b="1">
                <a:solidFill>
                  <a:srgbClr val="742E46"/>
                </a:solidFill>
                <a:latin typeface="Arial"/>
                <a:ea typeface="Arial"/>
                <a:cs typeface="Arial"/>
              </a:defRPr>
            </a:pPr>
            <a:r>
              <a:rPr sz="2100" b="1">
                <a:solidFill>
                  <a:srgbClr val="742E46"/>
                </a:solidFill>
                <a:latin typeface="Arial"/>
                <a:ea typeface="Arial"/>
                <a:cs typeface="Arial"/>
              </a:rPr>
              <a:t>Understanding the notice</a:t>
            </a:r>
          </a:p>
        </p:txBody>
      </p:sp>
      <p:sp>
        <p:nvSpPr>
          <p:cNvPr id="6" name="Rectangle 5">
            <a:extLst>
              <a:ext uri="{FF2B5EF4-FFF2-40B4-BE49-F238E27FC236}">
                <a16:creationId xmlns:a16="http://schemas.microsoft.com/office/drawing/2014/main" id="{40F17D3C-9E52-4ADC-AEB0-69ECDB4564FC}"/>
              </a:ext>
            </a:extLst>
          </p:cNvPr>
          <p:cNvSpPr>
            <a:spLocks noGrp="1"/>
          </p:cNvSpPr>
          <p:nvPr/>
        </p:nvSpPr>
        <p:spPr>
          <a:xfrm>
            <a:off x="609600" y="2847975"/>
            <a:ext cx="4857750" cy="1028700"/>
          </a:xfrm>
          <a:prstGeom prst="rect">
            <a:avLst/>
          </a:prstGeom>
          <a:noFill/>
          <a:ln w="0">
            <a:noFill/>
          </a:ln>
        </p:spPr>
        <p:txBody>
          <a:bodyPr>
            <a:noAutofit/>
          </a:bodyPr>
          <a:lstStyle/>
          <a:p>
            <a:pPr>
              <a:defRPr sz="1875" b="0">
                <a:solidFill>
                  <a:srgbClr val="596476"/>
                </a:solidFill>
                <a:latin typeface="Arial"/>
                <a:ea typeface="Arial"/>
                <a:cs typeface="Arial"/>
              </a:defRPr>
            </a:pPr>
            <a:r>
              <a:rPr sz="1875" b="0">
                <a:solidFill>
                  <a:srgbClr val="596476"/>
                </a:solidFill>
                <a:latin typeface="Arial"/>
                <a:ea typeface="Arial"/>
                <a:cs typeface="Arial"/>
              </a:rPr>
              <a:t>Issues, amounts and response dates can be spread across several pages.</a:t>
            </a:r>
          </a:p>
        </p:txBody>
      </p:sp>
      <p:sp>
        <p:nvSpPr>
          <p:cNvPr id="7" name="Rectangle 6">
            <a:extLst>
              <a:ext uri="{FF2B5EF4-FFF2-40B4-BE49-F238E27FC236}">
                <a16:creationId xmlns:a16="http://schemas.microsoft.com/office/drawing/2014/main" id="{F82AB644-CD09-450C-8E7B-0C74930FF57A}"/>
              </a:ext>
            </a:extLst>
          </p:cNvPr>
          <p:cNvSpPr>
            <a:spLocks noGrp="1"/>
          </p:cNvSpPr>
          <p:nvPr/>
        </p:nvSpPr>
        <p:spPr>
          <a:xfrm>
            <a:off x="6515100" y="2362200"/>
            <a:ext cx="4857750" cy="419100"/>
          </a:xfrm>
          <a:prstGeom prst="rect">
            <a:avLst/>
          </a:prstGeom>
          <a:noFill/>
          <a:ln w="0">
            <a:noFill/>
          </a:ln>
        </p:spPr>
        <p:txBody>
          <a:bodyPr>
            <a:noAutofit/>
          </a:bodyPr>
          <a:lstStyle/>
          <a:p>
            <a:pPr>
              <a:defRPr sz="2100" b="1">
                <a:solidFill>
                  <a:srgbClr val="742E46"/>
                </a:solidFill>
                <a:latin typeface="Arial"/>
                <a:ea typeface="Arial"/>
                <a:cs typeface="Arial"/>
              </a:defRPr>
            </a:pPr>
            <a:r>
              <a:rPr sz="2100" b="1">
                <a:solidFill>
                  <a:srgbClr val="742E46"/>
                </a:solidFill>
                <a:latin typeface="Arial"/>
                <a:ea typeface="Arial"/>
                <a:cs typeface="Arial"/>
              </a:rPr>
              <a:t>Collecting the evidence</a:t>
            </a:r>
          </a:p>
        </p:txBody>
      </p:sp>
      <p:sp>
        <p:nvSpPr>
          <p:cNvPr id="8" name="Rectangle 7">
            <a:extLst>
              <a:ext uri="{FF2B5EF4-FFF2-40B4-BE49-F238E27FC236}">
                <a16:creationId xmlns:a16="http://schemas.microsoft.com/office/drawing/2014/main" id="{C7E9CA4C-8856-45D9-A7E9-71AB2B799A3A}"/>
              </a:ext>
            </a:extLst>
          </p:cNvPr>
          <p:cNvSpPr>
            <a:spLocks noGrp="1"/>
          </p:cNvSpPr>
          <p:nvPr/>
        </p:nvSpPr>
        <p:spPr>
          <a:xfrm>
            <a:off x="6515100" y="2847975"/>
            <a:ext cx="4857750" cy="1028700"/>
          </a:xfrm>
          <a:prstGeom prst="rect">
            <a:avLst/>
          </a:prstGeom>
          <a:noFill/>
          <a:ln w="0">
            <a:noFill/>
          </a:ln>
        </p:spPr>
        <p:txBody>
          <a:bodyPr>
            <a:noAutofit/>
          </a:bodyPr>
          <a:lstStyle/>
          <a:p>
            <a:pPr>
              <a:defRPr sz="1875" b="0">
                <a:solidFill>
                  <a:srgbClr val="596476"/>
                </a:solidFill>
                <a:latin typeface="Arial"/>
                <a:ea typeface="Arial"/>
                <a:cs typeface="Arial"/>
              </a:defRPr>
            </a:pPr>
            <a:r>
              <a:rPr sz="1875" b="0">
                <a:solidFill>
                  <a:srgbClr val="596476"/>
                </a:solidFill>
                <a:latin typeface="Arial"/>
                <a:ea typeface="Arial"/>
                <a:cs typeface="Arial"/>
              </a:rPr>
              <a:t>The client may provide only some of the records needed to explain each issue.</a:t>
            </a:r>
          </a:p>
        </p:txBody>
      </p:sp>
      <p:sp>
        <p:nvSpPr>
          <p:cNvPr id="9" name="Rectangle 8">
            <a:extLst>
              <a:ext uri="{FF2B5EF4-FFF2-40B4-BE49-F238E27FC236}">
                <a16:creationId xmlns:a16="http://schemas.microsoft.com/office/drawing/2014/main" id="{7D395E3A-3F89-441E-8852-01B6D7BBF740}"/>
              </a:ext>
            </a:extLst>
          </p:cNvPr>
          <p:cNvSpPr>
            <a:spLocks noGrp="1"/>
          </p:cNvSpPr>
          <p:nvPr/>
        </p:nvSpPr>
        <p:spPr>
          <a:xfrm>
            <a:off x="609600" y="4276725"/>
            <a:ext cx="4857750" cy="419100"/>
          </a:xfrm>
          <a:prstGeom prst="rect">
            <a:avLst/>
          </a:prstGeom>
          <a:noFill/>
          <a:ln w="0">
            <a:noFill/>
          </a:ln>
        </p:spPr>
        <p:txBody>
          <a:bodyPr>
            <a:noAutofit/>
          </a:bodyPr>
          <a:lstStyle/>
          <a:p>
            <a:pPr>
              <a:defRPr sz="2100" b="1">
                <a:solidFill>
                  <a:srgbClr val="742E46"/>
                </a:solidFill>
                <a:latin typeface="Arial"/>
                <a:ea typeface="Arial"/>
                <a:cs typeface="Arial"/>
              </a:defRPr>
            </a:pPr>
            <a:r>
              <a:rPr sz="2100" b="1">
                <a:solidFill>
                  <a:srgbClr val="742E46"/>
                </a:solidFill>
                <a:latin typeface="Arial"/>
                <a:ea typeface="Arial"/>
                <a:cs typeface="Arial"/>
              </a:rPr>
              <a:t>Considering both sides</a:t>
            </a:r>
          </a:p>
        </p:txBody>
      </p:sp>
      <p:sp>
        <p:nvSpPr>
          <p:cNvPr id="10" name="Rectangle 9">
            <a:extLst>
              <a:ext uri="{FF2B5EF4-FFF2-40B4-BE49-F238E27FC236}">
                <a16:creationId xmlns:a16="http://schemas.microsoft.com/office/drawing/2014/main" id="{6911FADA-E829-4303-9709-6D143A476EBA}"/>
              </a:ext>
            </a:extLst>
          </p:cNvPr>
          <p:cNvSpPr>
            <a:spLocks noGrp="1"/>
          </p:cNvSpPr>
          <p:nvPr/>
        </p:nvSpPr>
        <p:spPr>
          <a:xfrm>
            <a:off x="609600" y="4762500"/>
            <a:ext cx="4857750" cy="1028700"/>
          </a:xfrm>
          <a:prstGeom prst="rect">
            <a:avLst/>
          </a:prstGeom>
          <a:noFill/>
          <a:ln w="0">
            <a:noFill/>
          </a:ln>
        </p:spPr>
        <p:txBody>
          <a:bodyPr>
            <a:noAutofit/>
          </a:bodyPr>
          <a:lstStyle/>
          <a:p>
            <a:pPr>
              <a:defRPr sz="1875" b="0">
                <a:solidFill>
                  <a:srgbClr val="596476"/>
                </a:solidFill>
                <a:latin typeface="Arial"/>
                <a:ea typeface="Arial"/>
                <a:cs typeface="Arial"/>
              </a:defRPr>
            </a:pPr>
            <a:r>
              <a:rPr sz="1875" b="0">
                <a:solidFill>
                  <a:srgbClr val="596476"/>
                </a:solidFill>
                <a:latin typeface="Arial"/>
                <a:ea typeface="Arial"/>
                <a:cs typeface="Arial"/>
              </a:rPr>
              <a:t>Relevant law and adverse judgments need attention alongside supporting authorities.</a:t>
            </a:r>
          </a:p>
        </p:txBody>
      </p:sp>
      <p:sp>
        <p:nvSpPr>
          <p:cNvPr id="11" name="Rectangle 10">
            <a:extLst>
              <a:ext uri="{FF2B5EF4-FFF2-40B4-BE49-F238E27FC236}">
                <a16:creationId xmlns:a16="http://schemas.microsoft.com/office/drawing/2014/main" id="{18469949-E4AA-4917-9567-44B7FAED0DFC}"/>
              </a:ext>
            </a:extLst>
          </p:cNvPr>
          <p:cNvSpPr>
            <a:spLocks noGrp="1"/>
          </p:cNvSpPr>
          <p:nvPr/>
        </p:nvSpPr>
        <p:spPr>
          <a:xfrm>
            <a:off x="6515100" y="4276725"/>
            <a:ext cx="4857750" cy="419100"/>
          </a:xfrm>
          <a:prstGeom prst="rect">
            <a:avLst/>
          </a:prstGeom>
          <a:noFill/>
          <a:ln w="0">
            <a:noFill/>
          </a:ln>
        </p:spPr>
        <p:txBody>
          <a:bodyPr>
            <a:noAutofit/>
          </a:bodyPr>
          <a:lstStyle/>
          <a:p>
            <a:pPr>
              <a:defRPr sz="2100" b="1">
                <a:solidFill>
                  <a:srgbClr val="742E46"/>
                </a:solidFill>
                <a:latin typeface="Arial"/>
                <a:ea typeface="Arial"/>
                <a:cs typeface="Arial"/>
              </a:defRPr>
            </a:pPr>
            <a:r>
              <a:rPr sz="2100" b="1">
                <a:solidFill>
                  <a:srgbClr val="742E46"/>
                </a:solidFill>
                <a:latin typeface="Arial"/>
                <a:ea typeface="Arial"/>
                <a:cs typeface="Arial"/>
              </a:rPr>
              <a:t>Maintaining control</a:t>
            </a:r>
          </a:p>
        </p:txBody>
      </p:sp>
      <p:sp>
        <p:nvSpPr>
          <p:cNvPr id="12" name="Rectangle 11">
            <a:extLst>
              <a:ext uri="{FF2B5EF4-FFF2-40B4-BE49-F238E27FC236}">
                <a16:creationId xmlns:a16="http://schemas.microsoft.com/office/drawing/2014/main" id="{396AFDAD-307B-4257-B764-D89616421B1A}"/>
              </a:ext>
            </a:extLst>
          </p:cNvPr>
          <p:cNvSpPr>
            <a:spLocks noGrp="1"/>
          </p:cNvSpPr>
          <p:nvPr/>
        </p:nvSpPr>
        <p:spPr>
          <a:xfrm>
            <a:off x="6515100" y="4762500"/>
            <a:ext cx="4857750" cy="1028700"/>
          </a:xfrm>
          <a:prstGeom prst="rect">
            <a:avLst/>
          </a:prstGeom>
          <a:noFill/>
          <a:ln w="0">
            <a:noFill/>
          </a:ln>
        </p:spPr>
        <p:txBody>
          <a:bodyPr>
            <a:noAutofit/>
          </a:bodyPr>
          <a:lstStyle/>
          <a:p>
            <a:pPr>
              <a:defRPr sz="1875" b="0">
                <a:solidFill>
                  <a:srgbClr val="596476"/>
                </a:solidFill>
                <a:latin typeface="Arial"/>
                <a:ea typeface="Arial"/>
                <a:cs typeface="Arial"/>
              </a:defRPr>
            </a:pPr>
            <a:r>
              <a:rPr sz="1875" b="0">
                <a:solidFill>
                  <a:srgbClr val="596476"/>
                </a:solidFill>
                <a:latin typeface="Arial"/>
                <a:ea typeface="Arial"/>
                <a:cs typeface="Arial"/>
              </a:rPr>
              <a:t>The professional needs source excerpts, visible gaps and an editable final reply.</a:t>
            </a:r>
          </a:p>
        </p:txBody>
      </p:sp>
    </p:spTree>
    <p:extLst>
      <p:ext uri="{BB962C8B-B14F-4D97-AF65-F5344CB8AC3E}">
        <p14:creationId xmlns:p14="http://schemas.microsoft.com/office/powerpoint/2010/main" val="16889080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5F8"/>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96F6BD5-6A03-471A-A80B-A774C026A40A}"/>
              </a:ext>
            </a:extLst>
          </p:cNvPr>
          <p:cNvSpPr>
            <a:spLocks noGrp="1"/>
          </p:cNvSpPr>
          <p:nvPr/>
        </p:nvSpPr>
        <p:spPr>
          <a:xfrm>
            <a:off x="609600" y="419100"/>
            <a:ext cx="10972800" cy="762000"/>
          </a:xfrm>
          <a:prstGeom prst="rect">
            <a:avLst/>
          </a:prstGeom>
          <a:noFill/>
          <a:ln w="0">
            <a:noFill/>
          </a:ln>
        </p:spPr>
        <p:txBody>
          <a:bodyPr>
            <a:noAutofit/>
          </a:bodyPr>
          <a:lstStyle/>
          <a:p>
            <a:pPr>
              <a:defRPr sz="3300" b="1">
                <a:solidFill>
                  <a:srgbClr val="172A49"/>
                </a:solidFill>
                <a:latin typeface="Arial"/>
                <a:ea typeface="Arial"/>
                <a:cs typeface="Arial"/>
              </a:defRPr>
            </a:pPr>
            <a:r>
              <a:rPr sz="3300" b="1">
                <a:solidFill>
                  <a:srgbClr val="172A49"/>
                </a:solidFill>
                <a:latin typeface="Arial"/>
                <a:ea typeface="Arial"/>
                <a:cs typeface="Arial"/>
              </a:rPr>
              <a:t>Steps followed</a:t>
            </a:r>
          </a:p>
        </p:txBody>
      </p:sp>
      <p:sp>
        <p:nvSpPr>
          <p:cNvPr id="2" name="Rectangle 1">
            <a:extLst>
              <a:ext uri="{FF2B5EF4-FFF2-40B4-BE49-F238E27FC236}">
                <a16:creationId xmlns:a16="http://schemas.microsoft.com/office/drawing/2014/main" id="{78A80550-BDFF-4821-990D-DA5E7318B197}"/>
              </a:ext>
            </a:extLst>
          </p:cNvPr>
          <p:cNvSpPr>
            <a:spLocks noGrp="1"/>
          </p:cNvSpPr>
          <p:nvPr/>
        </p:nvSpPr>
        <p:spPr>
          <a:xfrm>
            <a:off x="609600" y="6467475"/>
            <a:ext cx="8572500" cy="228600"/>
          </a:xfrm>
          <a:prstGeom prst="rect">
            <a:avLst/>
          </a:prstGeom>
          <a:noFill/>
          <a:ln w="0">
            <a:noFill/>
          </a:ln>
        </p:spPr>
        <p:txBody>
          <a:bodyPr>
            <a:noAutofit/>
          </a:bodyPr>
          <a:lstStyle/>
          <a:p>
            <a:pPr>
              <a:defRPr sz="1200" b="0">
                <a:solidFill>
                  <a:srgbClr val="596476"/>
                </a:solidFill>
                <a:latin typeface="Arial"/>
                <a:ea typeface="Arial"/>
                <a:cs typeface="Arial"/>
              </a:defRPr>
            </a:pPr>
            <a:r>
              <a:rPr sz="1200" b="0">
                <a:solidFill>
                  <a:srgbClr val="596476"/>
                </a:solidFill>
                <a:latin typeface="Arial"/>
                <a:ea typeface="Arial"/>
                <a:cs typeface="Arial"/>
              </a:rPr>
              <a:t>AICA Level 2 course project</a:t>
            </a:r>
          </a:p>
        </p:txBody>
      </p:sp>
      <p:sp>
        <p:nvSpPr>
          <p:cNvPr id="3" name="Rectangle 2">
            <a:extLst>
              <a:ext uri="{FF2B5EF4-FFF2-40B4-BE49-F238E27FC236}">
                <a16:creationId xmlns:a16="http://schemas.microsoft.com/office/drawing/2014/main" id="{CAA42205-84DA-4CB9-96A5-E0B5175EF442}"/>
              </a:ext>
            </a:extLst>
          </p:cNvPr>
          <p:cNvSpPr>
            <a:spLocks noGrp="1"/>
          </p:cNvSpPr>
          <p:nvPr/>
        </p:nvSpPr>
        <p:spPr>
          <a:xfrm>
            <a:off x="11049000" y="6438900"/>
            <a:ext cx="533400" cy="266700"/>
          </a:xfrm>
          <a:prstGeom prst="rect">
            <a:avLst/>
          </a:prstGeom>
          <a:noFill/>
          <a:ln w="0">
            <a:noFill/>
          </a:ln>
        </p:spPr>
        <p:txBody>
          <a:bodyPr>
            <a:noAutofit/>
          </a:bodyPr>
          <a:lstStyle/>
          <a:p>
            <a:pPr>
              <a:defRPr sz="1350" b="1">
                <a:solidFill>
                  <a:srgbClr val="742E46"/>
                </a:solidFill>
                <a:latin typeface="Arial"/>
                <a:ea typeface="Arial"/>
                <a:cs typeface="Arial"/>
              </a:defRPr>
            </a:pPr>
            <a:r>
              <a:rPr sz="1350" b="1">
                <a:solidFill>
                  <a:srgbClr val="742E46"/>
                </a:solidFill>
                <a:latin typeface="Arial"/>
                <a:ea typeface="Arial"/>
                <a:cs typeface="Arial"/>
              </a:rPr>
              <a:t>03</a:t>
            </a:r>
          </a:p>
        </p:txBody>
      </p:sp>
      <p:sp>
        <p:nvSpPr>
          <p:cNvPr id="4" name="Rectangle 3">
            <a:extLst>
              <a:ext uri="{FF2B5EF4-FFF2-40B4-BE49-F238E27FC236}">
                <a16:creationId xmlns:a16="http://schemas.microsoft.com/office/drawing/2014/main" id="{48BAA272-FB1E-4CB6-B097-E30E0D545EBF}"/>
              </a:ext>
            </a:extLst>
          </p:cNvPr>
          <p:cNvSpPr>
            <a:spLocks noGrp="1"/>
          </p:cNvSpPr>
          <p:nvPr/>
        </p:nvSpPr>
        <p:spPr>
          <a:xfrm>
            <a:off x="609600" y="1438275"/>
            <a:ext cx="4953000" cy="438150"/>
          </a:xfrm>
          <a:prstGeom prst="rect">
            <a:avLst/>
          </a:prstGeom>
          <a:noFill/>
          <a:ln w="0">
            <a:noFill/>
          </a:ln>
        </p:spPr>
        <p:txBody>
          <a:bodyPr>
            <a:noAutofit/>
          </a:bodyPr>
          <a:lstStyle/>
          <a:p>
            <a:pPr>
              <a:defRPr sz="2175" b="1">
                <a:solidFill>
                  <a:srgbClr val="742E46"/>
                </a:solidFill>
                <a:latin typeface="Arial"/>
                <a:ea typeface="Arial"/>
                <a:cs typeface="Arial"/>
              </a:defRPr>
            </a:pPr>
            <a:r>
              <a:rPr sz="2175" b="1">
                <a:solidFill>
                  <a:srgbClr val="742E46"/>
                </a:solidFill>
                <a:latin typeface="Arial"/>
                <a:ea typeface="Arial"/>
                <a:cs typeface="Arial"/>
              </a:rPr>
              <a:t>Development approach</a:t>
            </a:r>
          </a:p>
        </p:txBody>
      </p:sp>
      <p:sp>
        <p:nvSpPr>
          <p:cNvPr id="5" name="Rectangle 4">
            <a:extLst>
              <a:ext uri="{FF2B5EF4-FFF2-40B4-BE49-F238E27FC236}">
                <a16:creationId xmlns:a16="http://schemas.microsoft.com/office/drawing/2014/main" id="{AFF307CE-72CE-4893-8EDF-0DBDBF664F2D}"/>
              </a:ext>
            </a:extLst>
          </p:cNvPr>
          <p:cNvSpPr>
            <a:spLocks noGrp="1"/>
          </p:cNvSpPr>
          <p:nvPr/>
        </p:nvSpPr>
        <p:spPr>
          <a:xfrm>
            <a:off x="609600" y="2133600"/>
            <a:ext cx="619125" cy="419100"/>
          </a:xfrm>
          <a:prstGeom prst="rect">
            <a:avLst/>
          </a:prstGeom>
          <a:noFill/>
          <a:ln w="0">
            <a:noFill/>
          </a:ln>
        </p:spPr>
        <p:txBody>
          <a:bodyPr>
            <a:noAutofit/>
          </a:bodyPr>
          <a:lstStyle/>
          <a:p>
            <a:pPr>
              <a:defRPr sz="2250" b="1">
                <a:solidFill>
                  <a:srgbClr val="C5A453"/>
                </a:solidFill>
                <a:latin typeface="Arial"/>
                <a:ea typeface="Arial"/>
                <a:cs typeface="Arial"/>
              </a:defRPr>
            </a:pPr>
            <a:r>
              <a:rPr sz="2250" b="1">
                <a:solidFill>
                  <a:srgbClr val="C5A453"/>
                </a:solidFill>
                <a:latin typeface="Arial"/>
                <a:ea typeface="Arial"/>
                <a:cs typeface="Arial"/>
              </a:rPr>
              <a:t>01</a:t>
            </a:r>
          </a:p>
        </p:txBody>
      </p:sp>
      <p:sp>
        <p:nvSpPr>
          <p:cNvPr id="6" name="Rectangle 5">
            <a:extLst>
              <a:ext uri="{FF2B5EF4-FFF2-40B4-BE49-F238E27FC236}">
                <a16:creationId xmlns:a16="http://schemas.microsoft.com/office/drawing/2014/main" id="{E7749642-21A8-4BC2-9299-2E69FEB434B2}"/>
              </a:ext>
            </a:extLst>
          </p:cNvPr>
          <p:cNvSpPr>
            <a:spLocks noGrp="1"/>
          </p:cNvSpPr>
          <p:nvPr/>
        </p:nvSpPr>
        <p:spPr>
          <a:xfrm>
            <a:off x="1362075" y="2133600"/>
            <a:ext cx="4191000" cy="619125"/>
          </a:xfrm>
          <a:prstGeom prst="rect">
            <a:avLst/>
          </a:prstGeom>
          <a:noFill/>
          <a:ln w="0">
            <a:noFill/>
          </a:ln>
        </p:spPr>
        <p:txBody>
          <a:bodyPr>
            <a:noAutofit/>
          </a:bodyPr>
          <a:lstStyle/>
          <a:p>
            <a:pPr>
              <a:defRPr sz="1875" b="0">
                <a:solidFill>
                  <a:srgbClr val="172A49"/>
                </a:solidFill>
                <a:latin typeface="Arial"/>
                <a:ea typeface="Arial"/>
                <a:cs typeface="Arial"/>
              </a:defRPr>
            </a:pPr>
            <a:r>
              <a:rPr sz="1875" b="0">
                <a:solidFill>
                  <a:srgbClr val="172A49"/>
                </a:solidFill>
                <a:latin typeface="Arial"/>
                <a:ea typeface="Arial"/>
                <a:cs typeface="Arial"/>
              </a:rPr>
              <a:t>Define the notice-to-reply process</a:t>
            </a:r>
          </a:p>
        </p:txBody>
      </p:sp>
      <p:sp>
        <p:nvSpPr>
          <p:cNvPr id="7" name="Rectangle 6">
            <a:extLst>
              <a:ext uri="{FF2B5EF4-FFF2-40B4-BE49-F238E27FC236}">
                <a16:creationId xmlns:a16="http://schemas.microsoft.com/office/drawing/2014/main" id="{242241D2-18EE-4B6F-A0E8-7654D42893AF}"/>
              </a:ext>
            </a:extLst>
          </p:cNvPr>
          <p:cNvSpPr>
            <a:spLocks noGrp="1"/>
          </p:cNvSpPr>
          <p:nvPr/>
        </p:nvSpPr>
        <p:spPr>
          <a:xfrm>
            <a:off x="609600" y="2971800"/>
            <a:ext cx="619125" cy="419100"/>
          </a:xfrm>
          <a:prstGeom prst="rect">
            <a:avLst/>
          </a:prstGeom>
          <a:noFill/>
          <a:ln w="0">
            <a:noFill/>
          </a:ln>
        </p:spPr>
        <p:txBody>
          <a:bodyPr>
            <a:noAutofit/>
          </a:bodyPr>
          <a:lstStyle/>
          <a:p>
            <a:pPr>
              <a:defRPr sz="2250" b="1">
                <a:solidFill>
                  <a:srgbClr val="C5A453"/>
                </a:solidFill>
                <a:latin typeface="Arial"/>
                <a:ea typeface="Arial"/>
                <a:cs typeface="Arial"/>
              </a:defRPr>
            </a:pPr>
            <a:r>
              <a:rPr sz="2250" b="1">
                <a:solidFill>
                  <a:srgbClr val="C5A453"/>
                </a:solidFill>
                <a:latin typeface="Arial"/>
                <a:ea typeface="Arial"/>
                <a:cs typeface="Arial"/>
              </a:rPr>
              <a:t>02</a:t>
            </a:r>
          </a:p>
        </p:txBody>
      </p:sp>
      <p:sp>
        <p:nvSpPr>
          <p:cNvPr id="8" name="Rectangle 7">
            <a:extLst>
              <a:ext uri="{FF2B5EF4-FFF2-40B4-BE49-F238E27FC236}">
                <a16:creationId xmlns:a16="http://schemas.microsoft.com/office/drawing/2014/main" id="{EC007A6C-8A55-462F-A96E-23D880F53D87}"/>
              </a:ext>
            </a:extLst>
          </p:cNvPr>
          <p:cNvSpPr>
            <a:spLocks noGrp="1"/>
          </p:cNvSpPr>
          <p:nvPr/>
        </p:nvSpPr>
        <p:spPr>
          <a:xfrm>
            <a:off x="1362075" y="2971800"/>
            <a:ext cx="4191000" cy="619125"/>
          </a:xfrm>
          <a:prstGeom prst="rect">
            <a:avLst/>
          </a:prstGeom>
          <a:noFill/>
          <a:ln w="0">
            <a:noFill/>
          </a:ln>
        </p:spPr>
        <p:txBody>
          <a:bodyPr>
            <a:noAutofit/>
          </a:bodyPr>
          <a:lstStyle/>
          <a:p>
            <a:pPr>
              <a:defRPr sz="1875" b="0">
                <a:solidFill>
                  <a:srgbClr val="172A49"/>
                </a:solidFill>
                <a:latin typeface="Arial"/>
                <a:ea typeface="Arial"/>
                <a:cs typeface="Arial"/>
              </a:defRPr>
            </a:pPr>
            <a:r>
              <a:rPr sz="1875" b="0">
                <a:solidFill>
                  <a:srgbClr val="172A49"/>
                </a:solidFill>
                <a:latin typeface="Arial"/>
                <a:ea typeface="Arial"/>
                <a:cs typeface="Arial"/>
              </a:rPr>
              <a:t>Build extraction and OCR handling</a:t>
            </a:r>
          </a:p>
        </p:txBody>
      </p:sp>
      <p:sp>
        <p:nvSpPr>
          <p:cNvPr id="9" name="Rectangle 8">
            <a:extLst>
              <a:ext uri="{FF2B5EF4-FFF2-40B4-BE49-F238E27FC236}">
                <a16:creationId xmlns:a16="http://schemas.microsoft.com/office/drawing/2014/main" id="{19523066-F14B-4430-BDFB-EBDB7ADF27F6}"/>
              </a:ext>
            </a:extLst>
          </p:cNvPr>
          <p:cNvSpPr>
            <a:spLocks noGrp="1"/>
          </p:cNvSpPr>
          <p:nvPr/>
        </p:nvSpPr>
        <p:spPr>
          <a:xfrm>
            <a:off x="609600" y="3810000"/>
            <a:ext cx="619125" cy="419100"/>
          </a:xfrm>
          <a:prstGeom prst="rect">
            <a:avLst/>
          </a:prstGeom>
          <a:noFill/>
          <a:ln w="0">
            <a:noFill/>
          </a:ln>
        </p:spPr>
        <p:txBody>
          <a:bodyPr>
            <a:noAutofit/>
          </a:bodyPr>
          <a:lstStyle/>
          <a:p>
            <a:pPr>
              <a:defRPr sz="2250" b="1">
                <a:solidFill>
                  <a:srgbClr val="C5A453"/>
                </a:solidFill>
                <a:latin typeface="Arial"/>
                <a:ea typeface="Arial"/>
                <a:cs typeface="Arial"/>
              </a:defRPr>
            </a:pPr>
            <a:r>
              <a:rPr sz="2250" b="1">
                <a:solidFill>
                  <a:srgbClr val="C5A453"/>
                </a:solidFill>
                <a:latin typeface="Arial"/>
                <a:ea typeface="Arial"/>
                <a:cs typeface="Arial"/>
              </a:rPr>
              <a:t>03</a:t>
            </a:r>
          </a:p>
        </p:txBody>
      </p:sp>
      <p:sp>
        <p:nvSpPr>
          <p:cNvPr id="10" name="Rectangle 9">
            <a:extLst>
              <a:ext uri="{FF2B5EF4-FFF2-40B4-BE49-F238E27FC236}">
                <a16:creationId xmlns:a16="http://schemas.microsoft.com/office/drawing/2014/main" id="{26CFF534-3A09-4470-A940-7D1A1109B7A3}"/>
              </a:ext>
            </a:extLst>
          </p:cNvPr>
          <p:cNvSpPr>
            <a:spLocks noGrp="1"/>
          </p:cNvSpPr>
          <p:nvPr/>
        </p:nvSpPr>
        <p:spPr>
          <a:xfrm>
            <a:off x="1362075" y="3810000"/>
            <a:ext cx="4191000" cy="619125"/>
          </a:xfrm>
          <a:prstGeom prst="rect">
            <a:avLst/>
          </a:prstGeom>
          <a:noFill/>
          <a:ln w="0">
            <a:noFill/>
          </a:ln>
        </p:spPr>
        <p:txBody>
          <a:bodyPr>
            <a:noAutofit/>
          </a:bodyPr>
          <a:lstStyle/>
          <a:p>
            <a:pPr>
              <a:defRPr sz="1875" b="0">
                <a:solidFill>
                  <a:srgbClr val="172A49"/>
                </a:solidFill>
                <a:latin typeface="Arial"/>
                <a:ea typeface="Arial"/>
                <a:cs typeface="Arial"/>
              </a:defRPr>
            </a:pPr>
            <a:r>
              <a:rPr sz="1875" b="0">
                <a:solidFill>
                  <a:srgbClr val="172A49"/>
                </a:solidFill>
                <a:latin typeface="Arial"/>
                <a:ea typeface="Arial"/>
                <a:cs typeface="Arial"/>
              </a:rPr>
              <a:t>Add evidence, research and strategy</a:t>
            </a:r>
          </a:p>
        </p:txBody>
      </p:sp>
      <p:sp>
        <p:nvSpPr>
          <p:cNvPr id="11" name="Rectangle 10">
            <a:extLst>
              <a:ext uri="{FF2B5EF4-FFF2-40B4-BE49-F238E27FC236}">
                <a16:creationId xmlns:a16="http://schemas.microsoft.com/office/drawing/2014/main" id="{7A6A5843-0B10-495D-93BF-3B54E57DD5BA}"/>
              </a:ext>
            </a:extLst>
          </p:cNvPr>
          <p:cNvSpPr>
            <a:spLocks noGrp="1"/>
          </p:cNvSpPr>
          <p:nvPr/>
        </p:nvSpPr>
        <p:spPr>
          <a:xfrm>
            <a:off x="609600" y="4648200"/>
            <a:ext cx="619125" cy="419100"/>
          </a:xfrm>
          <a:prstGeom prst="rect">
            <a:avLst/>
          </a:prstGeom>
          <a:noFill/>
          <a:ln w="0">
            <a:noFill/>
          </a:ln>
        </p:spPr>
        <p:txBody>
          <a:bodyPr>
            <a:noAutofit/>
          </a:bodyPr>
          <a:lstStyle/>
          <a:p>
            <a:pPr>
              <a:defRPr sz="2250" b="1">
                <a:solidFill>
                  <a:srgbClr val="C5A453"/>
                </a:solidFill>
                <a:latin typeface="Arial"/>
                <a:ea typeface="Arial"/>
                <a:cs typeface="Arial"/>
              </a:defRPr>
            </a:pPr>
            <a:r>
              <a:rPr sz="2250" b="1">
                <a:solidFill>
                  <a:srgbClr val="C5A453"/>
                </a:solidFill>
                <a:latin typeface="Arial"/>
                <a:ea typeface="Arial"/>
                <a:cs typeface="Arial"/>
              </a:rPr>
              <a:t>04</a:t>
            </a:r>
          </a:p>
        </p:txBody>
      </p:sp>
      <p:sp>
        <p:nvSpPr>
          <p:cNvPr id="12" name="Rectangle 11">
            <a:extLst>
              <a:ext uri="{FF2B5EF4-FFF2-40B4-BE49-F238E27FC236}">
                <a16:creationId xmlns:a16="http://schemas.microsoft.com/office/drawing/2014/main" id="{B42B71EF-7B59-4C43-A1FA-3313D8A7C851}"/>
              </a:ext>
            </a:extLst>
          </p:cNvPr>
          <p:cNvSpPr>
            <a:spLocks noGrp="1"/>
          </p:cNvSpPr>
          <p:nvPr/>
        </p:nvSpPr>
        <p:spPr>
          <a:xfrm>
            <a:off x="1362075" y="4648200"/>
            <a:ext cx="4191000" cy="619125"/>
          </a:xfrm>
          <a:prstGeom prst="rect">
            <a:avLst/>
          </a:prstGeom>
          <a:noFill/>
          <a:ln w="0">
            <a:noFill/>
          </a:ln>
        </p:spPr>
        <p:txBody>
          <a:bodyPr>
            <a:noAutofit/>
          </a:bodyPr>
          <a:lstStyle/>
          <a:p>
            <a:pPr>
              <a:defRPr sz="1875" b="0">
                <a:solidFill>
                  <a:srgbClr val="172A49"/>
                </a:solidFill>
                <a:latin typeface="Arial"/>
                <a:ea typeface="Arial"/>
                <a:cs typeface="Arial"/>
              </a:defRPr>
            </a:pPr>
            <a:r>
              <a:rPr sz="1875" b="0">
                <a:solidFill>
                  <a:srgbClr val="172A49"/>
                </a:solidFill>
                <a:latin typeface="Arial"/>
                <a:ea typeface="Arial"/>
                <a:cs typeface="Arial"/>
              </a:rPr>
              <a:t>Test sample flows and package setup</a:t>
            </a:r>
          </a:p>
        </p:txBody>
      </p:sp>
      <p:sp>
        <p:nvSpPr>
          <p:cNvPr id="13" name="Rectangle 12">
            <a:extLst>
              <a:ext uri="{FF2B5EF4-FFF2-40B4-BE49-F238E27FC236}">
                <a16:creationId xmlns:a16="http://schemas.microsoft.com/office/drawing/2014/main" id="{5EC833D0-4C62-4734-ACF8-D8A8ECEEDCE9}"/>
              </a:ext>
            </a:extLst>
          </p:cNvPr>
          <p:cNvSpPr>
            <a:spLocks noGrp="1"/>
          </p:cNvSpPr>
          <p:nvPr/>
        </p:nvSpPr>
        <p:spPr>
          <a:xfrm>
            <a:off x="6553200" y="1438275"/>
            <a:ext cx="4953000" cy="438150"/>
          </a:xfrm>
          <a:prstGeom prst="rect">
            <a:avLst/>
          </a:prstGeom>
          <a:noFill/>
          <a:ln w="0">
            <a:noFill/>
          </a:ln>
        </p:spPr>
        <p:txBody>
          <a:bodyPr>
            <a:noAutofit/>
          </a:bodyPr>
          <a:lstStyle/>
          <a:p>
            <a:pPr>
              <a:defRPr sz="2175" b="1">
                <a:solidFill>
                  <a:srgbClr val="742E46"/>
                </a:solidFill>
                <a:latin typeface="Arial"/>
                <a:ea typeface="Arial"/>
                <a:cs typeface="Arial"/>
              </a:defRPr>
            </a:pPr>
            <a:r>
              <a:rPr sz="2175" b="1">
                <a:solidFill>
                  <a:srgbClr val="742E46"/>
                </a:solidFill>
                <a:latin typeface="Arial"/>
                <a:ea typeface="Arial"/>
                <a:cs typeface="Arial"/>
              </a:rPr>
              <a:t>Seven stages in the application</a:t>
            </a:r>
          </a:p>
        </p:txBody>
      </p:sp>
      <p:sp>
        <p:nvSpPr>
          <p:cNvPr id="14" name="Rectangle 13">
            <a:extLst>
              <a:ext uri="{FF2B5EF4-FFF2-40B4-BE49-F238E27FC236}">
                <a16:creationId xmlns:a16="http://schemas.microsoft.com/office/drawing/2014/main" id="{EE7E15AF-3820-4722-B47C-25EFC78C9CAD}"/>
              </a:ext>
            </a:extLst>
          </p:cNvPr>
          <p:cNvSpPr>
            <a:spLocks noGrp="1"/>
          </p:cNvSpPr>
          <p:nvPr/>
        </p:nvSpPr>
        <p:spPr>
          <a:xfrm>
            <a:off x="6553200" y="2076450"/>
            <a:ext cx="4914900" cy="466725"/>
          </a:xfrm>
          <a:prstGeom prst="rect">
            <a:avLst/>
          </a:prstGeom>
          <a:noFill/>
          <a:ln w="0">
            <a:noFill/>
          </a:ln>
        </p:spPr>
        <p:txBody>
          <a:bodyPr>
            <a:noAutofit/>
          </a:bodyPr>
          <a:lstStyle/>
          <a:p>
            <a:pPr>
              <a:defRPr sz="1875" b="0">
                <a:solidFill>
                  <a:srgbClr val="172A49"/>
                </a:solidFill>
                <a:latin typeface="Arial"/>
                <a:ea typeface="Arial"/>
                <a:cs typeface="Arial"/>
              </a:defRPr>
            </a:pPr>
            <a:r>
              <a:rPr sz="1875" b="0">
                <a:solidFill>
                  <a:srgbClr val="172A49"/>
                </a:solidFill>
                <a:latin typeface="Arial"/>
                <a:ea typeface="Arial"/>
                <a:cs typeface="Arial"/>
              </a:rPr>
              <a:t>1.  Upload notice</a:t>
            </a:r>
          </a:p>
        </p:txBody>
      </p:sp>
      <p:sp>
        <p:nvSpPr>
          <p:cNvPr id="15" name="Rectangle 14">
            <a:extLst>
              <a:ext uri="{FF2B5EF4-FFF2-40B4-BE49-F238E27FC236}">
                <a16:creationId xmlns:a16="http://schemas.microsoft.com/office/drawing/2014/main" id="{E10FB0C3-EC75-4B49-9BAB-40749FC1019F}"/>
              </a:ext>
            </a:extLst>
          </p:cNvPr>
          <p:cNvSpPr>
            <a:spLocks noGrp="1"/>
          </p:cNvSpPr>
          <p:nvPr/>
        </p:nvSpPr>
        <p:spPr>
          <a:xfrm>
            <a:off x="6553200" y="2619375"/>
            <a:ext cx="4914900" cy="466725"/>
          </a:xfrm>
          <a:prstGeom prst="rect">
            <a:avLst/>
          </a:prstGeom>
          <a:noFill/>
          <a:ln w="0">
            <a:noFill/>
          </a:ln>
        </p:spPr>
        <p:txBody>
          <a:bodyPr>
            <a:noAutofit/>
          </a:bodyPr>
          <a:lstStyle/>
          <a:p>
            <a:pPr>
              <a:defRPr sz="1875" b="0">
                <a:solidFill>
                  <a:srgbClr val="172A49"/>
                </a:solidFill>
                <a:latin typeface="Arial"/>
                <a:ea typeface="Arial"/>
                <a:cs typeface="Arial"/>
              </a:defRPr>
            </a:pPr>
            <a:r>
              <a:rPr sz="1875" b="0">
                <a:solidFill>
                  <a:srgbClr val="172A49"/>
                </a:solidFill>
                <a:latin typeface="Arial"/>
                <a:ea typeface="Arial"/>
                <a:cs typeface="Arial"/>
              </a:rPr>
              <a:t>2.  Understand the issues</a:t>
            </a:r>
          </a:p>
        </p:txBody>
      </p:sp>
      <p:sp>
        <p:nvSpPr>
          <p:cNvPr id="16" name="Rectangle 15">
            <a:extLst>
              <a:ext uri="{FF2B5EF4-FFF2-40B4-BE49-F238E27FC236}">
                <a16:creationId xmlns:a16="http://schemas.microsoft.com/office/drawing/2014/main" id="{C56731A5-D5ED-41A7-9E5E-9FF53CF60E2A}"/>
              </a:ext>
            </a:extLst>
          </p:cNvPr>
          <p:cNvSpPr>
            <a:spLocks noGrp="1"/>
          </p:cNvSpPr>
          <p:nvPr/>
        </p:nvSpPr>
        <p:spPr>
          <a:xfrm>
            <a:off x="6553200" y="3162300"/>
            <a:ext cx="4914900" cy="466725"/>
          </a:xfrm>
          <a:prstGeom prst="rect">
            <a:avLst/>
          </a:prstGeom>
          <a:noFill/>
          <a:ln w="0">
            <a:noFill/>
          </a:ln>
        </p:spPr>
        <p:txBody>
          <a:bodyPr>
            <a:noAutofit/>
          </a:bodyPr>
          <a:lstStyle/>
          <a:p>
            <a:pPr>
              <a:defRPr sz="1875" b="0">
                <a:solidFill>
                  <a:srgbClr val="172A49"/>
                </a:solidFill>
                <a:latin typeface="Arial"/>
                <a:ea typeface="Arial"/>
                <a:cs typeface="Arial"/>
              </a:defRPr>
            </a:pPr>
            <a:r>
              <a:rPr sz="1875" b="0">
                <a:solidFill>
                  <a:srgbClr val="172A49"/>
                </a:solidFill>
                <a:latin typeface="Arial"/>
                <a:ea typeface="Arial"/>
                <a:cs typeface="Arial"/>
              </a:rPr>
              <a:t>3.  Gather client documents</a:t>
            </a:r>
          </a:p>
        </p:txBody>
      </p:sp>
      <p:sp>
        <p:nvSpPr>
          <p:cNvPr id="17" name="Rectangle 16">
            <a:extLst>
              <a:ext uri="{FF2B5EF4-FFF2-40B4-BE49-F238E27FC236}">
                <a16:creationId xmlns:a16="http://schemas.microsoft.com/office/drawing/2014/main" id="{89BF0587-1D01-41FA-A6B5-4EDC70D611E3}"/>
              </a:ext>
            </a:extLst>
          </p:cNvPr>
          <p:cNvSpPr>
            <a:spLocks noGrp="1"/>
          </p:cNvSpPr>
          <p:nvPr/>
        </p:nvSpPr>
        <p:spPr>
          <a:xfrm>
            <a:off x="6553200" y="3705225"/>
            <a:ext cx="4914900" cy="466725"/>
          </a:xfrm>
          <a:prstGeom prst="rect">
            <a:avLst/>
          </a:prstGeom>
          <a:noFill/>
          <a:ln w="0">
            <a:noFill/>
          </a:ln>
        </p:spPr>
        <p:txBody>
          <a:bodyPr>
            <a:noAutofit/>
          </a:bodyPr>
          <a:lstStyle/>
          <a:p>
            <a:pPr>
              <a:defRPr sz="1875" b="0">
                <a:solidFill>
                  <a:srgbClr val="172A49"/>
                </a:solidFill>
                <a:latin typeface="Arial"/>
                <a:ea typeface="Arial"/>
                <a:cs typeface="Arial"/>
              </a:defRPr>
            </a:pPr>
            <a:r>
              <a:rPr sz="1875" b="0">
                <a:solidFill>
                  <a:srgbClr val="172A49"/>
                </a:solidFill>
                <a:latin typeface="Arial"/>
                <a:ea typeface="Arial"/>
                <a:cs typeface="Arial"/>
              </a:rPr>
              <a:t>4.  Research applicable provisions</a:t>
            </a:r>
          </a:p>
        </p:txBody>
      </p:sp>
      <p:sp>
        <p:nvSpPr>
          <p:cNvPr id="18" name="Rectangle 17">
            <a:extLst>
              <a:ext uri="{FF2B5EF4-FFF2-40B4-BE49-F238E27FC236}">
                <a16:creationId xmlns:a16="http://schemas.microsoft.com/office/drawing/2014/main" id="{3ECF3093-6927-4D6D-9BED-4AE338D85FFF}"/>
              </a:ext>
            </a:extLst>
          </p:cNvPr>
          <p:cNvSpPr>
            <a:spLocks noGrp="1"/>
          </p:cNvSpPr>
          <p:nvPr/>
        </p:nvSpPr>
        <p:spPr>
          <a:xfrm>
            <a:off x="6553200" y="4248150"/>
            <a:ext cx="4914900" cy="466725"/>
          </a:xfrm>
          <a:prstGeom prst="rect">
            <a:avLst/>
          </a:prstGeom>
          <a:noFill/>
          <a:ln w="0">
            <a:noFill/>
          </a:ln>
        </p:spPr>
        <p:txBody>
          <a:bodyPr>
            <a:noAutofit/>
          </a:bodyPr>
          <a:lstStyle/>
          <a:p>
            <a:pPr>
              <a:defRPr sz="1875" b="0">
                <a:solidFill>
                  <a:srgbClr val="172A49"/>
                </a:solidFill>
                <a:latin typeface="Arial"/>
                <a:ea typeface="Arial"/>
                <a:cs typeface="Arial"/>
              </a:defRPr>
            </a:pPr>
            <a:r>
              <a:rPr sz="1875" b="0">
                <a:solidFill>
                  <a:srgbClr val="172A49"/>
                </a:solidFill>
                <a:latin typeface="Arial"/>
                <a:ea typeface="Arial"/>
                <a:cs typeface="Arial"/>
              </a:rPr>
              <a:t>5.  Examine case law on both sides</a:t>
            </a:r>
          </a:p>
        </p:txBody>
      </p:sp>
      <p:sp>
        <p:nvSpPr>
          <p:cNvPr id="19" name="Rectangle 18">
            <a:extLst>
              <a:ext uri="{FF2B5EF4-FFF2-40B4-BE49-F238E27FC236}">
                <a16:creationId xmlns:a16="http://schemas.microsoft.com/office/drawing/2014/main" id="{D4EB87E1-17E7-466F-9894-D7722FB38174}"/>
              </a:ext>
            </a:extLst>
          </p:cNvPr>
          <p:cNvSpPr>
            <a:spLocks noGrp="1"/>
          </p:cNvSpPr>
          <p:nvPr/>
        </p:nvSpPr>
        <p:spPr>
          <a:xfrm>
            <a:off x="6553200" y="4791075"/>
            <a:ext cx="4914900" cy="466725"/>
          </a:xfrm>
          <a:prstGeom prst="rect">
            <a:avLst/>
          </a:prstGeom>
          <a:noFill/>
          <a:ln w="0">
            <a:noFill/>
          </a:ln>
        </p:spPr>
        <p:txBody>
          <a:bodyPr>
            <a:noAutofit/>
          </a:bodyPr>
          <a:lstStyle/>
          <a:p>
            <a:pPr>
              <a:defRPr sz="1875" b="0">
                <a:solidFill>
                  <a:srgbClr val="172A49"/>
                </a:solidFill>
                <a:latin typeface="Arial"/>
                <a:ea typeface="Arial"/>
                <a:cs typeface="Arial"/>
              </a:defRPr>
            </a:pPr>
            <a:r>
              <a:rPr sz="1875" b="0">
                <a:solidFill>
                  <a:srgbClr val="172A49"/>
                </a:solidFill>
                <a:latin typeface="Arial"/>
                <a:ea typeface="Arial"/>
                <a:cs typeface="Arial"/>
              </a:rPr>
              <a:t>6.  Prepare the response strategy</a:t>
            </a:r>
          </a:p>
        </p:txBody>
      </p:sp>
      <p:sp>
        <p:nvSpPr>
          <p:cNvPr id="20" name="Rectangle 19">
            <a:extLst>
              <a:ext uri="{FF2B5EF4-FFF2-40B4-BE49-F238E27FC236}">
                <a16:creationId xmlns:a16="http://schemas.microsoft.com/office/drawing/2014/main" id="{2A007E6A-9C3A-458F-9CEF-B742D85ED472}"/>
              </a:ext>
            </a:extLst>
          </p:cNvPr>
          <p:cNvSpPr>
            <a:spLocks noGrp="1"/>
          </p:cNvSpPr>
          <p:nvPr/>
        </p:nvSpPr>
        <p:spPr>
          <a:xfrm>
            <a:off x="6553200" y="5334000"/>
            <a:ext cx="4914900" cy="466725"/>
          </a:xfrm>
          <a:prstGeom prst="rect">
            <a:avLst/>
          </a:prstGeom>
          <a:noFill/>
          <a:ln w="0">
            <a:noFill/>
          </a:ln>
        </p:spPr>
        <p:txBody>
          <a:bodyPr>
            <a:noAutofit/>
          </a:bodyPr>
          <a:lstStyle/>
          <a:p>
            <a:pPr>
              <a:defRPr sz="1875" b="0">
                <a:solidFill>
                  <a:srgbClr val="172A49"/>
                </a:solidFill>
                <a:latin typeface="Arial"/>
                <a:ea typeface="Arial"/>
                <a:cs typeface="Arial"/>
              </a:defRPr>
            </a:pPr>
            <a:r>
              <a:rPr sz="1875" b="0">
                <a:solidFill>
                  <a:srgbClr val="172A49"/>
                </a:solidFill>
                <a:latin typeface="Arial"/>
                <a:ea typeface="Arial"/>
                <a:cs typeface="Arial"/>
              </a:rPr>
              <a:t>7.  Review and export the reply</a:t>
            </a:r>
          </a:p>
        </p:txBody>
      </p:sp>
    </p:spTree>
    <p:extLst>
      <p:ext uri="{BB962C8B-B14F-4D97-AF65-F5344CB8AC3E}">
        <p14:creationId xmlns:p14="http://schemas.microsoft.com/office/powerpoint/2010/main" val="663444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72A49"/>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19F5F91E-1463-4522-AD1F-F67ECAEE1C71}"/>
              </a:ext>
            </a:extLst>
          </p:cNvPr>
          <p:cNvSpPr>
            <a:spLocks noGrp="1"/>
          </p:cNvSpPr>
          <p:nvPr/>
        </p:nvSpPr>
        <p:spPr>
          <a:xfrm>
            <a:off x="609600" y="419100"/>
            <a:ext cx="10972800" cy="762000"/>
          </a:xfrm>
          <a:prstGeom prst="rect">
            <a:avLst/>
          </a:prstGeom>
          <a:noFill/>
          <a:ln w="0">
            <a:noFill/>
          </a:ln>
        </p:spPr>
        <p:txBody>
          <a:bodyPr>
            <a:noAutofit/>
          </a:bodyPr>
          <a:lstStyle/>
          <a:p>
            <a:pPr>
              <a:defRPr sz="3300" b="1">
                <a:solidFill>
                  <a:srgbClr val="FFFFFF"/>
                </a:solidFill>
                <a:latin typeface="Arial"/>
                <a:ea typeface="Arial"/>
                <a:cs typeface="Arial"/>
              </a:defRPr>
            </a:pPr>
            <a:r>
              <a:rPr sz="3300" b="1">
                <a:solidFill>
                  <a:srgbClr val="FFFFFF"/>
                </a:solidFill>
                <a:latin typeface="Arial"/>
                <a:ea typeface="Arial"/>
                <a:cs typeface="Arial"/>
              </a:rPr>
              <a:t>Technology used</a:t>
            </a:r>
          </a:p>
        </p:txBody>
      </p:sp>
      <p:sp>
        <p:nvSpPr>
          <p:cNvPr id="2" name="Rectangle 1">
            <a:extLst>
              <a:ext uri="{FF2B5EF4-FFF2-40B4-BE49-F238E27FC236}">
                <a16:creationId xmlns:a16="http://schemas.microsoft.com/office/drawing/2014/main" id="{FEA90BB9-093B-4818-AEAA-23864EF14192}"/>
              </a:ext>
            </a:extLst>
          </p:cNvPr>
          <p:cNvSpPr>
            <a:spLocks noGrp="1"/>
          </p:cNvSpPr>
          <p:nvPr/>
        </p:nvSpPr>
        <p:spPr>
          <a:xfrm>
            <a:off x="609600" y="6467475"/>
            <a:ext cx="8572500" cy="228600"/>
          </a:xfrm>
          <a:prstGeom prst="rect">
            <a:avLst/>
          </a:prstGeom>
          <a:noFill/>
          <a:ln w="0">
            <a:noFill/>
          </a:ln>
        </p:spPr>
        <p:txBody>
          <a:bodyPr>
            <a:noAutofit/>
          </a:bodyPr>
          <a:lstStyle/>
          <a:p>
            <a:pPr>
              <a:defRPr sz="1200" b="0">
                <a:solidFill>
                  <a:srgbClr val="BDC9DD"/>
                </a:solidFill>
                <a:latin typeface="Arial"/>
                <a:ea typeface="Arial"/>
                <a:cs typeface="Arial"/>
              </a:defRPr>
            </a:pPr>
            <a:r>
              <a:rPr sz="1200" b="0">
                <a:solidFill>
                  <a:srgbClr val="BDC9DD"/>
                </a:solidFill>
                <a:latin typeface="Arial"/>
                <a:ea typeface="Arial"/>
                <a:cs typeface="Arial"/>
              </a:rPr>
              <a:t>AICA Level 2 course project</a:t>
            </a:r>
          </a:p>
        </p:txBody>
      </p:sp>
      <p:sp>
        <p:nvSpPr>
          <p:cNvPr id="3" name="Rectangle 2">
            <a:extLst>
              <a:ext uri="{FF2B5EF4-FFF2-40B4-BE49-F238E27FC236}">
                <a16:creationId xmlns:a16="http://schemas.microsoft.com/office/drawing/2014/main" id="{362AD420-73B3-470A-BACB-FB4FEA8E8663}"/>
              </a:ext>
            </a:extLst>
          </p:cNvPr>
          <p:cNvSpPr>
            <a:spLocks noGrp="1"/>
          </p:cNvSpPr>
          <p:nvPr/>
        </p:nvSpPr>
        <p:spPr>
          <a:xfrm>
            <a:off x="11049000" y="6438900"/>
            <a:ext cx="533400" cy="266700"/>
          </a:xfrm>
          <a:prstGeom prst="rect">
            <a:avLst/>
          </a:prstGeom>
          <a:noFill/>
          <a:ln w="0">
            <a:noFill/>
          </a:ln>
        </p:spPr>
        <p:txBody>
          <a:bodyPr>
            <a:noAutofit/>
          </a:bodyPr>
          <a:lstStyle/>
          <a:p>
            <a:pPr>
              <a:defRPr sz="1350" b="1">
                <a:solidFill>
                  <a:srgbClr val="C5A453"/>
                </a:solidFill>
                <a:latin typeface="Arial"/>
                <a:ea typeface="Arial"/>
                <a:cs typeface="Arial"/>
              </a:defRPr>
            </a:pPr>
            <a:r>
              <a:rPr sz="1350" b="1">
                <a:solidFill>
                  <a:srgbClr val="C5A453"/>
                </a:solidFill>
                <a:latin typeface="Arial"/>
                <a:ea typeface="Arial"/>
                <a:cs typeface="Arial"/>
              </a:rPr>
              <a:t>04</a:t>
            </a:r>
          </a:p>
        </p:txBody>
      </p:sp>
      <p:sp>
        <p:nvSpPr>
          <p:cNvPr id="4" name="Rectangle 3">
            <a:extLst>
              <a:ext uri="{FF2B5EF4-FFF2-40B4-BE49-F238E27FC236}">
                <a16:creationId xmlns:a16="http://schemas.microsoft.com/office/drawing/2014/main" id="{90EB002A-118F-46DF-A125-6A3CAFA93288}"/>
              </a:ext>
            </a:extLst>
          </p:cNvPr>
          <p:cNvSpPr>
            <a:spLocks noGrp="1"/>
          </p:cNvSpPr>
          <p:nvPr/>
        </p:nvSpPr>
        <p:spPr>
          <a:xfrm>
            <a:off x="609600" y="1485900"/>
            <a:ext cx="2619375" cy="342900"/>
          </a:xfrm>
          <a:prstGeom prst="rect">
            <a:avLst/>
          </a:prstGeom>
          <a:noFill/>
          <a:ln w="0">
            <a:noFill/>
          </a:ln>
        </p:spPr>
        <p:txBody>
          <a:bodyPr>
            <a:noAutofit/>
          </a:bodyPr>
          <a:lstStyle/>
          <a:p>
            <a:pPr>
              <a:defRPr sz="1800" b="1">
                <a:solidFill>
                  <a:srgbClr val="C5A453"/>
                </a:solidFill>
                <a:latin typeface="Arial"/>
                <a:ea typeface="Arial"/>
                <a:cs typeface="Arial"/>
              </a:defRPr>
            </a:pPr>
            <a:r>
              <a:rPr sz="1800" b="1">
                <a:solidFill>
                  <a:srgbClr val="C5A453"/>
                </a:solidFill>
                <a:latin typeface="Arial"/>
                <a:ea typeface="Arial"/>
                <a:cs typeface="Arial"/>
              </a:rPr>
              <a:t>Application</a:t>
            </a:r>
          </a:p>
        </p:txBody>
      </p:sp>
      <p:sp>
        <p:nvSpPr>
          <p:cNvPr id="5" name="Rectangle 4">
            <a:extLst>
              <a:ext uri="{FF2B5EF4-FFF2-40B4-BE49-F238E27FC236}">
                <a16:creationId xmlns:a16="http://schemas.microsoft.com/office/drawing/2014/main" id="{488619A4-4955-429F-8492-496149C45083}"/>
              </a:ext>
            </a:extLst>
          </p:cNvPr>
          <p:cNvSpPr>
            <a:spLocks noGrp="1"/>
          </p:cNvSpPr>
          <p:nvPr/>
        </p:nvSpPr>
        <p:spPr>
          <a:xfrm>
            <a:off x="3448050" y="1485900"/>
            <a:ext cx="8096250" cy="361950"/>
          </a:xfrm>
          <a:prstGeom prst="rect">
            <a:avLst/>
          </a:prstGeom>
          <a:noFill/>
          <a:ln w="0">
            <a:noFill/>
          </a:ln>
        </p:spPr>
        <p:txBody>
          <a:bodyPr>
            <a:noAutofit/>
          </a:bodyPr>
          <a:lstStyle/>
          <a:p>
            <a:pPr>
              <a:defRPr sz="2100" b="1">
                <a:solidFill>
                  <a:srgbClr val="FFFFFF"/>
                </a:solidFill>
                <a:latin typeface="Arial"/>
                <a:ea typeface="Arial"/>
                <a:cs typeface="Arial"/>
              </a:defRPr>
            </a:pPr>
            <a:r>
              <a:rPr sz="2100" b="1">
                <a:solidFill>
                  <a:srgbClr val="FFFFFF"/>
                </a:solidFill>
                <a:latin typeface="Arial"/>
                <a:ea typeface="Arial"/>
                <a:cs typeface="Arial"/>
              </a:rPr>
              <a:t>Python and Streamlit</a:t>
            </a:r>
          </a:p>
        </p:txBody>
      </p:sp>
      <p:sp>
        <p:nvSpPr>
          <p:cNvPr id="6" name="Rectangle 5">
            <a:extLst>
              <a:ext uri="{FF2B5EF4-FFF2-40B4-BE49-F238E27FC236}">
                <a16:creationId xmlns:a16="http://schemas.microsoft.com/office/drawing/2014/main" id="{2411455F-F010-4AC9-8663-D4C84110EAB3}"/>
              </a:ext>
            </a:extLst>
          </p:cNvPr>
          <p:cNvSpPr>
            <a:spLocks noGrp="1"/>
          </p:cNvSpPr>
          <p:nvPr/>
        </p:nvSpPr>
        <p:spPr>
          <a:xfrm>
            <a:off x="3448050" y="1914525"/>
            <a:ext cx="8096250" cy="457200"/>
          </a:xfrm>
          <a:prstGeom prst="rect">
            <a:avLst/>
          </a:prstGeom>
          <a:noFill/>
          <a:ln w="0">
            <a:noFill/>
          </a:ln>
        </p:spPr>
        <p:txBody>
          <a:bodyPr>
            <a:noAutofit/>
          </a:bodyPr>
          <a:lstStyle/>
          <a:p>
            <a:pPr>
              <a:defRPr sz="1800" b="0">
                <a:solidFill>
                  <a:srgbClr val="C9D3E4"/>
                </a:solidFill>
                <a:latin typeface="Arial"/>
                <a:ea typeface="Arial"/>
                <a:cs typeface="Arial"/>
              </a:defRPr>
            </a:pPr>
            <a:r>
              <a:rPr sz="1800" b="0">
                <a:solidFill>
                  <a:srgbClr val="C9D3E4"/>
                </a:solidFill>
                <a:latin typeface="Arial"/>
                <a:ea typeface="Arial"/>
                <a:cs typeface="Arial"/>
              </a:rPr>
              <a:t>Local browser interface and session workflow</a:t>
            </a:r>
          </a:p>
        </p:txBody>
      </p:sp>
      <p:sp>
        <p:nvSpPr>
          <p:cNvPr id="7" name="Rectangle 6">
            <a:extLst>
              <a:ext uri="{FF2B5EF4-FFF2-40B4-BE49-F238E27FC236}">
                <a16:creationId xmlns:a16="http://schemas.microsoft.com/office/drawing/2014/main" id="{CAE8FA28-F7C7-4381-80F8-BD7B5EEECB63}"/>
              </a:ext>
            </a:extLst>
          </p:cNvPr>
          <p:cNvSpPr>
            <a:spLocks noGrp="1"/>
          </p:cNvSpPr>
          <p:nvPr/>
        </p:nvSpPr>
        <p:spPr>
          <a:xfrm>
            <a:off x="609600" y="2619375"/>
            <a:ext cx="2619375" cy="342900"/>
          </a:xfrm>
          <a:prstGeom prst="rect">
            <a:avLst/>
          </a:prstGeom>
          <a:noFill/>
          <a:ln w="0">
            <a:noFill/>
          </a:ln>
        </p:spPr>
        <p:txBody>
          <a:bodyPr>
            <a:noAutofit/>
          </a:bodyPr>
          <a:lstStyle/>
          <a:p>
            <a:pPr>
              <a:defRPr sz="1800" b="1">
                <a:solidFill>
                  <a:srgbClr val="C5A453"/>
                </a:solidFill>
                <a:latin typeface="Arial"/>
                <a:ea typeface="Arial"/>
                <a:cs typeface="Arial"/>
              </a:defRPr>
            </a:pPr>
            <a:r>
              <a:rPr sz="1800" b="1">
                <a:solidFill>
                  <a:srgbClr val="C5A453"/>
                </a:solidFill>
                <a:latin typeface="Arial"/>
                <a:ea typeface="Arial"/>
                <a:cs typeface="Arial"/>
              </a:rPr>
              <a:t>Document processing</a:t>
            </a:r>
          </a:p>
        </p:txBody>
      </p:sp>
      <p:sp>
        <p:nvSpPr>
          <p:cNvPr id="8" name="Rectangle 7">
            <a:extLst>
              <a:ext uri="{FF2B5EF4-FFF2-40B4-BE49-F238E27FC236}">
                <a16:creationId xmlns:a16="http://schemas.microsoft.com/office/drawing/2014/main" id="{CE1DDF94-737D-430A-90F8-DD6B44824595}"/>
              </a:ext>
            </a:extLst>
          </p:cNvPr>
          <p:cNvSpPr>
            <a:spLocks noGrp="1"/>
          </p:cNvSpPr>
          <p:nvPr/>
        </p:nvSpPr>
        <p:spPr>
          <a:xfrm>
            <a:off x="3448050" y="2619375"/>
            <a:ext cx="8096250" cy="361950"/>
          </a:xfrm>
          <a:prstGeom prst="rect">
            <a:avLst/>
          </a:prstGeom>
          <a:noFill/>
          <a:ln w="0">
            <a:noFill/>
          </a:ln>
        </p:spPr>
        <p:txBody>
          <a:bodyPr>
            <a:noAutofit/>
          </a:bodyPr>
          <a:lstStyle/>
          <a:p>
            <a:pPr>
              <a:defRPr sz="2100" b="1">
                <a:solidFill>
                  <a:srgbClr val="FFFFFF"/>
                </a:solidFill>
                <a:latin typeface="Arial"/>
                <a:ea typeface="Arial"/>
                <a:cs typeface="Arial"/>
              </a:defRPr>
            </a:pPr>
            <a:r>
              <a:rPr sz="2100" b="1">
                <a:solidFill>
                  <a:srgbClr val="FFFFFF"/>
                </a:solidFill>
                <a:latin typeface="Arial"/>
                <a:ea typeface="Arial"/>
                <a:cs typeface="Arial"/>
              </a:rPr>
              <a:t>pdfplumber, PDFium and Tesseract</a:t>
            </a:r>
          </a:p>
        </p:txBody>
      </p:sp>
      <p:sp>
        <p:nvSpPr>
          <p:cNvPr id="9" name="Rectangle 8">
            <a:extLst>
              <a:ext uri="{FF2B5EF4-FFF2-40B4-BE49-F238E27FC236}">
                <a16:creationId xmlns:a16="http://schemas.microsoft.com/office/drawing/2014/main" id="{95FE0E32-E67B-4623-BF37-5BF725C385A0}"/>
              </a:ext>
            </a:extLst>
          </p:cNvPr>
          <p:cNvSpPr>
            <a:spLocks noGrp="1"/>
          </p:cNvSpPr>
          <p:nvPr/>
        </p:nvSpPr>
        <p:spPr>
          <a:xfrm>
            <a:off x="3448050" y="3048000"/>
            <a:ext cx="8096250" cy="457200"/>
          </a:xfrm>
          <a:prstGeom prst="rect">
            <a:avLst/>
          </a:prstGeom>
          <a:noFill/>
          <a:ln w="0">
            <a:noFill/>
          </a:ln>
        </p:spPr>
        <p:txBody>
          <a:bodyPr>
            <a:noAutofit/>
          </a:bodyPr>
          <a:lstStyle/>
          <a:p>
            <a:pPr>
              <a:defRPr sz="1800" b="0">
                <a:solidFill>
                  <a:srgbClr val="C9D3E4"/>
                </a:solidFill>
                <a:latin typeface="Arial"/>
                <a:ea typeface="Arial"/>
                <a:cs typeface="Arial"/>
              </a:defRPr>
            </a:pPr>
            <a:r>
              <a:rPr sz="1800" b="0">
                <a:solidFill>
                  <a:srgbClr val="C9D3E4"/>
                </a:solidFill>
                <a:latin typeface="Arial"/>
                <a:ea typeface="Arial"/>
                <a:cs typeface="Arial"/>
              </a:rPr>
              <a:t>PDF extraction, scanned-page rendering and OCR</a:t>
            </a:r>
          </a:p>
        </p:txBody>
      </p:sp>
      <p:sp>
        <p:nvSpPr>
          <p:cNvPr id="10" name="Rectangle 9">
            <a:extLst>
              <a:ext uri="{FF2B5EF4-FFF2-40B4-BE49-F238E27FC236}">
                <a16:creationId xmlns:a16="http://schemas.microsoft.com/office/drawing/2014/main" id="{3F852C8F-D097-48D5-9EAD-C36ECFFC48CF}"/>
              </a:ext>
            </a:extLst>
          </p:cNvPr>
          <p:cNvSpPr>
            <a:spLocks noGrp="1"/>
          </p:cNvSpPr>
          <p:nvPr/>
        </p:nvSpPr>
        <p:spPr>
          <a:xfrm>
            <a:off x="609600" y="3752850"/>
            <a:ext cx="2619375" cy="342900"/>
          </a:xfrm>
          <a:prstGeom prst="rect">
            <a:avLst/>
          </a:prstGeom>
          <a:noFill/>
          <a:ln w="0">
            <a:noFill/>
          </a:ln>
        </p:spPr>
        <p:txBody>
          <a:bodyPr>
            <a:noAutofit/>
          </a:bodyPr>
          <a:lstStyle/>
          <a:p>
            <a:pPr>
              <a:defRPr sz="1800" b="1">
                <a:solidFill>
                  <a:srgbClr val="C5A453"/>
                </a:solidFill>
                <a:latin typeface="Arial"/>
                <a:ea typeface="Arial"/>
                <a:cs typeface="Arial"/>
              </a:defRPr>
            </a:pPr>
            <a:r>
              <a:rPr sz="1800" b="1">
                <a:solidFill>
                  <a:srgbClr val="C5A453"/>
                </a:solidFill>
                <a:latin typeface="Arial"/>
                <a:ea typeface="Arial"/>
                <a:cs typeface="Arial"/>
              </a:rPr>
              <a:t>AI and research</a:t>
            </a:r>
          </a:p>
        </p:txBody>
      </p:sp>
      <p:sp>
        <p:nvSpPr>
          <p:cNvPr id="11" name="Rectangle 10">
            <a:extLst>
              <a:ext uri="{FF2B5EF4-FFF2-40B4-BE49-F238E27FC236}">
                <a16:creationId xmlns:a16="http://schemas.microsoft.com/office/drawing/2014/main" id="{1C8EA5E8-1849-4B78-A6AE-85C9907E6DFC}"/>
              </a:ext>
            </a:extLst>
          </p:cNvPr>
          <p:cNvSpPr>
            <a:spLocks noGrp="1"/>
          </p:cNvSpPr>
          <p:nvPr/>
        </p:nvSpPr>
        <p:spPr>
          <a:xfrm>
            <a:off x="3448050" y="3752850"/>
            <a:ext cx="8096250" cy="361950"/>
          </a:xfrm>
          <a:prstGeom prst="rect">
            <a:avLst/>
          </a:prstGeom>
          <a:noFill/>
          <a:ln w="0">
            <a:noFill/>
          </a:ln>
        </p:spPr>
        <p:txBody>
          <a:bodyPr>
            <a:noAutofit/>
          </a:bodyPr>
          <a:lstStyle/>
          <a:p>
            <a:pPr>
              <a:defRPr sz="2100" b="1">
                <a:solidFill>
                  <a:srgbClr val="FFFFFF"/>
                </a:solidFill>
                <a:latin typeface="Arial"/>
                <a:ea typeface="Arial"/>
                <a:cs typeface="Arial"/>
              </a:defRPr>
            </a:pPr>
            <a:r>
              <a:rPr sz="2100" b="1">
                <a:solidFill>
                  <a:srgbClr val="FFFFFF"/>
                </a:solidFill>
                <a:latin typeface="Arial"/>
                <a:ea typeface="Arial"/>
                <a:cs typeface="Arial"/>
              </a:rPr>
              <a:t>OpenAI SDK and Pydantic</a:t>
            </a:r>
          </a:p>
        </p:txBody>
      </p:sp>
      <p:sp>
        <p:nvSpPr>
          <p:cNvPr id="12" name="Rectangle 11">
            <a:extLst>
              <a:ext uri="{FF2B5EF4-FFF2-40B4-BE49-F238E27FC236}">
                <a16:creationId xmlns:a16="http://schemas.microsoft.com/office/drawing/2014/main" id="{A5447624-E34C-437C-B6E9-E8288F5000EA}"/>
              </a:ext>
            </a:extLst>
          </p:cNvPr>
          <p:cNvSpPr>
            <a:spLocks noGrp="1"/>
          </p:cNvSpPr>
          <p:nvPr/>
        </p:nvSpPr>
        <p:spPr>
          <a:xfrm>
            <a:off x="3448050" y="4181475"/>
            <a:ext cx="8096250" cy="457200"/>
          </a:xfrm>
          <a:prstGeom prst="rect">
            <a:avLst/>
          </a:prstGeom>
          <a:noFill/>
          <a:ln w="0">
            <a:noFill/>
          </a:ln>
        </p:spPr>
        <p:txBody>
          <a:bodyPr>
            <a:noAutofit/>
          </a:bodyPr>
          <a:lstStyle/>
          <a:p>
            <a:pPr>
              <a:defRPr sz="1800" b="0">
                <a:solidFill>
                  <a:srgbClr val="C9D3E4"/>
                </a:solidFill>
                <a:latin typeface="Arial"/>
                <a:ea typeface="Arial"/>
                <a:cs typeface="Arial"/>
              </a:defRPr>
            </a:pPr>
            <a:r>
              <a:rPr sz="1800" b="0">
                <a:solidFill>
                  <a:srgbClr val="C9D3E4"/>
                </a:solidFill>
                <a:latin typeface="Arial"/>
                <a:ea typeface="Arial"/>
                <a:cs typeface="Arial"/>
              </a:rPr>
              <a:t>Structured responses and live web-search integration</a:t>
            </a:r>
          </a:p>
        </p:txBody>
      </p:sp>
      <p:sp>
        <p:nvSpPr>
          <p:cNvPr id="13" name="Rectangle 12">
            <a:extLst>
              <a:ext uri="{FF2B5EF4-FFF2-40B4-BE49-F238E27FC236}">
                <a16:creationId xmlns:a16="http://schemas.microsoft.com/office/drawing/2014/main" id="{0411F25E-A0EC-47CD-AE93-0B0B0708ADA0}"/>
              </a:ext>
            </a:extLst>
          </p:cNvPr>
          <p:cNvSpPr>
            <a:spLocks noGrp="1"/>
          </p:cNvSpPr>
          <p:nvPr/>
        </p:nvSpPr>
        <p:spPr>
          <a:xfrm>
            <a:off x="609600" y="4886325"/>
            <a:ext cx="2619375" cy="342900"/>
          </a:xfrm>
          <a:prstGeom prst="rect">
            <a:avLst/>
          </a:prstGeom>
          <a:noFill/>
          <a:ln w="0">
            <a:noFill/>
          </a:ln>
        </p:spPr>
        <p:txBody>
          <a:bodyPr>
            <a:noAutofit/>
          </a:bodyPr>
          <a:lstStyle/>
          <a:p>
            <a:pPr>
              <a:defRPr sz="1800" b="1">
                <a:solidFill>
                  <a:srgbClr val="C5A453"/>
                </a:solidFill>
                <a:latin typeface="Arial"/>
                <a:ea typeface="Arial"/>
                <a:cs typeface="Arial"/>
              </a:defRPr>
            </a:pPr>
            <a:r>
              <a:rPr sz="1800" b="1">
                <a:solidFill>
                  <a:srgbClr val="C5A453"/>
                </a:solidFill>
                <a:latin typeface="Arial"/>
                <a:ea typeface="Arial"/>
                <a:cs typeface="Arial"/>
              </a:rPr>
              <a:t>Evidence and output</a:t>
            </a:r>
          </a:p>
        </p:txBody>
      </p:sp>
      <p:sp>
        <p:nvSpPr>
          <p:cNvPr id="14" name="Rectangle 13">
            <a:extLst>
              <a:ext uri="{FF2B5EF4-FFF2-40B4-BE49-F238E27FC236}">
                <a16:creationId xmlns:a16="http://schemas.microsoft.com/office/drawing/2014/main" id="{1D6EA3F0-1E1B-4345-A9F9-70B94AFB0EFF}"/>
              </a:ext>
            </a:extLst>
          </p:cNvPr>
          <p:cNvSpPr>
            <a:spLocks noGrp="1"/>
          </p:cNvSpPr>
          <p:nvPr/>
        </p:nvSpPr>
        <p:spPr>
          <a:xfrm>
            <a:off x="3448050" y="4886325"/>
            <a:ext cx="8096250" cy="361950"/>
          </a:xfrm>
          <a:prstGeom prst="rect">
            <a:avLst/>
          </a:prstGeom>
          <a:noFill/>
          <a:ln w="0">
            <a:noFill/>
          </a:ln>
        </p:spPr>
        <p:txBody>
          <a:bodyPr>
            <a:noAutofit/>
          </a:bodyPr>
          <a:lstStyle/>
          <a:p>
            <a:pPr>
              <a:defRPr sz="2100" b="1">
                <a:solidFill>
                  <a:srgbClr val="FFFFFF"/>
                </a:solidFill>
                <a:latin typeface="Arial"/>
                <a:ea typeface="Arial"/>
                <a:cs typeface="Arial"/>
              </a:defRPr>
            </a:pPr>
            <a:r>
              <a:rPr sz="2100" b="1">
                <a:solidFill>
                  <a:srgbClr val="FFFFFF"/>
                </a:solidFill>
                <a:latin typeface="Arial"/>
                <a:ea typeface="Arial"/>
                <a:cs typeface="Arial"/>
              </a:rPr>
              <a:t>openpyxl and python-docx</a:t>
            </a:r>
          </a:p>
        </p:txBody>
      </p:sp>
      <p:sp>
        <p:nvSpPr>
          <p:cNvPr id="15" name="Rectangle 14">
            <a:extLst>
              <a:ext uri="{FF2B5EF4-FFF2-40B4-BE49-F238E27FC236}">
                <a16:creationId xmlns:a16="http://schemas.microsoft.com/office/drawing/2014/main" id="{D3CEEAEB-9830-49CA-813E-484F3A1F40F7}"/>
              </a:ext>
            </a:extLst>
          </p:cNvPr>
          <p:cNvSpPr>
            <a:spLocks noGrp="1"/>
          </p:cNvSpPr>
          <p:nvPr/>
        </p:nvSpPr>
        <p:spPr>
          <a:xfrm>
            <a:off x="3448050" y="5314950"/>
            <a:ext cx="8096250" cy="457200"/>
          </a:xfrm>
          <a:prstGeom prst="rect">
            <a:avLst/>
          </a:prstGeom>
          <a:noFill/>
          <a:ln w="0">
            <a:noFill/>
          </a:ln>
        </p:spPr>
        <p:txBody>
          <a:bodyPr>
            <a:noAutofit/>
          </a:bodyPr>
          <a:lstStyle/>
          <a:p>
            <a:pPr>
              <a:defRPr sz="1800" b="0">
                <a:solidFill>
                  <a:srgbClr val="C9D3E4"/>
                </a:solidFill>
                <a:latin typeface="Arial"/>
                <a:ea typeface="Arial"/>
                <a:cs typeface="Arial"/>
              </a:defRPr>
            </a:pPr>
            <a:r>
              <a:rPr sz="1800" b="0">
                <a:solidFill>
                  <a:srgbClr val="C9D3E4"/>
                </a:solidFill>
                <a:latin typeface="Arial"/>
                <a:ea typeface="Arial"/>
                <a:cs typeface="Arial"/>
              </a:rPr>
              <a:t>Excel evidence reading and editable Word export</a:t>
            </a:r>
          </a:p>
        </p:txBody>
      </p:sp>
    </p:spTree>
    <p:extLst>
      <p:ext uri="{BB962C8B-B14F-4D97-AF65-F5344CB8AC3E}">
        <p14:creationId xmlns:p14="http://schemas.microsoft.com/office/powerpoint/2010/main" val="19912159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5F8"/>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57028951-5B41-47C3-99DA-72F07B0D20C3}"/>
              </a:ext>
            </a:extLst>
          </p:cNvPr>
          <p:cNvSpPr>
            <a:spLocks noGrp="1"/>
          </p:cNvSpPr>
          <p:nvPr/>
        </p:nvSpPr>
        <p:spPr>
          <a:xfrm>
            <a:off x="609600" y="419100"/>
            <a:ext cx="10972800" cy="762000"/>
          </a:xfrm>
          <a:prstGeom prst="rect">
            <a:avLst/>
          </a:prstGeom>
          <a:noFill/>
          <a:ln w="0">
            <a:noFill/>
          </a:ln>
        </p:spPr>
        <p:txBody>
          <a:bodyPr>
            <a:noAutofit/>
          </a:bodyPr>
          <a:lstStyle/>
          <a:p>
            <a:pPr>
              <a:defRPr sz="3300" b="1">
                <a:solidFill>
                  <a:srgbClr val="172A49"/>
                </a:solidFill>
                <a:latin typeface="Arial"/>
                <a:ea typeface="Arial"/>
                <a:cs typeface="Arial"/>
              </a:defRPr>
            </a:pPr>
            <a:r>
              <a:rPr sz="3300" b="1">
                <a:solidFill>
                  <a:srgbClr val="172A49"/>
                </a:solidFill>
                <a:latin typeface="Arial"/>
                <a:ea typeface="Arial"/>
                <a:cs typeface="Arial"/>
              </a:rPr>
              <a:t>Walkthrough: notice and issues</a:t>
            </a:r>
          </a:p>
        </p:txBody>
      </p:sp>
      <p:sp>
        <p:nvSpPr>
          <p:cNvPr id="2" name="Rectangle 1">
            <a:extLst>
              <a:ext uri="{FF2B5EF4-FFF2-40B4-BE49-F238E27FC236}">
                <a16:creationId xmlns:a16="http://schemas.microsoft.com/office/drawing/2014/main" id="{194BE5C0-98B2-4345-93FE-4DA2B00F8F5D}"/>
              </a:ext>
            </a:extLst>
          </p:cNvPr>
          <p:cNvSpPr>
            <a:spLocks noGrp="1"/>
          </p:cNvSpPr>
          <p:nvPr/>
        </p:nvSpPr>
        <p:spPr>
          <a:xfrm>
            <a:off x="609600" y="6467475"/>
            <a:ext cx="8572500" cy="228600"/>
          </a:xfrm>
          <a:prstGeom prst="rect">
            <a:avLst/>
          </a:prstGeom>
          <a:noFill/>
          <a:ln w="0">
            <a:noFill/>
          </a:ln>
        </p:spPr>
        <p:txBody>
          <a:bodyPr>
            <a:noAutofit/>
          </a:bodyPr>
          <a:lstStyle/>
          <a:p>
            <a:pPr>
              <a:defRPr sz="1200" b="0">
                <a:solidFill>
                  <a:srgbClr val="596476"/>
                </a:solidFill>
                <a:latin typeface="Arial"/>
                <a:ea typeface="Arial"/>
                <a:cs typeface="Arial"/>
              </a:defRPr>
            </a:pPr>
            <a:r>
              <a:rPr sz="1200" b="0">
                <a:solidFill>
                  <a:srgbClr val="596476"/>
                </a:solidFill>
                <a:latin typeface="Arial"/>
                <a:ea typeface="Arial"/>
                <a:cs typeface="Arial"/>
              </a:rPr>
              <a:t>AICA Level 2 course project</a:t>
            </a:r>
          </a:p>
        </p:txBody>
      </p:sp>
      <p:sp>
        <p:nvSpPr>
          <p:cNvPr id="3" name="Rectangle 2">
            <a:extLst>
              <a:ext uri="{FF2B5EF4-FFF2-40B4-BE49-F238E27FC236}">
                <a16:creationId xmlns:a16="http://schemas.microsoft.com/office/drawing/2014/main" id="{19C86378-7074-4B7E-83F7-843C6913F398}"/>
              </a:ext>
            </a:extLst>
          </p:cNvPr>
          <p:cNvSpPr>
            <a:spLocks noGrp="1"/>
          </p:cNvSpPr>
          <p:nvPr/>
        </p:nvSpPr>
        <p:spPr>
          <a:xfrm>
            <a:off x="11049000" y="6438900"/>
            <a:ext cx="533400" cy="266700"/>
          </a:xfrm>
          <a:prstGeom prst="rect">
            <a:avLst/>
          </a:prstGeom>
          <a:noFill/>
          <a:ln w="0">
            <a:noFill/>
          </a:ln>
        </p:spPr>
        <p:txBody>
          <a:bodyPr>
            <a:noAutofit/>
          </a:bodyPr>
          <a:lstStyle/>
          <a:p>
            <a:pPr>
              <a:defRPr sz="1350" b="1">
                <a:solidFill>
                  <a:srgbClr val="742E46"/>
                </a:solidFill>
                <a:latin typeface="Arial"/>
                <a:ea typeface="Arial"/>
                <a:cs typeface="Arial"/>
              </a:defRPr>
            </a:pPr>
            <a:r>
              <a:rPr sz="1350" b="1">
                <a:solidFill>
                  <a:srgbClr val="742E46"/>
                </a:solidFill>
                <a:latin typeface="Arial"/>
                <a:ea typeface="Arial"/>
                <a:cs typeface="Arial"/>
              </a:rPr>
              <a:t>05</a:t>
            </a:r>
          </a:p>
        </p:txBody>
      </p:sp>
      <p:sp>
        <p:nvSpPr>
          <p:cNvPr id="4" name="Rectangle 3">
            <a:extLst>
              <a:ext uri="{FF2B5EF4-FFF2-40B4-BE49-F238E27FC236}">
                <a16:creationId xmlns:a16="http://schemas.microsoft.com/office/drawing/2014/main" id="{04FBC957-9BAC-4235-BE0F-78EDF8E3EB41}"/>
              </a:ext>
            </a:extLst>
          </p:cNvPr>
          <p:cNvSpPr>
            <a:spLocks noGrp="1"/>
          </p:cNvSpPr>
          <p:nvPr/>
        </p:nvSpPr>
        <p:spPr>
          <a:xfrm>
            <a:off x="609600" y="1533525"/>
            <a:ext cx="3714750" cy="476250"/>
          </a:xfrm>
          <a:prstGeom prst="rect">
            <a:avLst/>
          </a:prstGeom>
          <a:noFill/>
          <a:ln w="0">
            <a:noFill/>
          </a:ln>
        </p:spPr>
        <p:txBody>
          <a:bodyPr>
            <a:noAutofit/>
          </a:bodyPr>
          <a:lstStyle/>
          <a:p>
            <a:pPr>
              <a:defRPr sz="2250" b="1">
                <a:solidFill>
                  <a:srgbClr val="742E46"/>
                </a:solidFill>
                <a:latin typeface="Arial"/>
                <a:ea typeface="Arial"/>
                <a:cs typeface="Arial"/>
              </a:defRPr>
            </a:pPr>
            <a:r>
              <a:rPr sz="2250" b="1">
                <a:solidFill>
                  <a:srgbClr val="742E46"/>
                </a:solidFill>
                <a:latin typeface="Arial"/>
                <a:ea typeface="Arial"/>
                <a:cs typeface="Arial"/>
              </a:rPr>
              <a:t>A clear starting point</a:t>
            </a:r>
          </a:p>
        </p:txBody>
      </p:sp>
      <p:sp>
        <p:nvSpPr>
          <p:cNvPr id="5" name="Rectangle 4">
            <a:extLst>
              <a:ext uri="{FF2B5EF4-FFF2-40B4-BE49-F238E27FC236}">
                <a16:creationId xmlns:a16="http://schemas.microsoft.com/office/drawing/2014/main" id="{2728199D-A9D8-4077-B940-51613214CF59}"/>
              </a:ext>
            </a:extLst>
          </p:cNvPr>
          <p:cNvSpPr>
            <a:spLocks noGrp="1"/>
          </p:cNvSpPr>
          <p:nvPr/>
        </p:nvSpPr>
        <p:spPr>
          <a:xfrm>
            <a:off x="609600" y="2219325"/>
            <a:ext cx="3667125" cy="3105150"/>
          </a:xfrm>
          <a:prstGeom prst="rect">
            <a:avLst/>
          </a:prstGeom>
          <a:noFill/>
          <a:ln w="0">
            <a:noFill/>
          </a:ln>
        </p:spPr>
        <p:txBody>
          <a:bodyPr>
            <a:noAutofit/>
          </a:bodyPr>
          <a:lstStyle/>
          <a:p>
            <a:pPr>
              <a:defRPr sz="1950" b="0">
                <a:solidFill>
                  <a:srgbClr val="172A49"/>
                </a:solidFill>
                <a:latin typeface="Arial"/>
                <a:ea typeface="Arial"/>
                <a:cs typeface="Arial"/>
              </a:defRPr>
            </a:pPr>
            <a:r>
              <a:rPr sz="1950" b="0">
                <a:solidFill>
                  <a:srgbClr val="172A49"/>
                </a:solidFill>
                <a:latin typeface="Arial"/>
                <a:ea typeface="Arial"/>
                <a:cs typeface="Arial"/>
              </a:rPr>
              <a:t>Upload a PDF or open the fictional sample.</a:t>
            </a:r>
          </a:p>
          <a:p>
            <a:endParaRPr sz="1950" b="0">
              <a:solidFill>
                <a:srgbClr val="172A49"/>
              </a:solidFill>
              <a:latin typeface="Arial"/>
              <a:ea typeface="Arial"/>
              <a:cs typeface="Arial"/>
            </a:endParaRPr>
          </a:p>
          <a:p>
            <a:pPr>
              <a:defRPr sz="1950" b="0">
                <a:solidFill>
                  <a:srgbClr val="172A49"/>
                </a:solidFill>
                <a:latin typeface="Arial"/>
                <a:ea typeface="Arial"/>
                <a:cs typeface="Arial"/>
              </a:defRPr>
            </a:pPr>
            <a:r>
              <a:rPr sz="1950" b="0">
                <a:solidFill>
                  <a:srgbClr val="172A49"/>
                </a:solidFill>
                <a:latin typeface="Arial"/>
                <a:ea typeface="Arial"/>
                <a:cs typeface="Arial"/>
              </a:rPr>
              <a:t>Review notice details, deadline wording and issue summaries.</a:t>
            </a:r>
          </a:p>
          <a:p>
            <a:endParaRPr sz="1950" b="0">
              <a:solidFill>
                <a:srgbClr val="172A49"/>
              </a:solidFill>
              <a:latin typeface="Arial"/>
              <a:ea typeface="Arial"/>
              <a:cs typeface="Arial"/>
            </a:endParaRPr>
          </a:p>
          <a:p>
            <a:pPr>
              <a:defRPr sz="1950" b="0">
                <a:solidFill>
                  <a:srgbClr val="172A49"/>
                </a:solidFill>
                <a:latin typeface="Arial"/>
                <a:ea typeface="Arial"/>
                <a:cs typeface="Arial"/>
              </a:defRPr>
            </a:pPr>
            <a:r>
              <a:rPr sz="1950" b="0">
                <a:solidFill>
                  <a:srgbClr val="172A49"/>
                </a:solidFill>
                <a:latin typeface="Arial"/>
                <a:ea typeface="Arial"/>
                <a:cs typeface="Arial"/>
              </a:rPr>
              <a:t>Source excerpts support comparison with the original notice.</a:t>
            </a:r>
          </a:p>
        </p:txBody>
      </p:sp>
      <p:sp>
        <p:nvSpPr>
          <p:cNvPr id="6" name="Rectangle 5">
            <a:extLst>
              <a:ext uri="{FF2B5EF4-FFF2-40B4-BE49-F238E27FC236}">
                <a16:creationId xmlns:a16="http://schemas.microsoft.com/office/drawing/2014/main" id="{3B45DAB5-C680-4F34-8979-0B2CEC389103}"/>
              </a:ext>
            </a:extLst>
          </p:cNvPr>
          <p:cNvSpPr>
            <a:spLocks noGrp="1"/>
          </p:cNvSpPr>
          <p:nvPr/>
        </p:nvSpPr>
        <p:spPr>
          <a:xfrm>
            <a:off x="4695825" y="1219200"/>
            <a:ext cx="3143250" cy="342900"/>
          </a:xfrm>
          <a:prstGeom prst="rect">
            <a:avLst/>
          </a:prstGeom>
          <a:noFill/>
          <a:ln w="0">
            <a:noFill/>
          </a:ln>
        </p:spPr>
        <p:txBody>
          <a:bodyPr>
            <a:noAutofit/>
          </a:bodyPr>
          <a:lstStyle/>
          <a:p>
            <a:pPr>
              <a:defRPr sz="1650" b="1">
                <a:solidFill>
                  <a:srgbClr val="315A97"/>
                </a:solidFill>
                <a:latin typeface="Arial"/>
                <a:ea typeface="Arial"/>
                <a:cs typeface="Arial"/>
              </a:defRPr>
            </a:pPr>
            <a:r>
              <a:rPr sz="1650" b="1">
                <a:solidFill>
                  <a:srgbClr val="315A97"/>
                </a:solidFill>
                <a:latin typeface="Arial"/>
                <a:ea typeface="Arial"/>
                <a:cs typeface="Arial"/>
              </a:rPr>
              <a:t>Homepage</a:t>
            </a:r>
          </a:p>
        </p:txBody>
      </p:sp>
      <p:sp>
        <p:nvSpPr>
          <p:cNvPr id="7" name="Rectangle 6">
            <a:extLst>
              <a:ext uri="{FF2B5EF4-FFF2-40B4-BE49-F238E27FC236}">
                <a16:creationId xmlns:a16="http://schemas.microsoft.com/office/drawing/2014/main" id="{6ED6DC57-239E-4083-BDFC-586D498AF2B2}"/>
              </a:ext>
            </a:extLst>
          </p:cNvPr>
          <p:cNvSpPr>
            <a:spLocks noGrp="1"/>
          </p:cNvSpPr>
          <p:nvPr/>
        </p:nvSpPr>
        <p:spPr>
          <a:xfrm>
            <a:off x="8334375" y="1219200"/>
            <a:ext cx="3143250" cy="342900"/>
          </a:xfrm>
          <a:prstGeom prst="rect">
            <a:avLst/>
          </a:prstGeom>
          <a:noFill/>
          <a:ln w="0">
            <a:noFill/>
          </a:ln>
        </p:spPr>
        <p:txBody>
          <a:bodyPr>
            <a:noAutofit/>
          </a:bodyPr>
          <a:lstStyle/>
          <a:p>
            <a:pPr>
              <a:defRPr sz="1650" b="1">
                <a:solidFill>
                  <a:srgbClr val="315A97"/>
                </a:solidFill>
                <a:latin typeface="Arial"/>
                <a:ea typeface="Arial"/>
                <a:cs typeface="Arial"/>
              </a:defRPr>
            </a:pPr>
            <a:r>
              <a:rPr sz="1650" b="1">
                <a:solidFill>
                  <a:srgbClr val="315A97"/>
                </a:solidFill>
                <a:latin typeface="Arial"/>
                <a:ea typeface="Arial"/>
                <a:cs typeface="Arial"/>
              </a:rPr>
              <a:t>Decoded notice</a:t>
            </a:r>
          </a:p>
        </p:txBody>
      </p:sp>
      <p:pic>
        <p:nvPicPr>
          <p:cNvPr id="18" name="Picture 17"/>
          <p:cNvPicPr>
            <a:picLocks noChangeAspect="1"/>
          </p:cNvPicPr>
          <p:nvPr/>
        </p:nvPicPr>
        <p:blipFill>
          <a:blip r:embed="rId3"/>
          <a:stretch/>
        </p:blipFill>
        <p:spPr>
          <a:xfrm>
            <a:off x="4661794" y="1581150"/>
            <a:ext cx="3249412" cy="4305300"/>
          </a:xfrm>
          <a:prstGeom prst="rect">
            <a:avLst/>
          </a:prstGeom>
        </p:spPr>
      </p:pic>
      <p:pic>
        <p:nvPicPr>
          <p:cNvPr id="19" name="Picture 18"/>
          <p:cNvPicPr>
            <a:picLocks noChangeAspect="1"/>
          </p:cNvPicPr>
          <p:nvPr/>
        </p:nvPicPr>
        <p:blipFill>
          <a:blip r:embed="rId4"/>
          <a:stretch/>
        </p:blipFill>
        <p:spPr>
          <a:xfrm>
            <a:off x="8300344" y="1581150"/>
            <a:ext cx="3249412" cy="4305300"/>
          </a:xfrm>
          <a:prstGeom prst="rect">
            <a:avLst/>
          </a:prstGeom>
        </p:spPr>
      </p:pic>
      <p:sp>
        <p:nvSpPr>
          <p:cNvPr id="10" name="Rectangle 9">
            <a:extLst>
              <a:ext uri="{FF2B5EF4-FFF2-40B4-BE49-F238E27FC236}">
                <a16:creationId xmlns:a16="http://schemas.microsoft.com/office/drawing/2014/main" id="{7AFDE4DE-93A2-4CAB-B104-23E611DC94BF}"/>
              </a:ext>
            </a:extLst>
          </p:cNvPr>
          <p:cNvSpPr>
            <a:spLocks noGrp="1"/>
          </p:cNvSpPr>
          <p:nvPr/>
        </p:nvSpPr>
        <p:spPr>
          <a:xfrm>
            <a:off x="4695825" y="6029325"/>
            <a:ext cx="6800850" cy="285750"/>
          </a:xfrm>
          <a:prstGeom prst="rect">
            <a:avLst/>
          </a:prstGeom>
          <a:noFill/>
          <a:ln w="0">
            <a:noFill/>
          </a:ln>
        </p:spPr>
        <p:txBody>
          <a:bodyPr>
            <a:noAutofit/>
          </a:bodyPr>
          <a:lstStyle/>
          <a:p>
            <a:pPr>
              <a:defRPr sz="1350" b="0">
                <a:solidFill>
                  <a:srgbClr val="596476"/>
                </a:solidFill>
                <a:latin typeface="Arial"/>
                <a:ea typeface="Arial"/>
                <a:cs typeface="Arial"/>
              </a:defRPr>
            </a:pPr>
            <a:r>
              <a:rPr sz="1350" b="0">
                <a:solidFill>
                  <a:srgbClr val="596476"/>
                </a:solidFill>
                <a:latin typeface="Arial"/>
                <a:ea typeface="Arial"/>
                <a:cs typeface="Arial"/>
              </a:rPr>
              <a:t>Actual interface in fictional sample mode</a:t>
            </a:r>
          </a:p>
        </p:txBody>
      </p:sp>
    </p:spTree>
    <p:extLst>
      <p:ext uri="{BB962C8B-B14F-4D97-AF65-F5344CB8AC3E}">
        <p14:creationId xmlns:p14="http://schemas.microsoft.com/office/powerpoint/2010/main" val="20930570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4F5F8"/>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FD6F6118-1E71-49D9-890E-C5961017BC83}"/>
              </a:ext>
            </a:extLst>
          </p:cNvPr>
          <p:cNvSpPr>
            <a:spLocks noGrp="1"/>
          </p:cNvSpPr>
          <p:nvPr/>
        </p:nvSpPr>
        <p:spPr>
          <a:xfrm>
            <a:off x="609600" y="419100"/>
            <a:ext cx="10972800" cy="762000"/>
          </a:xfrm>
          <a:prstGeom prst="rect">
            <a:avLst/>
          </a:prstGeom>
          <a:noFill/>
          <a:ln w="0">
            <a:noFill/>
          </a:ln>
        </p:spPr>
        <p:txBody>
          <a:bodyPr>
            <a:noAutofit/>
          </a:bodyPr>
          <a:lstStyle/>
          <a:p>
            <a:pPr>
              <a:defRPr sz="3300" b="1">
                <a:solidFill>
                  <a:srgbClr val="172A49"/>
                </a:solidFill>
                <a:latin typeface="Arial"/>
                <a:ea typeface="Arial"/>
                <a:cs typeface="Arial"/>
              </a:defRPr>
            </a:pPr>
            <a:r>
              <a:rPr sz="3300" b="1">
                <a:solidFill>
                  <a:srgbClr val="172A49"/>
                </a:solidFill>
                <a:latin typeface="Arial"/>
                <a:ea typeface="Arial"/>
                <a:cs typeface="Arial"/>
              </a:rPr>
              <a:t>Walkthrough: evidence and research</a:t>
            </a:r>
          </a:p>
        </p:txBody>
      </p:sp>
      <p:sp>
        <p:nvSpPr>
          <p:cNvPr id="2" name="Rectangle 1">
            <a:extLst>
              <a:ext uri="{FF2B5EF4-FFF2-40B4-BE49-F238E27FC236}">
                <a16:creationId xmlns:a16="http://schemas.microsoft.com/office/drawing/2014/main" id="{7768674D-997D-4F03-A8C0-14E5E1E93B94}"/>
              </a:ext>
            </a:extLst>
          </p:cNvPr>
          <p:cNvSpPr>
            <a:spLocks noGrp="1"/>
          </p:cNvSpPr>
          <p:nvPr/>
        </p:nvSpPr>
        <p:spPr>
          <a:xfrm>
            <a:off x="609600" y="6467475"/>
            <a:ext cx="8572500" cy="228600"/>
          </a:xfrm>
          <a:prstGeom prst="rect">
            <a:avLst/>
          </a:prstGeom>
          <a:noFill/>
          <a:ln w="0">
            <a:noFill/>
          </a:ln>
        </p:spPr>
        <p:txBody>
          <a:bodyPr>
            <a:noAutofit/>
          </a:bodyPr>
          <a:lstStyle/>
          <a:p>
            <a:pPr>
              <a:defRPr sz="1200" b="0">
                <a:solidFill>
                  <a:srgbClr val="596476"/>
                </a:solidFill>
                <a:latin typeface="Arial"/>
                <a:ea typeface="Arial"/>
                <a:cs typeface="Arial"/>
              </a:defRPr>
            </a:pPr>
            <a:r>
              <a:rPr sz="1200" b="0">
                <a:solidFill>
                  <a:srgbClr val="596476"/>
                </a:solidFill>
                <a:latin typeface="Arial"/>
                <a:ea typeface="Arial"/>
                <a:cs typeface="Arial"/>
              </a:rPr>
              <a:t>AICA Level 2 course project</a:t>
            </a:r>
          </a:p>
        </p:txBody>
      </p:sp>
      <p:sp>
        <p:nvSpPr>
          <p:cNvPr id="3" name="Rectangle 2">
            <a:extLst>
              <a:ext uri="{FF2B5EF4-FFF2-40B4-BE49-F238E27FC236}">
                <a16:creationId xmlns:a16="http://schemas.microsoft.com/office/drawing/2014/main" id="{9BD78F30-25F7-4049-BE47-2DF857E91FB7}"/>
              </a:ext>
            </a:extLst>
          </p:cNvPr>
          <p:cNvSpPr>
            <a:spLocks noGrp="1"/>
          </p:cNvSpPr>
          <p:nvPr/>
        </p:nvSpPr>
        <p:spPr>
          <a:xfrm>
            <a:off x="11049000" y="6438900"/>
            <a:ext cx="533400" cy="266700"/>
          </a:xfrm>
          <a:prstGeom prst="rect">
            <a:avLst/>
          </a:prstGeom>
          <a:noFill/>
          <a:ln w="0">
            <a:noFill/>
          </a:ln>
        </p:spPr>
        <p:txBody>
          <a:bodyPr>
            <a:noAutofit/>
          </a:bodyPr>
          <a:lstStyle/>
          <a:p>
            <a:pPr>
              <a:defRPr sz="1350" b="1">
                <a:solidFill>
                  <a:srgbClr val="742E46"/>
                </a:solidFill>
                <a:latin typeface="Arial"/>
                <a:ea typeface="Arial"/>
                <a:cs typeface="Arial"/>
              </a:defRPr>
            </a:pPr>
            <a:r>
              <a:rPr sz="1350" b="1">
                <a:solidFill>
                  <a:srgbClr val="742E46"/>
                </a:solidFill>
                <a:latin typeface="Arial"/>
                <a:ea typeface="Arial"/>
                <a:cs typeface="Arial"/>
              </a:rPr>
              <a:t>06</a:t>
            </a:r>
          </a:p>
        </p:txBody>
      </p:sp>
      <p:sp>
        <p:nvSpPr>
          <p:cNvPr id="4" name="Rectangle 3">
            <a:extLst>
              <a:ext uri="{FF2B5EF4-FFF2-40B4-BE49-F238E27FC236}">
                <a16:creationId xmlns:a16="http://schemas.microsoft.com/office/drawing/2014/main" id="{480A27A1-2A72-4C96-A8AA-F584FF27C7B3}"/>
              </a:ext>
            </a:extLst>
          </p:cNvPr>
          <p:cNvSpPr>
            <a:spLocks noGrp="1"/>
          </p:cNvSpPr>
          <p:nvPr/>
        </p:nvSpPr>
        <p:spPr>
          <a:xfrm>
            <a:off x="609600" y="1533525"/>
            <a:ext cx="3714750" cy="476250"/>
          </a:xfrm>
          <a:prstGeom prst="rect">
            <a:avLst/>
          </a:prstGeom>
          <a:noFill/>
          <a:ln w="0">
            <a:noFill/>
          </a:ln>
        </p:spPr>
        <p:txBody>
          <a:bodyPr>
            <a:noAutofit/>
          </a:bodyPr>
          <a:lstStyle/>
          <a:p>
            <a:pPr>
              <a:defRPr sz="2250" b="1">
                <a:solidFill>
                  <a:srgbClr val="742E46"/>
                </a:solidFill>
                <a:latin typeface="Arial"/>
                <a:ea typeface="Arial"/>
                <a:cs typeface="Arial"/>
              </a:defRPr>
            </a:pPr>
            <a:r>
              <a:rPr sz="2250" b="1">
                <a:solidFill>
                  <a:srgbClr val="742E46"/>
                </a:solidFill>
                <a:latin typeface="Arial"/>
                <a:ea typeface="Arial"/>
                <a:cs typeface="Arial"/>
              </a:rPr>
              <a:t>Visible evidence gaps</a:t>
            </a:r>
          </a:p>
        </p:txBody>
      </p:sp>
      <p:sp>
        <p:nvSpPr>
          <p:cNvPr id="5" name="Rectangle 4">
            <a:extLst>
              <a:ext uri="{FF2B5EF4-FFF2-40B4-BE49-F238E27FC236}">
                <a16:creationId xmlns:a16="http://schemas.microsoft.com/office/drawing/2014/main" id="{A86FB2FC-AE60-4EDB-A384-BD590D5175BD}"/>
              </a:ext>
            </a:extLst>
          </p:cNvPr>
          <p:cNvSpPr>
            <a:spLocks noGrp="1"/>
          </p:cNvSpPr>
          <p:nvPr/>
        </p:nvSpPr>
        <p:spPr>
          <a:xfrm>
            <a:off x="609600" y="2219325"/>
            <a:ext cx="3667125" cy="3057525"/>
          </a:xfrm>
          <a:prstGeom prst="rect">
            <a:avLst/>
          </a:prstGeom>
          <a:noFill/>
          <a:ln w="0">
            <a:noFill/>
          </a:ln>
        </p:spPr>
        <p:txBody>
          <a:bodyPr>
            <a:noAutofit/>
          </a:bodyPr>
          <a:lstStyle/>
          <a:p>
            <a:pPr>
              <a:defRPr sz="1950" b="0">
                <a:solidFill>
                  <a:srgbClr val="172A49"/>
                </a:solidFill>
                <a:latin typeface="Arial"/>
                <a:ea typeface="Arial"/>
                <a:cs typeface="Arial"/>
              </a:defRPr>
            </a:pPr>
            <a:r>
              <a:rPr sz="1950" b="0">
                <a:solidFill>
                  <a:srgbClr val="172A49"/>
                </a:solidFill>
                <a:latin typeface="Arial"/>
                <a:ea typeface="Arial"/>
                <a:cs typeface="Arial"/>
              </a:rPr>
              <a:t>Mark document availability and upload what the client provides.</a:t>
            </a:r>
          </a:p>
          <a:p>
            <a:endParaRPr sz="1950" b="0">
              <a:solidFill>
                <a:srgbClr val="172A49"/>
              </a:solidFill>
              <a:latin typeface="Arial"/>
              <a:ea typeface="Arial"/>
              <a:cs typeface="Arial"/>
            </a:endParaRPr>
          </a:p>
          <a:p>
            <a:pPr>
              <a:defRPr sz="1950" b="0">
                <a:solidFill>
                  <a:srgbClr val="172A49"/>
                </a:solidFill>
                <a:latin typeface="Arial"/>
                <a:ea typeface="Arial"/>
                <a:cs typeface="Arial"/>
              </a:defRPr>
            </a:pPr>
            <a:r>
              <a:rPr sz="1950" b="0">
                <a:solidFill>
                  <a:srgbClr val="172A49"/>
                </a:solidFill>
                <a:latin typeface="Arial"/>
                <a:ea typeface="Arial"/>
                <a:cs typeface="Arial"/>
              </a:rPr>
              <a:t>Review public legal topics before searching.</a:t>
            </a:r>
          </a:p>
          <a:p>
            <a:endParaRPr sz="1950" b="0">
              <a:solidFill>
                <a:srgbClr val="172A49"/>
              </a:solidFill>
              <a:latin typeface="Arial"/>
              <a:ea typeface="Arial"/>
              <a:cs typeface="Arial"/>
            </a:endParaRPr>
          </a:p>
          <a:p>
            <a:pPr>
              <a:defRPr sz="1950" b="0">
                <a:solidFill>
                  <a:srgbClr val="172A49"/>
                </a:solidFill>
                <a:latin typeface="Arial"/>
                <a:ea typeface="Arial"/>
                <a:cs typeface="Arial"/>
              </a:defRPr>
            </a:pPr>
            <a:r>
              <a:rPr sz="1950" b="0">
                <a:solidFill>
                  <a:srgbClr val="172A49"/>
                </a:solidFill>
                <a:latin typeface="Arial"/>
                <a:ea typeface="Arial"/>
                <a:cs typeface="Arial"/>
              </a:rPr>
              <a:t>Examine supporting and adverse authorities in live mode.</a:t>
            </a:r>
          </a:p>
        </p:txBody>
      </p:sp>
      <p:sp>
        <p:nvSpPr>
          <p:cNvPr id="6" name="Rectangle 5">
            <a:extLst>
              <a:ext uri="{FF2B5EF4-FFF2-40B4-BE49-F238E27FC236}">
                <a16:creationId xmlns:a16="http://schemas.microsoft.com/office/drawing/2014/main" id="{A494AAF5-D81A-42B8-8879-05E005641229}"/>
              </a:ext>
            </a:extLst>
          </p:cNvPr>
          <p:cNvSpPr>
            <a:spLocks noGrp="1"/>
          </p:cNvSpPr>
          <p:nvPr/>
        </p:nvSpPr>
        <p:spPr>
          <a:xfrm>
            <a:off x="4695825" y="1219200"/>
            <a:ext cx="3143250" cy="342900"/>
          </a:xfrm>
          <a:prstGeom prst="rect">
            <a:avLst/>
          </a:prstGeom>
          <a:noFill/>
          <a:ln w="0">
            <a:noFill/>
          </a:ln>
        </p:spPr>
        <p:txBody>
          <a:bodyPr>
            <a:noAutofit/>
          </a:bodyPr>
          <a:lstStyle/>
          <a:p>
            <a:pPr>
              <a:defRPr sz="1650" b="1">
                <a:solidFill>
                  <a:srgbClr val="315A97"/>
                </a:solidFill>
                <a:latin typeface="Arial"/>
                <a:ea typeface="Arial"/>
                <a:cs typeface="Arial"/>
              </a:defRPr>
            </a:pPr>
            <a:r>
              <a:rPr sz="1650" b="1">
                <a:solidFill>
                  <a:srgbClr val="315A97"/>
                </a:solidFill>
                <a:latin typeface="Arial"/>
                <a:ea typeface="Arial"/>
                <a:cs typeface="Arial"/>
              </a:rPr>
              <a:t>Client documents</a:t>
            </a:r>
          </a:p>
        </p:txBody>
      </p:sp>
      <p:sp>
        <p:nvSpPr>
          <p:cNvPr id="7" name="Rectangle 6">
            <a:extLst>
              <a:ext uri="{FF2B5EF4-FFF2-40B4-BE49-F238E27FC236}">
                <a16:creationId xmlns:a16="http://schemas.microsoft.com/office/drawing/2014/main" id="{4AEEEE78-C76D-4314-A3A4-D640E368397D}"/>
              </a:ext>
            </a:extLst>
          </p:cNvPr>
          <p:cNvSpPr>
            <a:spLocks noGrp="1"/>
          </p:cNvSpPr>
          <p:nvPr/>
        </p:nvSpPr>
        <p:spPr>
          <a:xfrm>
            <a:off x="8334375" y="1219200"/>
            <a:ext cx="3143250" cy="342900"/>
          </a:xfrm>
          <a:prstGeom prst="rect">
            <a:avLst/>
          </a:prstGeom>
          <a:noFill/>
          <a:ln w="0">
            <a:noFill/>
          </a:ln>
        </p:spPr>
        <p:txBody>
          <a:bodyPr>
            <a:noAutofit/>
          </a:bodyPr>
          <a:lstStyle/>
          <a:p>
            <a:pPr>
              <a:defRPr sz="1650" b="1">
                <a:solidFill>
                  <a:srgbClr val="315A97"/>
                </a:solidFill>
                <a:latin typeface="Arial"/>
                <a:ea typeface="Arial"/>
                <a:cs typeface="Arial"/>
              </a:defRPr>
            </a:pPr>
            <a:r>
              <a:rPr sz="1650" b="1">
                <a:solidFill>
                  <a:srgbClr val="315A97"/>
                </a:solidFill>
                <a:latin typeface="Arial"/>
                <a:ea typeface="Arial"/>
                <a:cs typeface="Arial"/>
              </a:rPr>
              <a:t>Legal research</a:t>
            </a:r>
          </a:p>
        </p:txBody>
      </p:sp>
      <p:pic>
        <p:nvPicPr>
          <p:cNvPr id="18" name="Picture 17"/>
          <p:cNvPicPr>
            <a:picLocks noChangeAspect="1"/>
          </p:cNvPicPr>
          <p:nvPr/>
        </p:nvPicPr>
        <p:blipFill>
          <a:blip r:embed="rId3"/>
          <a:stretch/>
        </p:blipFill>
        <p:spPr>
          <a:xfrm>
            <a:off x="4661794" y="1581150"/>
            <a:ext cx="3249412" cy="4305300"/>
          </a:xfrm>
          <a:prstGeom prst="rect">
            <a:avLst/>
          </a:prstGeom>
        </p:spPr>
      </p:pic>
      <p:pic>
        <p:nvPicPr>
          <p:cNvPr id="19" name="Picture 18"/>
          <p:cNvPicPr>
            <a:picLocks noChangeAspect="1"/>
          </p:cNvPicPr>
          <p:nvPr/>
        </p:nvPicPr>
        <p:blipFill>
          <a:blip r:embed="rId4"/>
          <a:stretch/>
        </p:blipFill>
        <p:spPr>
          <a:xfrm>
            <a:off x="8300344" y="1581150"/>
            <a:ext cx="3249412" cy="4305300"/>
          </a:xfrm>
          <a:prstGeom prst="rect">
            <a:avLst/>
          </a:prstGeom>
        </p:spPr>
      </p:pic>
      <p:sp>
        <p:nvSpPr>
          <p:cNvPr id="10" name="Rectangle 9">
            <a:extLst>
              <a:ext uri="{FF2B5EF4-FFF2-40B4-BE49-F238E27FC236}">
                <a16:creationId xmlns:a16="http://schemas.microsoft.com/office/drawing/2014/main" id="{369BBE36-FBB7-4542-8CCC-4AB565D13C58}"/>
              </a:ext>
            </a:extLst>
          </p:cNvPr>
          <p:cNvSpPr>
            <a:spLocks noGrp="1"/>
          </p:cNvSpPr>
          <p:nvPr/>
        </p:nvSpPr>
        <p:spPr>
          <a:xfrm>
            <a:off x="4695825" y="6029325"/>
            <a:ext cx="6800850" cy="419100"/>
          </a:xfrm>
          <a:prstGeom prst="rect">
            <a:avLst/>
          </a:prstGeom>
          <a:noFill/>
          <a:ln w="0">
            <a:noFill/>
          </a:ln>
        </p:spPr>
        <p:txBody>
          <a:bodyPr>
            <a:noAutofit/>
          </a:bodyPr>
          <a:lstStyle/>
          <a:p>
            <a:pPr>
              <a:defRPr sz="1350" b="0">
                <a:solidFill>
                  <a:srgbClr val="596476"/>
                </a:solidFill>
                <a:latin typeface="Arial"/>
                <a:ea typeface="Arial"/>
                <a:cs typeface="Arial"/>
              </a:defRPr>
            </a:pPr>
            <a:r>
              <a:rPr sz="1350" b="0">
                <a:solidFill>
                  <a:srgbClr val="596476"/>
                </a:solidFill>
                <a:latin typeface="Arial"/>
                <a:ea typeface="Arial"/>
                <a:cs typeface="Arial"/>
              </a:rPr>
              <a:t>Sample mode shows research gaps and supplies no legal authorities</a:t>
            </a:r>
          </a:p>
        </p:txBody>
      </p:sp>
    </p:spTree>
    <p:extLst>
      <p:ext uri="{BB962C8B-B14F-4D97-AF65-F5344CB8AC3E}">
        <p14:creationId xmlns:p14="http://schemas.microsoft.com/office/powerpoint/2010/main" val="13991118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4F5F8"/>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3660AF-762F-4AD5-A509-7F877BFFAE83}"/>
              </a:ext>
            </a:extLst>
          </p:cNvPr>
          <p:cNvSpPr>
            <a:spLocks noGrp="1"/>
          </p:cNvSpPr>
          <p:nvPr/>
        </p:nvSpPr>
        <p:spPr>
          <a:xfrm>
            <a:off x="609600" y="419100"/>
            <a:ext cx="10972800" cy="762000"/>
          </a:xfrm>
          <a:prstGeom prst="rect">
            <a:avLst/>
          </a:prstGeom>
          <a:noFill/>
          <a:ln w="0">
            <a:noFill/>
          </a:ln>
        </p:spPr>
        <p:txBody>
          <a:bodyPr>
            <a:noAutofit/>
          </a:bodyPr>
          <a:lstStyle/>
          <a:p>
            <a:pPr>
              <a:defRPr sz="3300" b="1">
                <a:solidFill>
                  <a:srgbClr val="172A49"/>
                </a:solidFill>
                <a:latin typeface="Arial"/>
                <a:ea typeface="Arial"/>
                <a:cs typeface="Arial"/>
              </a:defRPr>
            </a:pPr>
            <a:r>
              <a:rPr sz="3300" b="1">
                <a:solidFill>
                  <a:srgbClr val="172A49"/>
                </a:solidFill>
                <a:latin typeface="Arial"/>
                <a:ea typeface="Arial"/>
                <a:cs typeface="Arial"/>
              </a:rPr>
              <a:t>Walkthrough: strategy and reply</a:t>
            </a:r>
          </a:p>
        </p:txBody>
      </p:sp>
      <p:sp>
        <p:nvSpPr>
          <p:cNvPr id="2" name="Rectangle 1">
            <a:extLst>
              <a:ext uri="{FF2B5EF4-FFF2-40B4-BE49-F238E27FC236}">
                <a16:creationId xmlns:a16="http://schemas.microsoft.com/office/drawing/2014/main" id="{93F9E283-DA8A-4964-92F6-2F9A2642CB56}"/>
              </a:ext>
            </a:extLst>
          </p:cNvPr>
          <p:cNvSpPr>
            <a:spLocks noGrp="1"/>
          </p:cNvSpPr>
          <p:nvPr/>
        </p:nvSpPr>
        <p:spPr>
          <a:xfrm>
            <a:off x="609600" y="6467475"/>
            <a:ext cx="8572500" cy="228600"/>
          </a:xfrm>
          <a:prstGeom prst="rect">
            <a:avLst/>
          </a:prstGeom>
          <a:noFill/>
          <a:ln w="0">
            <a:noFill/>
          </a:ln>
        </p:spPr>
        <p:txBody>
          <a:bodyPr>
            <a:noAutofit/>
          </a:bodyPr>
          <a:lstStyle/>
          <a:p>
            <a:pPr>
              <a:defRPr sz="1200" b="0">
                <a:solidFill>
                  <a:srgbClr val="596476"/>
                </a:solidFill>
                <a:latin typeface="Arial"/>
                <a:ea typeface="Arial"/>
                <a:cs typeface="Arial"/>
              </a:defRPr>
            </a:pPr>
            <a:r>
              <a:rPr sz="1200" b="0">
                <a:solidFill>
                  <a:srgbClr val="596476"/>
                </a:solidFill>
                <a:latin typeface="Arial"/>
                <a:ea typeface="Arial"/>
                <a:cs typeface="Arial"/>
              </a:rPr>
              <a:t>AICA Level 2 course project</a:t>
            </a:r>
          </a:p>
        </p:txBody>
      </p:sp>
      <p:sp>
        <p:nvSpPr>
          <p:cNvPr id="3" name="Rectangle 2">
            <a:extLst>
              <a:ext uri="{FF2B5EF4-FFF2-40B4-BE49-F238E27FC236}">
                <a16:creationId xmlns:a16="http://schemas.microsoft.com/office/drawing/2014/main" id="{EF6CFEB3-D321-48D4-BEE2-69848E8CFAB3}"/>
              </a:ext>
            </a:extLst>
          </p:cNvPr>
          <p:cNvSpPr>
            <a:spLocks noGrp="1"/>
          </p:cNvSpPr>
          <p:nvPr/>
        </p:nvSpPr>
        <p:spPr>
          <a:xfrm>
            <a:off x="11049000" y="6438900"/>
            <a:ext cx="533400" cy="266700"/>
          </a:xfrm>
          <a:prstGeom prst="rect">
            <a:avLst/>
          </a:prstGeom>
          <a:noFill/>
          <a:ln w="0">
            <a:noFill/>
          </a:ln>
        </p:spPr>
        <p:txBody>
          <a:bodyPr>
            <a:noAutofit/>
          </a:bodyPr>
          <a:lstStyle/>
          <a:p>
            <a:pPr>
              <a:defRPr sz="1350" b="1">
                <a:solidFill>
                  <a:srgbClr val="742E46"/>
                </a:solidFill>
                <a:latin typeface="Arial"/>
                <a:ea typeface="Arial"/>
                <a:cs typeface="Arial"/>
              </a:defRPr>
            </a:pPr>
            <a:r>
              <a:rPr sz="1350" b="1">
                <a:solidFill>
                  <a:srgbClr val="742E46"/>
                </a:solidFill>
                <a:latin typeface="Arial"/>
                <a:ea typeface="Arial"/>
                <a:cs typeface="Arial"/>
              </a:rPr>
              <a:t>07</a:t>
            </a:r>
          </a:p>
        </p:txBody>
      </p:sp>
      <p:sp>
        <p:nvSpPr>
          <p:cNvPr id="4" name="Rectangle 3">
            <a:extLst>
              <a:ext uri="{FF2B5EF4-FFF2-40B4-BE49-F238E27FC236}">
                <a16:creationId xmlns:a16="http://schemas.microsoft.com/office/drawing/2014/main" id="{8FAEACC0-ABEA-4E41-84CB-FBAB471259EF}"/>
              </a:ext>
            </a:extLst>
          </p:cNvPr>
          <p:cNvSpPr>
            <a:spLocks noGrp="1"/>
          </p:cNvSpPr>
          <p:nvPr/>
        </p:nvSpPr>
        <p:spPr>
          <a:xfrm>
            <a:off x="609600" y="1533525"/>
            <a:ext cx="3714750" cy="476250"/>
          </a:xfrm>
          <a:prstGeom prst="rect">
            <a:avLst/>
          </a:prstGeom>
          <a:noFill/>
          <a:ln w="0">
            <a:noFill/>
          </a:ln>
        </p:spPr>
        <p:txBody>
          <a:bodyPr>
            <a:noAutofit/>
          </a:bodyPr>
          <a:lstStyle/>
          <a:p>
            <a:pPr>
              <a:defRPr sz="2250" b="1">
                <a:solidFill>
                  <a:srgbClr val="742E46"/>
                </a:solidFill>
                <a:latin typeface="Arial"/>
                <a:ea typeface="Arial"/>
                <a:cs typeface="Arial"/>
              </a:defRPr>
            </a:pPr>
            <a:r>
              <a:rPr sz="2250" b="1">
                <a:solidFill>
                  <a:srgbClr val="742E46"/>
                </a:solidFill>
                <a:latin typeface="Arial"/>
                <a:ea typeface="Arial"/>
                <a:cs typeface="Arial"/>
              </a:rPr>
              <a:t>An editable outcome</a:t>
            </a:r>
          </a:p>
        </p:txBody>
      </p:sp>
      <p:sp>
        <p:nvSpPr>
          <p:cNvPr id="5" name="Rectangle 4">
            <a:extLst>
              <a:ext uri="{FF2B5EF4-FFF2-40B4-BE49-F238E27FC236}">
                <a16:creationId xmlns:a16="http://schemas.microsoft.com/office/drawing/2014/main" id="{C0725C9C-EF90-4EAA-8DA1-DFADB2861CA4}"/>
              </a:ext>
            </a:extLst>
          </p:cNvPr>
          <p:cNvSpPr>
            <a:spLocks noGrp="1"/>
          </p:cNvSpPr>
          <p:nvPr/>
        </p:nvSpPr>
        <p:spPr>
          <a:xfrm>
            <a:off x="609600" y="2209800"/>
            <a:ext cx="3667125" cy="3676650"/>
          </a:xfrm>
          <a:prstGeom prst="rect">
            <a:avLst/>
          </a:prstGeom>
          <a:noFill/>
          <a:ln w="0">
            <a:noFill/>
          </a:ln>
        </p:spPr>
        <p:txBody>
          <a:bodyPr>
            <a:noAutofit/>
          </a:bodyPr>
          <a:lstStyle/>
          <a:p>
            <a:pPr>
              <a:defRPr sz="1950" b="0">
                <a:solidFill>
                  <a:srgbClr val="172A49"/>
                </a:solidFill>
                <a:latin typeface="Arial"/>
                <a:ea typeface="Arial"/>
                <a:cs typeface="Arial"/>
              </a:defRPr>
            </a:pPr>
            <a:r>
              <a:rPr sz="1950" b="0">
                <a:solidFill>
                  <a:srgbClr val="172A49"/>
                </a:solidFill>
                <a:latin typeface="Arial"/>
                <a:ea typeface="Arial"/>
                <a:cs typeface="Arial"/>
              </a:rPr>
              <a:t>Organise the proposed position issue by issue.</a:t>
            </a:r>
          </a:p>
          <a:p>
            <a:endParaRPr sz="1950" b="0">
              <a:solidFill>
                <a:srgbClr val="172A49"/>
              </a:solidFill>
              <a:latin typeface="Arial"/>
              <a:ea typeface="Arial"/>
              <a:cs typeface="Arial"/>
            </a:endParaRPr>
          </a:p>
          <a:p>
            <a:pPr>
              <a:defRPr sz="1950" b="0">
                <a:solidFill>
                  <a:srgbClr val="172A49"/>
                </a:solidFill>
                <a:latin typeface="Arial"/>
                <a:ea typeface="Arial"/>
                <a:cs typeface="Arial"/>
              </a:defRPr>
            </a:pPr>
            <a:r>
              <a:rPr sz="1950" b="0">
                <a:solidFill>
                  <a:srgbClr val="172A49"/>
                </a:solidFill>
                <a:latin typeface="Arial"/>
                <a:ea typeface="Arial"/>
                <a:cs typeface="Arial"/>
              </a:rPr>
              <a:t>Review missing facts and alternative arguments.</a:t>
            </a:r>
          </a:p>
          <a:p>
            <a:endParaRPr sz="1950" b="0">
              <a:solidFill>
                <a:srgbClr val="172A49"/>
              </a:solidFill>
              <a:latin typeface="Arial"/>
              <a:ea typeface="Arial"/>
              <a:cs typeface="Arial"/>
            </a:endParaRPr>
          </a:p>
          <a:p>
            <a:pPr>
              <a:defRPr sz="1950" b="0">
                <a:solidFill>
                  <a:srgbClr val="172A49"/>
                </a:solidFill>
                <a:latin typeface="Arial"/>
                <a:ea typeface="Arial"/>
                <a:cs typeface="Arial"/>
              </a:defRPr>
            </a:pPr>
            <a:r>
              <a:rPr sz="1950" b="0">
                <a:solidFill>
                  <a:srgbClr val="172A49"/>
                </a:solidFill>
                <a:latin typeface="Arial"/>
                <a:ea typeface="Arial"/>
                <a:cs typeface="Arial"/>
              </a:rPr>
              <a:t>Edit the reply, then copy it or download Word.</a:t>
            </a:r>
          </a:p>
          <a:p>
            <a:endParaRPr sz="1950" b="0">
              <a:solidFill>
                <a:srgbClr val="172A49"/>
              </a:solidFill>
              <a:latin typeface="Arial"/>
              <a:ea typeface="Arial"/>
              <a:cs typeface="Arial"/>
            </a:endParaRPr>
          </a:p>
          <a:p>
            <a:pPr>
              <a:defRPr sz="1950" b="0">
                <a:solidFill>
                  <a:srgbClr val="172A49"/>
                </a:solidFill>
                <a:latin typeface="Arial"/>
                <a:ea typeface="Arial"/>
                <a:cs typeface="Arial"/>
              </a:defRPr>
            </a:pPr>
            <a:r>
              <a:rPr sz="1950" b="0">
                <a:solidFill>
                  <a:srgbClr val="172A49"/>
                </a:solidFill>
                <a:latin typeface="Arial"/>
                <a:ea typeface="Arial"/>
                <a:cs typeface="Arial"/>
              </a:rPr>
              <a:t>Changed inputs require a refreshed strategy.</a:t>
            </a:r>
          </a:p>
        </p:txBody>
      </p:sp>
      <p:sp>
        <p:nvSpPr>
          <p:cNvPr id="6" name="Rectangle 5">
            <a:extLst>
              <a:ext uri="{FF2B5EF4-FFF2-40B4-BE49-F238E27FC236}">
                <a16:creationId xmlns:a16="http://schemas.microsoft.com/office/drawing/2014/main" id="{9B0FF2FE-D74E-4A80-BF6F-1B5DD2FAAD74}"/>
              </a:ext>
            </a:extLst>
          </p:cNvPr>
          <p:cNvSpPr>
            <a:spLocks noGrp="1"/>
          </p:cNvSpPr>
          <p:nvPr/>
        </p:nvSpPr>
        <p:spPr>
          <a:xfrm>
            <a:off x="4695825" y="1219200"/>
            <a:ext cx="3143250" cy="342900"/>
          </a:xfrm>
          <a:prstGeom prst="rect">
            <a:avLst/>
          </a:prstGeom>
          <a:noFill/>
          <a:ln w="0">
            <a:noFill/>
          </a:ln>
        </p:spPr>
        <p:txBody>
          <a:bodyPr>
            <a:noAutofit/>
          </a:bodyPr>
          <a:lstStyle/>
          <a:p>
            <a:pPr>
              <a:defRPr sz="1650" b="1">
                <a:solidFill>
                  <a:srgbClr val="315A97"/>
                </a:solidFill>
                <a:latin typeface="Arial"/>
                <a:ea typeface="Arial"/>
                <a:cs typeface="Arial"/>
              </a:defRPr>
            </a:pPr>
            <a:r>
              <a:rPr sz="1650" b="1">
                <a:solidFill>
                  <a:srgbClr val="315A97"/>
                </a:solidFill>
                <a:latin typeface="Arial"/>
                <a:ea typeface="Arial"/>
                <a:cs typeface="Arial"/>
              </a:rPr>
              <a:t>Response strategy</a:t>
            </a:r>
          </a:p>
        </p:txBody>
      </p:sp>
      <p:sp>
        <p:nvSpPr>
          <p:cNvPr id="7" name="Rectangle 6">
            <a:extLst>
              <a:ext uri="{FF2B5EF4-FFF2-40B4-BE49-F238E27FC236}">
                <a16:creationId xmlns:a16="http://schemas.microsoft.com/office/drawing/2014/main" id="{A6E666FC-DE14-49BF-A10B-8BC7998EBE66}"/>
              </a:ext>
            </a:extLst>
          </p:cNvPr>
          <p:cNvSpPr>
            <a:spLocks noGrp="1"/>
          </p:cNvSpPr>
          <p:nvPr/>
        </p:nvSpPr>
        <p:spPr>
          <a:xfrm>
            <a:off x="8334375" y="1219200"/>
            <a:ext cx="3143250" cy="342900"/>
          </a:xfrm>
          <a:prstGeom prst="rect">
            <a:avLst/>
          </a:prstGeom>
          <a:noFill/>
          <a:ln w="0">
            <a:noFill/>
          </a:ln>
        </p:spPr>
        <p:txBody>
          <a:bodyPr>
            <a:noAutofit/>
          </a:bodyPr>
          <a:lstStyle/>
          <a:p>
            <a:pPr>
              <a:defRPr sz="1650" b="1">
                <a:solidFill>
                  <a:srgbClr val="315A97"/>
                </a:solidFill>
                <a:latin typeface="Arial"/>
                <a:ea typeface="Arial"/>
                <a:cs typeface="Arial"/>
              </a:defRPr>
            </a:pPr>
            <a:r>
              <a:rPr sz="1650" b="1">
                <a:solidFill>
                  <a:srgbClr val="315A97"/>
                </a:solidFill>
                <a:latin typeface="Arial"/>
                <a:ea typeface="Arial"/>
                <a:cs typeface="Arial"/>
              </a:rPr>
              <a:t>Reply editor</a:t>
            </a:r>
          </a:p>
        </p:txBody>
      </p:sp>
      <p:pic>
        <p:nvPicPr>
          <p:cNvPr id="18" name="Picture 17"/>
          <p:cNvPicPr>
            <a:picLocks noChangeAspect="1"/>
          </p:cNvPicPr>
          <p:nvPr/>
        </p:nvPicPr>
        <p:blipFill>
          <a:blip r:embed="rId3"/>
          <a:stretch/>
        </p:blipFill>
        <p:spPr>
          <a:xfrm>
            <a:off x="4661794" y="1581150"/>
            <a:ext cx="3249412" cy="4305300"/>
          </a:xfrm>
          <a:prstGeom prst="rect">
            <a:avLst/>
          </a:prstGeom>
        </p:spPr>
      </p:pic>
      <p:pic>
        <p:nvPicPr>
          <p:cNvPr id="19" name="Picture 18"/>
          <p:cNvPicPr>
            <a:picLocks noChangeAspect="1"/>
          </p:cNvPicPr>
          <p:nvPr/>
        </p:nvPicPr>
        <p:blipFill>
          <a:blip r:embed="rId4"/>
          <a:stretch/>
        </p:blipFill>
        <p:spPr>
          <a:xfrm>
            <a:off x="8300344" y="1581150"/>
            <a:ext cx="3249412" cy="4305300"/>
          </a:xfrm>
          <a:prstGeom prst="rect">
            <a:avLst/>
          </a:prstGeom>
        </p:spPr>
      </p:pic>
      <p:sp>
        <p:nvSpPr>
          <p:cNvPr id="10" name="Rectangle 9">
            <a:extLst>
              <a:ext uri="{FF2B5EF4-FFF2-40B4-BE49-F238E27FC236}">
                <a16:creationId xmlns:a16="http://schemas.microsoft.com/office/drawing/2014/main" id="{E0FC7A40-7CB4-48DC-9CBA-52C8A01FD5D5}"/>
              </a:ext>
            </a:extLst>
          </p:cNvPr>
          <p:cNvSpPr>
            <a:spLocks noGrp="1"/>
          </p:cNvSpPr>
          <p:nvPr/>
        </p:nvSpPr>
        <p:spPr>
          <a:xfrm>
            <a:off x="4695825" y="6029325"/>
            <a:ext cx="6800850" cy="285750"/>
          </a:xfrm>
          <a:prstGeom prst="rect">
            <a:avLst/>
          </a:prstGeom>
          <a:noFill/>
          <a:ln w="0">
            <a:noFill/>
          </a:ln>
        </p:spPr>
        <p:txBody>
          <a:bodyPr>
            <a:noAutofit/>
          </a:bodyPr>
          <a:lstStyle/>
          <a:p>
            <a:pPr>
              <a:defRPr sz="1350" b="0">
                <a:solidFill>
                  <a:srgbClr val="596476"/>
                </a:solidFill>
                <a:latin typeface="Arial"/>
                <a:ea typeface="Arial"/>
                <a:cs typeface="Arial"/>
              </a:defRPr>
            </a:pPr>
            <a:r>
              <a:rPr sz="1350" b="0">
                <a:solidFill>
                  <a:srgbClr val="596476"/>
                </a:solidFill>
                <a:latin typeface="Arial"/>
                <a:ea typeface="Arial"/>
                <a:cs typeface="Arial"/>
              </a:rPr>
              <a:t>Fictional sample content with explicit verification placeholders</a:t>
            </a:r>
          </a:p>
        </p:txBody>
      </p:sp>
    </p:spTree>
    <p:extLst>
      <p:ext uri="{BB962C8B-B14F-4D97-AF65-F5344CB8AC3E}">
        <p14:creationId xmlns:p14="http://schemas.microsoft.com/office/powerpoint/2010/main" val="3972609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4F5F8"/>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8E229B07-BED9-44B4-9BFE-B76483839326}"/>
              </a:ext>
            </a:extLst>
          </p:cNvPr>
          <p:cNvSpPr>
            <a:spLocks noGrp="1"/>
          </p:cNvSpPr>
          <p:nvPr/>
        </p:nvSpPr>
        <p:spPr>
          <a:xfrm>
            <a:off x="609600" y="419100"/>
            <a:ext cx="10972800" cy="762000"/>
          </a:xfrm>
          <a:prstGeom prst="rect">
            <a:avLst/>
          </a:prstGeom>
          <a:noFill/>
          <a:ln w="0">
            <a:noFill/>
          </a:ln>
        </p:spPr>
        <p:txBody>
          <a:bodyPr>
            <a:noAutofit/>
          </a:bodyPr>
          <a:lstStyle/>
          <a:p>
            <a:pPr>
              <a:defRPr sz="3300" b="1">
                <a:solidFill>
                  <a:srgbClr val="172A49"/>
                </a:solidFill>
                <a:latin typeface="Arial"/>
                <a:ea typeface="Arial"/>
                <a:cs typeface="Arial"/>
              </a:defRPr>
            </a:pPr>
            <a:r>
              <a:rPr sz="3300" b="1">
                <a:solidFill>
                  <a:srgbClr val="172A49"/>
                </a:solidFill>
                <a:latin typeface="Arial"/>
                <a:ea typeface="Arial"/>
                <a:cs typeface="Arial"/>
              </a:rPr>
              <a:t>Achievements and learning</a:t>
            </a:r>
          </a:p>
        </p:txBody>
      </p:sp>
      <p:sp>
        <p:nvSpPr>
          <p:cNvPr id="2" name="Rectangle 1">
            <a:extLst>
              <a:ext uri="{FF2B5EF4-FFF2-40B4-BE49-F238E27FC236}">
                <a16:creationId xmlns:a16="http://schemas.microsoft.com/office/drawing/2014/main" id="{13EF907D-6471-4C37-85ED-13D748CEB816}"/>
              </a:ext>
            </a:extLst>
          </p:cNvPr>
          <p:cNvSpPr>
            <a:spLocks noGrp="1"/>
          </p:cNvSpPr>
          <p:nvPr/>
        </p:nvSpPr>
        <p:spPr>
          <a:xfrm>
            <a:off x="609600" y="6467475"/>
            <a:ext cx="8572500" cy="228600"/>
          </a:xfrm>
          <a:prstGeom prst="rect">
            <a:avLst/>
          </a:prstGeom>
          <a:noFill/>
          <a:ln w="0">
            <a:noFill/>
          </a:ln>
        </p:spPr>
        <p:txBody>
          <a:bodyPr>
            <a:noAutofit/>
          </a:bodyPr>
          <a:lstStyle/>
          <a:p>
            <a:pPr>
              <a:defRPr sz="1200" b="0">
                <a:solidFill>
                  <a:srgbClr val="596476"/>
                </a:solidFill>
                <a:latin typeface="Arial"/>
                <a:ea typeface="Arial"/>
                <a:cs typeface="Arial"/>
              </a:defRPr>
            </a:pPr>
            <a:r>
              <a:rPr sz="1200" b="0">
                <a:solidFill>
                  <a:srgbClr val="596476"/>
                </a:solidFill>
                <a:latin typeface="Arial"/>
                <a:ea typeface="Arial"/>
                <a:cs typeface="Arial"/>
              </a:rPr>
              <a:t>AICA Level 2 course project</a:t>
            </a:r>
          </a:p>
        </p:txBody>
      </p:sp>
      <p:sp>
        <p:nvSpPr>
          <p:cNvPr id="3" name="Rectangle 2">
            <a:extLst>
              <a:ext uri="{FF2B5EF4-FFF2-40B4-BE49-F238E27FC236}">
                <a16:creationId xmlns:a16="http://schemas.microsoft.com/office/drawing/2014/main" id="{109A91AC-A585-411B-87A1-ADCA50148BDA}"/>
              </a:ext>
            </a:extLst>
          </p:cNvPr>
          <p:cNvSpPr>
            <a:spLocks noGrp="1"/>
          </p:cNvSpPr>
          <p:nvPr/>
        </p:nvSpPr>
        <p:spPr>
          <a:xfrm>
            <a:off x="11049000" y="6438900"/>
            <a:ext cx="533400" cy="266700"/>
          </a:xfrm>
          <a:prstGeom prst="rect">
            <a:avLst/>
          </a:prstGeom>
          <a:noFill/>
          <a:ln w="0">
            <a:noFill/>
          </a:ln>
        </p:spPr>
        <p:txBody>
          <a:bodyPr>
            <a:noAutofit/>
          </a:bodyPr>
          <a:lstStyle/>
          <a:p>
            <a:pPr>
              <a:defRPr sz="1350" b="1">
                <a:solidFill>
                  <a:srgbClr val="742E46"/>
                </a:solidFill>
                <a:latin typeface="Arial"/>
                <a:ea typeface="Arial"/>
                <a:cs typeface="Arial"/>
              </a:defRPr>
            </a:pPr>
            <a:r>
              <a:rPr sz="1350" b="1">
                <a:solidFill>
                  <a:srgbClr val="742E46"/>
                </a:solidFill>
                <a:latin typeface="Arial"/>
                <a:ea typeface="Arial"/>
                <a:cs typeface="Arial"/>
              </a:rPr>
              <a:t>08</a:t>
            </a:r>
          </a:p>
        </p:txBody>
      </p:sp>
      <p:sp>
        <p:nvSpPr>
          <p:cNvPr id="4" name="Rectangle 3">
            <a:extLst>
              <a:ext uri="{FF2B5EF4-FFF2-40B4-BE49-F238E27FC236}">
                <a16:creationId xmlns:a16="http://schemas.microsoft.com/office/drawing/2014/main" id="{5FDD1B01-B1E1-4B7F-94C7-D706E3A02A65}"/>
              </a:ext>
            </a:extLst>
          </p:cNvPr>
          <p:cNvSpPr>
            <a:spLocks noGrp="1"/>
          </p:cNvSpPr>
          <p:nvPr/>
        </p:nvSpPr>
        <p:spPr>
          <a:xfrm>
            <a:off x="609600" y="1514475"/>
            <a:ext cx="10763250" cy="552450"/>
          </a:xfrm>
          <a:prstGeom prst="rect">
            <a:avLst/>
          </a:prstGeom>
          <a:noFill/>
          <a:ln w="0">
            <a:noFill/>
          </a:ln>
        </p:spPr>
        <p:txBody>
          <a:bodyPr>
            <a:noAutofit/>
          </a:bodyPr>
          <a:lstStyle/>
          <a:p>
            <a:pPr>
              <a:defRPr sz="2550" b="1">
                <a:solidFill>
                  <a:srgbClr val="315A97"/>
                </a:solidFill>
                <a:latin typeface="Arial"/>
                <a:ea typeface="Arial"/>
                <a:cs typeface="Arial"/>
              </a:defRPr>
            </a:pPr>
            <a:r>
              <a:rPr sz="2550" b="1">
                <a:solidFill>
                  <a:srgbClr val="315A97"/>
                </a:solidFill>
                <a:latin typeface="Arial"/>
                <a:ea typeface="Arial"/>
                <a:cs typeface="Arial"/>
              </a:rPr>
              <a:t>Working educational prototype</a:t>
            </a:r>
          </a:p>
        </p:txBody>
      </p:sp>
      <p:sp>
        <p:nvSpPr>
          <p:cNvPr id="5" name="Rectangle 4">
            <a:extLst>
              <a:ext uri="{FF2B5EF4-FFF2-40B4-BE49-F238E27FC236}">
                <a16:creationId xmlns:a16="http://schemas.microsoft.com/office/drawing/2014/main" id="{1F46C390-F47D-487E-96A3-6B3B29B0471C}"/>
              </a:ext>
            </a:extLst>
          </p:cNvPr>
          <p:cNvSpPr>
            <a:spLocks noGrp="1"/>
          </p:cNvSpPr>
          <p:nvPr/>
        </p:nvSpPr>
        <p:spPr>
          <a:xfrm>
            <a:off x="609600" y="2543175"/>
            <a:ext cx="4857750" cy="419100"/>
          </a:xfrm>
          <a:prstGeom prst="rect">
            <a:avLst/>
          </a:prstGeom>
          <a:noFill/>
          <a:ln w="0">
            <a:noFill/>
          </a:ln>
        </p:spPr>
        <p:txBody>
          <a:bodyPr>
            <a:noAutofit/>
          </a:bodyPr>
          <a:lstStyle/>
          <a:p>
            <a:pPr>
              <a:defRPr sz="2100" b="1">
                <a:solidFill>
                  <a:srgbClr val="742E46"/>
                </a:solidFill>
                <a:latin typeface="Arial"/>
                <a:ea typeface="Arial"/>
                <a:cs typeface="Arial"/>
              </a:defRPr>
            </a:pPr>
            <a:r>
              <a:rPr sz="2100" b="1">
                <a:solidFill>
                  <a:srgbClr val="742E46"/>
                </a:solidFill>
                <a:latin typeface="Arial"/>
                <a:ea typeface="Arial"/>
                <a:cs typeface="Arial"/>
              </a:rPr>
              <a:t>Complete guided workflow</a:t>
            </a:r>
          </a:p>
        </p:txBody>
      </p:sp>
      <p:sp>
        <p:nvSpPr>
          <p:cNvPr id="6" name="Rectangle 5">
            <a:extLst>
              <a:ext uri="{FF2B5EF4-FFF2-40B4-BE49-F238E27FC236}">
                <a16:creationId xmlns:a16="http://schemas.microsoft.com/office/drawing/2014/main" id="{95009B26-D3B6-4190-B205-395F87962F6E}"/>
              </a:ext>
            </a:extLst>
          </p:cNvPr>
          <p:cNvSpPr>
            <a:spLocks noGrp="1"/>
          </p:cNvSpPr>
          <p:nvPr/>
        </p:nvSpPr>
        <p:spPr>
          <a:xfrm>
            <a:off x="609600" y="3028950"/>
            <a:ext cx="4857750" cy="1028700"/>
          </a:xfrm>
          <a:prstGeom prst="rect">
            <a:avLst/>
          </a:prstGeom>
          <a:noFill/>
          <a:ln w="0">
            <a:noFill/>
          </a:ln>
        </p:spPr>
        <p:txBody>
          <a:bodyPr>
            <a:noAutofit/>
          </a:bodyPr>
          <a:lstStyle/>
          <a:p>
            <a:pPr>
              <a:defRPr sz="1875" b="0">
                <a:solidFill>
                  <a:srgbClr val="596476"/>
                </a:solidFill>
                <a:latin typeface="Arial"/>
                <a:ea typeface="Arial"/>
                <a:cs typeface="Arial"/>
              </a:defRPr>
            </a:pPr>
            <a:r>
              <a:rPr sz="1875" b="0">
                <a:solidFill>
                  <a:srgbClr val="596476"/>
                </a:solidFill>
                <a:latin typeface="Arial"/>
                <a:ea typeface="Arial"/>
                <a:cs typeface="Arial"/>
              </a:rPr>
              <a:t>Seven stages connect notice analysis with evidence, research, strategy and reply review.</a:t>
            </a:r>
          </a:p>
        </p:txBody>
      </p:sp>
      <p:sp>
        <p:nvSpPr>
          <p:cNvPr id="7" name="Rectangle 6">
            <a:extLst>
              <a:ext uri="{FF2B5EF4-FFF2-40B4-BE49-F238E27FC236}">
                <a16:creationId xmlns:a16="http://schemas.microsoft.com/office/drawing/2014/main" id="{681AB885-A195-4E75-B707-A4C81095675A}"/>
              </a:ext>
            </a:extLst>
          </p:cNvPr>
          <p:cNvSpPr>
            <a:spLocks noGrp="1"/>
          </p:cNvSpPr>
          <p:nvPr/>
        </p:nvSpPr>
        <p:spPr>
          <a:xfrm>
            <a:off x="6515100" y="2543175"/>
            <a:ext cx="4857750" cy="419100"/>
          </a:xfrm>
          <a:prstGeom prst="rect">
            <a:avLst/>
          </a:prstGeom>
          <a:noFill/>
          <a:ln w="0">
            <a:noFill/>
          </a:ln>
        </p:spPr>
        <p:txBody>
          <a:bodyPr>
            <a:noAutofit/>
          </a:bodyPr>
          <a:lstStyle/>
          <a:p>
            <a:pPr>
              <a:defRPr sz="2100" b="1">
                <a:solidFill>
                  <a:srgbClr val="742E46"/>
                </a:solidFill>
                <a:latin typeface="Arial"/>
                <a:ea typeface="Arial"/>
                <a:cs typeface="Arial"/>
              </a:defRPr>
            </a:pPr>
            <a:r>
              <a:rPr sz="2100" b="1">
                <a:solidFill>
                  <a:srgbClr val="742E46"/>
                </a:solidFill>
                <a:latin typeface="Arial"/>
                <a:ea typeface="Arial"/>
                <a:cs typeface="Arial"/>
              </a:rPr>
              <a:t>Usable and shareable</a:t>
            </a:r>
          </a:p>
        </p:txBody>
      </p:sp>
      <p:sp>
        <p:nvSpPr>
          <p:cNvPr id="8" name="Rectangle 7">
            <a:extLst>
              <a:ext uri="{FF2B5EF4-FFF2-40B4-BE49-F238E27FC236}">
                <a16:creationId xmlns:a16="http://schemas.microsoft.com/office/drawing/2014/main" id="{78CABB69-C4FB-41E4-A798-4B83C027D3BD}"/>
              </a:ext>
            </a:extLst>
          </p:cNvPr>
          <p:cNvSpPr>
            <a:spLocks noGrp="1"/>
          </p:cNvSpPr>
          <p:nvPr/>
        </p:nvSpPr>
        <p:spPr>
          <a:xfrm>
            <a:off x="6515100" y="3028950"/>
            <a:ext cx="4857750" cy="1028700"/>
          </a:xfrm>
          <a:prstGeom prst="rect">
            <a:avLst/>
          </a:prstGeom>
          <a:noFill/>
          <a:ln w="0">
            <a:noFill/>
          </a:ln>
        </p:spPr>
        <p:txBody>
          <a:bodyPr>
            <a:noAutofit/>
          </a:bodyPr>
          <a:lstStyle/>
          <a:p>
            <a:pPr>
              <a:defRPr sz="1875" b="0">
                <a:solidFill>
                  <a:srgbClr val="596476"/>
                </a:solidFill>
                <a:latin typeface="Arial"/>
                <a:ea typeface="Arial"/>
                <a:cs typeface="Arial"/>
              </a:defRPr>
            </a:pPr>
            <a:r>
              <a:rPr sz="1875" b="0">
                <a:solidFill>
                  <a:srgbClr val="596476"/>
                </a:solidFill>
                <a:latin typeface="Arial"/>
                <a:ea typeface="Arial"/>
                <a:cs typeface="Arial"/>
              </a:rPr>
              <a:t>Readable highlights, editable replies, Word export and a ZIP with setup instructions.</a:t>
            </a:r>
          </a:p>
        </p:txBody>
      </p:sp>
      <p:sp>
        <p:nvSpPr>
          <p:cNvPr id="9" name="Rectangle 8">
            <a:extLst>
              <a:ext uri="{FF2B5EF4-FFF2-40B4-BE49-F238E27FC236}">
                <a16:creationId xmlns:a16="http://schemas.microsoft.com/office/drawing/2014/main" id="{B411AF79-DFFE-4C86-A96F-BA7728A5A73D}"/>
              </a:ext>
            </a:extLst>
          </p:cNvPr>
          <p:cNvSpPr>
            <a:spLocks noGrp="1"/>
          </p:cNvSpPr>
          <p:nvPr/>
        </p:nvSpPr>
        <p:spPr>
          <a:xfrm>
            <a:off x="609600" y="4476750"/>
            <a:ext cx="4857750" cy="419100"/>
          </a:xfrm>
          <a:prstGeom prst="rect">
            <a:avLst/>
          </a:prstGeom>
          <a:noFill/>
          <a:ln w="0">
            <a:noFill/>
          </a:ln>
        </p:spPr>
        <p:txBody>
          <a:bodyPr>
            <a:noAutofit/>
          </a:bodyPr>
          <a:lstStyle/>
          <a:p>
            <a:pPr>
              <a:defRPr sz="2100" b="1">
                <a:solidFill>
                  <a:srgbClr val="742E46"/>
                </a:solidFill>
                <a:latin typeface="Arial"/>
                <a:ea typeface="Arial"/>
                <a:cs typeface="Arial"/>
              </a:defRPr>
            </a:pPr>
            <a:r>
              <a:rPr sz="2100" b="1">
                <a:solidFill>
                  <a:srgbClr val="742E46"/>
                </a:solidFill>
                <a:latin typeface="Arial"/>
                <a:ea typeface="Arial"/>
                <a:cs typeface="Arial"/>
              </a:rPr>
              <a:t>Verification completed</a:t>
            </a:r>
          </a:p>
        </p:txBody>
      </p:sp>
      <p:sp>
        <p:nvSpPr>
          <p:cNvPr id="10" name="Rectangle 9">
            <a:extLst>
              <a:ext uri="{FF2B5EF4-FFF2-40B4-BE49-F238E27FC236}">
                <a16:creationId xmlns:a16="http://schemas.microsoft.com/office/drawing/2014/main" id="{A91597C6-2A77-4F8F-BD7A-E9CC7A552119}"/>
              </a:ext>
            </a:extLst>
          </p:cNvPr>
          <p:cNvSpPr>
            <a:spLocks noGrp="1"/>
          </p:cNvSpPr>
          <p:nvPr/>
        </p:nvSpPr>
        <p:spPr>
          <a:xfrm>
            <a:off x="609600" y="4962525"/>
            <a:ext cx="4857750" cy="1028700"/>
          </a:xfrm>
          <a:prstGeom prst="rect">
            <a:avLst/>
          </a:prstGeom>
          <a:noFill/>
          <a:ln w="0">
            <a:noFill/>
          </a:ln>
        </p:spPr>
        <p:txBody>
          <a:bodyPr>
            <a:noAutofit/>
          </a:bodyPr>
          <a:lstStyle/>
          <a:p>
            <a:pPr>
              <a:defRPr sz="1875" b="0">
                <a:solidFill>
                  <a:srgbClr val="596476"/>
                </a:solidFill>
                <a:latin typeface="Arial"/>
                <a:ea typeface="Arial"/>
                <a:cs typeface="Arial"/>
              </a:defRPr>
            </a:pPr>
            <a:r>
              <a:rPr sz="1875" b="0">
                <a:solidFill>
                  <a:srgbClr val="596476"/>
                </a:solidFill>
                <a:latin typeface="Arial"/>
                <a:ea typeface="Arial"/>
                <a:cs typeface="Arial"/>
              </a:rPr>
              <a:t>40 automated tests passed across recorded runs, including extraction and workflow checks.</a:t>
            </a:r>
          </a:p>
        </p:txBody>
      </p:sp>
      <p:sp>
        <p:nvSpPr>
          <p:cNvPr id="11" name="Rectangle 10">
            <a:extLst>
              <a:ext uri="{FF2B5EF4-FFF2-40B4-BE49-F238E27FC236}">
                <a16:creationId xmlns:a16="http://schemas.microsoft.com/office/drawing/2014/main" id="{62C5BBA1-D517-4987-92E9-A927F9B82A4C}"/>
              </a:ext>
            </a:extLst>
          </p:cNvPr>
          <p:cNvSpPr>
            <a:spLocks noGrp="1"/>
          </p:cNvSpPr>
          <p:nvPr/>
        </p:nvSpPr>
        <p:spPr>
          <a:xfrm>
            <a:off x="6515100" y="4476750"/>
            <a:ext cx="4857750" cy="419100"/>
          </a:xfrm>
          <a:prstGeom prst="rect">
            <a:avLst/>
          </a:prstGeom>
          <a:noFill/>
          <a:ln w="0">
            <a:noFill/>
          </a:ln>
        </p:spPr>
        <p:txBody>
          <a:bodyPr>
            <a:noAutofit/>
          </a:bodyPr>
          <a:lstStyle/>
          <a:p>
            <a:pPr>
              <a:defRPr sz="2100" b="1">
                <a:solidFill>
                  <a:srgbClr val="742E46"/>
                </a:solidFill>
                <a:latin typeface="Arial"/>
                <a:ea typeface="Arial"/>
                <a:cs typeface="Arial"/>
              </a:defRPr>
            </a:pPr>
            <a:r>
              <a:rPr sz="2100" b="1">
                <a:solidFill>
                  <a:srgbClr val="742E46"/>
                </a:solidFill>
                <a:latin typeface="Arial"/>
                <a:ea typeface="Arial"/>
                <a:cs typeface="Arial"/>
              </a:rPr>
              <a:t>Clear validation boundary</a:t>
            </a:r>
          </a:p>
        </p:txBody>
      </p:sp>
      <p:sp>
        <p:nvSpPr>
          <p:cNvPr id="12" name="Rectangle 11">
            <a:extLst>
              <a:ext uri="{FF2B5EF4-FFF2-40B4-BE49-F238E27FC236}">
                <a16:creationId xmlns:a16="http://schemas.microsoft.com/office/drawing/2014/main" id="{373C21D8-C900-4D99-9B97-486804CEB283}"/>
              </a:ext>
            </a:extLst>
          </p:cNvPr>
          <p:cNvSpPr>
            <a:spLocks noGrp="1"/>
          </p:cNvSpPr>
          <p:nvPr/>
        </p:nvSpPr>
        <p:spPr>
          <a:xfrm>
            <a:off x="6515100" y="4962525"/>
            <a:ext cx="4857750" cy="1028700"/>
          </a:xfrm>
          <a:prstGeom prst="rect">
            <a:avLst/>
          </a:prstGeom>
          <a:noFill/>
          <a:ln w="0">
            <a:noFill/>
          </a:ln>
        </p:spPr>
        <p:txBody>
          <a:bodyPr>
            <a:noAutofit/>
          </a:bodyPr>
          <a:lstStyle/>
          <a:p>
            <a:pPr>
              <a:defRPr sz="1875" b="0">
                <a:solidFill>
                  <a:srgbClr val="596476"/>
                </a:solidFill>
                <a:latin typeface="Arial"/>
                <a:ea typeface="Arial"/>
                <a:cs typeface="Arial"/>
              </a:defRPr>
            </a:pPr>
            <a:r>
              <a:rPr sz="1875" b="0">
                <a:solidFill>
                  <a:srgbClr val="596476"/>
                </a:solidFill>
                <a:latin typeface="Arial"/>
                <a:ea typeface="Arial"/>
                <a:cs typeface="Arial"/>
              </a:rPr>
              <a:t>Live provider calls remain unverified. Research tests use mocked responses.</a:t>
            </a:r>
          </a:p>
        </p:txBody>
      </p:sp>
    </p:spTree>
    <p:extLst>
      <p:ext uri="{BB962C8B-B14F-4D97-AF65-F5344CB8AC3E}">
        <p14:creationId xmlns:p14="http://schemas.microsoft.com/office/powerpoint/2010/main" val="6206025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4F5F8"/>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CADEE26D-ED3A-40C9-95BF-3E5F40E8F8AA}"/>
              </a:ext>
            </a:extLst>
          </p:cNvPr>
          <p:cNvSpPr>
            <a:spLocks noGrp="1"/>
          </p:cNvSpPr>
          <p:nvPr/>
        </p:nvSpPr>
        <p:spPr>
          <a:xfrm>
            <a:off x="609600" y="419100"/>
            <a:ext cx="10972800" cy="762000"/>
          </a:xfrm>
          <a:prstGeom prst="rect">
            <a:avLst/>
          </a:prstGeom>
          <a:noFill/>
          <a:ln w="0">
            <a:noFill/>
          </a:ln>
        </p:spPr>
        <p:txBody>
          <a:bodyPr>
            <a:noAutofit/>
          </a:bodyPr>
          <a:lstStyle/>
          <a:p>
            <a:pPr>
              <a:defRPr sz="3300" b="1">
                <a:solidFill>
                  <a:srgbClr val="172A49"/>
                </a:solidFill>
                <a:latin typeface="Arial"/>
                <a:ea typeface="Arial"/>
                <a:cs typeface="Arial"/>
              </a:defRPr>
            </a:pPr>
            <a:r>
              <a:rPr sz="3300" b="1">
                <a:solidFill>
                  <a:srgbClr val="172A49"/>
                </a:solidFill>
                <a:latin typeface="Arial"/>
                <a:ea typeface="Arial"/>
                <a:cs typeface="Arial"/>
              </a:rPr>
              <a:t>Educational use and disclaimers</a:t>
            </a:r>
          </a:p>
        </p:txBody>
      </p:sp>
      <p:sp>
        <p:nvSpPr>
          <p:cNvPr id="2" name="Rectangle 1">
            <a:extLst>
              <a:ext uri="{FF2B5EF4-FFF2-40B4-BE49-F238E27FC236}">
                <a16:creationId xmlns:a16="http://schemas.microsoft.com/office/drawing/2014/main" id="{0F734EC2-D561-4577-81AF-15CE36818F5B}"/>
              </a:ext>
            </a:extLst>
          </p:cNvPr>
          <p:cNvSpPr>
            <a:spLocks noGrp="1"/>
          </p:cNvSpPr>
          <p:nvPr/>
        </p:nvSpPr>
        <p:spPr>
          <a:xfrm>
            <a:off x="609600" y="6467475"/>
            <a:ext cx="8572500" cy="228600"/>
          </a:xfrm>
          <a:prstGeom prst="rect">
            <a:avLst/>
          </a:prstGeom>
          <a:noFill/>
          <a:ln w="0">
            <a:noFill/>
          </a:ln>
        </p:spPr>
        <p:txBody>
          <a:bodyPr>
            <a:noAutofit/>
          </a:bodyPr>
          <a:lstStyle/>
          <a:p>
            <a:pPr>
              <a:defRPr sz="1200" b="0">
                <a:solidFill>
                  <a:srgbClr val="596476"/>
                </a:solidFill>
                <a:latin typeface="Arial"/>
                <a:ea typeface="Arial"/>
                <a:cs typeface="Arial"/>
              </a:defRPr>
            </a:pPr>
            <a:r>
              <a:rPr sz="1200" b="0">
                <a:solidFill>
                  <a:srgbClr val="596476"/>
                </a:solidFill>
                <a:latin typeface="Arial"/>
                <a:ea typeface="Arial"/>
                <a:cs typeface="Arial"/>
              </a:rPr>
              <a:t>AICA Level 2 course project</a:t>
            </a:r>
          </a:p>
        </p:txBody>
      </p:sp>
      <p:sp>
        <p:nvSpPr>
          <p:cNvPr id="3" name="Rectangle 2">
            <a:extLst>
              <a:ext uri="{FF2B5EF4-FFF2-40B4-BE49-F238E27FC236}">
                <a16:creationId xmlns:a16="http://schemas.microsoft.com/office/drawing/2014/main" id="{D6560EE2-90D1-493D-9DEF-88068BEB119C}"/>
              </a:ext>
            </a:extLst>
          </p:cNvPr>
          <p:cNvSpPr>
            <a:spLocks noGrp="1"/>
          </p:cNvSpPr>
          <p:nvPr/>
        </p:nvSpPr>
        <p:spPr>
          <a:xfrm>
            <a:off x="11049000" y="6438900"/>
            <a:ext cx="533400" cy="266700"/>
          </a:xfrm>
          <a:prstGeom prst="rect">
            <a:avLst/>
          </a:prstGeom>
          <a:noFill/>
          <a:ln w="0">
            <a:noFill/>
          </a:ln>
        </p:spPr>
        <p:txBody>
          <a:bodyPr>
            <a:noAutofit/>
          </a:bodyPr>
          <a:lstStyle/>
          <a:p>
            <a:pPr>
              <a:defRPr sz="1350" b="1">
                <a:solidFill>
                  <a:srgbClr val="742E46"/>
                </a:solidFill>
                <a:latin typeface="Arial"/>
                <a:ea typeface="Arial"/>
                <a:cs typeface="Arial"/>
              </a:defRPr>
            </a:pPr>
            <a:r>
              <a:rPr sz="1350" b="1">
                <a:solidFill>
                  <a:srgbClr val="742E46"/>
                </a:solidFill>
                <a:latin typeface="Arial"/>
                <a:ea typeface="Arial"/>
                <a:cs typeface="Arial"/>
              </a:rPr>
              <a:t>09</a:t>
            </a:r>
          </a:p>
        </p:txBody>
      </p:sp>
      <p:sp>
        <p:nvSpPr>
          <p:cNvPr id="4" name="Rectangle 3">
            <a:extLst>
              <a:ext uri="{FF2B5EF4-FFF2-40B4-BE49-F238E27FC236}">
                <a16:creationId xmlns:a16="http://schemas.microsoft.com/office/drawing/2014/main" id="{B6DAD1EE-1046-4255-8C41-B2D79C83AC6D}"/>
              </a:ext>
            </a:extLst>
          </p:cNvPr>
          <p:cNvSpPr>
            <a:spLocks noGrp="1"/>
          </p:cNvSpPr>
          <p:nvPr/>
        </p:nvSpPr>
        <p:spPr>
          <a:xfrm>
            <a:off x="609600" y="1438275"/>
            <a:ext cx="2619375" cy="619125"/>
          </a:xfrm>
          <a:prstGeom prst="rect">
            <a:avLst/>
          </a:prstGeom>
          <a:noFill/>
          <a:ln w="0">
            <a:noFill/>
          </a:ln>
        </p:spPr>
        <p:txBody>
          <a:bodyPr>
            <a:noAutofit/>
          </a:bodyPr>
          <a:lstStyle/>
          <a:p>
            <a:pPr>
              <a:defRPr sz="1950" b="1">
                <a:solidFill>
                  <a:srgbClr val="742E46"/>
                </a:solidFill>
                <a:latin typeface="Arial"/>
                <a:ea typeface="Arial"/>
                <a:cs typeface="Arial"/>
              </a:defRPr>
            </a:pPr>
            <a:r>
              <a:rPr sz="1950" b="1">
                <a:solidFill>
                  <a:srgbClr val="742E46"/>
                </a:solidFill>
                <a:latin typeface="Arial"/>
                <a:ea typeface="Arial"/>
                <a:cs typeface="Arial"/>
              </a:rPr>
              <a:t>Course project</a:t>
            </a:r>
          </a:p>
        </p:txBody>
      </p:sp>
      <p:sp>
        <p:nvSpPr>
          <p:cNvPr id="5" name="Rectangle 4">
            <a:extLst>
              <a:ext uri="{FF2B5EF4-FFF2-40B4-BE49-F238E27FC236}">
                <a16:creationId xmlns:a16="http://schemas.microsoft.com/office/drawing/2014/main" id="{38B85FCB-1E75-499F-8F78-86E943A97EBD}"/>
              </a:ext>
            </a:extLst>
          </p:cNvPr>
          <p:cNvSpPr>
            <a:spLocks noGrp="1"/>
          </p:cNvSpPr>
          <p:nvPr/>
        </p:nvSpPr>
        <p:spPr>
          <a:xfrm>
            <a:off x="3476625" y="1438275"/>
            <a:ext cx="7953375" cy="990600"/>
          </a:xfrm>
          <a:prstGeom prst="rect">
            <a:avLst/>
          </a:prstGeom>
          <a:noFill/>
          <a:ln w="0">
            <a:noFill/>
          </a:ln>
        </p:spPr>
        <p:txBody>
          <a:bodyPr>
            <a:noAutofit/>
          </a:bodyPr>
          <a:lstStyle/>
          <a:p>
            <a:pPr>
              <a:defRPr sz="1800" b="0">
                <a:solidFill>
                  <a:srgbClr val="172A49"/>
                </a:solidFill>
                <a:latin typeface="Arial"/>
                <a:ea typeface="Arial"/>
                <a:cs typeface="Arial"/>
              </a:defRPr>
            </a:pPr>
            <a:r>
              <a:rPr sz="1800" b="0">
                <a:solidFill>
                  <a:srgbClr val="172A49"/>
                </a:solidFill>
                <a:latin typeface="Arial"/>
                <a:ea typeface="Arial"/>
                <a:cs typeface="Arial"/>
              </a:rPr>
              <a:t>Prepared for educational purposes as part of the AICA Level 2 Course of ICAI. No claim of ICAI endorsement, certification or official product status.</a:t>
            </a:r>
          </a:p>
        </p:txBody>
      </p:sp>
      <p:sp>
        <p:nvSpPr>
          <p:cNvPr id="6" name="Rectangle 5">
            <a:extLst>
              <a:ext uri="{FF2B5EF4-FFF2-40B4-BE49-F238E27FC236}">
                <a16:creationId xmlns:a16="http://schemas.microsoft.com/office/drawing/2014/main" id="{60145EB3-A99A-4727-A197-ABB3F931ABC8}"/>
              </a:ext>
            </a:extLst>
          </p:cNvPr>
          <p:cNvSpPr>
            <a:spLocks noGrp="1"/>
          </p:cNvSpPr>
          <p:nvPr/>
        </p:nvSpPr>
        <p:spPr>
          <a:xfrm>
            <a:off x="609600" y="2619375"/>
            <a:ext cx="2619375" cy="619125"/>
          </a:xfrm>
          <a:prstGeom prst="rect">
            <a:avLst/>
          </a:prstGeom>
          <a:noFill/>
          <a:ln w="0">
            <a:noFill/>
          </a:ln>
        </p:spPr>
        <p:txBody>
          <a:bodyPr>
            <a:noAutofit/>
          </a:bodyPr>
          <a:lstStyle/>
          <a:p>
            <a:pPr>
              <a:defRPr sz="1950" b="1">
                <a:solidFill>
                  <a:srgbClr val="742E46"/>
                </a:solidFill>
                <a:latin typeface="Arial"/>
                <a:ea typeface="Arial"/>
                <a:cs typeface="Arial"/>
              </a:defRPr>
            </a:pPr>
            <a:r>
              <a:rPr sz="1950" b="1">
                <a:solidFill>
                  <a:srgbClr val="742E46"/>
                </a:solidFill>
                <a:latin typeface="Arial"/>
                <a:ea typeface="Arial"/>
                <a:cs typeface="Arial"/>
              </a:rPr>
              <a:t>Professional judgment</a:t>
            </a:r>
          </a:p>
        </p:txBody>
      </p:sp>
      <p:sp>
        <p:nvSpPr>
          <p:cNvPr id="7" name="Rectangle 6">
            <a:extLst>
              <a:ext uri="{FF2B5EF4-FFF2-40B4-BE49-F238E27FC236}">
                <a16:creationId xmlns:a16="http://schemas.microsoft.com/office/drawing/2014/main" id="{2E2EECBE-EC18-436A-BA50-FA376883D110}"/>
              </a:ext>
            </a:extLst>
          </p:cNvPr>
          <p:cNvSpPr>
            <a:spLocks noGrp="1"/>
          </p:cNvSpPr>
          <p:nvPr/>
        </p:nvSpPr>
        <p:spPr>
          <a:xfrm>
            <a:off x="3476625" y="2619375"/>
            <a:ext cx="7953375" cy="990600"/>
          </a:xfrm>
          <a:prstGeom prst="rect">
            <a:avLst/>
          </a:prstGeom>
          <a:noFill/>
          <a:ln w="0">
            <a:noFill/>
          </a:ln>
        </p:spPr>
        <p:txBody>
          <a:bodyPr>
            <a:noAutofit/>
          </a:bodyPr>
          <a:lstStyle/>
          <a:p>
            <a:pPr>
              <a:defRPr sz="1800" b="0">
                <a:solidFill>
                  <a:srgbClr val="172A49"/>
                </a:solidFill>
                <a:latin typeface="Arial"/>
                <a:ea typeface="Arial"/>
                <a:cs typeface="Arial"/>
              </a:defRPr>
            </a:pPr>
            <a:r>
              <a:rPr sz="1800" b="0">
                <a:solidFill>
                  <a:srgbClr val="172A49"/>
                </a:solidFill>
                <a:latin typeface="Arial"/>
                <a:ea typeface="Arial"/>
                <a:cs typeface="Arial"/>
              </a:rPr>
              <a:t>AI output may be incomplete or incorrect. Verify facts, current law, case citations, deadlines and attachments before submission.</a:t>
            </a:r>
          </a:p>
        </p:txBody>
      </p:sp>
      <p:sp>
        <p:nvSpPr>
          <p:cNvPr id="8" name="Rectangle 7">
            <a:extLst>
              <a:ext uri="{FF2B5EF4-FFF2-40B4-BE49-F238E27FC236}">
                <a16:creationId xmlns:a16="http://schemas.microsoft.com/office/drawing/2014/main" id="{02195003-5B90-4FE5-9D47-9DECFCD49F7A}"/>
              </a:ext>
            </a:extLst>
          </p:cNvPr>
          <p:cNvSpPr>
            <a:spLocks noGrp="1"/>
          </p:cNvSpPr>
          <p:nvPr/>
        </p:nvSpPr>
        <p:spPr>
          <a:xfrm>
            <a:off x="609600" y="3800475"/>
            <a:ext cx="2619375" cy="619125"/>
          </a:xfrm>
          <a:prstGeom prst="rect">
            <a:avLst/>
          </a:prstGeom>
          <a:noFill/>
          <a:ln w="0">
            <a:noFill/>
          </a:ln>
        </p:spPr>
        <p:txBody>
          <a:bodyPr>
            <a:noAutofit/>
          </a:bodyPr>
          <a:lstStyle/>
          <a:p>
            <a:pPr>
              <a:defRPr sz="1950" b="1">
                <a:solidFill>
                  <a:srgbClr val="742E46"/>
                </a:solidFill>
                <a:latin typeface="Arial"/>
                <a:ea typeface="Arial"/>
                <a:cs typeface="Arial"/>
              </a:defRPr>
            </a:pPr>
            <a:r>
              <a:rPr sz="1950" b="1">
                <a:solidFill>
                  <a:srgbClr val="742E46"/>
                </a:solidFill>
                <a:latin typeface="Arial"/>
                <a:ea typeface="Arial"/>
                <a:cs typeface="Arial"/>
              </a:rPr>
              <a:t>Confidentiality and access</a:t>
            </a:r>
          </a:p>
        </p:txBody>
      </p:sp>
      <p:sp>
        <p:nvSpPr>
          <p:cNvPr id="9" name="Rectangle 8">
            <a:extLst>
              <a:ext uri="{FF2B5EF4-FFF2-40B4-BE49-F238E27FC236}">
                <a16:creationId xmlns:a16="http://schemas.microsoft.com/office/drawing/2014/main" id="{EB8D7C62-FEBA-4F0E-B3D6-E66EFD39184D}"/>
              </a:ext>
            </a:extLst>
          </p:cNvPr>
          <p:cNvSpPr>
            <a:spLocks noGrp="1"/>
          </p:cNvSpPr>
          <p:nvPr/>
        </p:nvSpPr>
        <p:spPr>
          <a:xfrm>
            <a:off x="3476625" y="3800475"/>
            <a:ext cx="7953375" cy="990600"/>
          </a:xfrm>
          <a:prstGeom prst="rect">
            <a:avLst/>
          </a:prstGeom>
          <a:noFill/>
          <a:ln w="0">
            <a:noFill/>
          </a:ln>
        </p:spPr>
        <p:txBody>
          <a:bodyPr>
            <a:noAutofit/>
          </a:bodyPr>
          <a:lstStyle/>
          <a:p>
            <a:pPr>
              <a:defRPr sz="1800" b="0">
                <a:solidFill>
                  <a:srgbClr val="172A49"/>
                </a:solidFill>
                <a:latin typeface="Arial"/>
                <a:ea typeface="Arial"/>
                <a:cs typeface="Arial"/>
              </a:defRPr>
            </a:pPr>
            <a:r>
              <a:rPr sz="1800" b="0">
                <a:solidFill>
                  <a:srgbClr val="172A49"/>
                </a:solidFill>
                <a:latin typeface="Arial"/>
                <a:ea typeface="Arial"/>
                <a:cs typeface="Arial"/>
              </a:rPr>
              <a:t>Live analysis sends extracted content to the configured AI provider. Use permitted data and the user’s own API key. Internet and usage charges may apply.</a:t>
            </a:r>
          </a:p>
        </p:txBody>
      </p:sp>
      <p:sp>
        <p:nvSpPr>
          <p:cNvPr id="10" name="Rectangle 9">
            <a:extLst>
              <a:ext uri="{FF2B5EF4-FFF2-40B4-BE49-F238E27FC236}">
                <a16:creationId xmlns:a16="http://schemas.microsoft.com/office/drawing/2014/main" id="{C40F5982-21EF-4484-AC13-9476882E8B4C}"/>
              </a:ext>
            </a:extLst>
          </p:cNvPr>
          <p:cNvSpPr>
            <a:spLocks noGrp="1"/>
          </p:cNvSpPr>
          <p:nvPr/>
        </p:nvSpPr>
        <p:spPr>
          <a:xfrm>
            <a:off x="609600" y="4981575"/>
            <a:ext cx="2619375" cy="619125"/>
          </a:xfrm>
          <a:prstGeom prst="rect">
            <a:avLst/>
          </a:prstGeom>
          <a:noFill/>
          <a:ln w="0">
            <a:noFill/>
          </a:ln>
        </p:spPr>
        <p:txBody>
          <a:bodyPr>
            <a:noAutofit/>
          </a:bodyPr>
          <a:lstStyle/>
          <a:p>
            <a:pPr>
              <a:defRPr sz="1950" b="1">
                <a:solidFill>
                  <a:srgbClr val="742E46"/>
                </a:solidFill>
                <a:latin typeface="Arial"/>
                <a:ea typeface="Arial"/>
                <a:cs typeface="Arial"/>
              </a:defRPr>
            </a:pPr>
            <a:r>
              <a:rPr sz="1950" b="1">
                <a:solidFill>
                  <a:srgbClr val="742E46"/>
                </a:solidFill>
                <a:latin typeface="Arial"/>
                <a:ea typeface="Arial"/>
                <a:cs typeface="Arial"/>
              </a:rPr>
              <a:t>Demonstration limits</a:t>
            </a:r>
          </a:p>
        </p:txBody>
      </p:sp>
      <p:sp>
        <p:nvSpPr>
          <p:cNvPr id="11" name="Rectangle 10">
            <a:extLst>
              <a:ext uri="{FF2B5EF4-FFF2-40B4-BE49-F238E27FC236}">
                <a16:creationId xmlns:a16="http://schemas.microsoft.com/office/drawing/2014/main" id="{9E647F1D-6556-4939-B2BB-F9160C8647B8}"/>
              </a:ext>
            </a:extLst>
          </p:cNvPr>
          <p:cNvSpPr>
            <a:spLocks noGrp="1"/>
          </p:cNvSpPr>
          <p:nvPr/>
        </p:nvSpPr>
        <p:spPr>
          <a:xfrm>
            <a:off x="3476625" y="4981575"/>
            <a:ext cx="7953375" cy="990600"/>
          </a:xfrm>
          <a:prstGeom prst="rect">
            <a:avLst/>
          </a:prstGeom>
          <a:noFill/>
          <a:ln w="0">
            <a:noFill/>
          </a:ln>
        </p:spPr>
        <p:txBody>
          <a:bodyPr>
            <a:noAutofit/>
          </a:bodyPr>
          <a:lstStyle/>
          <a:p>
            <a:pPr>
              <a:defRPr sz="1800" b="0">
                <a:solidFill>
                  <a:srgbClr val="172A49"/>
                </a:solidFill>
                <a:latin typeface="Arial"/>
                <a:ea typeface="Arial"/>
                <a:cs typeface="Arial"/>
              </a:defRPr>
            </a:pPr>
            <a:r>
              <a:rPr sz="1800" b="0">
                <a:solidFill>
                  <a:srgbClr val="172A49"/>
                </a:solidFill>
                <a:latin typeface="Arial"/>
                <a:ea typeface="Arial"/>
                <a:cs typeface="Arial"/>
              </a:rPr>
              <a:t>Screenshots use fictional, prewritten sample results. The app does not file replies. It offers no guarantee of legal correctness, exhaustive research or outcomes.</a:t>
            </a:r>
          </a:p>
        </p:txBody>
      </p:sp>
    </p:spTree>
    <p:extLst>
      <p:ext uri="{BB962C8B-B14F-4D97-AF65-F5344CB8AC3E}">
        <p14:creationId xmlns:p14="http://schemas.microsoft.com/office/powerpoint/2010/main" val="17024124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72A49"/>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AF14D6A9-8B36-4469-B768-2A55BFAB31FC}"/>
              </a:ext>
            </a:extLst>
          </p:cNvPr>
          <p:cNvSpPr>
            <a:spLocks noGrp="1"/>
          </p:cNvSpPr>
          <p:nvPr/>
        </p:nvSpPr>
        <p:spPr>
          <a:xfrm>
            <a:off x="8058149" y="3124199"/>
            <a:ext cx="3266263" cy="600075"/>
          </a:xfrm>
          <a:prstGeom prst="rect">
            <a:avLst/>
          </a:prstGeom>
          <a:noFill/>
          <a:ln w="0">
            <a:noFill/>
          </a:ln>
        </p:spPr>
        <p:txBody>
          <a:bodyPr>
            <a:noAutofit/>
          </a:bodyPr>
          <a:lstStyle/>
          <a:p>
            <a:pPr algn="ctr">
              <a:defRPr sz="3300" b="1">
                <a:solidFill>
                  <a:srgbClr val="FFFFFF"/>
                </a:solidFill>
                <a:latin typeface="Arial"/>
                <a:ea typeface="Arial"/>
                <a:cs typeface="Arial"/>
              </a:defRPr>
            </a:pPr>
            <a:r>
              <a:rPr sz="3300" b="1" dirty="0">
                <a:solidFill>
                  <a:srgbClr val="FFFFFF"/>
                </a:solidFill>
                <a:latin typeface="Arial"/>
                <a:ea typeface="Arial"/>
                <a:cs typeface="Arial"/>
              </a:rPr>
              <a:t>Thank you</a:t>
            </a:r>
          </a:p>
        </p:txBody>
      </p:sp>
      <p:sp>
        <p:nvSpPr>
          <p:cNvPr id="2" name="Rectangle 1">
            <a:extLst>
              <a:ext uri="{FF2B5EF4-FFF2-40B4-BE49-F238E27FC236}">
                <a16:creationId xmlns:a16="http://schemas.microsoft.com/office/drawing/2014/main" id="{71E8E6AC-73D7-412B-996B-E506E50354B9}"/>
              </a:ext>
            </a:extLst>
          </p:cNvPr>
          <p:cNvSpPr>
            <a:spLocks noGrp="1"/>
          </p:cNvSpPr>
          <p:nvPr/>
        </p:nvSpPr>
        <p:spPr>
          <a:xfrm>
            <a:off x="609600" y="6467475"/>
            <a:ext cx="8572500" cy="228600"/>
          </a:xfrm>
          <a:prstGeom prst="rect">
            <a:avLst/>
          </a:prstGeom>
          <a:noFill/>
          <a:ln w="0">
            <a:noFill/>
          </a:ln>
        </p:spPr>
        <p:txBody>
          <a:bodyPr>
            <a:noAutofit/>
          </a:bodyPr>
          <a:lstStyle/>
          <a:p>
            <a:pPr>
              <a:defRPr sz="1200" b="0">
                <a:solidFill>
                  <a:srgbClr val="BDC9DD"/>
                </a:solidFill>
                <a:latin typeface="Arial"/>
                <a:ea typeface="Arial"/>
                <a:cs typeface="Arial"/>
              </a:defRPr>
            </a:pPr>
            <a:r>
              <a:rPr sz="1200" b="0">
                <a:solidFill>
                  <a:srgbClr val="BDC9DD"/>
                </a:solidFill>
                <a:latin typeface="Arial"/>
                <a:ea typeface="Arial"/>
                <a:cs typeface="Arial"/>
              </a:rPr>
              <a:t>AICA Level 2 course project</a:t>
            </a:r>
          </a:p>
        </p:txBody>
      </p:sp>
      <p:sp>
        <p:nvSpPr>
          <p:cNvPr id="3" name="Rectangle 2">
            <a:extLst>
              <a:ext uri="{FF2B5EF4-FFF2-40B4-BE49-F238E27FC236}">
                <a16:creationId xmlns:a16="http://schemas.microsoft.com/office/drawing/2014/main" id="{08C2BF34-02B2-48E7-9152-CD473BC04795}"/>
              </a:ext>
            </a:extLst>
          </p:cNvPr>
          <p:cNvSpPr>
            <a:spLocks noGrp="1"/>
          </p:cNvSpPr>
          <p:nvPr/>
        </p:nvSpPr>
        <p:spPr>
          <a:xfrm>
            <a:off x="11049000" y="6438900"/>
            <a:ext cx="533400" cy="266700"/>
          </a:xfrm>
          <a:prstGeom prst="rect">
            <a:avLst/>
          </a:prstGeom>
          <a:noFill/>
          <a:ln w="0">
            <a:noFill/>
          </a:ln>
        </p:spPr>
        <p:txBody>
          <a:bodyPr>
            <a:noAutofit/>
          </a:bodyPr>
          <a:lstStyle/>
          <a:p>
            <a:pPr>
              <a:defRPr sz="1350" b="1">
                <a:solidFill>
                  <a:srgbClr val="C5A453"/>
                </a:solidFill>
                <a:latin typeface="Arial"/>
                <a:ea typeface="Arial"/>
                <a:cs typeface="Arial"/>
              </a:defRPr>
            </a:pPr>
            <a:r>
              <a:rPr sz="1350" b="1">
                <a:solidFill>
                  <a:srgbClr val="C5A453"/>
                </a:solidFill>
                <a:latin typeface="Arial"/>
                <a:ea typeface="Arial"/>
                <a:cs typeface="Arial"/>
              </a:rPr>
              <a:t>10</a:t>
            </a:r>
          </a:p>
        </p:txBody>
      </p:sp>
      <p:sp>
        <p:nvSpPr>
          <p:cNvPr id="4" name="Rectangle 3">
            <a:extLst>
              <a:ext uri="{FF2B5EF4-FFF2-40B4-BE49-F238E27FC236}">
                <a16:creationId xmlns:a16="http://schemas.microsoft.com/office/drawing/2014/main" id="{A620ACB5-1CE3-47E0-8302-93D7D9185980}"/>
              </a:ext>
            </a:extLst>
          </p:cNvPr>
          <p:cNvSpPr>
            <a:spLocks noGrp="1"/>
          </p:cNvSpPr>
          <p:nvPr/>
        </p:nvSpPr>
        <p:spPr>
          <a:xfrm>
            <a:off x="609600" y="276225"/>
            <a:ext cx="10953750" cy="466725"/>
          </a:xfrm>
          <a:prstGeom prst="rect">
            <a:avLst/>
          </a:prstGeom>
          <a:noFill/>
          <a:ln w="0">
            <a:noFill/>
          </a:ln>
        </p:spPr>
        <p:txBody>
          <a:bodyPr>
            <a:noAutofit/>
          </a:bodyPr>
          <a:lstStyle/>
          <a:p>
            <a:pPr>
              <a:defRPr sz="2175" b="0">
                <a:solidFill>
                  <a:srgbClr val="C5A453"/>
                </a:solidFill>
                <a:latin typeface="Arial"/>
                <a:ea typeface="Arial"/>
                <a:cs typeface="Arial"/>
              </a:defRPr>
            </a:pPr>
            <a:r>
              <a:rPr sz="2175" b="0" dirty="0">
                <a:solidFill>
                  <a:srgbClr val="C5A453"/>
                </a:solidFill>
                <a:latin typeface="Arial"/>
                <a:ea typeface="Arial"/>
                <a:cs typeface="Arial"/>
              </a:rPr>
              <a:t>With gratitude for the learning opportunity</a:t>
            </a:r>
          </a:p>
        </p:txBody>
      </p:sp>
      <p:sp>
        <p:nvSpPr>
          <p:cNvPr id="5" name="Rectangle 4">
            <a:extLst>
              <a:ext uri="{FF2B5EF4-FFF2-40B4-BE49-F238E27FC236}">
                <a16:creationId xmlns:a16="http://schemas.microsoft.com/office/drawing/2014/main" id="{6D463DF4-A44B-4DE7-8A52-5AF7C45C66AE}"/>
              </a:ext>
            </a:extLst>
          </p:cNvPr>
          <p:cNvSpPr>
            <a:spLocks noGrp="1"/>
          </p:cNvSpPr>
          <p:nvPr/>
        </p:nvSpPr>
        <p:spPr>
          <a:xfrm>
            <a:off x="609600" y="1009650"/>
            <a:ext cx="10934700" cy="342900"/>
          </a:xfrm>
          <a:prstGeom prst="rect">
            <a:avLst/>
          </a:prstGeom>
          <a:noFill/>
          <a:ln w="0">
            <a:noFill/>
          </a:ln>
        </p:spPr>
        <p:txBody>
          <a:bodyPr>
            <a:noAutofit/>
          </a:bodyPr>
          <a:lstStyle/>
          <a:p>
            <a:pPr>
              <a:defRPr sz="2100" b="1">
                <a:solidFill>
                  <a:srgbClr val="FFFFFF"/>
                </a:solidFill>
                <a:latin typeface="Arial"/>
                <a:ea typeface="Arial"/>
                <a:cs typeface="Arial"/>
              </a:defRPr>
            </a:pPr>
            <a:r>
              <a:rPr sz="2100" b="1" dirty="0">
                <a:solidFill>
                  <a:srgbClr val="FFFFFF"/>
                </a:solidFill>
                <a:latin typeface="Arial"/>
                <a:ea typeface="Arial"/>
                <a:cs typeface="Arial"/>
              </a:rPr>
              <a:t>CA. Charanjot Singh Nanda</a:t>
            </a:r>
          </a:p>
        </p:txBody>
      </p:sp>
      <p:sp>
        <p:nvSpPr>
          <p:cNvPr id="6" name="Rectangle 5">
            <a:extLst>
              <a:ext uri="{FF2B5EF4-FFF2-40B4-BE49-F238E27FC236}">
                <a16:creationId xmlns:a16="http://schemas.microsoft.com/office/drawing/2014/main" id="{213E7D77-8BA5-4482-B8D4-4BBBDAF70685}"/>
              </a:ext>
            </a:extLst>
          </p:cNvPr>
          <p:cNvSpPr>
            <a:spLocks noGrp="1"/>
          </p:cNvSpPr>
          <p:nvPr/>
        </p:nvSpPr>
        <p:spPr>
          <a:xfrm>
            <a:off x="609600" y="1371600"/>
            <a:ext cx="10934700" cy="561975"/>
          </a:xfrm>
          <a:prstGeom prst="rect">
            <a:avLst/>
          </a:prstGeom>
          <a:noFill/>
          <a:ln w="0">
            <a:noFill/>
          </a:ln>
        </p:spPr>
        <p:txBody>
          <a:bodyPr>
            <a:noAutofit/>
          </a:bodyPr>
          <a:lstStyle/>
          <a:p>
            <a:pPr>
              <a:defRPr sz="1725" b="0">
                <a:solidFill>
                  <a:srgbClr val="CBD5E6"/>
                </a:solidFill>
                <a:latin typeface="Arial"/>
                <a:ea typeface="Arial"/>
                <a:cs typeface="Arial"/>
              </a:defRPr>
            </a:pPr>
            <a:r>
              <a:rPr sz="1725" b="0">
                <a:solidFill>
                  <a:srgbClr val="CBD5E6"/>
                </a:solidFill>
                <a:latin typeface="Arial"/>
                <a:ea typeface="Arial"/>
                <a:cs typeface="Arial"/>
              </a:rPr>
              <a:t>Chairman AI in ICAI and Immediate Past President ICAI</a:t>
            </a:r>
          </a:p>
        </p:txBody>
      </p:sp>
      <p:sp>
        <p:nvSpPr>
          <p:cNvPr id="7" name="Rectangle 6">
            <a:extLst>
              <a:ext uri="{FF2B5EF4-FFF2-40B4-BE49-F238E27FC236}">
                <a16:creationId xmlns:a16="http://schemas.microsoft.com/office/drawing/2014/main" id="{5B728488-90CD-4480-ABE4-D4C282934115}"/>
              </a:ext>
            </a:extLst>
          </p:cNvPr>
          <p:cNvSpPr>
            <a:spLocks noGrp="1"/>
          </p:cNvSpPr>
          <p:nvPr/>
        </p:nvSpPr>
        <p:spPr>
          <a:xfrm>
            <a:off x="609600" y="1943100"/>
            <a:ext cx="10934700" cy="342900"/>
          </a:xfrm>
          <a:prstGeom prst="rect">
            <a:avLst/>
          </a:prstGeom>
          <a:noFill/>
          <a:ln w="0">
            <a:noFill/>
          </a:ln>
        </p:spPr>
        <p:txBody>
          <a:bodyPr>
            <a:noAutofit/>
          </a:bodyPr>
          <a:lstStyle/>
          <a:p>
            <a:pPr>
              <a:defRPr sz="2100" b="1">
                <a:solidFill>
                  <a:srgbClr val="FFFFFF"/>
                </a:solidFill>
                <a:latin typeface="Arial"/>
                <a:ea typeface="Arial"/>
                <a:cs typeface="Arial"/>
              </a:defRPr>
            </a:pPr>
            <a:r>
              <a:rPr sz="2100" b="1">
                <a:solidFill>
                  <a:srgbClr val="FFFFFF"/>
                </a:solidFill>
                <a:latin typeface="Arial"/>
                <a:ea typeface="Arial"/>
                <a:cs typeface="Arial"/>
              </a:rPr>
              <a:t>CA. Umesh Ramnarayan Sharma</a:t>
            </a:r>
          </a:p>
        </p:txBody>
      </p:sp>
      <p:sp>
        <p:nvSpPr>
          <p:cNvPr id="8" name="Rectangle 7">
            <a:extLst>
              <a:ext uri="{FF2B5EF4-FFF2-40B4-BE49-F238E27FC236}">
                <a16:creationId xmlns:a16="http://schemas.microsoft.com/office/drawing/2014/main" id="{1DAA79C0-6F06-4E3B-B9DA-E312C94A2D18}"/>
              </a:ext>
            </a:extLst>
          </p:cNvPr>
          <p:cNvSpPr>
            <a:spLocks noGrp="1"/>
          </p:cNvSpPr>
          <p:nvPr/>
        </p:nvSpPr>
        <p:spPr>
          <a:xfrm>
            <a:off x="609600" y="2305050"/>
            <a:ext cx="10934700" cy="561975"/>
          </a:xfrm>
          <a:prstGeom prst="rect">
            <a:avLst/>
          </a:prstGeom>
          <a:noFill/>
          <a:ln w="0">
            <a:noFill/>
          </a:ln>
        </p:spPr>
        <p:txBody>
          <a:bodyPr>
            <a:noAutofit/>
          </a:bodyPr>
          <a:lstStyle/>
          <a:p>
            <a:pPr>
              <a:defRPr sz="1725" b="0">
                <a:solidFill>
                  <a:srgbClr val="CBD5E6"/>
                </a:solidFill>
                <a:latin typeface="Arial"/>
                <a:ea typeface="Arial"/>
                <a:cs typeface="Arial"/>
              </a:defRPr>
            </a:pPr>
            <a:r>
              <a:rPr sz="1725" b="0">
                <a:solidFill>
                  <a:srgbClr val="CBD5E6"/>
                </a:solidFill>
                <a:latin typeface="Arial"/>
                <a:ea typeface="Arial"/>
                <a:cs typeface="Arial"/>
              </a:rPr>
              <a:t>Vice-Chairman, AI in ICAI</a:t>
            </a:r>
          </a:p>
        </p:txBody>
      </p:sp>
      <p:sp>
        <p:nvSpPr>
          <p:cNvPr id="9" name="Rectangle 8">
            <a:extLst>
              <a:ext uri="{FF2B5EF4-FFF2-40B4-BE49-F238E27FC236}">
                <a16:creationId xmlns:a16="http://schemas.microsoft.com/office/drawing/2014/main" id="{881CFC59-247F-4870-B259-37BBEF204416}"/>
              </a:ext>
            </a:extLst>
          </p:cNvPr>
          <p:cNvSpPr>
            <a:spLocks noGrp="1"/>
          </p:cNvSpPr>
          <p:nvPr/>
        </p:nvSpPr>
        <p:spPr>
          <a:xfrm>
            <a:off x="609600" y="2876550"/>
            <a:ext cx="10934700" cy="342900"/>
          </a:xfrm>
          <a:prstGeom prst="rect">
            <a:avLst/>
          </a:prstGeom>
          <a:noFill/>
          <a:ln w="0">
            <a:noFill/>
          </a:ln>
        </p:spPr>
        <p:txBody>
          <a:bodyPr>
            <a:noAutofit/>
          </a:bodyPr>
          <a:lstStyle/>
          <a:p>
            <a:pPr>
              <a:defRPr sz="2100" b="1">
                <a:solidFill>
                  <a:srgbClr val="FFFFFF"/>
                </a:solidFill>
                <a:latin typeface="Arial"/>
                <a:ea typeface="Arial"/>
                <a:cs typeface="Arial"/>
              </a:defRPr>
            </a:pPr>
            <a:r>
              <a:rPr sz="2100" b="1">
                <a:solidFill>
                  <a:srgbClr val="FFFFFF"/>
                </a:solidFill>
                <a:latin typeface="Arial"/>
                <a:ea typeface="Arial"/>
                <a:cs typeface="Arial"/>
              </a:rPr>
              <a:t>CA. Vipin Agarwal</a:t>
            </a:r>
          </a:p>
        </p:txBody>
      </p:sp>
      <p:sp>
        <p:nvSpPr>
          <p:cNvPr id="10" name="Rectangle 9">
            <a:extLst>
              <a:ext uri="{FF2B5EF4-FFF2-40B4-BE49-F238E27FC236}">
                <a16:creationId xmlns:a16="http://schemas.microsoft.com/office/drawing/2014/main" id="{3F65B162-0867-4672-839F-B6B32E8A8726}"/>
              </a:ext>
            </a:extLst>
          </p:cNvPr>
          <p:cNvSpPr>
            <a:spLocks noGrp="1"/>
          </p:cNvSpPr>
          <p:nvPr/>
        </p:nvSpPr>
        <p:spPr>
          <a:xfrm>
            <a:off x="609600" y="3238500"/>
            <a:ext cx="10934700" cy="561975"/>
          </a:xfrm>
          <a:prstGeom prst="rect">
            <a:avLst/>
          </a:prstGeom>
          <a:noFill/>
          <a:ln w="0">
            <a:noFill/>
          </a:ln>
        </p:spPr>
        <p:txBody>
          <a:bodyPr>
            <a:noAutofit/>
          </a:bodyPr>
          <a:lstStyle/>
          <a:p>
            <a:pPr>
              <a:defRPr sz="1725" b="0">
                <a:solidFill>
                  <a:srgbClr val="CBD5E6"/>
                </a:solidFill>
                <a:latin typeface="Arial"/>
                <a:ea typeface="Arial"/>
                <a:cs typeface="Arial"/>
              </a:defRPr>
            </a:pPr>
            <a:r>
              <a:rPr sz="1725" b="0">
                <a:solidFill>
                  <a:srgbClr val="CBD5E6"/>
                </a:solidFill>
                <a:latin typeface="Arial"/>
                <a:ea typeface="Arial"/>
                <a:cs typeface="Arial"/>
              </a:rPr>
              <a:t>Chairperson, Gurugram Branch (NIRC) of ICAI</a:t>
            </a:r>
          </a:p>
        </p:txBody>
      </p:sp>
      <p:sp>
        <p:nvSpPr>
          <p:cNvPr id="11" name="Rectangle 10">
            <a:extLst>
              <a:ext uri="{FF2B5EF4-FFF2-40B4-BE49-F238E27FC236}">
                <a16:creationId xmlns:a16="http://schemas.microsoft.com/office/drawing/2014/main" id="{4BF72AF2-D288-4053-93EB-2F3F9936D4EC}"/>
              </a:ext>
            </a:extLst>
          </p:cNvPr>
          <p:cNvSpPr>
            <a:spLocks noGrp="1"/>
          </p:cNvSpPr>
          <p:nvPr/>
        </p:nvSpPr>
        <p:spPr>
          <a:xfrm>
            <a:off x="609600" y="3810000"/>
            <a:ext cx="10934700" cy="342900"/>
          </a:xfrm>
          <a:prstGeom prst="rect">
            <a:avLst/>
          </a:prstGeom>
          <a:noFill/>
          <a:ln w="0">
            <a:noFill/>
          </a:ln>
        </p:spPr>
        <p:txBody>
          <a:bodyPr>
            <a:noAutofit/>
          </a:bodyPr>
          <a:lstStyle/>
          <a:p>
            <a:pPr>
              <a:defRPr sz="2100" b="1">
                <a:solidFill>
                  <a:srgbClr val="FFFFFF"/>
                </a:solidFill>
                <a:latin typeface="Arial"/>
                <a:ea typeface="Arial"/>
                <a:cs typeface="Arial"/>
              </a:defRPr>
            </a:pPr>
            <a:r>
              <a:rPr sz="2100" b="1">
                <a:solidFill>
                  <a:srgbClr val="FFFFFF"/>
                </a:solidFill>
                <a:latin typeface="Arial"/>
                <a:ea typeface="Arial"/>
                <a:cs typeface="Arial"/>
              </a:rPr>
              <a:t>CA. Nishant Kumar</a:t>
            </a:r>
          </a:p>
        </p:txBody>
      </p:sp>
      <p:sp>
        <p:nvSpPr>
          <p:cNvPr id="12" name="Rectangle 11">
            <a:extLst>
              <a:ext uri="{FF2B5EF4-FFF2-40B4-BE49-F238E27FC236}">
                <a16:creationId xmlns:a16="http://schemas.microsoft.com/office/drawing/2014/main" id="{0842B6B3-6929-4884-B6C2-D18B81047F51}"/>
              </a:ext>
            </a:extLst>
          </p:cNvPr>
          <p:cNvSpPr>
            <a:spLocks noGrp="1"/>
          </p:cNvSpPr>
          <p:nvPr/>
        </p:nvSpPr>
        <p:spPr>
          <a:xfrm>
            <a:off x="609600" y="4171950"/>
            <a:ext cx="10934700" cy="561975"/>
          </a:xfrm>
          <a:prstGeom prst="rect">
            <a:avLst/>
          </a:prstGeom>
          <a:noFill/>
          <a:ln w="0">
            <a:noFill/>
          </a:ln>
        </p:spPr>
        <p:txBody>
          <a:bodyPr>
            <a:noAutofit/>
          </a:bodyPr>
          <a:lstStyle/>
          <a:p>
            <a:pPr>
              <a:defRPr sz="1725" b="0">
                <a:solidFill>
                  <a:srgbClr val="CBD5E6"/>
                </a:solidFill>
                <a:latin typeface="Arial"/>
                <a:ea typeface="Arial"/>
                <a:cs typeface="Arial"/>
              </a:defRPr>
            </a:pPr>
            <a:r>
              <a:rPr sz="1725" b="0">
                <a:solidFill>
                  <a:srgbClr val="CBD5E6"/>
                </a:solidFill>
                <a:latin typeface="Arial"/>
                <a:ea typeface="Arial"/>
                <a:cs typeface="Arial"/>
              </a:rPr>
              <a:t>Chairperson, Information Technology Committee,</a:t>
            </a:r>
          </a:p>
          <a:p>
            <a:pPr>
              <a:defRPr sz="1725" b="0">
                <a:solidFill>
                  <a:srgbClr val="CBD5E6"/>
                </a:solidFill>
                <a:latin typeface="Arial"/>
                <a:ea typeface="Arial"/>
                <a:cs typeface="Arial"/>
              </a:defRPr>
            </a:pPr>
            <a:r>
              <a:rPr sz="1725" b="0">
                <a:solidFill>
                  <a:srgbClr val="CBD5E6"/>
                </a:solidFill>
                <a:latin typeface="Arial"/>
                <a:ea typeface="Arial"/>
                <a:cs typeface="Arial"/>
              </a:rPr>
              <a:t>Gurugram Branch (NIRC) of ICAI</a:t>
            </a:r>
          </a:p>
        </p:txBody>
      </p:sp>
      <p:sp>
        <p:nvSpPr>
          <p:cNvPr id="13" name="Rectangle 12">
            <a:extLst>
              <a:ext uri="{FF2B5EF4-FFF2-40B4-BE49-F238E27FC236}">
                <a16:creationId xmlns:a16="http://schemas.microsoft.com/office/drawing/2014/main" id="{1A90588C-1C1D-438D-AAB3-CBB54FC78654}"/>
              </a:ext>
            </a:extLst>
          </p:cNvPr>
          <p:cNvSpPr>
            <a:spLocks noGrp="1"/>
          </p:cNvSpPr>
          <p:nvPr/>
        </p:nvSpPr>
        <p:spPr>
          <a:xfrm>
            <a:off x="609600" y="4962525"/>
            <a:ext cx="10953750" cy="381000"/>
          </a:xfrm>
          <a:prstGeom prst="rect">
            <a:avLst/>
          </a:prstGeom>
          <a:noFill/>
          <a:ln w="0">
            <a:noFill/>
          </a:ln>
        </p:spPr>
        <p:txBody>
          <a:bodyPr>
            <a:noAutofit/>
          </a:bodyPr>
          <a:lstStyle/>
          <a:p>
            <a:pPr>
              <a:defRPr sz="1875" b="1">
                <a:solidFill>
                  <a:srgbClr val="FFE58B"/>
                </a:solidFill>
                <a:latin typeface="Arial"/>
                <a:ea typeface="Arial"/>
                <a:cs typeface="Arial"/>
              </a:defRPr>
            </a:pPr>
            <a:r>
              <a:rPr sz="1875" b="1">
                <a:solidFill>
                  <a:srgbClr val="FFE58B"/>
                </a:solidFill>
                <a:latin typeface="Arial"/>
                <a:ea typeface="Arial"/>
                <a:cs typeface="Arial"/>
              </a:rPr>
              <a:t>And all faculty members and fellow colleagues</a:t>
            </a:r>
          </a:p>
        </p:txBody>
      </p:sp>
      <p:sp>
        <p:nvSpPr>
          <p:cNvPr id="17" name="Rectangle 16">
            <a:extLst>
              <a:ext uri="{FF2B5EF4-FFF2-40B4-BE49-F238E27FC236}">
                <a16:creationId xmlns:a16="http://schemas.microsoft.com/office/drawing/2014/main" id="{521C650C-26B1-F6FB-3C83-35B8FE47E520}"/>
              </a:ext>
            </a:extLst>
          </p:cNvPr>
          <p:cNvSpPr>
            <a:spLocks noGrp="1"/>
          </p:cNvSpPr>
          <p:nvPr/>
        </p:nvSpPr>
        <p:spPr>
          <a:xfrm>
            <a:off x="8134350" y="5429250"/>
            <a:ext cx="3266263" cy="381000"/>
          </a:xfrm>
          <a:prstGeom prst="rect">
            <a:avLst/>
          </a:prstGeom>
          <a:noFill/>
          <a:ln w="0">
            <a:noFill/>
          </a:ln>
        </p:spPr>
        <p:txBody>
          <a:bodyPr>
            <a:noAutofit/>
          </a:bodyPr>
          <a:lstStyle/>
          <a:p>
            <a:pPr algn="ctr">
              <a:defRPr sz="2100" b="1">
                <a:solidFill>
                  <a:srgbClr val="FFFFFF"/>
                </a:solidFill>
                <a:latin typeface="Arial"/>
                <a:ea typeface="Arial"/>
                <a:cs typeface="Arial"/>
              </a:defRPr>
            </a:pPr>
            <a:r>
              <a:rPr sz="2100" b="1" dirty="0">
                <a:solidFill>
                  <a:srgbClr val="FFFFFF"/>
                </a:solidFill>
                <a:latin typeface="Arial"/>
                <a:ea typeface="Arial"/>
                <a:cs typeface="Arial"/>
              </a:rPr>
              <a:t>CA. </a:t>
            </a:r>
            <a:r>
              <a:rPr lang="en-IN" sz="2100" b="1" dirty="0">
                <a:solidFill>
                  <a:srgbClr val="FFFFFF"/>
                </a:solidFill>
                <a:latin typeface="Arial"/>
                <a:ea typeface="Arial"/>
                <a:cs typeface="Arial"/>
              </a:rPr>
              <a:t>Vaibhav Jain</a:t>
            </a:r>
            <a:endParaRPr sz="2100" b="1" dirty="0">
              <a:solidFill>
                <a:srgbClr val="FFFFFF"/>
              </a:solidFill>
              <a:latin typeface="Arial"/>
              <a:ea typeface="Arial"/>
              <a:cs typeface="Arial"/>
            </a:endParaRPr>
          </a:p>
        </p:txBody>
      </p:sp>
      <p:sp>
        <p:nvSpPr>
          <p:cNvPr id="19" name="Rectangle 18">
            <a:extLst>
              <a:ext uri="{FF2B5EF4-FFF2-40B4-BE49-F238E27FC236}">
                <a16:creationId xmlns:a16="http://schemas.microsoft.com/office/drawing/2014/main" id="{CDDE13B0-2878-0F0A-AC9A-C77D3C5BD4BA}"/>
              </a:ext>
            </a:extLst>
          </p:cNvPr>
          <p:cNvSpPr>
            <a:spLocks noGrp="1"/>
          </p:cNvSpPr>
          <p:nvPr/>
        </p:nvSpPr>
        <p:spPr>
          <a:xfrm>
            <a:off x="8134350" y="5858918"/>
            <a:ext cx="3266264" cy="532357"/>
          </a:xfrm>
          <a:prstGeom prst="rect">
            <a:avLst/>
          </a:prstGeom>
          <a:noFill/>
          <a:ln w="0">
            <a:noFill/>
          </a:ln>
        </p:spPr>
        <p:txBody>
          <a:bodyPr>
            <a:noAutofit/>
          </a:bodyPr>
          <a:lstStyle/>
          <a:p>
            <a:pPr algn="ctr">
              <a:defRPr sz="1725" b="0">
                <a:solidFill>
                  <a:srgbClr val="CBD5E6"/>
                </a:solidFill>
                <a:latin typeface="Arial"/>
                <a:ea typeface="Arial"/>
                <a:cs typeface="Arial"/>
              </a:defRPr>
            </a:pPr>
            <a:r>
              <a:rPr lang="en-IN" sz="1725" dirty="0">
                <a:solidFill>
                  <a:srgbClr val="CBD5E6"/>
                </a:solidFill>
                <a:latin typeface="Arial"/>
                <a:ea typeface="Arial"/>
                <a:cs typeface="Arial"/>
              </a:rPr>
              <a:t>ICAI Membership No - 515700</a:t>
            </a:r>
            <a:endParaRPr sz="1725" b="0" dirty="0">
              <a:solidFill>
                <a:srgbClr val="CBD5E6"/>
              </a:solidFill>
              <a:latin typeface="Arial"/>
              <a:ea typeface="Arial"/>
              <a:cs typeface="Arial"/>
            </a:endParaRPr>
          </a:p>
        </p:txBody>
      </p:sp>
      <p:pic>
        <p:nvPicPr>
          <p:cNvPr id="22" name="Picture 21" descr="The image shows a person dressed in a blue suit and red tie, wearing a formal business attire.&#10;&#10;AI-generated content may be incorrect.">
            <a:extLst>
              <a:ext uri="{FF2B5EF4-FFF2-40B4-BE49-F238E27FC236}">
                <a16:creationId xmlns:a16="http://schemas.microsoft.com/office/drawing/2014/main" id="{F3A87FEF-7B29-8B27-DA68-38E85EB0C18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27263" y="3733278"/>
            <a:ext cx="1357357" cy="1677443"/>
          </a:xfrm>
          <a:prstGeom prst="rect">
            <a:avLst/>
          </a:prstGeom>
        </p:spPr>
      </p:pic>
    </p:spTree>
    <p:extLst>
      <p:ext uri="{BB962C8B-B14F-4D97-AF65-F5344CB8AC3E}">
        <p14:creationId xmlns:p14="http://schemas.microsoft.com/office/powerpoint/2010/main" val="121514637"/>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TotalTime>
  <Words>1468</Words>
  <Application>Microsoft Office PowerPoint</Application>
  <DocSecurity>0</DocSecurity>
  <PresentationFormat>Widescreen</PresentationFormat>
  <Paragraphs>144</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CA Vaibhav Jain MG</cp:lastModifiedBy>
  <cp:revision>1</cp:revision>
  <dcterms:created xsi:type="dcterms:W3CDTF">2026-09-21T12:20:43Z</dcterms:created>
  <dcterms:modified xsi:type="dcterms:W3CDTF">2026-09-21T12:49:34Z</dcterms:modified>
</cp:coreProperties>
</file>