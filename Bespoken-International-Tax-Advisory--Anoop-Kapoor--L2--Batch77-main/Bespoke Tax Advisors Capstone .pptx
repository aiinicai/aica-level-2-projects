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38" d="100"/>
          <a:sy n="138" d="100"/>
        </p:scale>
        <p:origin x="834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4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844" y="188372"/>
            <a:ext cx="4418083" cy="2126203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71475" y="2763981"/>
            <a:ext cx="4803198" cy="2008043"/>
          </a:xfrm>
          <a:custGeom>
            <a:avLst/>
            <a:gdLst/>
            <a:ahLst/>
            <a:cxnLst/>
            <a:rect l="0" t="0" r="0" b="0"/>
            <a:pathLst>
              <a:path w="5223424" h="2266950">
                <a:moveTo>
                  <a:pt x="0" y="0"/>
                </a:moveTo>
                <a:lnTo>
                  <a:pt x="5223424" y="0"/>
                </a:lnTo>
                <a:lnTo>
                  <a:pt x="5223424" y="2266950"/>
                </a:lnTo>
                <a:lnTo>
                  <a:pt x="0" y="2266950"/>
                </a:lnTo>
                <a:lnTo>
                  <a:pt x="0" y="0"/>
                </a:lnTo>
              </a:path>
            </a:pathLst>
          </a:custGeom>
          <a:solidFill>
            <a:srgbClr val="194A4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71475" y="2505075"/>
            <a:ext cx="5223420" cy="2266949"/>
          </a:xfrm>
          <a:custGeom>
            <a:avLst/>
            <a:gdLst/>
            <a:ahLst/>
            <a:cxnLst/>
            <a:rect l="0" t="0" r="0" b="0"/>
            <a:pathLst>
              <a:path w="5223420" h="2266949">
                <a:moveTo>
                  <a:pt x="0" y="0"/>
                </a:moveTo>
                <a:lnTo>
                  <a:pt x="5223420" y="0"/>
                </a:lnTo>
                <a:lnTo>
                  <a:pt x="5223420" y="2266949"/>
                </a:lnTo>
                <a:lnTo>
                  <a:pt x="0" y="2266949"/>
                </a:lnTo>
                <a:lnTo>
                  <a:pt x="0" y="0"/>
                </a:lnTo>
                <a:close/>
              </a:path>
            </a:pathLst>
          </a:custGeom>
          <a:noFill/>
          <a:ln w="7143">
            <a:solidFill>
              <a:srgbClr val="E7EC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762000" y="2914650"/>
            <a:ext cx="4480474" cy="685800"/>
            <a:chOff x="762000" y="2914650"/>
            <a:chExt cx="4480474" cy="685800"/>
          </a:xfrm>
        </p:grpSpPr>
        <p:sp>
          <p:nvSpPr>
            <p:cNvPr id="5" name="TextBox 4"/>
            <p:cNvSpPr txBox="1"/>
            <p:nvPr/>
          </p:nvSpPr>
          <p:spPr>
            <a:xfrm>
              <a:off x="762000" y="2914650"/>
              <a:ext cx="4480474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2700" b="1">
                  <a:solidFill>
                    <a:srgbClr val="E7ECEB"/>
                  </a:solidFill>
                  <a:latin typeface="Montserrat"/>
                </a:rPr>
                <a:t>DTAA ADVISOR: SYSTEM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62000" y="3257550"/>
              <a:ext cx="4480474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2700" b="1">
                  <a:solidFill>
                    <a:srgbClr val="E7ECEB"/>
                  </a:solidFill>
                  <a:latin typeface="Montserrat"/>
                </a:rPr>
                <a:t>ACTIVATED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762000" y="3857625"/>
            <a:ext cx="1469383" cy="514350"/>
            <a:chOff x="762000" y="3857625"/>
            <a:chExt cx="1469383" cy="514350"/>
          </a:xfrm>
        </p:grpSpPr>
        <p:sp>
          <p:nvSpPr>
            <p:cNvPr id="8" name="TextBox 7"/>
            <p:cNvSpPr txBox="1"/>
            <p:nvPr/>
          </p:nvSpPr>
          <p:spPr>
            <a:xfrm>
              <a:off x="762000" y="3857625"/>
              <a:ext cx="1469383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000" b="0">
                  <a:solidFill>
                    <a:srgbClr val="E7ECEB"/>
                  </a:solidFill>
                  <a:latin typeface="Montserrat"/>
                </a:rPr>
                <a:t>AI-Powered Bespoke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62000" y="4029075"/>
              <a:ext cx="1469383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000" b="0">
                  <a:solidFill>
                    <a:srgbClr val="E7ECEB"/>
                  </a:solidFill>
                  <a:latin typeface="Montserrat"/>
                </a:rPr>
                <a:t>Double Tax Treaty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62000" y="4200525"/>
              <a:ext cx="1469383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000" b="0" dirty="0">
                  <a:solidFill>
                    <a:srgbClr val="E7ECEB"/>
                  </a:solidFill>
                  <a:latin typeface="Montserrat"/>
                </a:rPr>
                <a:t>Advisory Tool</a:t>
              </a:r>
              <a:r>
                <a:rPr lang="en-IN" sz="1000" b="0" dirty="0">
                  <a:solidFill>
                    <a:srgbClr val="E7ECEB"/>
                  </a:solidFill>
                  <a:latin typeface="Montserrat"/>
                </a:rPr>
                <a:t>                          CA Anoop Kapoor , Aug 26, Capstone project </a:t>
              </a:r>
              <a:endParaRPr sz="1000" b="0" dirty="0">
                <a:solidFill>
                  <a:srgbClr val="E7ECEB"/>
                </a:solidFill>
                <a:latin typeface="Montserrat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4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390525" y="1384049"/>
            <a:ext cx="3073898" cy="1080076"/>
            <a:chOff x="390525" y="1384049"/>
            <a:chExt cx="3073898" cy="1080076"/>
          </a:xfrm>
        </p:grpSpPr>
        <p:sp>
          <p:nvSpPr>
            <p:cNvPr id="3" name="TextBox 2"/>
            <p:cNvSpPr txBox="1"/>
            <p:nvPr/>
          </p:nvSpPr>
          <p:spPr>
            <a:xfrm>
              <a:off x="390525" y="1384049"/>
              <a:ext cx="3073898" cy="360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2700" b="1">
                  <a:solidFill>
                    <a:srgbClr val="7BDEC4"/>
                  </a:solidFill>
                  <a:latin typeface="Montserrat"/>
                </a:rPr>
                <a:t>INEFFICIENCY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390525" y="1744093"/>
              <a:ext cx="3073898" cy="360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2700" b="1">
                  <a:solidFill>
                    <a:srgbClr val="7BDEC4"/>
                  </a:solidFill>
                  <a:latin typeface="Montserrat"/>
                </a:rPr>
                <a:t>DETECTED: THE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390525" y="2104138"/>
              <a:ext cx="3073898" cy="3599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2700" b="1">
                  <a:solidFill>
                    <a:srgbClr val="7BDEC4"/>
                  </a:solidFill>
                  <a:latin typeface="Montserrat"/>
                </a:rPr>
                <a:t>PROBLEM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390525" y="2642301"/>
            <a:ext cx="3715940" cy="411421"/>
            <a:chOff x="390525" y="2642301"/>
            <a:chExt cx="3715940" cy="411421"/>
          </a:xfrm>
        </p:grpSpPr>
        <p:sp>
          <p:nvSpPr>
            <p:cNvPr id="7" name="TextBox 6"/>
            <p:cNvSpPr txBox="1"/>
            <p:nvPr/>
          </p:nvSpPr>
          <p:spPr>
            <a:xfrm>
              <a:off x="390525" y="2642301"/>
              <a:ext cx="3715940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300" b="1">
                  <a:solidFill>
                    <a:srgbClr val="E7ECEB"/>
                  </a:solidFill>
                  <a:latin typeface="Montserrat"/>
                </a:rPr>
                <a:t>Analyzing current bottlenecks in manual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90525" y="2848041"/>
              <a:ext cx="3715940" cy="2056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300" b="1">
                  <a:solidFill>
                    <a:srgbClr val="E7ECEB"/>
                  </a:solidFill>
                  <a:latin typeface="Montserrat"/>
                </a:rPr>
                <a:t>tax advisory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390525" y="3566198"/>
            <a:ext cx="421033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3200" b="0">
                <a:solidFill>
                  <a:srgbClr val="E7ECEB"/>
                </a:solidFill>
                <a:latin typeface="Montserrat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8025" y="3566198"/>
            <a:ext cx="506168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3200" b="0">
                <a:solidFill>
                  <a:srgbClr val="E7ECEB"/>
                </a:solidFill>
                <a:latin typeface="Montserrat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05525" y="3566198"/>
            <a:ext cx="500357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3200" b="0">
                <a:solidFill>
                  <a:srgbClr val="E7ECEB"/>
                </a:solidFill>
                <a:latin typeface="Montserrat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0525" y="4105313"/>
            <a:ext cx="855164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1">
                <a:solidFill>
                  <a:srgbClr val="7BDEC4"/>
                </a:solidFill>
                <a:latin typeface="Montserrat"/>
              </a:rPr>
              <a:t>Time Factor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8025" y="4105313"/>
            <a:ext cx="872575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1">
                <a:solidFill>
                  <a:srgbClr val="7BDEC4"/>
                </a:solidFill>
                <a:latin typeface="Montserrat"/>
              </a:rPr>
              <a:t>90+ Treaties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05525" y="4105313"/>
            <a:ext cx="1577873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1">
                <a:solidFill>
                  <a:srgbClr val="7BDEC4"/>
                </a:solidFill>
                <a:latin typeface="Montserrat"/>
              </a:rPr>
              <a:t>ITA 2025 Complexities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390525" y="4387291"/>
            <a:ext cx="2647950" cy="274195"/>
            <a:chOff x="390525" y="4387291"/>
            <a:chExt cx="2647950" cy="274195"/>
          </a:xfrm>
        </p:grpSpPr>
        <p:sp>
          <p:nvSpPr>
            <p:cNvPr id="16" name="TextBox 15"/>
            <p:cNvSpPr txBox="1"/>
            <p:nvPr/>
          </p:nvSpPr>
          <p:spPr>
            <a:xfrm>
              <a:off x="390525" y="4387291"/>
              <a:ext cx="2647950" cy="1370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E7ECEB"/>
                  </a:solidFill>
                  <a:latin typeface="Montserrat"/>
                </a:rPr>
                <a:t>A single DTAA advisory takes 2–4 hours of senior CA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90525" y="4524355"/>
              <a:ext cx="2647950" cy="1371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E7ECEB"/>
                  </a:solidFill>
                  <a:latin typeface="Montserrat"/>
                </a:rPr>
                <a:t>time. Multiply by 100+ transactions a year.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3248025" y="4387291"/>
            <a:ext cx="2541393" cy="274195"/>
            <a:chOff x="3248025" y="4387291"/>
            <a:chExt cx="2541393" cy="274195"/>
          </a:xfrm>
        </p:grpSpPr>
        <p:sp>
          <p:nvSpPr>
            <p:cNvPr id="19" name="TextBox 18"/>
            <p:cNvSpPr txBox="1"/>
            <p:nvPr/>
          </p:nvSpPr>
          <p:spPr>
            <a:xfrm>
              <a:off x="3248025" y="4387291"/>
              <a:ext cx="2541393" cy="1370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E7ECEB"/>
                  </a:solidFill>
                  <a:latin typeface="Montserrat"/>
                </a:rPr>
                <a:t>India has over 90 active DTAAs, each with unique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248025" y="4524355"/>
              <a:ext cx="2541393" cy="1371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E7ECEB"/>
                  </a:solidFill>
                  <a:latin typeface="Montserrat"/>
                </a:rPr>
                <a:t>rates, MLI changes, and anti-avoidance rules.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6105525" y="4387291"/>
            <a:ext cx="2545708" cy="274195"/>
            <a:chOff x="6105525" y="4387291"/>
            <a:chExt cx="2545708" cy="274195"/>
          </a:xfrm>
        </p:grpSpPr>
        <p:sp>
          <p:nvSpPr>
            <p:cNvPr id="22" name="TextBox 21"/>
            <p:cNvSpPr txBox="1"/>
            <p:nvPr/>
          </p:nvSpPr>
          <p:spPr>
            <a:xfrm>
              <a:off x="6105525" y="4387291"/>
              <a:ext cx="2545708" cy="1370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E7ECEB"/>
                  </a:solidFill>
                  <a:latin typeface="Montserrat"/>
                </a:rPr>
                <a:t>Form 15CA/15CB/10F replaced by Form 145/146/41,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105525" y="4524355"/>
              <a:ext cx="2545708" cy="1371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E7ECEB"/>
                  </a:solidFill>
                  <a:latin typeface="Montserrat"/>
                </a:rPr>
                <a:t>causing widespread compliance gaps.</a:t>
              </a:r>
            </a:p>
          </p:txBody>
        </p:sp>
      </p:grpSp>
      <p:pic>
        <p:nvPicPr>
          <p:cNvPr id="26" name="Picture 25" descr="image.png">
            <a:extLst>
              <a:ext uri="{FF2B5EF4-FFF2-40B4-BE49-F238E27FC236}">
                <a16:creationId xmlns:a16="http://schemas.microsoft.com/office/drawing/2014/main" id="{DB634946-04D9-1C2C-3213-372302AEA5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9085" y="482014"/>
            <a:ext cx="3918857" cy="18859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4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390525" y="1035405"/>
            <a:ext cx="5170141" cy="720060"/>
            <a:chOff x="390525" y="1035405"/>
            <a:chExt cx="5170141" cy="720060"/>
          </a:xfrm>
        </p:grpSpPr>
        <p:sp>
          <p:nvSpPr>
            <p:cNvPr id="2" name="TextBox 1"/>
            <p:cNvSpPr txBox="1"/>
            <p:nvPr/>
          </p:nvSpPr>
          <p:spPr>
            <a:xfrm>
              <a:off x="390525" y="1035405"/>
              <a:ext cx="5170141" cy="3600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2700" b="1">
                  <a:solidFill>
                    <a:srgbClr val="7BDEC4"/>
                  </a:solidFill>
                  <a:latin typeface="Montserrat"/>
                </a:rPr>
                <a:t>SOLUTION: DTAA ADVISOR</a:t>
              </a: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390525" y="1395450"/>
              <a:ext cx="5170141" cy="3600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2700" b="1">
                  <a:solidFill>
                    <a:srgbClr val="7BDEC4"/>
                  </a:solidFill>
                  <a:latin typeface="Montserrat"/>
                </a:rPr>
                <a:t>SUITE</a:t>
              </a:r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71475" y="2166956"/>
            <a:ext cx="2686050" cy="1381125"/>
          </a:xfrm>
          <a:custGeom>
            <a:avLst/>
            <a:gdLst/>
            <a:ahLst/>
            <a:cxnLst/>
            <a:rect l="0" t="0" r="0" b="0"/>
            <a:pathLst>
              <a:path w="2686050" h="1381125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2571750" y="0"/>
                </a:moveTo>
                <a:lnTo>
                  <a:pt x="114300" y="0"/>
                </a:lnTo>
                <a:moveTo>
                  <a:pt x="2686050" y="114300"/>
                </a:moveTo>
                <a:cubicBezTo>
                  <a:pt x="2686050" y="51174"/>
                  <a:pt x="2634875" y="0"/>
                  <a:pt x="2571750" y="0"/>
                </a:cubicBezTo>
                <a:moveTo>
                  <a:pt x="2686050" y="1266825"/>
                </a:moveTo>
                <a:lnTo>
                  <a:pt x="2686050" y="114300"/>
                </a:lnTo>
                <a:moveTo>
                  <a:pt x="2571750" y="1381125"/>
                </a:moveTo>
                <a:cubicBezTo>
                  <a:pt x="2634875" y="1381125"/>
                  <a:pt x="2686050" y="1329950"/>
                  <a:pt x="2686050" y="1266825"/>
                </a:cubicBezTo>
                <a:moveTo>
                  <a:pt x="2571750" y="1381125"/>
                </a:moveTo>
                <a:lnTo>
                  <a:pt x="114300" y="1381125"/>
                </a:lnTo>
                <a:moveTo>
                  <a:pt x="114300" y="1381125"/>
                </a:moveTo>
                <a:cubicBezTo>
                  <a:pt x="51174" y="1381125"/>
                  <a:pt x="0" y="1329950"/>
                  <a:pt x="0" y="1266825"/>
                </a:cubicBezTo>
                <a:moveTo>
                  <a:pt x="0" y="1266825"/>
                </a:moveTo>
                <a:lnTo>
                  <a:pt x="0" y="114300"/>
                </a:lnTo>
              </a:path>
            </a:pathLst>
          </a:custGeom>
          <a:noFill/>
          <a:ln w="7143">
            <a:solidFill>
              <a:srgbClr val="05A99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28975" y="2166956"/>
            <a:ext cx="2686050" cy="1381125"/>
          </a:xfrm>
          <a:custGeom>
            <a:avLst/>
            <a:gdLst/>
            <a:ahLst/>
            <a:cxnLst/>
            <a:rect l="0" t="0" r="0" b="0"/>
            <a:pathLst>
              <a:path w="2686050" h="1381125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2571750" y="0"/>
                </a:moveTo>
                <a:lnTo>
                  <a:pt x="114300" y="0"/>
                </a:lnTo>
                <a:moveTo>
                  <a:pt x="2686050" y="114300"/>
                </a:moveTo>
                <a:cubicBezTo>
                  <a:pt x="2686050" y="51174"/>
                  <a:pt x="2634875" y="0"/>
                  <a:pt x="2571750" y="0"/>
                </a:cubicBezTo>
                <a:moveTo>
                  <a:pt x="2686050" y="1266825"/>
                </a:moveTo>
                <a:lnTo>
                  <a:pt x="2686050" y="114300"/>
                </a:lnTo>
                <a:moveTo>
                  <a:pt x="2571750" y="1381125"/>
                </a:moveTo>
                <a:cubicBezTo>
                  <a:pt x="2634875" y="1381125"/>
                  <a:pt x="2686050" y="1329950"/>
                  <a:pt x="2686050" y="1266825"/>
                </a:cubicBezTo>
                <a:moveTo>
                  <a:pt x="2571750" y="1381125"/>
                </a:moveTo>
                <a:lnTo>
                  <a:pt x="114300" y="1381125"/>
                </a:lnTo>
                <a:moveTo>
                  <a:pt x="114300" y="1381125"/>
                </a:moveTo>
                <a:cubicBezTo>
                  <a:pt x="51174" y="1381125"/>
                  <a:pt x="0" y="1329950"/>
                  <a:pt x="0" y="1266825"/>
                </a:cubicBezTo>
                <a:moveTo>
                  <a:pt x="0" y="1266825"/>
                </a:moveTo>
                <a:lnTo>
                  <a:pt x="0" y="114300"/>
                </a:lnTo>
              </a:path>
            </a:pathLst>
          </a:custGeom>
          <a:noFill/>
          <a:ln w="7143">
            <a:solidFill>
              <a:srgbClr val="05A99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86475" y="2166956"/>
            <a:ext cx="2686050" cy="1381125"/>
          </a:xfrm>
          <a:custGeom>
            <a:avLst/>
            <a:gdLst/>
            <a:ahLst/>
            <a:cxnLst/>
            <a:rect l="0" t="0" r="0" b="0"/>
            <a:pathLst>
              <a:path w="2686050" h="1381125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2571750" y="0"/>
                </a:moveTo>
                <a:lnTo>
                  <a:pt x="114300" y="0"/>
                </a:lnTo>
                <a:moveTo>
                  <a:pt x="2686050" y="114300"/>
                </a:moveTo>
                <a:cubicBezTo>
                  <a:pt x="2686050" y="51174"/>
                  <a:pt x="2634875" y="0"/>
                  <a:pt x="2571750" y="0"/>
                </a:cubicBezTo>
                <a:moveTo>
                  <a:pt x="2686050" y="1266825"/>
                </a:moveTo>
                <a:lnTo>
                  <a:pt x="2686050" y="114300"/>
                </a:lnTo>
                <a:moveTo>
                  <a:pt x="2571750" y="1381125"/>
                </a:moveTo>
                <a:cubicBezTo>
                  <a:pt x="2634875" y="1381125"/>
                  <a:pt x="2686050" y="1329950"/>
                  <a:pt x="2686050" y="1266825"/>
                </a:cubicBezTo>
                <a:moveTo>
                  <a:pt x="2571750" y="1381125"/>
                </a:moveTo>
                <a:lnTo>
                  <a:pt x="114300" y="1381125"/>
                </a:lnTo>
                <a:moveTo>
                  <a:pt x="114300" y="1381125"/>
                </a:moveTo>
                <a:cubicBezTo>
                  <a:pt x="51174" y="1381125"/>
                  <a:pt x="0" y="1329950"/>
                  <a:pt x="0" y="1266825"/>
                </a:cubicBezTo>
                <a:moveTo>
                  <a:pt x="0" y="1266825"/>
                </a:moveTo>
                <a:lnTo>
                  <a:pt x="0" y="114300"/>
                </a:lnTo>
              </a:path>
            </a:pathLst>
          </a:custGeom>
          <a:noFill/>
          <a:ln w="7143">
            <a:solidFill>
              <a:srgbClr val="05A99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1025" y="2357456"/>
            <a:ext cx="45378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3100" b="0">
                <a:solidFill>
                  <a:srgbClr val="E7ECEB"/>
                </a:solidFill>
                <a:latin typeface="Montserrat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38525" y="2357456"/>
            <a:ext cx="226514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3100" b="0">
                <a:solidFill>
                  <a:srgbClr val="E7ECEB"/>
                </a:solidFill>
                <a:latin typeface="Montserrat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96025" y="2357456"/>
            <a:ext cx="915743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3100" b="0">
                <a:solidFill>
                  <a:srgbClr val="E7ECEB"/>
                </a:solidFill>
                <a:latin typeface="Montserrat"/>
              </a:rPr>
              <a:t>&lt;30s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2938481"/>
            <a:ext cx="110669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1">
                <a:solidFill>
                  <a:srgbClr val="7BDEC4"/>
                </a:solidFill>
                <a:latin typeface="Montserrat"/>
              </a:rPr>
              <a:t>DTAAs Covered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38525" y="2938481"/>
            <a:ext cx="1406423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1">
                <a:solidFill>
                  <a:srgbClr val="7BDEC4"/>
                </a:solidFill>
                <a:latin typeface="Montserrat"/>
              </a:rPr>
              <a:t>Integrated Modules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6025" y="2938481"/>
            <a:ext cx="1115463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1">
                <a:solidFill>
                  <a:srgbClr val="7BDEC4"/>
                </a:solidFill>
                <a:latin typeface="Montserrat"/>
              </a:rPr>
              <a:t>Advisory Speed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025" y="3212801"/>
            <a:ext cx="929878" cy="1371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>
                <a:solidFill>
                  <a:srgbClr val="E7ECEB"/>
                </a:solidFill>
                <a:latin typeface="Montserrat"/>
              </a:rPr>
              <a:t>25 DTAAs Covered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38525" y="3212801"/>
            <a:ext cx="1096270" cy="1371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>
                <a:solidFill>
                  <a:srgbClr val="E7ECEB"/>
                </a:solidFill>
                <a:latin typeface="Montserrat"/>
              </a:rPr>
              <a:t>5 Integrated Modules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6025" y="3212801"/>
            <a:ext cx="902789" cy="1371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>
                <a:solidFill>
                  <a:srgbClr val="E7ECEB"/>
                </a:solidFill>
                <a:latin typeface="Montserrat"/>
              </a:rPr>
              <a:t>&lt;30s Per Advisory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0525" y="3930948"/>
            <a:ext cx="510034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300" b="1">
                <a:solidFill>
                  <a:srgbClr val="E7ECEB"/>
                </a:solidFill>
                <a:latin typeface="Montserrat"/>
              </a:rPr>
              <a:t>High-speed AI analysis for Indian Chartered Accountants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4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4572000" y="371475"/>
            <a:ext cx="4200525" cy="440055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71475" y="371474"/>
            <a:ext cx="1828800" cy="1457325"/>
          </a:xfrm>
          <a:custGeom>
            <a:avLst/>
            <a:gdLst/>
            <a:ahLst/>
            <a:cxnLst/>
            <a:rect l="0" t="0" r="0" b="0"/>
            <a:pathLst>
              <a:path w="1828800" h="1457325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1714500" y="0"/>
                </a:moveTo>
                <a:lnTo>
                  <a:pt x="114300" y="0"/>
                </a:lnTo>
                <a:moveTo>
                  <a:pt x="1828800" y="114300"/>
                </a:moveTo>
                <a:cubicBezTo>
                  <a:pt x="1828800" y="51174"/>
                  <a:pt x="1777625" y="0"/>
                  <a:pt x="1714500" y="0"/>
                </a:cubicBezTo>
                <a:moveTo>
                  <a:pt x="1828800" y="1343025"/>
                </a:moveTo>
                <a:lnTo>
                  <a:pt x="1828800" y="114300"/>
                </a:lnTo>
                <a:moveTo>
                  <a:pt x="1714500" y="1457325"/>
                </a:moveTo>
                <a:cubicBezTo>
                  <a:pt x="1777625" y="1457325"/>
                  <a:pt x="1828800" y="1406150"/>
                  <a:pt x="1828800" y="1343025"/>
                </a:cubicBezTo>
                <a:moveTo>
                  <a:pt x="1714500" y="1457325"/>
                </a:moveTo>
                <a:lnTo>
                  <a:pt x="114300" y="1457325"/>
                </a:lnTo>
                <a:moveTo>
                  <a:pt x="114300" y="1457325"/>
                </a:moveTo>
                <a:cubicBezTo>
                  <a:pt x="51174" y="1457325"/>
                  <a:pt x="0" y="1406150"/>
                  <a:pt x="0" y="1343025"/>
                </a:cubicBezTo>
                <a:moveTo>
                  <a:pt x="0" y="1343025"/>
                </a:moveTo>
                <a:lnTo>
                  <a:pt x="0" y="114300"/>
                </a:lnTo>
              </a:path>
            </a:pathLst>
          </a:custGeom>
          <a:noFill/>
          <a:ln w="7143">
            <a:solidFill>
              <a:srgbClr val="05A99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371725" y="371474"/>
            <a:ext cx="1828800" cy="1457325"/>
          </a:xfrm>
          <a:custGeom>
            <a:avLst/>
            <a:gdLst/>
            <a:ahLst/>
            <a:cxnLst/>
            <a:rect l="0" t="0" r="0" b="0"/>
            <a:pathLst>
              <a:path w="1828800" h="1457325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1714500" y="0"/>
                </a:moveTo>
                <a:lnTo>
                  <a:pt x="114300" y="0"/>
                </a:lnTo>
                <a:moveTo>
                  <a:pt x="1828800" y="114300"/>
                </a:moveTo>
                <a:cubicBezTo>
                  <a:pt x="1828800" y="51174"/>
                  <a:pt x="1777625" y="0"/>
                  <a:pt x="1714500" y="0"/>
                </a:cubicBezTo>
                <a:moveTo>
                  <a:pt x="1828800" y="1343025"/>
                </a:moveTo>
                <a:lnTo>
                  <a:pt x="1828800" y="114300"/>
                </a:lnTo>
                <a:moveTo>
                  <a:pt x="1714500" y="1457325"/>
                </a:moveTo>
                <a:cubicBezTo>
                  <a:pt x="1777625" y="1457325"/>
                  <a:pt x="1828800" y="1406150"/>
                  <a:pt x="1828800" y="1343025"/>
                </a:cubicBezTo>
                <a:moveTo>
                  <a:pt x="1714500" y="1457325"/>
                </a:moveTo>
                <a:lnTo>
                  <a:pt x="114300" y="1457325"/>
                </a:lnTo>
                <a:moveTo>
                  <a:pt x="114300" y="1457325"/>
                </a:moveTo>
                <a:cubicBezTo>
                  <a:pt x="51174" y="1457325"/>
                  <a:pt x="0" y="1406150"/>
                  <a:pt x="0" y="1343025"/>
                </a:cubicBezTo>
                <a:moveTo>
                  <a:pt x="0" y="1343025"/>
                </a:moveTo>
                <a:lnTo>
                  <a:pt x="0" y="114300"/>
                </a:lnTo>
              </a:path>
            </a:pathLst>
          </a:custGeom>
          <a:noFill/>
          <a:ln w="7143">
            <a:solidFill>
              <a:srgbClr val="05A99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81025" y="573405"/>
            <a:ext cx="96276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300" b="1">
                <a:solidFill>
                  <a:srgbClr val="7BDEC4"/>
                </a:solidFill>
                <a:latin typeface="Montserrat"/>
              </a:rPr>
              <a:t>Core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81275" y="573405"/>
            <a:ext cx="94357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300" b="1" dirty="0">
                <a:solidFill>
                  <a:srgbClr val="7BDEC4"/>
                </a:solidFill>
                <a:latin typeface="Montserrat"/>
              </a:rPr>
              <a:t>Form 15CA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2581275" y="895350"/>
            <a:ext cx="1257004" cy="342900"/>
            <a:chOff x="2581275" y="895350"/>
            <a:chExt cx="1257004" cy="342900"/>
          </a:xfrm>
        </p:grpSpPr>
        <p:sp>
          <p:nvSpPr>
            <p:cNvPr id="7" name="TextBox 6"/>
            <p:cNvSpPr txBox="1"/>
            <p:nvPr/>
          </p:nvSpPr>
          <p:spPr>
            <a:xfrm>
              <a:off x="2581275" y="895350"/>
              <a:ext cx="1257004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000" b="0">
                  <a:solidFill>
                    <a:srgbClr val="E7ECEB"/>
                  </a:solidFill>
                  <a:latin typeface="Montserrat"/>
                </a:rPr>
                <a:t>Form 145 (Section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581275" y="1066800"/>
              <a:ext cx="1257004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000" b="0">
                  <a:solidFill>
                    <a:srgbClr val="E7ECEB"/>
                  </a:solidFill>
                  <a:latin typeface="Montserrat"/>
                </a:rPr>
                <a:t>397(3)(d))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81025" y="914400"/>
            <a:ext cx="1232001" cy="685800"/>
            <a:chOff x="581025" y="914400"/>
            <a:chExt cx="1232001" cy="685800"/>
          </a:xfrm>
        </p:grpSpPr>
        <p:sp>
          <p:nvSpPr>
            <p:cNvPr id="10" name="TextBox 9"/>
            <p:cNvSpPr txBox="1"/>
            <p:nvPr/>
          </p:nvSpPr>
          <p:spPr>
            <a:xfrm>
              <a:off x="581025" y="914400"/>
              <a:ext cx="1232001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000" b="0" dirty="0" err="1">
                  <a:solidFill>
                    <a:srgbClr val="E7ECEB"/>
                  </a:solidFill>
                  <a:latin typeface="Montserrat"/>
                </a:rPr>
                <a:t>Streamlit</a:t>
              </a:r>
              <a:r>
                <a:rPr sz="1000" b="0" dirty="0">
                  <a:solidFill>
                    <a:srgbClr val="E7ECEB"/>
                  </a:solidFill>
                  <a:latin typeface="Montserrat"/>
                </a:rPr>
                <a:t> (UI) |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81025" y="1085850"/>
              <a:ext cx="1232001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000" b="0">
                  <a:solidFill>
                    <a:srgbClr val="E7ECEB"/>
                  </a:solidFill>
                  <a:latin typeface="Montserrat"/>
                </a:rPr>
                <a:t>Claude 4.5 (AI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81025" y="1257300"/>
              <a:ext cx="1232001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000" b="0">
                  <a:solidFill>
                    <a:srgbClr val="E7ECEB"/>
                  </a:solidFill>
                  <a:latin typeface="Montserrat"/>
                </a:rPr>
                <a:t>Engine) | PyPDF2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81025" y="1428750"/>
              <a:ext cx="1232001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000" b="0">
                  <a:solidFill>
                    <a:srgbClr val="E7ECEB"/>
                  </a:solidFill>
                  <a:latin typeface="Montserrat"/>
                </a:rPr>
                <a:t>(Treaty Reader)</a:t>
              </a:r>
            </a:p>
          </p:txBody>
        </p:sp>
      </p:grpSp>
      <p:sp>
        <p:nvSpPr>
          <p:cNvPr id="15" name="Rounded Rectangle 14"/>
          <p:cNvSpPr/>
          <p:nvPr/>
        </p:nvSpPr>
        <p:spPr>
          <a:xfrm>
            <a:off x="371475" y="1895474"/>
            <a:ext cx="1828800" cy="1352550"/>
          </a:xfrm>
          <a:custGeom>
            <a:avLst/>
            <a:gdLst/>
            <a:ahLst/>
            <a:cxnLst/>
            <a:rect l="0" t="0" r="0" b="0"/>
            <a:pathLst>
              <a:path w="1828800" h="1352550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1714500" y="0"/>
                </a:moveTo>
                <a:lnTo>
                  <a:pt x="114300" y="0"/>
                </a:lnTo>
                <a:moveTo>
                  <a:pt x="1828800" y="114300"/>
                </a:moveTo>
                <a:cubicBezTo>
                  <a:pt x="1828800" y="51174"/>
                  <a:pt x="1777625" y="0"/>
                  <a:pt x="1714500" y="0"/>
                </a:cubicBezTo>
                <a:moveTo>
                  <a:pt x="1828800" y="1238250"/>
                </a:moveTo>
                <a:lnTo>
                  <a:pt x="1828800" y="114300"/>
                </a:lnTo>
                <a:moveTo>
                  <a:pt x="1714500" y="1352550"/>
                </a:moveTo>
                <a:cubicBezTo>
                  <a:pt x="1777625" y="1352550"/>
                  <a:pt x="1828800" y="1301375"/>
                  <a:pt x="1828800" y="1238250"/>
                </a:cubicBezTo>
                <a:moveTo>
                  <a:pt x="1714500" y="1352550"/>
                </a:moveTo>
                <a:lnTo>
                  <a:pt x="114300" y="1352550"/>
                </a:lnTo>
                <a:moveTo>
                  <a:pt x="114300" y="1352550"/>
                </a:moveTo>
                <a:cubicBezTo>
                  <a:pt x="51174" y="1352550"/>
                  <a:pt x="0" y="1301375"/>
                  <a:pt x="0" y="1238250"/>
                </a:cubicBezTo>
                <a:moveTo>
                  <a:pt x="0" y="1238250"/>
                </a:moveTo>
                <a:lnTo>
                  <a:pt x="0" y="114300"/>
                </a:lnTo>
              </a:path>
            </a:pathLst>
          </a:custGeom>
          <a:noFill/>
          <a:ln w="7143">
            <a:solidFill>
              <a:srgbClr val="05A99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371725" y="1895474"/>
            <a:ext cx="1828800" cy="1352550"/>
          </a:xfrm>
          <a:custGeom>
            <a:avLst/>
            <a:gdLst/>
            <a:ahLst/>
            <a:cxnLst/>
            <a:rect l="0" t="0" r="0" b="0"/>
            <a:pathLst>
              <a:path w="1828800" h="1352550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1714500" y="0"/>
                </a:moveTo>
                <a:lnTo>
                  <a:pt x="114300" y="0"/>
                </a:lnTo>
                <a:moveTo>
                  <a:pt x="1828800" y="114300"/>
                </a:moveTo>
                <a:cubicBezTo>
                  <a:pt x="1828800" y="51174"/>
                  <a:pt x="1777625" y="0"/>
                  <a:pt x="1714500" y="0"/>
                </a:cubicBezTo>
                <a:moveTo>
                  <a:pt x="1828800" y="1238250"/>
                </a:moveTo>
                <a:lnTo>
                  <a:pt x="1828800" y="114300"/>
                </a:lnTo>
                <a:moveTo>
                  <a:pt x="1714500" y="1352550"/>
                </a:moveTo>
                <a:cubicBezTo>
                  <a:pt x="1777625" y="1352550"/>
                  <a:pt x="1828800" y="1301375"/>
                  <a:pt x="1828800" y="1238250"/>
                </a:cubicBezTo>
                <a:moveTo>
                  <a:pt x="1714500" y="1352550"/>
                </a:moveTo>
                <a:lnTo>
                  <a:pt x="114300" y="1352550"/>
                </a:lnTo>
                <a:moveTo>
                  <a:pt x="114300" y="1352550"/>
                </a:moveTo>
                <a:cubicBezTo>
                  <a:pt x="51174" y="1352550"/>
                  <a:pt x="0" y="1301375"/>
                  <a:pt x="0" y="1238250"/>
                </a:cubicBezTo>
                <a:moveTo>
                  <a:pt x="0" y="1238250"/>
                </a:moveTo>
                <a:lnTo>
                  <a:pt x="0" y="114300"/>
                </a:lnTo>
              </a:path>
            </a:pathLst>
          </a:custGeom>
          <a:noFill/>
          <a:ln w="7143">
            <a:solidFill>
              <a:srgbClr val="05A99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1025" y="2097405"/>
            <a:ext cx="945803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300" b="1">
                <a:solidFill>
                  <a:srgbClr val="7BDEC4"/>
                </a:solidFill>
                <a:latin typeface="Montserrat"/>
              </a:rPr>
              <a:t>Form 15CB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81275" y="2097405"/>
            <a:ext cx="81438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300" b="1">
                <a:solidFill>
                  <a:srgbClr val="7BDEC4"/>
                </a:solidFill>
                <a:latin typeface="Montserrat"/>
              </a:rPr>
              <a:t>Form 10F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581025" y="2419350"/>
            <a:ext cx="1263253" cy="342900"/>
            <a:chOff x="581025" y="2419350"/>
            <a:chExt cx="1263253" cy="342900"/>
          </a:xfrm>
        </p:grpSpPr>
        <p:sp>
          <p:nvSpPr>
            <p:cNvPr id="19" name="TextBox 18"/>
            <p:cNvSpPr txBox="1"/>
            <p:nvPr/>
          </p:nvSpPr>
          <p:spPr>
            <a:xfrm>
              <a:off x="581025" y="2419350"/>
              <a:ext cx="1263253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000" b="0">
                  <a:solidFill>
                    <a:srgbClr val="E7ECEB"/>
                  </a:solidFill>
                  <a:latin typeface="Montserrat"/>
                </a:rPr>
                <a:t>Form 146 (Section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81025" y="2590800"/>
              <a:ext cx="1263253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000" b="0">
                  <a:solidFill>
                    <a:srgbClr val="E7ECEB"/>
                  </a:solidFill>
                  <a:latin typeface="Montserrat"/>
                </a:rPr>
                <a:t>397(3)(d))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2581275" y="2419350"/>
            <a:ext cx="1238850" cy="342900"/>
            <a:chOff x="2581275" y="2419350"/>
            <a:chExt cx="1238850" cy="342900"/>
          </a:xfrm>
        </p:grpSpPr>
        <p:sp>
          <p:nvSpPr>
            <p:cNvPr id="22" name="TextBox 21"/>
            <p:cNvSpPr txBox="1"/>
            <p:nvPr/>
          </p:nvSpPr>
          <p:spPr>
            <a:xfrm>
              <a:off x="2581275" y="2419350"/>
              <a:ext cx="1238850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000" b="0">
                  <a:solidFill>
                    <a:srgbClr val="E7ECEB"/>
                  </a:solidFill>
                  <a:latin typeface="Montserrat"/>
                </a:rPr>
                <a:t>Form 41 (Rule 75 |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581275" y="2590800"/>
              <a:ext cx="1238850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000" b="0">
                  <a:solidFill>
                    <a:srgbClr val="E7ECEB"/>
                  </a:solidFill>
                  <a:latin typeface="Montserrat"/>
                </a:rPr>
                <a:t>Section 159(8))</a:t>
              </a:r>
            </a:p>
          </p:txBody>
        </p:sp>
      </p:grpSp>
      <p:sp>
        <p:nvSpPr>
          <p:cNvPr id="25" name="Rounded Rectangle 24"/>
          <p:cNvSpPr/>
          <p:nvPr/>
        </p:nvSpPr>
        <p:spPr>
          <a:xfrm>
            <a:off x="371475" y="3419474"/>
            <a:ext cx="3829050" cy="1352550"/>
          </a:xfrm>
          <a:custGeom>
            <a:avLst/>
            <a:gdLst/>
            <a:ahLst/>
            <a:cxnLst/>
            <a:rect l="0" t="0" r="0" b="0"/>
            <a:pathLst>
              <a:path w="3829050" h="1352550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3714750" y="0"/>
                </a:moveTo>
                <a:lnTo>
                  <a:pt x="114300" y="0"/>
                </a:lnTo>
                <a:moveTo>
                  <a:pt x="3829050" y="114300"/>
                </a:moveTo>
                <a:cubicBezTo>
                  <a:pt x="3829050" y="51174"/>
                  <a:pt x="3777875" y="0"/>
                  <a:pt x="3714750" y="0"/>
                </a:cubicBezTo>
                <a:moveTo>
                  <a:pt x="3829050" y="1238250"/>
                </a:moveTo>
                <a:lnTo>
                  <a:pt x="3829050" y="114300"/>
                </a:lnTo>
                <a:moveTo>
                  <a:pt x="3714750" y="1352550"/>
                </a:moveTo>
                <a:cubicBezTo>
                  <a:pt x="3777875" y="1352550"/>
                  <a:pt x="3829050" y="1301375"/>
                  <a:pt x="3829050" y="1238250"/>
                </a:cubicBezTo>
                <a:moveTo>
                  <a:pt x="3714750" y="1352550"/>
                </a:moveTo>
                <a:lnTo>
                  <a:pt x="114300" y="1352550"/>
                </a:lnTo>
                <a:moveTo>
                  <a:pt x="114300" y="1352550"/>
                </a:moveTo>
                <a:cubicBezTo>
                  <a:pt x="51174" y="1352550"/>
                  <a:pt x="0" y="1301375"/>
                  <a:pt x="0" y="1238250"/>
                </a:cubicBezTo>
                <a:moveTo>
                  <a:pt x="0" y="1238250"/>
                </a:moveTo>
                <a:lnTo>
                  <a:pt x="0" y="114300"/>
                </a:lnTo>
              </a:path>
            </a:pathLst>
          </a:custGeom>
          <a:noFill/>
          <a:ln w="7143">
            <a:solidFill>
              <a:srgbClr val="05A99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8" name="Group 27"/>
          <p:cNvGrpSpPr/>
          <p:nvPr/>
        </p:nvGrpSpPr>
        <p:grpSpPr>
          <a:xfrm>
            <a:off x="4962525" y="3088024"/>
            <a:ext cx="2937871" cy="720060"/>
            <a:chOff x="4962525" y="3088024"/>
            <a:chExt cx="2937871" cy="720060"/>
          </a:xfrm>
        </p:grpSpPr>
        <p:sp>
          <p:nvSpPr>
            <p:cNvPr id="26" name="TextBox 25"/>
            <p:cNvSpPr txBox="1"/>
            <p:nvPr/>
          </p:nvSpPr>
          <p:spPr>
            <a:xfrm>
              <a:off x="4962525" y="3088024"/>
              <a:ext cx="2937871" cy="3600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2700" b="1">
                  <a:solidFill>
                    <a:srgbClr val="7BDEC4"/>
                  </a:solidFill>
                  <a:latin typeface="Montserrat"/>
                </a:rPr>
                <a:t>SYSTEM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962525" y="3448069"/>
              <a:ext cx="2937871" cy="3600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2700" b="1">
                  <a:solidFill>
                    <a:srgbClr val="7BDEC4"/>
                  </a:solidFill>
                  <a:latin typeface="Montserrat"/>
                </a:rPr>
                <a:t>ARCHITECTURE</a:t>
              </a: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581025" y="3621405"/>
            <a:ext cx="100429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300" b="1">
                <a:solidFill>
                  <a:srgbClr val="7BDEC4"/>
                </a:solidFill>
                <a:latin typeface="Montserrat"/>
              </a:rPr>
              <a:t>Section 195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1025" y="3933825"/>
            <a:ext cx="2379906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E7ECEB"/>
                </a:solidFill>
                <a:latin typeface="Montserrat"/>
              </a:rPr>
              <a:t>Section 393 (TDS on NR Payments)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4962525" y="3966238"/>
            <a:ext cx="3078956" cy="411421"/>
            <a:chOff x="4962525" y="3966238"/>
            <a:chExt cx="3078956" cy="411421"/>
          </a:xfrm>
        </p:grpSpPr>
        <p:sp>
          <p:nvSpPr>
            <p:cNvPr id="31" name="TextBox 30"/>
            <p:cNvSpPr txBox="1"/>
            <p:nvPr/>
          </p:nvSpPr>
          <p:spPr>
            <a:xfrm>
              <a:off x="4962525" y="3966238"/>
              <a:ext cx="3078956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300" b="1">
                  <a:solidFill>
                    <a:srgbClr val="E7ECEB"/>
                  </a:solidFill>
                  <a:latin typeface="Montserrat"/>
                </a:rPr>
                <a:t>Technical stack and ITA 2025 data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962525" y="4171978"/>
              <a:ext cx="3078956" cy="2056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300" b="1">
                  <a:solidFill>
                    <a:srgbClr val="E7ECEB"/>
                  </a:solidFill>
                  <a:latin typeface="Montserrat"/>
                </a:rPr>
                <a:t>mapping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4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966328" y="1542138"/>
            <a:ext cx="2830749" cy="707687"/>
          </a:xfrm>
          <a:custGeom>
            <a:avLst/>
            <a:gdLst/>
            <a:ahLst/>
            <a:cxnLst/>
            <a:rect l="0" t="0" r="0" b="0"/>
            <a:pathLst>
              <a:path w="2830749" h="707687">
                <a:moveTo>
                  <a:pt x="0" y="0"/>
                </a:moveTo>
                <a:lnTo>
                  <a:pt x="2830749" y="0"/>
                </a:lnTo>
                <a:lnTo>
                  <a:pt x="2830749" y="707687"/>
                </a:lnTo>
                <a:lnTo>
                  <a:pt x="0" y="707687"/>
                </a:lnTo>
                <a:lnTo>
                  <a:pt x="0" y="0"/>
                </a:lnTo>
                <a:close/>
              </a:path>
            </a:pathLst>
          </a:custGeom>
          <a:noFill/>
          <a:ln w="7371">
            <a:solidFill>
              <a:srgbClr val="05A99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140693" y="2249825"/>
            <a:ext cx="2830749" cy="707687"/>
          </a:xfrm>
          <a:custGeom>
            <a:avLst/>
            <a:gdLst/>
            <a:ahLst/>
            <a:cxnLst/>
            <a:rect l="0" t="0" r="0" b="0"/>
            <a:pathLst>
              <a:path w="2830749" h="707687">
                <a:moveTo>
                  <a:pt x="0" y="0"/>
                </a:moveTo>
                <a:lnTo>
                  <a:pt x="2830749" y="0"/>
                </a:lnTo>
                <a:lnTo>
                  <a:pt x="2830749" y="707687"/>
                </a:lnTo>
                <a:lnTo>
                  <a:pt x="0" y="707687"/>
                </a:lnTo>
                <a:lnTo>
                  <a:pt x="0" y="0"/>
                </a:lnTo>
                <a:close/>
              </a:path>
            </a:pathLst>
          </a:custGeom>
          <a:noFill/>
          <a:ln w="7371">
            <a:solidFill>
              <a:srgbClr val="05A99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315058" y="2957512"/>
            <a:ext cx="2830749" cy="707687"/>
          </a:xfrm>
          <a:custGeom>
            <a:avLst/>
            <a:gdLst/>
            <a:ahLst/>
            <a:cxnLst/>
            <a:rect l="0" t="0" r="0" b="0"/>
            <a:pathLst>
              <a:path w="2830749" h="707687">
                <a:moveTo>
                  <a:pt x="0" y="0"/>
                </a:moveTo>
                <a:lnTo>
                  <a:pt x="2830749" y="0"/>
                </a:lnTo>
                <a:lnTo>
                  <a:pt x="2830749" y="707687"/>
                </a:lnTo>
                <a:lnTo>
                  <a:pt x="0" y="707687"/>
                </a:lnTo>
                <a:lnTo>
                  <a:pt x="0" y="0"/>
                </a:lnTo>
                <a:close/>
              </a:path>
            </a:pathLst>
          </a:custGeom>
          <a:noFill/>
          <a:ln w="7371">
            <a:solidFill>
              <a:srgbClr val="05A99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89422" y="3665199"/>
            <a:ext cx="2830749" cy="707687"/>
          </a:xfrm>
          <a:custGeom>
            <a:avLst/>
            <a:gdLst/>
            <a:ahLst/>
            <a:cxnLst/>
            <a:rect l="0" t="0" r="0" b="0"/>
            <a:pathLst>
              <a:path w="2830749" h="707687">
                <a:moveTo>
                  <a:pt x="0" y="0"/>
                </a:moveTo>
                <a:lnTo>
                  <a:pt x="2830749" y="0"/>
                </a:lnTo>
                <a:lnTo>
                  <a:pt x="2830749" y="707687"/>
                </a:lnTo>
                <a:lnTo>
                  <a:pt x="0" y="707687"/>
                </a:lnTo>
                <a:lnTo>
                  <a:pt x="0" y="0"/>
                </a:lnTo>
                <a:close/>
              </a:path>
            </a:pathLst>
          </a:custGeom>
          <a:noFill/>
          <a:ln w="7371">
            <a:solidFill>
              <a:srgbClr val="05A99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446536" y="391477"/>
            <a:ext cx="4306938" cy="3600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2700" b="1">
                <a:solidFill>
                  <a:srgbClr val="7BDEC4"/>
                </a:solidFill>
                <a:latin typeface="Montserrat"/>
              </a:rPr>
              <a:t>SECURITY PROTOCOLS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82547" y="1778031"/>
            <a:ext cx="798318" cy="212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300" b="1">
                <a:solidFill>
                  <a:srgbClr val="7BDEC4"/>
                </a:solidFill>
                <a:latin typeface="Montserrat"/>
              </a:rPr>
              <a:t>Integrity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6305550" y="2094599"/>
            <a:ext cx="2202503" cy="411422"/>
            <a:chOff x="6305550" y="2094599"/>
            <a:chExt cx="2202503" cy="411422"/>
          </a:xfrm>
        </p:grpSpPr>
        <p:sp>
          <p:nvSpPr>
            <p:cNvPr id="8" name="TextBox 7"/>
            <p:cNvSpPr txBox="1"/>
            <p:nvPr/>
          </p:nvSpPr>
          <p:spPr>
            <a:xfrm>
              <a:off x="6305550" y="2094599"/>
              <a:ext cx="2202503" cy="2057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300" b="1">
                  <a:solidFill>
                    <a:srgbClr val="E7ECEB"/>
                  </a:solidFill>
                  <a:latin typeface="Montserrat"/>
                </a:rPr>
                <a:t>Access control and data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305550" y="2300339"/>
              <a:ext cx="2202503" cy="2056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300" b="1">
                  <a:solidFill>
                    <a:srgbClr val="E7ECEB"/>
                  </a:solidFill>
                  <a:latin typeface="Montserrat"/>
                </a:rPr>
                <a:t>protection mechanisms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2918416" y="2485718"/>
            <a:ext cx="1275311" cy="212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300" b="1">
                <a:solidFill>
                  <a:srgbClr val="7BDEC4"/>
                </a:solidFill>
                <a:latin typeface="Montserrat"/>
              </a:rPr>
              <a:t>Authorization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6136" y="3193405"/>
            <a:ext cx="1068590" cy="212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300" b="1">
                <a:solidFill>
                  <a:srgbClr val="7BDEC4"/>
                </a:solidFill>
                <a:latin typeface="Montserrat"/>
              </a:rPr>
              <a:t>Verification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6305550" y="2757505"/>
            <a:ext cx="2447925" cy="1028652"/>
            <a:chOff x="6305550" y="2757505"/>
            <a:chExt cx="2447925" cy="1028652"/>
          </a:xfrm>
        </p:grpSpPr>
        <p:sp>
          <p:nvSpPr>
            <p:cNvPr id="13" name="TextBox 12"/>
            <p:cNvSpPr txBox="1"/>
            <p:nvPr/>
          </p:nvSpPr>
          <p:spPr>
            <a:xfrm>
              <a:off x="6305550" y="2757505"/>
              <a:ext cx="2447925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E7ECEB"/>
                  </a:solidFill>
                  <a:latin typeface="Montserrat"/>
                </a:rPr>
                <a:t>Authentication occurs via the sidebar.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305550" y="2928955"/>
              <a:ext cx="2447925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E7ECEB"/>
                  </a:solidFill>
                  <a:latin typeface="Montserrat"/>
                </a:rPr>
                <a:t>Verification loads the Firm's API key.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305550" y="3100405"/>
              <a:ext cx="2447925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E7ECEB"/>
                  </a:solidFill>
                  <a:latin typeface="Montserrat"/>
                </a:rPr>
                <a:t>Authorization unlocks the AI Advisory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305550" y="3271855"/>
              <a:ext cx="2447925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E7ECEB"/>
                  </a:solidFill>
                  <a:latin typeface="Montserrat"/>
                </a:rPr>
                <a:t>and Notice Reply modules. Integrity is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305550" y="3443305"/>
              <a:ext cx="2447925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E7ECEB"/>
                  </a:solidFill>
                  <a:latin typeface="Montserrat"/>
                </a:rPr>
                <a:t>maintained by excluding keys from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305550" y="3614755"/>
              <a:ext cx="2447925" cy="1714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E7ECEB"/>
                  </a:solidFill>
                  <a:latin typeface="Montserrat"/>
                </a:rPr>
                <a:t>version control via .gitignore.</a:t>
              </a: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1203071" y="3901092"/>
            <a:ext cx="1403451" cy="212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300" b="1">
                <a:solidFill>
                  <a:srgbClr val="7BDEC4"/>
                </a:solidFill>
                <a:latin typeface="Montserrat"/>
              </a:rPr>
              <a:t>Authentication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4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4572000" y="735320"/>
            <a:ext cx="4200525" cy="187292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0525" y="1918411"/>
            <a:ext cx="421033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3200" b="0">
                <a:solidFill>
                  <a:srgbClr val="E7ECEB"/>
                </a:solidFill>
                <a:latin typeface="Montserrat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90775" y="1918411"/>
            <a:ext cx="506168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3200" b="0">
                <a:solidFill>
                  <a:srgbClr val="E7ECEB"/>
                </a:solidFill>
                <a:latin typeface="Montserrat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0525" y="2457526"/>
            <a:ext cx="13780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1">
                <a:solidFill>
                  <a:srgbClr val="7BDEC4"/>
                </a:solidFill>
                <a:latin typeface="Montserrat"/>
              </a:rPr>
              <a:t>Phase 2: Expansion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90775" y="2457526"/>
            <a:ext cx="1493196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1">
                <a:solidFill>
                  <a:srgbClr val="7BDEC4"/>
                </a:solidFill>
                <a:latin typeface="Montserrat"/>
              </a:rPr>
              <a:t>Phase 3: Automation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390525" y="2747172"/>
            <a:ext cx="1633242" cy="411269"/>
            <a:chOff x="390525" y="2747172"/>
            <a:chExt cx="1633242" cy="411269"/>
          </a:xfrm>
        </p:grpSpPr>
        <p:sp>
          <p:nvSpPr>
            <p:cNvPr id="7" name="TextBox 6"/>
            <p:cNvSpPr txBox="1"/>
            <p:nvPr/>
          </p:nvSpPr>
          <p:spPr>
            <a:xfrm>
              <a:off x="390525" y="2747172"/>
              <a:ext cx="1633242" cy="1370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E7ECEB"/>
                  </a:solidFill>
                  <a:latin typeface="Montserrat"/>
                </a:rPr>
                <a:t>Scaling to 90+ DTAAs and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90525" y="2884236"/>
              <a:ext cx="1633242" cy="1370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E7ECEB"/>
                  </a:solidFill>
                  <a:latin typeface="Montserrat"/>
                </a:rPr>
                <a:t>implementing a Google Sheets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90525" y="3021301"/>
              <a:ext cx="1633242" cy="137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E7ECEB"/>
                  </a:solidFill>
                  <a:latin typeface="Montserrat"/>
                </a:rPr>
                <a:t>DB for user management.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2390775" y="2739505"/>
            <a:ext cx="1647672" cy="274195"/>
            <a:chOff x="2390775" y="2739505"/>
            <a:chExt cx="1647672" cy="274195"/>
          </a:xfrm>
        </p:grpSpPr>
        <p:sp>
          <p:nvSpPr>
            <p:cNvPr id="11" name="TextBox 10"/>
            <p:cNvSpPr txBox="1"/>
            <p:nvPr/>
          </p:nvSpPr>
          <p:spPr>
            <a:xfrm>
              <a:off x="2390775" y="2739505"/>
              <a:ext cx="1647672" cy="1370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E7ECEB"/>
                  </a:solidFill>
                  <a:latin typeface="Montserrat"/>
                </a:rPr>
                <a:t>Auto-drafting Form 145/146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390775" y="2876569"/>
              <a:ext cx="1647672" cy="1371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E7ECEB"/>
                  </a:solidFill>
                  <a:latin typeface="Montserrat"/>
                </a:rPr>
                <a:t>directly from AI advisory output.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4962525" y="2936586"/>
            <a:ext cx="2328567" cy="1080076"/>
            <a:chOff x="4962525" y="2936586"/>
            <a:chExt cx="2328567" cy="1080076"/>
          </a:xfrm>
        </p:grpSpPr>
        <p:sp>
          <p:nvSpPr>
            <p:cNvPr id="14" name="TextBox 13"/>
            <p:cNvSpPr txBox="1"/>
            <p:nvPr/>
          </p:nvSpPr>
          <p:spPr>
            <a:xfrm>
              <a:off x="4962525" y="2936586"/>
              <a:ext cx="2328567" cy="3600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2700" b="1">
                  <a:solidFill>
                    <a:srgbClr val="7BDEC4"/>
                  </a:solidFill>
                  <a:latin typeface="Montserrat"/>
                </a:rPr>
                <a:t>FUTURE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962525" y="3296631"/>
              <a:ext cx="2328567" cy="360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2700" b="1">
                  <a:solidFill>
                    <a:srgbClr val="7BDEC4"/>
                  </a:solidFill>
                  <a:latin typeface="Montserrat"/>
                </a:rPr>
                <a:t>UPGRADES: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962525" y="3656675"/>
              <a:ext cx="2328567" cy="3599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2700" b="1">
                  <a:solidFill>
                    <a:srgbClr val="7BDEC4"/>
                  </a:solidFill>
                  <a:latin typeface="Montserrat"/>
                </a:rPr>
                <a:t>PHASES 2-4</a:t>
              </a: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2390775" y="3566197"/>
            <a:ext cx="500357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3200" b="0">
                <a:solidFill>
                  <a:srgbClr val="E7ECEB"/>
                </a:solidFill>
                <a:latin typeface="Montserrat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90775" y="4105312"/>
            <a:ext cx="1226191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1">
                <a:solidFill>
                  <a:srgbClr val="7BDEC4"/>
                </a:solidFill>
                <a:latin typeface="Montserrat"/>
              </a:rPr>
              <a:t>Phase 4: Mobility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62525" y="4183380"/>
            <a:ext cx="330547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300" b="1">
                <a:solidFill>
                  <a:srgbClr val="E7ECEB"/>
                </a:solidFill>
                <a:latin typeface="Montserrat"/>
              </a:rPr>
              <a:t>Scaling the DTAA Advisor ecosystem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2390775" y="4318758"/>
            <a:ext cx="1668665" cy="411269"/>
            <a:chOff x="2390775" y="4318758"/>
            <a:chExt cx="1668665" cy="411269"/>
          </a:xfrm>
        </p:grpSpPr>
        <p:sp>
          <p:nvSpPr>
            <p:cNvPr id="21" name="TextBox 20"/>
            <p:cNvSpPr txBox="1"/>
            <p:nvPr/>
          </p:nvSpPr>
          <p:spPr>
            <a:xfrm>
              <a:off x="2390775" y="4318758"/>
              <a:ext cx="1668665" cy="1370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E7ECEB"/>
                  </a:solidFill>
                  <a:latin typeface="Montserrat"/>
                </a:rPr>
                <a:t>Deployment of a mobile app for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390775" y="4455822"/>
              <a:ext cx="1668665" cy="1370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E7ECEB"/>
                  </a:solidFill>
                  <a:latin typeface="Montserrat"/>
                </a:rPr>
                <a:t>CA field use and secure client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390775" y="4592887"/>
              <a:ext cx="1668665" cy="137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E7ECEB"/>
                  </a:solidFill>
                  <a:latin typeface="Montserrat"/>
                </a:rPr>
                <a:t>portals.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4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71475"/>
            <a:ext cx="4200525" cy="4400550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1782663" y="826855"/>
            <a:ext cx="1792633" cy="822778"/>
            <a:chOff x="1782663" y="826855"/>
            <a:chExt cx="1792633" cy="822778"/>
          </a:xfrm>
        </p:grpSpPr>
        <p:sp>
          <p:nvSpPr>
            <p:cNvPr id="3" name="TextBox 2"/>
            <p:cNvSpPr txBox="1"/>
            <p:nvPr/>
          </p:nvSpPr>
          <p:spPr>
            <a:xfrm>
              <a:off x="1782663" y="826855"/>
              <a:ext cx="1792633" cy="2056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300" b="0">
                  <a:solidFill>
                    <a:srgbClr val="E7ECEB"/>
                  </a:solidFill>
                  <a:latin typeface="Montserrat"/>
                </a:rPr>
                <a:t>Built by CA Anoop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1782663" y="1032499"/>
              <a:ext cx="1792633" cy="2057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300" b="0">
                  <a:solidFill>
                    <a:srgbClr val="E7ECEB"/>
                  </a:solidFill>
                  <a:latin typeface="Montserrat"/>
                </a:rPr>
                <a:t>Kapoor | Income Tax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782663" y="1238239"/>
              <a:ext cx="1792633" cy="2056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300" b="0">
                  <a:solidFill>
                    <a:srgbClr val="E7ECEB"/>
                  </a:solidFill>
                  <a:latin typeface="Montserrat"/>
                </a:rPr>
                <a:t>Act, 2025 | Income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782663" y="1443884"/>
              <a:ext cx="1792633" cy="205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300" b="0">
                  <a:solidFill>
                    <a:srgbClr val="E7ECEB"/>
                  </a:solidFill>
                  <a:latin typeface="Montserrat"/>
                </a:rPr>
                <a:t>Tax Rules, 2026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390525" y="1981200"/>
            <a:ext cx="3580504" cy="1028700"/>
            <a:chOff x="390525" y="1981200"/>
            <a:chExt cx="3580504" cy="1028700"/>
          </a:xfrm>
        </p:grpSpPr>
        <p:sp>
          <p:nvSpPr>
            <p:cNvPr id="9" name="TextBox 8"/>
            <p:cNvSpPr txBox="1"/>
            <p:nvPr/>
          </p:nvSpPr>
          <p:spPr>
            <a:xfrm>
              <a:off x="390525" y="1981200"/>
              <a:ext cx="3580504" cy="514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lang="en-IN" sz="4000" b="1" dirty="0">
                  <a:solidFill>
                    <a:srgbClr val="7BDEC4"/>
                  </a:solidFill>
                  <a:latin typeface="Montserrat"/>
                </a:rPr>
                <a:t>Thank</a:t>
              </a:r>
              <a:endParaRPr sz="4000" b="1" dirty="0">
                <a:solidFill>
                  <a:srgbClr val="7BDEC4"/>
                </a:solidFill>
                <a:latin typeface="Montserrat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90525" y="2495550"/>
              <a:ext cx="3580504" cy="514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lang="en-IN" sz="4000" b="1" dirty="0">
                  <a:solidFill>
                    <a:srgbClr val="7BDEC4"/>
                  </a:solidFill>
                  <a:latin typeface="Montserrat"/>
                </a:rPr>
                <a:t>You</a:t>
              </a:r>
              <a:endParaRPr sz="4000" b="1" dirty="0">
                <a:solidFill>
                  <a:srgbClr val="7BDEC4"/>
                </a:solidFill>
                <a:latin typeface="Montserrat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390525" y="3280438"/>
            <a:ext cx="2975819" cy="411421"/>
            <a:chOff x="390525" y="3280438"/>
            <a:chExt cx="2975819" cy="411421"/>
          </a:xfrm>
        </p:grpSpPr>
        <p:sp>
          <p:nvSpPr>
            <p:cNvPr id="12" name="TextBox 11"/>
            <p:cNvSpPr txBox="1"/>
            <p:nvPr/>
          </p:nvSpPr>
          <p:spPr>
            <a:xfrm>
              <a:off x="390525" y="3280438"/>
              <a:ext cx="2975819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300" b="0">
                  <a:solidFill>
                    <a:srgbClr val="E7ECEB"/>
                  </a:solidFill>
                  <a:latin typeface="Montserrat"/>
                </a:rPr>
                <a:t>Making Bespoke Cross-Border Tax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90525" y="3486178"/>
              <a:ext cx="2975819" cy="2056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300" b="0">
                  <a:solidFill>
                    <a:srgbClr val="E7ECEB"/>
                  </a:solidFill>
                  <a:latin typeface="Montserrat"/>
                </a:rPr>
                <a:t>Compliance Instant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336</Words>
  <Application>Microsoft Office PowerPoint</Application>
  <PresentationFormat>On-screen Show (16:9)</PresentationFormat>
  <Paragraphs>93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ANOOP KAPOOR</cp:lastModifiedBy>
  <cp:revision>4</cp:revision>
  <dcterms:created xsi:type="dcterms:W3CDTF">2013-01-27T09:14:16Z</dcterms:created>
  <dcterms:modified xsi:type="dcterms:W3CDTF">2026-08-23T09:30:12Z</dcterms:modified>
  <cp:category/>
</cp:coreProperties>
</file>