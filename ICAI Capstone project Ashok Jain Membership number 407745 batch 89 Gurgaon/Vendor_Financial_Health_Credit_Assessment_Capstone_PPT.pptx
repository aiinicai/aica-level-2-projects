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A3D"/>
                </a:solidFill>
                <a:latin typeface="Calibri"/>
              </a:defRPr>
            </a:pPr>
            <a:r>
              <a:rPr lang="en-US" sz="1300" b="0" i="0" u="none" strike="noStrike">
                <a:solidFill>
                  <a:srgbClr val="0B2A3D"/>
                </a:solidFill>
                <a:latin typeface="Calibri"/>
              </a:rPr>
              <a:t>Score weights (total 100)</a:t>
            </a:r>
          </a:p>
        </c:rich>
      </c:tx>
      <c:overlay val="0"/>
    </c:title>
    <c:autoTitleDeleted val="0"/>
    <c:plotArea>
      <c:layout/>
      <c:barChart>
        <c:barDir val="bar"/>
        <c:grouping val="clustered"/>
        <c:varyColors val="0"/>
        <c:ser>
          <c:idx val="0"/>
          <c:order val="0"/>
          <c:tx>
            <c:strRef>
              <c:f>Sheet1!$B$1</c:f>
              <c:strCache>
                <c:ptCount val="1"/>
                <c:pt idx="0">
                  <c:v>Weight (%)</c:v>
                </c:pt>
              </c:strCache>
            </c:strRef>
          </c:tx>
          <c:spPr>
            <a:solidFill>
              <a:srgbClr val="0F7C8A"/>
            </a:solidFill>
            <a:effectLst/>
          </c:spPr>
          <c:invertIfNegative val="0"/>
          <c:dLbls>
            <c:numFmt formatCode="#,##0" sourceLinked="0"/>
            <c:spPr>
              <a:noFill/>
              <a:ln>
                <a:noFill/>
              </a:ln>
              <a:effectLst/>
            </c:spPr>
            <c:txPr>
              <a:bodyPr/>
              <a:lstStyle/>
              <a:p>
                <a:pPr>
                  <a:defRPr sz="1000" b="0" i="0" u="none" strike="noStrike">
                    <a:solidFill>
                      <a:srgbClr val="1B2B3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Liquidity</c:v>
                </c:pt>
                <c:pt idx="1">
                  <c:v>Profitability</c:v>
                </c:pt>
                <c:pt idx="2">
                  <c:v>Leverage &amp; solvency</c:v>
                </c:pt>
                <c:pt idx="3">
                  <c:v>Cash flow</c:v>
                </c:pt>
                <c:pt idx="4">
                  <c:v>Efficiency</c:v>
                </c:pt>
                <c:pt idx="5">
                  <c:v>Growth</c:v>
                </c:pt>
                <c:pt idx="6">
                  <c:v>Qualitative risks</c:v>
                </c:pt>
              </c:strCache>
            </c:strRef>
          </c:cat>
          <c:val>
            <c:numRef>
              <c:f>Sheet1!$B$2:$B$8</c:f>
              <c:numCache>
                <c:formatCode>General</c:formatCode>
                <c:ptCount val="7"/>
                <c:pt idx="0">
                  <c:v>20</c:v>
                </c:pt>
                <c:pt idx="1">
                  <c:v>20</c:v>
                </c:pt>
                <c:pt idx="2">
                  <c:v>20</c:v>
                </c:pt>
                <c:pt idx="3">
                  <c:v>15</c:v>
                </c:pt>
                <c:pt idx="4">
                  <c:v>10</c:v>
                </c:pt>
                <c:pt idx="5">
                  <c:v>5</c:v>
                </c:pt>
                <c:pt idx="6">
                  <c:v>10</c:v>
                </c:pt>
              </c:numCache>
            </c:numRef>
          </c:val>
          <c:extLst>
            <c:ext xmlns:c16="http://schemas.microsoft.com/office/drawing/2014/chart" uri="{C3380CC4-5D6E-409C-BE32-E72D297353CC}">
              <c16:uniqueId val="{00000000-5251-4553-A16E-7FA4955A3BA9}"/>
            </c:ext>
          </c:extLst>
        </c:ser>
        <c:dLbls>
          <c:showLegendKey val="0"/>
          <c:showVal val="1"/>
          <c:showCatName val="0"/>
          <c:showSerName val="0"/>
          <c:showPercent val="0"/>
          <c:showBubbleSize val="0"/>
        </c:dLbls>
        <c:gapWidth val="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B2B34"/>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A3D"/>
                </a:solidFill>
                <a:latin typeface="Calibri"/>
              </a:defRPr>
            </a:pPr>
            <a:r>
              <a:rPr lang="en-US" sz="1300" b="0" i="0" u="none" strike="noStrike">
                <a:solidFill>
                  <a:srgbClr val="0B2A3D"/>
                </a:solidFill>
                <a:latin typeface="Calibri"/>
              </a:rPr>
              <a:t>Profit progression (INR crore)</a:t>
            </a:r>
          </a:p>
        </c:rich>
      </c:tx>
      <c:overlay val="0"/>
    </c:title>
    <c:autoTitleDeleted val="0"/>
    <c:plotArea>
      <c:layout/>
      <c:barChart>
        <c:barDir val="col"/>
        <c:grouping val="clustered"/>
        <c:varyColors val="0"/>
        <c:ser>
          <c:idx val="0"/>
          <c:order val="0"/>
          <c:tx>
            <c:strRef>
              <c:f>Sheet1!$B$1</c:f>
              <c:strCache>
                <c:ptCount val="1"/>
                <c:pt idx="0">
                  <c:v>FY 2024-25</c:v>
                </c:pt>
              </c:strCache>
            </c:strRef>
          </c:tx>
          <c:spPr>
            <a:solidFill>
              <a:srgbClr val="9FB6C0"/>
            </a:solidFill>
            <a:effectLst/>
          </c:spPr>
          <c:invertIfNegative val="0"/>
          <c:dLbls>
            <c:numFmt formatCode="0.0" sourceLinked="0"/>
            <c:spPr>
              <a:noFill/>
              <a:ln>
                <a:noFill/>
              </a:ln>
              <a:effectLst/>
            </c:spPr>
            <c:txPr>
              <a:bodyPr/>
              <a:lstStyle/>
              <a:p>
                <a:pPr>
                  <a:defRPr sz="1000" b="0" i="0" u="none" strike="noStrike">
                    <a:solidFill>
                      <a:srgbClr val="1B2B3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EBITDA</c:v>
                </c:pt>
                <c:pt idx="1">
                  <c:v>EBIT</c:v>
                </c:pt>
                <c:pt idx="2">
                  <c:v>PBT</c:v>
                </c:pt>
                <c:pt idx="3">
                  <c:v>PAT</c:v>
                </c:pt>
              </c:strCache>
            </c:strRef>
          </c:cat>
          <c:val>
            <c:numRef>
              <c:f>Sheet1!$B$2:$B$5</c:f>
              <c:numCache>
                <c:formatCode>General</c:formatCode>
                <c:ptCount val="4"/>
                <c:pt idx="0">
                  <c:v>21.1</c:v>
                </c:pt>
                <c:pt idx="1">
                  <c:v>16.399999999999999</c:v>
                </c:pt>
                <c:pt idx="2">
                  <c:v>10.7</c:v>
                </c:pt>
                <c:pt idx="3">
                  <c:v>7.9</c:v>
                </c:pt>
              </c:numCache>
            </c:numRef>
          </c:val>
          <c:extLst>
            <c:ext xmlns:c16="http://schemas.microsoft.com/office/drawing/2014/chart" uri="{C3380CC4-5D6E-409C-BE32-E72D297353CC}">
              <c16:uniqueId val="{00000000-7279-4097-9EC6-78927024F780}"/>
            </c:ext>
          </c:extLst>
        </c:ser>
        <c:ser>
          <c:idx val="1"/>
          <c:order val="1"/>
          <c:tx>
            <c:strRef>
              <c:f>Sheet1!$C$1</c:f>
              <c:strCache>
                <c:ptCount val="1"/>
                <c:pt idx="0">
                  <c:v>FY 2025-26</c:v>
                </c:pt>
              </c:strCache>
            </c:strRef>
          </c:tx>
          <c:spPr>
            <a:solidFill>
              <a:srgbClr val="0F7C8A"/>
            </a:solidFill>
            <a:effectLst/>
          </c:spPr>
          <c:invertIfNegative val="0"/>
          <c:dLbls>
            <c:numFmt formatCode="0.0" sourceLinked="0"/>
            <c:spPr>
              <a:noFill/>
              <a:ln>
                <a:noFill/>
              </a:ln>
              <a:effectLst/>
            </c:spPr>
            <c:txPr>
              <a:bodyPr/>
              <a:lstStyle/>
              <a:p>
                <a:pPr>
                  <a:defRPr sz="1000" b="0" i="0" u="none" strike="noStrike">
                    <a:solidFill>
                      <a:srgbClr val="1B2B3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EBITDA</c:v>
                </c:pt>
                <c:pt idx="1">
                  <c:v>EBIT</c:v>
                </c:pt>
                <c:pt idx="2">
                  <c:v>PBT</c:v>
                </c:pt>
                <c:pt idx="3">
                  <c:v>PAT</c:v>
                </c:pt>
              </c:strCache>
            </c:strRef>
          </c:cat>
          <c:val>
            <c:numRef>
              <c:f>Sheet1!$C$2:$C$5</c:f>
              <c:numCache>
                <c:formatCode>General</c:formatCode>
                <c:ptCount val="4"/>
                <c:pt idx="0">
                  <c:v>25.8</c:v>
                </c:pt>
                <c:pt idx="1">
                  <c:v>20.6</c:v>
                </c:pt>
                <c:pt idx="2">
                  <c:v>14.5</c:v>
                </c:pt>
                <c:pt idx="3">
                  <c:v>10.7</c:v>
                </c:pt>
              </c:numCache>
            </c:numRef>
          </c:val>
          <c:extLst>
            <c:ext xmlns:c16="http://schemas.microsoft.com/office/drawing/2014/chart" uri="{C3380CC4-5D6E-409C-BE32-E72D297353CC}">
              <c16:uniqueId val="{00000001-7279-4097-9EC6-78927024F780}"/>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B3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3EA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E77"/>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2B34"/>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1945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I am Ashok Jain from the Gurugram branch, Batch 89 of the ICAI AI Level 2 programme. My capstone project is Vendor Financial Health and Credit Assessment: a web application, built on Lovable, that helps a finance team decide the credit limit and credit period for a vendor.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access details for the panel. The login is a Finance User account: it can upload documents, run assessments, review results and download reports. Public self-registration is disabled; only an administrator can create users. A fictional ABC Limited sample is provided for testing.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 programme, branch and batch, and the tool used to build the application.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time we onboard or review a vendor we must fix a credit limit and credit period. My team is not trained in reading financial statements in depth, manual analysis takes long, and vendors send data in different formats. That leads to slow and inconsistent decisions.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does four things: it reads the documents, lets a finance user verify the extracted figures, analyses them, and recommends a credit limit and period with a full report.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began with one detailed master prompt of 37 sections describing users, roles, security, scoring, credit rules and the report. Lovable then built the application in four phases. After testing, I refined it with further prompts: figures in INR crore, browse-and-upload, a simple-language summary, reopening saved reports, and stronger admin controls. Finally I named, attributed and published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principles guided the design. AI reads and drafts, but every calculation is done by fixed formulas in code, so nothing is invented. A finance user reviews the extracted data. And the final credit decision always remains with a human. Security controls include roles, private storage, row-level security, audit logs and per-user report quotas.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has thirteen steps grouped into five stages: ingest, verify, analyse, decide and report. A finance user confirms the extracted data before any analysis is run.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engine calculates twenty-five ratios in six groups, and ten kinds of red flag. A SWOT analysis is also produced. Every calculation is deterministic, and where a ratio cannot be calculated the application says so instead of guessing.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score out of one hundred is a transparent weighted average of seven components. The credit limit is the lowest of three bases, multiplied by a factor set by the score band, and the band also sets the credit period. Weights and rules are stored as configuration, not hard-coded. If a component cannot be calculated, its weight is re-based and confidence is reduced.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assessment produces a 26-section evaluation report in PDF, Word, Excel and PowerPoint. All amounts appear in INR crore, and every report ends with a plain-language summary for non-finance readers. Saved assessments can be reopened on screen and re-downloaded without uploading again.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demonstrate the application I used a fictional two-year statement for ABC Limited. Revenue is 125 crore, up 15.7 percent; EBITDA 25.8 crore, up 22.3 percent; profit after tax 10.7 crore, up 35.4 percent. Applying the application formulas, the score is 83.7 out of 100. The lowest of the three limit bases is 10 percent of net worth, 4.25 crore, and the top score band gives a multiplier of one and a credit period of 60 days.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Liquidity, leverage, coverage and margins all improved. The right-hand panel lists the points a reviewer should discuss before fixing the limit: customer concentration, older receivables, a contingent liability, and a difference between management disclosed payout days and payable days computed from the statements.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replaces scattered, specialist-dependent manual work with one consistent, documented method. Next steps: configurable industry benchmarks, administrator-set score thresholds for risk bands, feeding qualitative disclosures into the score, richer analytics, and ERP integration. The application is decision support: the final credit decision remains with authorised personnel.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to the panel and to ICAI. The application is live at the link shown; please log in and try it with the sample file.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hyperlink" Target="https://drive.google.com/file/d/1IXRRdexOR1XczdSvyDqBUnXs2jMfvaJ8/view?usp=sharing" TargetMode="External"/><Relationship Id="rId4" Type="http://schemas.openxmlformats.org/officeDocument/2006/relationships/hyperlink" Target="https://vendorfin-eval.lovable.app/dashboard"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vendorfin-eval.lovable.app/dashboard" TargetMode="External"/><Relationship Id="rId5" Type="http://schemas.openxmlformats.org/officeDocument/2006/relationships/image" Target="../media/image33.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3D"/>
        </a:solidFill>
        <a:effectLst/>
      </p:bgPr>
    </p:bg>
    <p:spTree>
      <p:nvGrpSpPr>
        <p:cNvPr id="1" name=""/>
        <p:cNvGrpSpPr/>
        <p:nvPr/>
      </p:nvGrpSpPr>
      <p:grpSpPr>
        <a:xfrm>
          <a:off x="0" y="0"/>
          <a:ext cx="0" cy="0"/>
          <a:chOff x="0" y="0"/>
          <a:chExt cx="0" cy="0"/>
        </a:xfrm>
      </p:grpSpPr>
      <p:sp>
        <p:nvSpPr>
          <p:cNvPr id="2" name="Text 0"/>
          <p:cNvSpPr txBox="1"/>
          <p:nvPr/>
        </p:nvSpPr>
        <p:spPr>
          <a:xfrm>
            <a:off x="548640" y="640080"/>
            <a:ext cx="5486400" cy="274320"/>
          </a:xfrm>
          <a:prstGeom prst="rect">
            <a:avLst/>
          </a:prstGeom>
          <a:noFill/>
          <a:ln/>
        </p:spPr>
        <p:txBody>
          <a:bodyPr wrap="square" lIns="0" tIns="0" rIns="0" bIns="0" rtlCol="0" anchor="ctr"/>
          <a:lstStyle/>
          <a:p>
            <a:pPr marL="0" indent="0">
              <a:buNone/>
            </a:pPr>
            <a:r>
              <a:rPr lang="en-US" sz="1200" b="1" kern="0" spc="300" dirty="0">
                <a:solidFill>
                  <a:srgbClr val="F2A93B"/>
                </a:solidFill>
                <a:latin typeface="Calibri" pitchFamily="34" charset="0"/>
                <a:ea typeface="Calibri" pitchFamily="34" charset="-122"/>
                <a:cs typeface="Calibri" pitchFamily="34" charset="-120"/>
              </a:rPr>
              <a:t>ICAI AI LEVEL 2  •  CAPSTONE PROJECT</a:t>
            </a:r>
            <a:endParaRPr lang="en-US" sz="1200" dirty="0"/>
          </a:p>
        </p:txBody>
      </p:sp>
      <p:sp>
        <p:nvSpPr>
          <p:cNvPr id="3" name="Text 1"/>
          <p:cNvSpPr txBox="1"/>
          <p:nvPr/>
        </p:nvSpPr>
        <p:spPr>
          <a:xfrm>
            <a:off x="548640" y="1051560"/>
            <a:ext cx="5577840" cy="155448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Vendor Financial Health &amp; Credit Assessment</a:t>
            </a:r>
            <a:endParaRPr lang="en-US" sz="3800" dirty="0"/>
          </a:p>
        </p:txBody>
      </p:sp>
      <p:sp>
        <p:nvSpPr>
          <p:cNvPr id="4" name="Text 2"/>
          <p:cNvSpPr txBox="1"/>
          <p:nvPr/>
        </p:nvSpPr>
        <p:spPr>
          <a:xfrm>
            <a:off x="548640" y="2743200"/>
            <a:ext cx="5394960" cy="731520"/>
          </a:xfrm>
          <a:prstGeom prst="rect">
            <a:avLst/>
          </a:prstGeom>
          <a:noFill/>
          <a:ln/>
        </p:spPr>
        <p:txBody>
          <a:bodyPr wrap="square" lIns="0" tIns="0" rIns="0" bIns="0" rtlCol="0" anchor="t"/>
          <a:lstStyle/>
          <a:p>
            <a:pPr marL="0" indent="0">
              <a:buNone/>
            </a:pPr>
            <a:r>
              <a:rPr lang="en-US" sz="1500" dirty="0">
                <a:solidFill>
                  <a:srgbClr val="CADCE3"/>
                </a:solidFill>
                <a:latin typeface="Calibri" pitchFamily="34" charset="0"/>
                <a:ea typeface="Calibri" pitchFamily="34" charset="-122"/>
                <a:cs typeface="Calibri" pitchFamily="34" charset="-120"/>
              </a:rPr>
              <a:t>A decision-support application that reads vendor financial statements and recommends a credit limit and credit period.</a:t>
            </a:r>
            <a:endParaRPr lang="en-US" sz="1500" dirty="0"/>
          </a:p>
        </p:txBody>
      </p:sp>
      <p:sp>
        <p:nvSpPr>
          <p:cNvPr id="6" name="Text 4"/>
          <p:cNvSpPr txBox="1"/>
          <p:nvPr/>
        </p:nvSpPr>
        <p:spPr>
          <a:xfrm>
            <a:off x="507460" y="4550278"/>
            <a:ext cx="5394960" cy="274320"/>
          </a:xfrm>
          <a:prstGeom prst="rect">
            <a:avLst/>
          </a:prstGeom>
          <a:noFill/>
          <a:ln/>
        </p:spPr>
        <p:txBody>
          <a:bodyPr wrap="square" lIns="0" tIns="0" rIns="0" bIns="0" rtlCol="0" anchor="ctr"/>
          <a:lstStyle/>
          <a:p>
            <a:pPr marL="0" indent="0">
              <a:buNone/>
            </a:pPr>
            <a:r>
              <a:rPr lang="en-US" sz="1500" dirty="0">
                <a:solidFill>
                  <a:srgbClr val="9FB6C0"/>
                </a:solidFill>
                <a:latin typeface="Calibri" pitchFamily="34" charset="0"/>
                <a:ea typeface="Calibri" pitchFamily="34" charset="-122"/>
                <a:cs typeface="Calibri" pitchFamily="34" charset="-120"/>
              </a:rPr>
              <a:t>Branch  </a:t>
            </a:r>
            <a:r>
              <a:rPr lang="en-US" sz="1500" b="1" dirty="0">
                <a:solidFill>
                  <a:srgbClr val="FFFFFF"/>
                </a:solidFill>
                <a:latin typeface="Calibri" pitchFamily="34" charset="0"/>
                <a:ea typeface="Calibri" pitchFamily="34" charset="-122"/>
                <a:cs typeface="Calibri" pitchFamily="34" charset="-120"/>
              </a:rPr>
              <a:t>Gurugram</a:t>
            </a:r>
            <a:r>
              <a:rPr lang="en-US" sz="1500" dirty="0">
                <a:solidFill>
                  <a:srgbClr val="9FB6C0"/>
                </a:solidFill>
                <a:latin typeface="Calibri" pitchFamily="34" charset="0"/>
                <a:ea typeface="Calibri" pitchFamily="34" charset="-122"/>
                <a:cs typeface="Calibri" pitchFamily="34" charset="-120"/>
              </a:rPr>
              <a:t>     Batch  </a:t>
            </a:r>
            <a:r>
              <a:rPr lang="en-US" sz="1500" b="1" dirty="0">
                <a:solidFill>
                  <a:srgbClr val="FFFFFF"/>
                </a:solidFill>
                <a:latin typeface="Calibri" pitchFamily="34" charset="0"/>
                <a:ea typeface="Calibri" pitchFamily="34" charset="-122"/>
                <a:cs typeface="Calibri" pitchFamily="34" charset="-120"/>
              </a:rPr>
              <a:t>89</a:t>
            </a:r>
            <a:endParaRPr lang="en-US" sz="1500" dirty="0"/>
          </a:p>
        </p:txBody>
      </p:sp>
      <p:sp>
        <p:nvSpPr>
          <p:cNvPr id="7" name="Shape 5"/>
          <p:cNvSpPr/>
          <p:nvPr/>
        </p:nvSpPr>
        <p:spPr>
          <a:xfrm>
            <a:off x="6309360" y="1005840"/>
            <a:ext cx="2468880" cy="2468880"/>
          </a:xfrm>
          <a:prstGeom prst="ellipse">
            <a:avLst/>
          </a:prstGeom>
          <a:solidFill>
            <a:srgbClr val="0F7C8A"/>
          </a:solidFill>
          <a:ln w="12700">
            <a:solidFill>
              <a:srgbClr val="0F7C8A"/>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6903720" y="1600200"/>
            <a:ext cx="1280160" cy="1280160"/>
          </a:xfrm>
          <a:prstGeom prst="rect">
            <a:avLst/>
          </a:prstGeom>
        </p:spPr>
      </p:pic>
      <p:sp>
        <p:nvSpPr>
          <p:cNvPr id="9" name="Shape 6"/>
          <p:cNvSpPr/>
          <p:nvPr/>
        </p:nvSpPr>
        <p:spPr>
          <a:xfrm>
            <a:off x="7772400" y="3246120"/>
            <a:ext cx="822960" cy="822960"/>
          </a:xfrm>
          <a:prstGeom prst="ellipse">
            <a:avLst/>
          </a:prstGeom>
          <a:solidFill>
            <a:srgbClr val="F2A93B"/>
          </a:solidFill>
          <a:ln w="12700">
            <a:solidFill>
              <a:srgbClr val="F2A93B"/>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8001000" y="3474720"/>
            <a:ext cx="365760" cy="365760"/>
          </a:xfrm>
          <a:prstGeom prst="rect">
            <a:avLst/>
          </a:prstGeom>
        </p:spPr>
      </p:pic>
      <p:sp>
        <p:nvSpPr>
          <p:cNvPr id="12" name="Text 3">
            <a:extLst>
              <a:ext uri="{FF2B5EF4-FFF2-40B4-BE49-F238E27FC236}">
                <a16:creationId xmlns:a16="http://schemas.microsoft.com/office/drawing/2014/main" id="{11D89A4F-0FD8-E5E8-EC85-0A0C92EE6562}"/>
              </a:ext>
            </a:extLst>
          </p:cNvPr>
          <p:cNvSpPr txBox="1"/>
          <p:nvPr/>
        </p:nvSpPr>
        <p:spPr>
          <a:xfrm>
            <a:off x="548640" y="3366906"/>
            <a:ext cx="5486400" cy="960118"/>
          </a:xfrm>
          <a:prstGeom prst="rect">
            <a:avLst/>
          </a:prstGeom>
          <a:noFill/>
          <a:ln/>
        </p:spPr>
        <p:txBody>
          <a:bodyPr wrap="square" lIns="0" tIns="0" rIns="0" bIns="0" rtlCol="0" anchor="ctr"/>
          <a:lstStyle/>
          <a:p>
            <a:pPr marL="0" indent="0">
              <a:buNone/>
            </a:pPr>
            <a:r>
              <a:rPr lang="en-US" sz="1500" dirty="0">
                <a:solidFill>
                  <a:srgbClr val="9FB6C0"/>
                </a:solidFill>
                <a:latin typeface="Calibri" pitchFamily="34" charset="0"/>
                <a:ea typeface="Calibri" pitchFamily="34" charset="-122"/>
                <a:cs typeface="Calibri" pitchFamily="34" charset="-120"/>
              </a:rPr>
              <a:t>Presented by  </a:t>
            </a:r>
            <a:r>
              <a:rPr lang="en-US" sz="1500" b="1" dirty="0">
                <a:solidFill>
                  <a:srgbClr val="FFFFFF"/>
                </a:solidFill>
                <a:latin typeface="Calibri" pitchFamily="34" charset="0"/>
                <a:ea typeface="Calibri" pitchFamily="34" charset="-122"/>
                <a:cs typeface="Calibri" pitchFamily="34" charset="-120"/>
              </a:rPr>
              <a:t>CA Ashok Jain</a:t>
            </a:r>
          </a:p>
          <a:p>
            <a:pPr marL="0" indent="0">
              <a:buNone/>
            </a:pPr>
            <a:r>
              <a:rPr lang="en-US" sz="1500" b="1" dirty="0">
                <a:solidFill>
                  <a:srgbClr val="FFFFFF"/>
                </a:solidFill>
                <a:latin typeface="Calibri" pitchFamily="34" charset="0"/>
                <a:ea typeface="Calibri" pitchFamily="34" charset="-122"/>
                <a:cs typeface="Calibri" pitchFamily="34" charset="-120"/>
              </a:rPr>
              <a:t>Membership Number 407745</a:t>
            </a:r>
          </a:p>
          <a:p>
            <a:pPr marL="0" indent="0">
              <a:buNone/>
            </a:pPr>
            <a:r>
              <a:rPr lang="en-US" sz="1500" b="1" dirty="0">
                <a:solidFill>
                  <a:srgbClr val="FFFFFF"/>
                </a:solidFill>
                <a:latin typeface="Calibri" pitchFamily="34" charset="0"/>
                <a:ea typeface="Calibri" pitchFamily="34" charset="-122"/>
                <a:cs typeface="Calibri" pitchFamily="34" charset="-120"/>
              </a:rPr>
              <a:t>Email ID jain.ashokmba@gmail.com</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2A3D"/>
                </a:solidFill>
                <a:latin typeface="Cambria" pitchFamily="34" charset="0"/>
                <a:ea typeface="Cambria" pitchFamily="34" charset="-122"/>
                <a:cs typeface="Cambria" pitchFamily="34" charset="-120"/>
              </a:rPr>
              <a:t>Access the Application</a:t>
            </a:r>
            <a:endParaRPr lang="en-US" sz="2800" dirty="0"/>
          </a:p>
        </p:txBody>
      </p:sp>
      <p:sp>
        <p:nvSpPr>
          <p:cNvPr id="3" name="Text 1"/>
          <p:cNvSpPr txBox="1"/>
          <p:nvPr/>
        </p:nvSpPr>
        <p:spPr>
          <a:xfrm>
            <a:off x="457200" y="4773168"/>
            <a:ext cx="7498080" cy="228600"/>
          </a:xfrm>
          <a:prstGeom prst="rect">
            <a:avLst/>
          </a:prstGeom>
          <a:noFill/>
          <a:ln/>
        </p:spPr>
        <p:txBody>
          <a:bodyPr wrap="square" lIns="0" tIns="0" rIns="0" bIns="0" rtlCol="0" anchor="ctr"/>
          <a:lstStyle/>
          <a:p>
            <a:pPr marL="0" indent="0">
              <a:buNone/>
            </a:pPr>
            <a:r>
              <a:rPr lang="en-US" sz="900" dirty="0">
                <a:solidFill>
                  <a:srgbClr val="5B6E77"/>
                </a:solidFill>
                <a:latin typeface="Calibri" pitchFamily="34" charset="0"/>
                <a:ea typeface="Calibri" pitchFamily="34" charset="-122"/>
                <a:cs typeface="Calibri" pitchFamily="34" charset="-120"/>
              </a:rPr>
              <a:t>Vendor Financial Health &amp; Credit Assessment  |  Ashok Jain  |  ICAI AI Level 2  |  Gurugram  |  Batch 89</a:t>
            </a:r>
            <a:endParaRPr lang="en-US" sz="900" dirty="0"/>
          </a:p>
        </p:txBody>
      </p:sp>
      <p:sp>
        <p:nvSpPr>
          <p:cNvPr id="4" name="Text 2"/>
          <p:cNvSpPr txBox="1"/>
          <p:nvPr/>
        </p:nvSpPr>
        <p:spPr>
          <a:xfrm>
            <a:off x="8229600" y="4773168"/>
            <a:ext cx="457200" cy="228600"/>
          </a:xfrm>
          <a:prstGeom prst="rect">
            <a:avLst/>
          </a:prstGeom>
          <a:noFill/>
          <a:ln/>
        </p:spPr>
        <p:txBody>
          <a:bodyPr wrap="square" lIns="0" tIns="0" rIns="0" bIns="0" rtlCol="0" anchor="ctr"/>
          <a:lstStyle/>
          <a:p>
            <a:pPr marL="0" indent="0" algn="r">
              <a:buNone/>
            </a:pPr>
            <a:r>
              <a:rPr lang="en-US" sz="900" dirty="0">
                <a:solidFill>
                  <a:srgbClr val="5B6E77"/>
                </a:solidFill>
                <a:latin typeface="Calibri" pitchFamily="34" charset="0"/>
                <a:ea typeface="Calibri" pitchFamily="34" charset="-122"/>
                <a:cs typeface="Calibri" pitchFamily="34" charset="-120"/>
              </a:rPr>
              <a:t>2</a:t>
            </a:r>
            <a:endParaRPr lang="en-US" sz="900" dirty="0"/>
          </a:p>
        </p:txBody>
      </p:sp>
      <p:sp>
        <p:nvSpPr>
          <p:cNvPr id="5" name="Shape 3"/>
          <p:cNvSpPr/>
          <p:nvPr/>
        </p:nvSpPr>
        <p:spPr>
          <a:xfrm>
            <a:off x="457200" y="1143000"/>
            <a:ext cx="5120640" cy="329184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6" name="Shape 4"/>
          <p:cNvSpPr/>
          <p:nvPr/>
        </p:nvSpPr>
        <p:spPr>
          <a:xfrm>
            <a:off x="685800" y="1417320"/>
            <a:ext cx="548640" cy="548640"/>
          </a:xfrm>
          <a:prstGeom prst="ellipse">
            <a:avLst/>
          </a:prstGeom>
          <a:solidFill>
            <a:srgbClr val="E2F1F3"/>
          </a:solidFill>
          <a:ln w="12700">
            <a:solidFill>
              <a:srgbClr val="E2F1F3"/>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822960" y="1554480"/>
            <a:ext cx="274320" cy="274320"/>
          </a:xfrm>
          <a:prstGeom prst="rect">
            <a:avLst/>
          </a:prstGeom>
        </p:spPr>
      </p:pic>
      <p:sp>
        <p:nvSpPr>
          <p:cNvPr id="8" name="Text 5"/>
          <p:cNvSpPr txBox="1"/>
          <p:nvPr/>
        </p:nvSpPr>
        <p:spPr>
          <a:xfrm>
            <a:off x="1417320" y="1371600"/>
            <a:ext cx="3931920" cy="228600"/>
          </a:xfrm>
          <a:prstGeom prst="rect">
            <a:avLst/>
          </a:prstGeom>
          <a:noFill/>
          <a:ln/>
        </p:spPr>
        <p:txBody>
          <a:bodyPr wrap="square" lIns="0" tIns="0" rIns="0" bIns="0" rtlCol="0" anchor="ctr"/>
          <a:lstStyle/>
          <a:p>
            <a:pPr marL="0" indent="0">
              <a:buNone/>
            </a:pPr>
            <a:r>
              <a:rPr lang="en-US" sz="1000" b="1" kern="0" spc="200" dirty="0">
                <a:solidFill>
                  <a:srgbClr val="5B6E77"/>
                </a:solidFill>
                <a:latin typeface="Calibri" pitchFamily="34" charset="0"/>
                <a:ea typeface="Calibri" pitchFamily="34" charset="-122"/>
                <a:cs typeface="Calibri" pitchFamily="34" charset="-120"/>
              </a:rPr>
              <a:t>APPLICATION LINK</a:t>
            </a:r>
            <a:endParaRPr lang="en-US" sz="1000" dirty="0"/>
          </a:p>
        </p:txBody>
      </p:sp>
      <p:sp>
        <p:nvSpPr>
          <p:cNvPr id="9" name="Text 6">
            <a:hlinkClick r:id="rId4" tooltip="Open the application"/>
          </p:cNvPr>
          <p:cNvSpPr txBox="1"/>
          <p:nvPr/>
        </p:nvSpPr>
        <p:spPr>
          <a:xfrm>
            <a:off x="1417320" y="1618488"/>
            <a:ext cx="3931920" cy="1014984"/>
          </a:xfrm>
          <a:prstGeom prst="rect">
            <a:avLst/>
          </a:prstGeom>
          <a:noFill/>
          <a:ln/>
        </p:spPr>
        <p:txBody>
          <a:bodyPr wrap="square" lIns="0" tIns="0" rIns="0" bIns="0" rtlCol="0" anchor="ctr"/>
          <a:lstStyle/>
          <a:p>
            <a:pPr marL="0" indent="0">
              <a:buNone/>
            </a:pPr>
            <a:r>
              <a:rPr lang="en-US" sz="1250" b="1" u="sng" dirty="0">
                <a:solidFill>
                  <a:srgbClr val="0F7C8A"/>
                </a:solidFill>
                <a:latin typeface="Calibri" pitchFamily="34" charset="0"/>
                <a:ea typeface="Calibri" pitchFamily="34" charset="-122"/>
                <a:cs typeface="Calibri" pitchFamily="34" charset="-120"/>
                <a:hlinkClick r:id="rId4" tooltip="Open the application">
                  <a:extLst>
                    <a:ext uri="{A12FA001-AC4F-418D-AE19-62706E023703}">
                      <ahyp:hlinkClr xmlns:ahyp="http://schemas.microsoft.com/office/drawing/2018/hyperlinkcolor" val="tx"/>
                    </a:ext>
                  </a:extLst>
                </a:hlinkClick>
              </a:rPr>
              <a:t>https://vendorfin-eval.lovable.app/dashboard</a:t>
            </a:r>
            <a:endParaRPr lang="en-US" sz="1250" b="1" u="sng" dirty="0">
              <a:solidFill>
                <a:srgbClr val="0F7C8A"/>
              </a:solidFill>
              <a:latin typeface="Calibri" pitchFamily="34" charset="0"/>
              <a:ea typeface="Calibri" pitchFamily="34" charset="-122"/>
              <a:cs typeface="Calibri" pitchFamily="34" charset="-120"/>
            </a:endParaRPr>
          </a:p>
          <a:p>
            <a:pPr marL="0" indent="0">
              <a:buNone/>
            </a:pPr>
            <a:endParaRPr lang="en-US" sz="1250" b="1" u="sng" dirty="0">
              <a:solidFill>
                <a:srgbClr val="0F7C8A"/>
              </a:solidFill>
              <a:latin typeface="Calibri" pitchFamily="34" charset="0"/>
              <a:ea typeface="Calibri" pitchFamily="34" charset="-122"/>
              <a:cs typeface="Calibri" pitchFamily="34" charset="-120"/>
            </a:endParaRPr>
          </a:p>
          <a:p>
            <a:r>
              <a:rPr lang="en-US" sz="1250" dirty="0"/>
              <a:t>Video link</a:t>
            </a:r>
            <a:endParaRPr lang="en-US" sz="1250" b="1" u="sng" dirty="0">
              <a:solidFill>
                <a:srgbClr val="0F7C8A"/>
              </a:solidFill>
              <a:latin typeface="Calibri" pitchFamily="34" charset="0"/>
              <a:ea typeface="Calibri" pitchFamily="34" charset="-122"/>
              <a:cs typeface="Calibri" pitchFamily="34" charset="-120"/>
            </a:endParaRPr>
          </a:p>
          <a:p>
            <a:r>
              <a:rPr lang="en-US" sz="1250" b="1" u="sng" dirty="0">
                <a:solidFill>
                  <a:srgbClr val="0F7C8A"/>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https://drive.google.com/file/d/1IXRRdexOR1XczdSvyDqBUnXs2jMfvaJ8/view?usp=sharing</a:t>
            </a:r>
            <a:endParaRPr lang="en-US" sz="1250" b="1" u="sng" dirty="0">
              <a:solidFill>
                <a:srgbClr val="0F7C8A"/>
              </a:solidFill>
              <a:latin typeface="Calibri" pitchFamily="34" charset="0"/>
              <a:ea typeface="Calibri" pitchFamily="34" charset="-122"/>
              <a:cs typeface="Calibri" pitchFamily="34" charset="-120"/>
            </a:endParaRPr>
          </a:p>
        </p:txBody>
      </p:sp>
      <p:sp>
        <p:nvSpPr>
          <p:cNvPr id="10" name="Shape 7"/>
          <p:cNvSpPr/>
          <p:nvPr/>
        </p:nvSpPr>
        <p:spPr>
          <a:xfrm>
            <a:off x="685800" y="2468880"/>
            <a:ext cx="548640" cy="548640"/>
          </a:xfrm>
          <a:prstGeom prst="ellipse">
            <a:avLst/>
          </a:prstGeom>
          <a:solidFill>
            <a:srgbClr val="E2F1F3"/>
          </a:solidFill>
          <a:ln w="12700">
            <a:solidFill>
              <a:srgbClr val="E2F1F3"/>
            </a:solidFill>
            <a:prstDash val="solid"/>
          </a:ln>
        </p:spPr>
        <p:txBody>
          <a:bodyPr/>
          <a:lstStyle/>
          <a:p>
            <a:endParaRPr lang="en-US"/>
          </a:p>
        </p:txBody>
      </p:sp>
      <p:pic>
        <p:nvPicPr>
          <p:cNvPr id="11" name="Image 1" descr="preencoded.png"/>
          <p:cNvPicPr>
            <a:picLocks noChangeAspect="1"/>
          </p:cNvPicPr>
          <p:nvPr/>
        </p:nvPicPr>
        <p:blipFill>
          <a:blip r:embed="rId6"/>
          <a:stretch>
            <a:fillRect/>
          </a:stretch>
        </p:blipFill>
        <p:spPr>
          <a:xfrm>
            <a:off x="822960" y="2606040"/>
            <a:ext cx="274320" cy="274320"/>
          </a:xfrm>
          <a:prstGeom prst="rect">
            <a:avLst/>
          </a:prstGeom>
        </p:spPr>
      </p:pic>
      <p:sp>
        <p:nvSpPr>
          <p:cNvPr id="12" name="Text 8"/>
          <p:cNvSpPr txBox="1"/>
          <p:nvPr/>
        </p:nvSpPr>
        <p:spPr>
          <a:xfrm>
            <a:off x="1440180" y="2633472"/>
            <a:ext cx="3931920" cy="228600"/>
          </a:xfrm>
          <a:prstGeom prst="rect">
            <a:avLst/>
          </a:prstGeom>
          <a:noFill/>
          <a:ln/>
        </p:spPr>
        <p:txBody>
          <a:bodyPr wrap="square" lIns="0" tIns="0" rIns="0" bIns="0" rtlCol="0" anchor="ctr"/>
          <a:lstStyle/>
          <a:p>
            <a:pPr marL="0" indent="0">
              <a:buNone/>
            </a:pPr>
            <a:r>
              <a:rPr lang="en-US" sz="1000" b="1" kern="0" spc="200" dirty="0">
                <a:solidFill>
                  <a:srgbClr val="5B6E77"/>
                </a:solidFill>
                <a:latin typeface="Calibri" pitchFamily="34" charset="0"/>
                <a:ea typeface="Calibri" pitchFamily="34" charset="-122"/>
                <a:cs typeface="Calibri" pitchFamily="34" charset="-120"/>
              </a:rPr>
              <a:t>USER ID</a:t>
            </a:r>
            <a:endParaRPr lang="en-US" sz="1000" dirty="0"/>
          </a:p>
        </p:txBody>
      </p:sp>
      <p:sp>
        <p:nvSpPr>
          <p:cNvPr id="13" name="Text 9"/>
          <p:cNvSpPr txBox="1"/>
          <p:nvPr/>
        </p:nvSpPr>
        <p:spPr>
          <a:xfrm>
            <a:off x="1417320" y="2916936"/>
            <a:ext cx="3931920" cy="365760"/>
          </a:xfrm>
          <a:prstGeom prst="rect">
            <a:avLst/>
          </a:prstGeom>
          <a:noFill/>
          <a:ln/>
        </p:spPr>
        <p:txBody>
          <a:bodyPr wrap="square" lIns="0" tIns="0" rIns="0" bIns="0" rtlCol="0" anchor="ctr"/>
          <a:lstStyle/>
          <a:p>
            <a:pPr marL="0" indent="0">
              <a:buNone/>
            </a:pPr>
            <a:r>
              <a:rPr lang="en-US" sz="1800" b="1" dirty="0">
                <a:solidFill>
                  <a:srgbClr val="0B2A3D"/>
                </a:solidFill>
                <a:latin typeface="Calibri" pitchFamily="34" charset="0"/>
                <a:ea typeface="Calibri" pitchFamily="34" charset="-122"/>
                <a:cs typeface="Calibri" pitchFamily="34" charset="-120"/>
              </a:rPr>
              <a:t>AI@ICAI.Org</a:t>
            </a:r>
            <a:endParaRPr lang="en-US" sz="1800" dirty="0"/>
          </a:p>
        </p:txBody>
      </p:sp>
      <p:sp>
        <p:nvSpPr>
          <p:cNvPr id="14" name="Shape 10"/>
          <p:cNvSpPr/>
          <p:nvPr/>
        </p:nvSpPr>
        <p:spPr>
          <a:xfrm>
            <a:off x="685800" y="3520440"/>
            <a:ext cx="548640" cy="548640"/>
          </a:xfrm>
          <a:prstGeom prst="ellipse">
            <a:avLst/>
          </a:prstGeom>
          <a:solidFill>
            <a:srgbClr val="E2F1F3"/>
          </a:solidFill>
          <a:ln w="12700">
            <a:solidFill>
              <a:srgbClr val="E2F1F3"/>
            </a:solidFill>
            <a:prstDash val="solid"/>
          </a:ln>
        </p:spPr>
        <p:txBody>
          <a:bodyPr/>
          <a:lstStyle/>
          <a:p>
            <a:endParaRPr lang="en-US"/>
          </a:p>
        </p:txBody>
      </p:sp>
      <p:pic>
        <p:nvPicPr>
          <p:cNvPr id="15" name="Image 2" descr="preencoded.png"/>
          <p:cNvPicPr>
            <a:picLocks noChangeAspect="1"/>
          </p:cNvPicPr>
          <p:nvPr/>
        </p:nvPicPr>
        <p:blipFill>
          <a:blip r:embed="rId7"/>
          <a:stretch>
            <a:fillRect/>
          </a:stretch>
        </p:blipFill>
        <p:spPr>
          <a:xfrm>
            <a:off x="822960" y="3657600"/>
            <a:ext cx="274320" cy="274320"/>
          </a:xfrm>
          <a:prstGeom prst="rect">
            <a:avLst/>
          </a:prstGeom>
        </p:spPr>
      </p:pic>
      <p:sp>
        <p:nvSpPr>
          <p:cNvPr id="16" name="Text 11"/>
          <p:cNvSpPr txBox="1"/>
          <p:nvPr/>
        </p:nvSpPr>
        <p:spPr>
          <a:xfrm>
            <a:off x="1417320" y="3474720"/>
            <a:ext cx="3931920" cy="228600"/>
          </a:xfrm>
          <a:prstGeom prst="rect">
            <a:avLst/>
          </a:prstGeom>
          <a:noFill/>
          <a:ln/>
        </p:spPr>
        <p:txBody>
          <a:bodyPr wrap="square" lIns="0" tIns="0" rIns="0" bIns="0" rtlCol="0" anchor="ctr"/>
          <a:lstStyle/>
          <a:p>
            <a:pPr marL="0" indent="0">
              <a:buNone/>
            </a:pPr>
            <a:r>
              <a:rPr lang="en-US" sz="1000" b="1" kern="0" spc="200" dirty="0">
                <a:solidFill>
                  <a:srgbClr val="5B6E77"/>
                </a:solidFill>
                <a:latin typeface="Calibri" pitchFamily="34" charset="0"/>
                <a:ea typeface="Calibri" pitchFamily="34" charset="-122"/>
                <a:cs typeface="Calibri" pitchFamily="34" charset="-120"/>
              </a:rPr>
              <a:t>PASSWORD</a:t>
            </a:r>
            <a:endParaRPr lang="en-US" sz="1000" dirty="0"/>
          </a:p>
        </p:txBody>
      </p:sp>
      <p:sp>
        <p:nvSpPr>
          <p:cNvPr id="17" name="Text 12"/>
          <p:cNvSpPr txBox="1"/>
          <p:nvPr/>
        </p:nvSpPr>
        <p:spPr>
          <a:xfrm>
            <a:off x="1417320" y="3721608"/>
            <a:ext cx="3931920" cy="365760"/>
          </a:xfrm>
          <a:prstGeom prst="rect">
            <a:avLst/>
          </a:prstGeom>
          <a:noFill/>
          <a:ln/>
        </p:spPr>
        <p:txBody>
          <a:bodyPr wrap="square" lIns="0" tIns="0" rIns="0" bIns="0" rtlCol="0" anchor="ctr"/>
          <a:lstStyle/>
          <a:p>
            <a:pPr marL="0" indent="0">
              <a:buNone/>
            </a:pPr>
            <a:r>
              <a:rPr lang="en-US" sz="1800" b="1" dirty="0">
                <a:solidFill>
                  <a:srgbClr val="0B2A3D"/>
                </a:solidFill>
                <a:latin typeface="Calibri" pitchFamily="34" charset="0"/>
                <a:ea typeface="Calibri" pitchFamily="34" charset="-122"/>
                <a:cs typeface="Calibri" pitchFamily="34" charset="-120"/>
              </a:rPr>
              <a:t>123456</a:t>
            </a:r>
            <a:endParaRPr lang="en-US" sz="1800" dirty="0"/>
          </a:p>
        </p:txBody>
      </p:sp>
      <p:sp>
        <p:nvSpPr>
          <p:cNvPr id="18" name="Shape 13"/>
          <p:cNvSpPr/>
          <p:nvPr/>
        </p:nvSpPr>
        <p:spPr>
          <a:xfrm>
            <a:off x="5852160" y="1143000"/>
            <a:ext cx="2834640" cy="3291840"/>
          </a:xfrm>
          <a:prstGeom prst="rect">
            <a:avLst/>
          </a:prstGeom>
          <a:solidFill>
            <a:srgbClr val="0B2A3D"/>
          </a:solidFill>
          <a:ln w="12700">
            <a:solidFill>
              <a:srgbClr val="0B2A3D"/>
            </a:solidFill>
            <a:prstDash val="solid"/>
          </a:ln>
        </p:spPr>
        <p:txBody>
          <a:bodyPr/>
          <a:lstStyle/>
          <a:p>
            <a:endParaRPr lang="en-US"/>
          </a:p>
        </p:txBody>
      </p:sp>
      <p:sp>
        <p:nvSpPr>
          <p:cNvPr id="19" name="Text 14"/>
          <p:cNvSpPr txBox="1"/>
          <p:nvPr/>
        </p:nvSpPr>
        <p:spPr>
          <a:xfrm>
            <a:off x="6080760" y="1280160"/>
            <a:ext cx="237744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How to sign in</a:t>
            </a:r>
            <a:endParaRPr lang="en-US" sz="1800" dirty="0"/>
          </a:p>
        </p:txBody>
      </p:sp>
      <p:sp>
        <p:nvSpPr>
          <p:cNvPr id="20" name="Shape 15"/>
          <p:cNvSpPr/>
          <p:nvPr/>
        </p:nvSpPr>
        <p:spPr>
          <a:xfrm>
            <a:off x="6080760" y="1783080"/>
            <a:ext cx="329184" cy="329184"/>
          </a:xfrm>
          <a:prstGeom prst="ellipse">
            <a:avLst/>
          </a:prstGeom>
          <a:solidFill>
            <a:srgbClr val="F2A93B"/>
          </a:solidFill>
          <a:ln w="12700">
            <a:solidFill>
              <a:srgbClr val="F2A93B"/>
            </a:solidFill>
            <a:prstDash val="solid"/>
          </a:ln>
        </p:spPr>
        <p:txBody>
          <a:bodyPr/>
          <a:lstStyle/>
          <a:p>
            <a:endParaRPr lang="en-US"/>
          </a:p>
        </p:txBody>
      </p:sp>
      <p:sp>
        <p:nvSpPr>
          <p:cNvPr id="21" name="Text 16"/>
          <p:cNvSpPr txBox="1"/>
          <p:nvPr/>
        </p:nvSpPr>
        <p:spPr>
          <a:xfrm>
            <a:off x="6080760" y="1783080"/>
            <a:ext cx="329184" cy="329184"/>
          </a:xfrm>
          <a:prstGeom prst="rect">
            <a:avLst/>
          </a:prstGeom>
          <a:noFill/>
          <a:ln/>
        </p:spPr>
        <p:txBody>
          <a:bodyPr wrap="square" lIns="0" tIns="0" rIns="0" bIns="0" rtlCol="0" anchor="ctr"/>
          <a:lstStyle/>
          <a:p>
            <a:pPr marL="0" indent="0" algn="ctr">
              <a:buNone/>
            </a:pPr>
            <a:r>
              <a:rPr lang="en-US" sz="1300" b="1" dirty="0">
                <a:solidFill>
                  <a:srgbClr val="0B2A3D"/>
                </a:solidFill>
                <a:latin typeface="Calibri" pitchFamily="34" charset="0"/>
                <a:ea typeface="Calibri" pitchFamily="34" charset="-122"/>
                <a:cs typeface="Calibri" pitchFamily="34" charset="-120"/>
              </a:rPr>
              <a:t>1</a:t>
            </a:r>
            <a:endParaRPr lang="en-US" sz="1300" dirty="0"/>
          </a:p>
        </p:txBody>
      </p:sp>
      <p:sp>
        <p:nvSpPr>
          <p:cNvPr id="22" name="Text 17"/>
          <p:cNvSpPr txBox="1"/>
          <p:nvPr/>
        </p:nvSpPr>
        <p:spPr>
          <a:xfrm>
            <a:off x="6537960" y="1746504"/>
            <a:ext cx="2011680" cy="64008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Open the link and sign in with the User ID and Password.</a:t>
            </a:r>
            <a:endParaRPr lang="en-US" sz="1150" dirty="0"/>
          </a:p>
        </p:txBody>
      </p:sp>
      <p:sp>
        <p:nvSpPr>
          <p:cNvPr id="23" name="Shape 18"/>
          <p:cNvSpPr/>
          <p:nvPr/>
        </p:nvSpPr>
        <p:spPr>
          <a:xfrm>
            <a:off x="6080760" y="2496312"/>
            <a:ext cx="329184" cy="329184"/>
          </a:xfrm>
          <a:prstGeom prst="ellipse">
            <a:avLst/>
          </a:prstGeom>
          <a:solidFill>
            <a:srgbClr val="F2A93B"/>
          </a:solidFill>
          <a:ln w="12700">
            <a:solidFill>
              <a:srgbClr val="F2A93B"/>
            </a:solidFill>
            <a:prstDash val="solid"/>
          </a:ln>
        </p:spPr>
        <p:txBody>
          <a:bodyPr/>
          <a:lstStyle/>
          <a:p>
            <a:endParaRPr lang="en-US"/>
          </a:p>
        </p:txBody>
      </p:sp>
      <p:sp>
        <p:nvSpPr>
          <p:cNvPr id="24" name="Text 19"/>
          <p:cNvSpPr txBox="1"/>
          <p:nvPr/>
        </p:nvSpPr>
        <p:spPr>
          <a:xfrm>
            <a:off x="6080760" y="2496312"/>
            <a:ext cx="329184" cy="329184"/>
          </a:xfrm>
          <a:prstGeom prst="rect">
            <a:avLst/>
          </a:prstGeom>
          <a:noFill/>
          <a:ln/>
        </p:spPr>
        <p:txBody>
          <a:bodyPr wrap="square" lIns="0" tIns="0" rIns="0" bIns="0" rtlCol="0" anchor="ctr"/>
          <a:lstStyle/>
          <a:p>
            <a:pPr marL="0" indent="0" algn="ctr">
              <a:buNone/>
            </a:pPr>
            <a:r>
              <a:rPr lang="en-US" sz="1300" b="1" dirty="0">
                <a:solidFill>
                  <a:srgbClr val="0B2A3D"/>
                </a:solidFill>
                <a:latin typeface="Calibri" pitchFamily="34" charset="0"/>
                <a:ea typeface="Calibri" pitchFamily="34" charset="-122"/>
                <a:cs typeface="Calibri" pitchFamily="34" charset="-120"/>
              </a:rPr>
              <a:t>2</a:t>
            </a:r>
            <a:endParaRPr lang="en-US" sz="1300" dirty="0"/>
          </a:p>
        </p:txBody>
      </p:sp>
      <p:sp>
        <p:nvSpPr>
          <p:cNvPr id="25" name="Text 20"/>
          <p:cNvSpPr txBox="1"/>
          <p:nvPr/>
        </p:nvSpPr>
        <p:spPr>
          <a:xfrm>
            <a:off x="6537960" y="2459736"/>
            <a:ext cx="2011680" cy="96012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This is a Finance User login: upload, analyse, review and download reports. Self-registration is disabled.</a:t>
            </a:r>
            <a:endParaRPr lang="en-US" sz="1150" dirty="0"/>
          </a:p>
        </p:txBody>
      </p:sp>
      <p:sp>
        <p:nvSpPr>
          <p:cNvPr id="26" name="Shape 21"/>
          <p:cNvSpPr/>
          <p:nvPr/>
        </p:nvSpPr>
        <p:spPr>
          <a:xfrm>
            <a:off x="6080760" y="3529584"/>
            <a:ext cx="329184" cy="329184"/>
          </a:xfrm>
          <a:prstGeom prst="ellipse">
            <a:avLst/>
          </a:prstGeom>
          <a:solidFill>
            <a:srgbClr val="F2A93B"/>
          </a:solidFill>
          <a:ln w="12700">
            <a:solidFill>
              <a:srgbClr val="F2A93B"/>
            </a:solidFill>
            <a:prstDash val="solid"/>
          </a:ln>
        </p:spPr>
        <p:txBody>
          <a:bodyPr/>
          <a:lstStyle/>
          <a:p>
            <a:endParaRPr lang="en-US"/>
          </a:p>
        </p:txBody>
      </p:sp>
      <p:sp>
        <p:nvSpPr>
          <p:cNvPr id="27" name="Text 22"/>
          <p:cNvSpPr txBox="1"/>
          <p:nvPr/>
        </p:nvSpPr>
        <p:spPr>
          <a:xfrm>
            <a:off x="6080760" y="3529584"/>
            <a:ext cx="329184" cy="329184"/>
          </a:xfrm>
          <a:prstGeom prst="rect">
            <a:avLst/>
          </a:prstGeom>
          <a:noFill/>
          <a:ln/>
        </p:spPr>
        <p:txBody>
          <a:bodyPr wrap="square" lIns="0" tIns="0" rIns="0" bIns="0" rtlCol="0" anchor="ctr"/>
          <a:lstStyle/>
          <a:p>
            <a:pPr marL="0" indent="0" algn="ctr">
              <a:buNone/>
            </a:pPr>
            <a:r>
              <a:rPr lang="en-US" sz="1300" b="1" dirty="0">
                <a:solidFill>
                  <a:srgbClr val="0B2A3D"/>
                </a:solidFill>
                <a:latin typeface="Calibri" pitchFamily="34" charset="0"/>
                <a:ea typeface="Calibri" pitchFamily="34" charset="-122"/>
                <a:cs typeface="Calibri" pitchFamily="34" charset="-120"/>
              </a:rPr>
              <a:t>3</a:t>
            </a:r>
            <a:endParaRPr lang="en-US" sz="1300" dirty="0"/>
          </a:p>
        </p:txBody>
      </p:sp>
      <p:sp>
        <p:nvSpPr>
          <p:cNvPr id="28" name="Text 23"/>
          <p:cNvSpPr txBox="1"/>
          <p:nvPr/>
        </p:nvSpPr>
        <p:spPr>
          <a:xfrm>
            <a:off x="6537960" y="3493008"/>
            <a:ext cx="2011680" cy="777240"/>
          </a:xfrm>
          <a:prstGeom prst="rect">
            <a:avLst/>
          </a:prstGeom>
          <a:noFill/>
          <a:ln/>
        </p:spPr>
        <p:txBody>
          <a:bodyPr wrap="square" lIns="0" tIns="0" rIns="0" bIns="0" rtlCol="0" anchor="t"/>
          <a:lstStyle/>
          <a:p>
            <a:pPr marL="0" indent="0">
              <a:buNone/>
            </a:pPr>
            <a:r>
              <a:rPr lang="en-US" sz="1150" dirty="0">
                <a:solidFill>
                  <a:srgbClr val="FFFFFF"/>
                </a:solidFill>
                <a:latin typeface="Calibri" pitchFamily="34" charset="0"/>
                <a:ea typeface="Calibri" pitchFamily="34" charset="-122"/>
                <a:cs typeface="Calibri" pitchFamily="34" charset="-120"/>
              </a:rPr>
              <a:t>Open New Assessment and upload the ABC Limited sample PDF (fictional data).</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2A3D"/>
                </a:solidFill>
                <a:latin typeface="Cambria" pitchFamily="34" charset="0"/>
                <a:ea typeface="Cambria" pitchFamily="34" charset="-122"/>
                <a:cs typeface="Cambria" pitchFamily="34" charset="-120"/>
              </a:rPr>
              <a:t>Project at a Glance</a:t>
            </a:r>
            <a:endParaRPr lang="en-US" sz="2800" dirty="0"/>
          </a:p>
        </p:txBody>
      </p:sp>
      <p:sp>
        <p:nvSpPr>
          <p:cNvPr id="3" name="Text 1"/>
          <p:cNvSpPr txBox="1"/>
          <p:nvPr/>
        </p:nvSpPr>
        <p:spPr>
          <a:xfrm>
            <a:off x="457200" y="4773168"/>
            <a:ext cx="7498080" cy="228600"/>
          </a:xfrm>
          <a:prstGeom prst="rect">
            <a:avLst/>
          </a:prstGeom>
          <a:noFill/>
          <a:ln/>
        </p:spPr>
        <p:txBody>
          <a:bodyPr wrap="square" lIns="0" tIns="0" rIns="0" bIns="0" rtlCol="0" anchor="ctr"/>
          <a:lstStyle/>
          <a:p>
            <a:pPr marL="0" indent="0">
              <a:buNone/>
            </a:pPr>
            <a:r>
              <a:rPr lang="en-US" sz="900" dirty="0">
                <a:solidFill>
                  <a:srgbClr val="5B6E77"/>
                </a:solidFill>
                <a:latin typeface="Calibri" pitchFamily="34" charset="0"/>
                <a:ea typeface="Calibri" pitchFamily="34" charset="-122"/>
                <a:cs typeface="Calibri" pitchFamily="34" charset="-120"/>
              </a:rPr>
              <a:t>Vendor Financial Health &amp; Credit Assessment  |  Ashok Jain  |  ICAI AI Level 2  |  Gurugram  |  Batch 89</a:t>
            </a:r>
            <a:endParaRPr lang="en-US" sz="900" dirty="0"/>
          </a:p>
        </p:txBody>
      </p:sp>
      <p:sp>
        <p:nvSpPr>
          <p:cNvPr id="4" name="Text 2"/>
          <p:cNvSpPr txBox="1"/>
          <p:nvPr/>
        </p:nvSpPr>
        <p:spPr>
          <a:xfrm>
            <a:off x="8229600" y="4773168"/>
            <a:ext cx="457200" cy="228600"/>
          </a:xfrm>
          <a:prstGeom prst="rect">
            <a:avLst/>
          </a:prstGeom>
          <a:noFill/>
          <a:ln/>
        </p:spPr>
        <p:txBody>
          <a:bodyPr wrap="square" lIns="0" tIns="0" rIns="0" bIns="0" rtlCol="0" anchor="ctr"/>
          <a:lstStyle/>
          <a:p>
            <a:pPr marL="0" indent="0" algn="r">
              <a:buNone/>
            </a:pPr>
            <a:r>
              <a:rPr lang="en-US" sz="900" dirty="0">
                <a:solidFill>
                  <a:srgbClr val="5B6E77"/>
                </a:solidFill>
                <a:latin typeface="Calibri" pitchFamily="34" charset="0"/>
                <a:ea typeface="Calibri" pitchFamily="34" charset="-122"/>
                <a:cs typeface="Calibri" pitchFamily="34" charset="-120"/>
              </a:rPr>
              <a:t>3</a:t>
            </a:r>
            <a:endParaRPr lang="en-US" sz="900" dirty="0"/>
          </a:p>
        </p:txBody>
      </p:sp>
      <p:sp>
        <p:nvSpPr>
          <p:cNvPr id="5" name="Shape 3"/>
          <p:cNvSpPr/>
          <p:nvPr/>
        </p:nvSpPr>
        <p:spPr>
          <a:xfrm>
            <a:off x="457200" y="1188720"/>
            <a:ext cx="2606040" cy="132588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6" name="Shape 4"/>
          <p:cNvSpPr/>
          <p:nvPr/>
        </p:nvSpPr>
        <p:spPr>
          <a:xfrm>
            <a:off x="640080" y="1353312"/>
            <a:ext cx="457200" cy="457200"/>
          </a:xfrm>
          <a:prstGeom prst="ellipse">
            <a:avLst/>
          </a:prstGeom>
          <a:solidFill>
            <a:srgbClr val="E2F1F3"/>
          </a:solidFill>
          <a:ln w="12700">
            <a:solidFill>
              <a:srgbClr val="E2F1F3"/>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754380" y="1403506"/>
            <a:ext cx="228600" cy="228600"/>
          </a:xfrm>
          <a:prstGeom prst="rect">
            <a:avLst/>
          </a:prstGeom>
        </p:spPr>
      </p:pic>
      <p:sp>
        <p:nvSpPr>
          <p:cNvPr id="8" name="Text 5"/>
          <p:cNvSpPr txBox="1"/>
          <p:nvPr/>
        </p:nvSpPr>
        <p:spPr>
          <a:xfrm>
            <a:off x="1234440" y="1353312"/>
            <a:ext cx="1691640" cy="301655"/>
          </a:xfrm>
          <a:prstGeom prst="rect">
            <a:avLst/>
          </a:prstGeom>
          <a:noFill/>
          <a:ln/>
        </p:spPr>
        <p:txBody>
          <a:bodyPr wrap="square" lIns="0" tIns="0" rIns="0" bIns="0" rtlCol="0" anchor="ctr"/>
          <a:lstStyle/>
          <a:p>
            <a:pPr marL="0" indent="0">
              <a:buNone/>
            </a:pPr>
            <a:r>
              <a:rPr lang="en-US" sz="1000" b="1" kern="0" spc="200" dirty="0">
                <a:solidFill>
                  <a:srgbClr val="5B6E77"/>
                </a:solidFill>
                <a:latin typeface="Calibri" pitchFamily="34" charset="0"/>
                <a:ea typeface="Calibri" pitchFamily="34" charset="-122"/>
                <a:cs typeface="Calibri" pitchFamily="34" charset="-120"/>
              </a:rPr>
              <a:t>PARTICIPANT</a:t>
            </a:r>
            <a:endParaRPr lang="en-US" sz="1000" dirty="0"/>
          </a:p>
        </p:txBody>
      </p:sp>
      <p:sp>
        <p:nvSpPr>
          <p:cNvPr id="9" name="Text 6"/>
          <p:cNvSpPr txBox="1"/>
          <p:nvPr/>
        </p:nvSpPr>
        <p:spPr>
          <a:xfrm>
            <a:off x="685800" y="1674195"/>
            <a:ext cx="2286000" cy="859633"/>
          </a:xfrm>
          <a:prstGeom prst="rect">
            <a:avLst/>
          </a:prstGeom>
          <a:noFill/>
          <a:ln/>
        </p:spPr>
        <p:txBody>
          <a:bodyPr wrap="square" lIns="0" tIns="0" rIns="0" bIns="0" rtlCol="0" anchor="t"/>
          <a:lstStyle/>
          <a:p>
            <a:pPr marL="0" indent="0">
              <a:buNone/>
            </a:pPr>
            <a:r>
              <a:rPr lang="en-US" sz="1400" b="1" dirty="0">
                <a:solidFill>
                  <a:srgbClr val="0B2A3D"/>
                </a:solidFill>
                <a:latin typeface="Calibri" pitchFamily="34" charset="0"/>
                <a:ea typeface="Calibri" pitchFamily="34" charset="-122"/>
                <a:cs typeface="Calibri" pitchFamily="34" charset="-120"/>
              </a:rPr>
              <a:t>CA Ashok Jain</a:t>
            </a:r>
          </a:p>
          <a:p>
            <a:r>
              <a:rPr lang="en-US" sz="1400" b="1" dirty="0">
                <a:solidFill>
                  <a:srgbClr val="0B2A3D"/>
                </a:solidFill>
                <a:latin typeface="Calibri" pitchFamily="34" charset="0"/>
                <a:ea typeface="Calibri" pitchFamily="34" charset="-122"/>
                <a:cs typeface="Calibri" pitchFamily="34" charset="-120"/>
              </a:rPr>
              <a:t>Member Ship No 407745</a:t>
            </a:r>
          </a:p>
          <a:p>
            <a:r>
              <a:rPr lang="en-US" sz="1400" b="1" dirty="0">
                <a:solidFill>
                  <a:srgbClr val="0B2A3D"/>
                </a:solidFill>
                <a:latin typeface="Calibri" pitchFamily="34" charset="0"/>
                <a:ea typeface="Calibri" pitchFamily="34" charset="-122"/>
                <a:cs typeface="Calibri" pitchFamily="34" charset="-120"/>
              </a:rPr>
              <a:t>Email Id jain.ashokmba@gmail.com</a:t>
            </a:r>
            <a:endParaRPr lang="en-US" sz="1400" dirty="0"/>
          </a:p>
        </p:txBody>
      </p:sp>
      <p:sp>
        <p:nvSpPr>
          <p:cNvPr id="10" name="Shape 7"/>
          <p:cNvSpPr/>
          <p:nvPr/>
        </p:nvSpPr>
        <p:spPr>
          <a:xfrm>
            <a:off x="3268980" y="1188720"/>
            <a:ext cx="2606040" cy="132588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11" name="Shape 8"/>
          <p:cNvSpPr/>
          <p:nvPr/>
        </p:nvSpPr>
        <p:spPr>
          <a:xfrm>
            <a:off x="3451860" y="1353312"/>
            <a:ext cx="457200" cy="457200"/>
          </a:xfrm>
          <a:prstGeom prst="ellipse">
            <a:avLst/>
          </a:prstGeom>
          <a:solidFill>
            <a:srgbClr val="E2F1F3"/>
          </a:solidFill>
          <a:ln w="12700">
            <a:solidFill>
              <a:srgbClr val="E2F1F3"/>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3566160" y="1467612"/>
            <a:ext cx="228600" cy="228600"/>
          </a:xfrm>
          <a:prstGeom prst="rect">
            <a:avLst/>
          </a:prstGeom>
        </p:spPr>
      </p:pic>
      <p:sp>
        <p:nvSpPr>
          <p:cNvPr id="13" name="Text 9"/>
          <p:cNvSpPr txBox="1"/>
          <p:nvPr/>
        </p:nvSpPr>
        <p:spPr>
          <a:xfrm>
            <a:off x="4046220" y="1353312"/>
            <a:ext cx="1737360" cy="457200"/>
          </a:xfrm>
          <a:prstGeom prst="rect">
            <a:avLst/>
          </a:prstGeom>
          <a:noFill/>
          <a:ln/>
        </p:spPr>
        <p:txBody>
          <a:bodyPr wrap="square" lIns="0" tIns="0" rIns="0" bIns="0" rtlCol="0" anchor="ctr"/>
          <a:lstStyle/>
          <a:p>
            <a:pPr marL="0" indent="0">
              <a:buNone/>
            </a:pPr>
            <a:r>
              <a:rPr lang="en-US" sz="1000" b="1" kern="0" spc="200" dirty="0">
                <a:solidFill>
                  <a:srgbClr val="5B6E77"/>
                </a:solidFill>
                <a:latin typeface="Calibri" pitchFamily="34" charset="0"/>
                <a:ea typeface="Calibri" pitchFamily="34" charset="-122"/>
                <a:cs typeface="Calibri" pitchFamily="34" charset="-120"/>
              </a:rPr>
              <a:t>PROGRAMME</a:t>
            </a:r>
            <a:endParaRPr lang="en-US" sz="1000" dirty="0"/>
          </a:p>
        </p:txBody>
      </p:sp>
      <p:sp>
        <p:nvSpPr>
          <p:cNvPr id="14" name="Text 10"/>
          <p:cNvSpPr txBox="1"/>
          <p:nvPr/>
        </p:nvSpPr>
        <p:spPr>
          <a:xfrm>
            <a:off x="3451860" y="1901952"/>
            <a:ext cx="2286000" cy="530352"/>
          </a:xfrm>
          <a:prstGeom prst="rect">
            <a:avLst/>
          </a:prstGeom>
          <a:noFill/>
          <a:ln/>
        </p:spPr>
        <p:txBody>
          <a:bodyPr wrap="square" lIns="0" tIns="0" rIns="0" bIns="0" rtlCol="0" anchor="t"/>
          <a:lstStyle/>
          <a:p>
            <a:pPr marL="0" indent="0">
              <a:buNone/>
            </a:pPr>
            <a:r>
              <a:rPr lang="en-US" sz="1400" b="1" dirty="0">
                <a:solidFill>
                  <a:srgbClr val="0B2A3D"/>
                </a:solidFill>
                <a:latin typeface="Calibri" pitchFamily="34" charset="0"/>
                <a:ea typeface="Calibri" pitchFamily="34" charset="-122"/>
                <a:cs typeface="Calibri" pitchFamily="34" charset="-120"/>
              </a:rPr>
              <a:t>ICAI AI Level 2 Certification</a:t>
            </a:r>
            <a:endParaRPr lang="en-US" sz="1400" dirty="0"/>
          </a:p>
        </p:txBody>
      </p:sp>
      <p:sp>
        <p:nvSpPr>
          <p:cNvPr id="15" name="Shape 11"/>
          <p:cNvSpPr/>
          <p:nvPr/>
        </p:nvSpPr>
        <p:spPr>
          <a:xfrm>
            <a:off x="6080760" y="1188720"/>
            <a:ext cx="2606040" cy="132588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16" name="Shape 12"/>
          <p:cNvSpPr/>
          <p:nvPr/>
        </p:nvSpPr>
        <p:spPr>
          <a:xfrm>
            <a:off x="6263640" y="1353312"/>
            <a:ext cx="457200" cy="457200"/>
          </a:xfrm>
          <a:prstGeom prst="ellipse">
            <a:avLst/>
          </a:prstGeom>
          <a:solidFill>
            <a:srgbClr val="E2F1F3"/>
          </a:solidFill>
          <a:ln w="12700">
            <a:solidFill>
              <a:srgbClr val="E2F1F3"/>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6377940" y="1467612"/>
            <a:ext cx="228600" cy="228600"/>
          </a:xfrm>
          <a:prstGeom prst="rect">
            <a:avLst/>
          </a:prstGeom>
        </p:spPr>
      </p:pic>
      <p:sp>
        <p:nvSpPr>
          <p:cNvPr id="18" name="Text 13"/>
          <p:cNvSpPr txBox="1"/>
          <p:nvPr/>
        </p:nvSpPr>
        <p:spPr>
          <a:xfrm>
            <a:off x="6858000" y="1353312"/>
            <a:ext cx="1737360" cy="457200"/>
          </a:xfrm>
          <a:prstGeom prst="rect">
            <a:avLst/>
          </a:prstGeom>
          <a:noFill/>
          <a:ln/>
        </p:spPr>
        <p:txBody>
          <a:bodyPr wrap="square" lIns="0" tIns="0" rIns="0" bIns="0" rtlCol="0" anchor="ctr"/>
          <a:lstStyle/>
          <a:p>
            <a:pPr marL="0" indent="0">
              <a:buNone/>
            </a:pPr>
            <a:r>
              <a:rPr lang="en-US" sz="1000" b="1" kern="0" spc="200" dirty="0">
                <a:solidFill>
                  <a:srgbClr val="5B6E77"/>
                </a:solidFill>
                <a:latin typeface="Calibri" pitchFamily="34" charset="0"/>
                <a:ea typeface="Calibri" pitchFamily="34" charset="-122"/>
                <a:cs typeface="Calibri" pitchFamily="34" charset="-120"/>
              </a:rPr>
              <a:t>BRANCH</a:t>
            </a:r>
            <a:endParaRPr lang="en-US" sz="1000" dirty="0"/>
          </a:p>
        </p:txBody>
      </p:sp>
      <p:sp>
        <p:nvSpPr>
          <p:cNvPr id="19" name="Text 14"/>
          <p:cNvSpPr txBox="1"/>
          <p:nvPr/>
        </p:nvSpPr>
        <p:spPr>
          <a:xfrm>
            <a:off x="6263640" y="1901952"/>
            <a:ext cx="2286000" cy="530352"/>
          </a:xfrm>
          <a:prstGeom prst="rect">
            <a:avLst/>
          </a:prstGeom>
          <a:noFill/>
          <a:ln/>
        </p:spPr>
        <p:txBody>
          <a:bodyPr wrap="square" lIns="0" tIns="0" rIns="0" bIns="0" rtlCol="0" anchor="t"/>
          <a:lstStyle/>
          <a:p>
            <a:pPr marL="0" indent="0">
              <a:buNone/>
            </a:pPr>
            <a:r>
              <a:rPr lang="en-US" sz="1400" b="1" dirty="0">
                <a:solidFill>
                  <a:srgbClr val="0B2A3D"/>
                </a:solidFill>
                <a:latin typeface="Calibri" pitchFamily="34" charset="0"/>
                <a:ea typeface="Calibri" pitchFamily="34" charset="-122"/>
                <a:cs typeface="Calibri" pitchFamily="34" charset="-120"/>
              </a:rPr>
              <a:t>Gurugram</a:t>
            </a:r>
            <a:endParaRPr lang="en-US" sz="1400" dirty="0"/>
          </a:p>
        </p:txBody>
      </p:sp>
      <p:sp>
        <p:nvSpPr>
          <p:cNvPr id="20" name="Shape 15"/>
          <p:cNvSpPr/>
          <p:nvPr/>
        </p:nvSpPr>
        <p:spPr>
          <a:xfrm>
            <a:off x="457200" y="2651760"/>
            <a:ext cx="2606040" cy="132588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21" name="Shape 16"/>
          <p:cNvSpPr/>
          <p:nvPr/>
        </p:nvSpPr>
        <p:spPr>
          <a:xfrm>
            <a:off x="640080" y="2816352"/>
            <a:ext cx="457200" cy="457200"/>
          </a:xfrm>
          <a:prstGeom prst="ellipse">
            <a:avLst/>
          </a:prstGeom>
          <a:solidFill>
            <a:srgbClr val="E2F1F3"/>
          </a:solidFill>
          <a:ln w="12700">
            <a:solidFill>
              <a:srgbClr val="E2F1F3"/>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754380" y="2930652"/>
            <a:ext cx="228600" cy="228600"/>
          </a:xfrm>
          <a:prstGeom prst="rect">
            <a:avLst/>
          </a:prstGeom>
        </p:spPr>
      </p:pic>
      <p:sp>
        <p:nvSpPr>
          <p:cNvPr id="23" name="Text 17"/>
          <p:cNvSpPr txBox="1"/>
          <p:nvPr/>
        </p:nvSpPr>
        <p:spPr>
          <a:xfrm>
            <a:off x="1234440" y="2816352"/>
            <a:ext cx="1737360" cy="457200"/>
          </a:xfrm>
          <a:prstGeom prst="rect">
            <a:avLst/>
          </a:prstGeom>
          <a:noFill/>
          <a:ln/>
        </p:spPr>
        <p:txBody>
          <a:bodyPr wrap="square" lIns="0" tIns="0" rIns="0" bIns="0" rtlCol="0" anchor="ctr"/>
          <a:lstStyle/>
          <a:p>
            <a:pPr marL="0" indent="0">
              <a:buNone/>
            </a:pPr>
            <a:r>
              <a:rPr lang="en-US" sz="1000" b="1" kern="0" spc="200" dirty="0">
                <a:solidFill>
                  <a:srgbClr val="5B6E77"/>
                </a:solidFill>
                <a:latin typeface="Calibri" pitchFamily="34" charset="0"/>
                <a:ea typeface="Calibri" pitchFamily="34" charset="-122"/>
                <a:cs typeface="Calibri" pitchFamily="34" charset="-120"/>
              </a:rPr>
              <a:t>BATCH</a:t>
            </a:r>
            <a:endParaRPr lang="en-US" sz="1000" dirty="0"/>
          </a:p>
        </p:txBody>
      </p:sp>
      <p:sp>
        <p:nvSpPr>
          <p:cNvPr id="24" name="Text 18"/>
          <p:cNvSpPr txBox="1"/>
          <p:nvPr/>
        </p:nvSpPr>
        <p:spPr>
          <a:xfrm>
            <a:off x="640080" y="3377962"/>
            <a:ext cx="2286000" cy="530352"/>
          </a:xfrm>
          <a:prstGeom prst="rect">
            <a:avLst/>
          </a:prstGeom>
          <a:noFill/>
          <a:ln/>
        </p:spPr>
        <p:txBody>
          <a:bodyPr wrap="square" lIns="0" tIns="0" rIns="0" bIns="0" rtlCol="0" anchor="t"/>
          <a:lstStyle/>
          <a:p>
            <a:pPr marL="0" indent="0">
              <a:buNone/>
            </a:pPr>
            <a:r>
              <a:rPr lang="en-US" sz="1400" b="1" dirty="0">
                <a:solidFill>
                  <a:srgbClr val="0B2A3D"/>
                </a:solidFill>
                <a:latin typeface="Calibri" pitchFamily="34" charset="0"/>
                <a:ea typeface="Calibri" pitchFamily="34" charset="-122"/>
                <a:cs typeface="Calibri" pitchFamily="34" charset="-120"/>
              </a:rPr>
              <a:t>89</a:t>
            </a:r>
            <a:endParaRPr lang="en-US" sz="1400" dirty="0"/>
          </a:p>
        </p:txBody>
      </p:sp>
      <p:sp>
        <p:nvSpPr>
          <p:cNvPr id="25" name="Shape 19"/>
          <p:cNvSpPr/>
          <p:nvPr/>
        </p:nvSpPr>
        <p:spPr>
          <a:xfrm>
            <a:off x="3268980" y="2651760"/>
            <a:ext cx="2606040" cy="132588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26" name="Shape 20"/>
          <p:cNvSpPr/>
          <p:nvPr/>
        </p:nvSpPr>
        <p:spPr>
          <a:xfrm>
            <a:off x="3451860" y="2816352"/>
            <a:ext cx="457200" cy="457200"/>
          </a:xfrm>
          <a:prstGeom prst="ellipse">
            <a:avLst/>
          </a:prstGeom>
          <a:solidFill>
            <a:srgbClr val="E2F1F3"/>
          </a:solidFill>
          <a:ln w="12700">
            <a:solidFill>
              <a:srgbClr val="E2F1F3"/>
            </a:solidFill>
            <a:prstDash val="solid"/>
          </a:ln>
        </p:spPr>
        <p:txBody>
          <a:bodyPr/>
          <a:lstStyle/>
          <a:p>
            <a:endParaRPr lang="en-US"/>
          </a:p>
        </p:txBody>
      </p:sp>
      <p:pic>
        <p:nvPicPr>
          <p:cNvPr id="27" name="Image 4" descr="preencoded.png"/>
          <p:cNvPicPr>
            <a:picLocks noChangeAspect="1"/>
          </p:cNvPicPr>
          <p:nvPr/>
        </p:nvPicPr>
        <p:blipFill>
          <a:blip r:embed="rId7"/>
          <a:stretch>
            <a:fillRect/>
          </a:stretch>
        </p:blipFill>
        <p:spPr>
          <a:xfrm>
            <a:off x="3566160" y="2930652"/>
            <a:ext cx="228600" cy="228600"/>
          </a:xfrm>
          <a:prstGeom prst="rect">
            <a:avLst/>
          </a:prstGeom>
        </p:spPr>
      </p:pic>
      <p:sp>
        <p:nvSpPr>
          <p:cNvPr id="28" name="Text 21"/>
          <p:cNvSpPr txBox="1"/>
          <p:nvPr/>
        </p:nvSpPr>
        <p:spPr>
          <a:xfrm>
            <a:off x="4046220" y="2816352"/>
            <a:ext cx="1737360" cy="457200"/>
          </a:xfrm>
          <a:prstGeom prst="rect">
            <a:avLst/>
          </a:prstGeom>
          <a:noFill/>
          <a:ln/>
        </p:spPr>
        <p:txBody>
          <a:bodyPr wrap="square" lIns="0" tIns="0" rIns="0" bIns="0" rtlCol="0" anchor="ctr"/>
          <a:lstStyle/>
          <a:p>
            <a:pPr marL="0" indent="0">
              <a:buNone/>
            </a:pPr>
            <a:r>
              <a:rPr lang="en-US" sz="1000" b="1" kern="0" spc="200" dirty="0">
                <a:solidFill>
                  <a:srgbClr val="5B6E77"/>
                </a:solidFill>
                <a:latin typeface="Calibri" pitchFamily="34" charset="0"/>
                <a:ea typeface="Calibri" pitchFamily="34" charset="-122"/>
                <a:cs typeface="Calibri" pitchFamily="34" charset="-120"/>
              </a:rPr>
              <a:t>APPLICATION</a:t>
            </a:r>
            <a:endParaRPr lang="en-US" sz="1000" dirty="0"/>
          </a:p>
        </p:txBody>
      </p:sp>
      <p:sp>
        <p:nvSpPr>
          <p:cNvPr id="29" name="Text 22"/>
          <p:cNvSpPr txBox="1"/>
          <p:nvPr/>
        </p:nvSpPr>
        <p:spPr>
          <a:xfrm>
            <a:off x="3451860" y="3364992"/>
            <a:ext cx="2286000" cy="530352"/>
          </a:xfrm>
          <a:prstGeom prst="rect">
            <a:avLst/>
          </a:prstGeom>
          <a:noFill/>
          <a:ln/>
        </p:spPr>
        <p:txBody>
          <a:bodyPr wrap="square" lIns="0" tIns="0" rIns="0" bIns="0" rtlCol="0" anchor="t"/>
          <a:lstStyle/>
          <a:p>
            <a:pPr marL="0" indent="0">
              <a:buNone/>
            </a:pPr>
            <a:r>
              <a:rPr lang="en-US" sz="1400" b="1" dirty="0">
                <a:solidFill>
                  <a:srgbClr val="0B2A3D"/>
                </a:solidFill>
                <a:latin typeface="Calibri" pitchFamily="34" charset="0"/>
                <a:ea typeface="Calibri" pitchFamily="34" charset="-122"/>
                <a:cs typeface="Calibri" pitchFamily="34" charset="-120"/>
              </a:rPr>
              <a:t>Vendor Financial Health &amp; Credit Assessment</a:t>
            </a:r>
            <a:endParaRPr lang="en-US" sz="1400" dirty="0"/>
          </a:p>
        </p:txBody>
      </p:sp>
      <p:sp>
        <p:nvSpPr>
          <p:cNvPr id="30" name="Shape 23"/>
          <p:cNvSpPr/>
          <p:nvPr/>
        </p:nvSpPr>
        <p:spPr>
          <a:xfrm>
            <a:off x="6080760" y="2651760"/>
            <a:ext cx="2606040" cy="132588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31" name="Shape 24"/>
          <p:cNvSpPr/>
          <p:nvPr/>
        </p:nvSpPr>
        <p:spPr>
          <a:xfrm>
            <a:off x="6263640" y="2816352"/>
            <a:ext cx="457200" cy="457200"/>
          </a:xfrm>
          <a:prstGeom prst="ellipse">
            <a:avLst/>
          </a:prstGeom>
          <a:solidFill>
            <a:srgbClr val="E2F1F3"/>
          </a:solidFill>
          <a:ln w="12700">
            <a:solidFill>
              <a:srgbClr val="E2F1F3"/>
            </a:solidFill>
            <a:prstDash val="solid"/>
          </a:ln>
        </p:spPr>
        <p:txBody>
          <a:bodyPr/>
          <a:lstStyle/>
          <a:p>
            <a:endParaRPr lang="en-US"/>
          </a:p>
        </p:txBody>
      </p:sp>
      <p:pic>
        <p:nvPicPr>
          <p:cNvPr id="32" name="Image 5" descr="preencoded.png"/>
          <p:cNvPicPr>
            <a:picLocks noChangeAspect="1"/>
          </p:cNvPicPr>
          <p:nvPr/>
        </p:nvPicPr>
        <p:blipFill>
          <a:blip r:embed="rId8"/>
          <a:stretch>
            <a:fillRect/>
          </a:stretch>
        </p:blipFill>
        <p:spPr>
          <a:xfrm>
            <a:off x="6377940" y="2930652"/>
            <a:ext cx="228600" cy="228600"/>
          </a:xfrm>
          <a:prstGeom prst="rect">
            <a:avLst/>
          </a:prstGeom>
        </p:spPr>
      </p:pic>
      <p:sp>
        <p:nvSpPr>
          <p:cNvPr id="33" name="Text 25"/>
          <p:cNvSpPr txBox="1"/>
          <p:nvPr/>
        </p:nvSpPr>
        <p:spPr>
          <a:xfrm>
            <a:off x="6858000" y="2816352"/>
            <a:ext cx="1737360" cy="457200"/>
          </a:xfrm>
          <a:prstGeom prst="rect">
            <a:avLst/>
          </a:prstGeom>
          <a:noFill/>
          <a:ln/>
        </p:spPr>
        <p:txBody>
          <a:bodyPr wrap="square" lIns="0" tIns="0" rIns="0" bIns="0" rtlCol="0" anchor="ctr"/>
          <a:lstStyle/>
          <a:p>
            <a:pPr marL="0" indent="0">
              <a:buNone/>
            </a:pPr>
            <a:r>
              <a:rPr lang="en-US" sz="1000" b="1" kern="0" spc="200" dirty="0">
                <a:solidFill>
                  <a:srgbClr val="5B6E77"/>
                </a:solidFill>
                <a:latin typeface="Calibri" pitchFamily="34" charset="0"/>
                <a:ea typeface="Calibri" pitchFamily="34" charset="-122"/>
                <a:cs typeface="Calibri" pitchFamily="34" charset="-120"/>
              </a:rPr>
              <a:t>BUILT WITH</a:t>
            </a:r>
            <a:endParaRPr lang="en-US" sz="1000" dirty="0"/>
          </a:p>
        </p:txBody>
      </p:sp>
      <p:sp>
        <p:nvSpPr>
          <p:cNvPr id="34" name="Text 26"/>
          <p:cNvSpPr txBox="1"/>
          <p:nvPr/>
        </p:nvSpPr>
        <p:spPr>
          <a:xfrm>
            <a:off x="6263640" y="3364992"/>
            <a:ext cx="2286000" cy="530352"/>
          </a:xfrm>
          <a:prstGeom prst="rect">
            <a:avLst/>
          </a:prstGeom>
          <a:noFill/>
          <a:ln/>
        </p:spPr>
        <p:txBody>
          <a:bodyPr wrap="square" lIns="0" tIns="0" rIns="0" bIns="0" rtlCol="0" anchor="t"/>
          <a:lstStyle/>
          <a:p>
            <a:pPr marL="0" indent="0">
              <a:buNone/>
            </a:pPr>
            <a:r>
              <a:rPr lang="en-US" sz="1400" b="1" dirty="0">
                <a:solidFill>
                  <a:srgbClr val="0B2A3D"/>
                </a:solidFill>
                <a:latin typeface="Calibri" pitchFamily="34" charset="0"/>
                <a:ea typeface="Calibri" pitchFamily="34" charset="-122"/>
                <a:cs typeface="Calibri" pitchFamily="34" charset="-120"/>
              </a:rPr>
              <a:t>Lovable AI app builder</a:t>
            </a:r>
            <a:endParaRPr lang="en-US" sz="1400" dirty="0"/>
          </a:p>
        </p:txBody>
      </p:sp>
      <p:sp>
        <p:nvSpPr>
          <p:cNvPr id="35" name="Text 27"/>
          <p:cNvSpPr txBox="1"/>
          <p:nvPr/>
        </p:nvSpPr>
        <p:spPr>
          <a:xfrm>
            <a:off x="457200" y="4206240"/>
            <a:ext cx="8229600" cy="365760"/>
          </a:xfrm>
          <a:prstGeom prst="rect">
            <a:avLst/>
          </a:prstGeom>
          <a:noFill/>
          <a:ln/>
        </p:spPr>
        <p:txBody>
          <a:bodyPr wrap="square" lIns="0" tIns="0" rIns="0" bIns="0" rtlCol="0" anchor="ctr"/>
          <a:lstStyle/>
          <a:p>
            <a:pPr marL="0" indent="0">
              <a:buNone/>
            </a:pPr>
            <a:r>
              <a:rPr lang="en-US" sz="1300" i="1" dirty="0">
                <a:solidFill>
                  <a:srgbClr val="5B6E77"/>
                </a:solidFill>
                <a:latin typeface="Calibri" pitchFamily="34" charset="0"/>
                <a:ea typeface="Calibri" pitchFamily="34" charset="-122"/>
                <a:cs typeface="Calibri" pitchFamily="34" charset="-120"/>
              </a:rPr>
              <a:t>A practical finance-operations use case, designed, built and tested end-to-end during the ICAI AI Level 2 programme.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2A3D"/>
                </a:solidFill>
                <a:latin typeface="Cambria" pitchFamily="34" charset="0"/>
                <a:ea typeface="Cambria" pitchFamily="34" charset="-122"/>
                <a:cs typeface="Cambria" pitchFamily="34" charset="-120"/>
              </a:rPr>
              <a:t>The Problem Statement</a:t>
            </a:r>
            <a:endParaRPr lang="en-US" sz="2800" dirty="0"/>
          </a:p>
        </p:txBody>
      </p:sp>
      <p:sp>
        <p:nvSpPr>
          <p:cNvPr id="3" name="Text 1"/>
          <p:cNvSpPr txBox="1"/>
          <p:nvPr/>
        </p:nvSpPr>
        <p:spPr>
          <a:xfrm>
            <a:off x="457200" y="4773168"/>
            <a:ext cx="7498080" cy="228600"/>
          </a:xfrm>
          <a:prstGeom prst="rect">
            <a:avLst/>
          </a:prstGeom>
          <a:noFill/>
          <a:ln/>
        </p:spPr>
        <p:txBody>
          <a:bodyPr wrap="square" lIns="0" tIns="0" rIns="0" bIns="0" rtlCol="0" anchor="ctr"/>
          <a:lstStyle/>
          <a:p>
            <a:pPr marL="0" indent="0">
              <a:buNone/>
            </a:pPr>
            <a:r>
              <a:rPr lang="en-US" sz="900" dirty="0">
                <a:solidFill>
                  <a:srgbClr val="5B6E77"/>
                </a:solidFill>
                <a:latin typeface="Calibri" pitchFamily="34" charset="0"/>
                <a:ea typeface="Calibri" pitchFamily="34" charset="-122"/>
                <a:cs typeface="Calibri" pitchFamily="34" charset="-120"/>
              </a:rPr>
              <a:t>Vendor Financial Health &amp; Credit Assessment  |  Ashok Jain  |  ICAI AI Level 2  |  Gurugram  |  Batch 89</a:t>
            </a:r>
            <a:endParaRPr lang="en-US" sz="900" dirty="0"/>
          </a:p>
        </p:txBody>
      </p:sp>
      <p:sp>
        <p:nvSpPr>
          <p:cNvPr id="4" name="Text 2"/>
          <p:cNvSpPr txBox="1"/>
          <p:nvPr/>
        </p:nvSpPr>
        <p:spPr>
          <a:xfrm>
            <a:off x="8229600" y="4773168"/>
            <a:ext cx="457200" cy="228600"/>
          </a:xfrm>
          <a:prstGeom prst="rect">
            <a:avLst/>
          </a:prstGeom>
          <a:noFill/>
          <a:ln/>
        </p:spPr>
        <p:txBody>
          <a:bodyPr wrap="square" lIns="0" tIns="0" rIns="0" bIns="0" rtlCol="0" anchor="ctr"/>
          <a:lstStyle/>
          <a:p>
            <a:pPr marL="0" indent="0" algn="r">
              <a:buNone/>
            </a:pPr>
            <a:r>
              <a:rPr lang="en-US" sz="900" dirty="0">
                <a:solidFill>
                  <a:srgbClr val="5B6E77"/>
                </a:solidFill>
                <a:latin typeface="Calibri" pitchFamily="34" charset="0"/>
                <a:ea typeface="Calibri" pitchFamily="34" charset="-122"/>
                <a:cs typeface="Calibri" pitchFamily="34" charset="-120"/>
              </a:rPr>
              <a:t>4</a:t>
            </a:r>
            <a:endParaRPr lang="en-US" sz="900" dirty="0"/>
          </a:p>
        </p:txBody>
      </p:sp>
      <p:sp>
        <p:nvSpPr>
          <p:cNvPr id="5" name="Shape 3"/>
          <p:cNvSpPr/>
          <p:nvPr/>
        </p:nvSpPr>
        <p:spPr>
          <a:xfrm>
            <a:off x="457200" y="1143000"/>
            <a:ext cx="4023360" cy="3291840"/>
          </a:xfrm>
          <a:prstGeom prst="rect">
            <a:avLst/>
          </a:prstGeom>
          <a:solidFill>
            <a:srgbClr val="0B2A3D"/>
          </a:solidFill>
          <a:ln w="12700">
            <a:solidFill>
              <a:srgbClr val="0B2A3D"/>
            </a:solidFill>
            <a:prstDash val="solid"/>
          </a:ln>
        </p:spPr>
        <p:txBody>
          <a:bodyPr/>
          <a:lstStyle/>
          <a:p>
            <a:endParaRPr lang="en-US"/>
          </a:p>
        </p:txBody>
      </p:sp>
      <p:sp>
        <p:nvSpPr>
          <p:cNvPr id="6" name="Text 4"/>
          <p:cNvSpPr txBox="1"/>
          <p:nvPr/>
        </p:nvSpPr>
        <p:spPr>
          <a:xfrm>
            <a:off x="685800" y="1280160"/>
            <a:ext cx="3566160" cy="365760"/>
          </a:xfrm>
          <a:prstGeom prst="rect">
            <a:avLst/>
          </a:prstGeom>
          <a:noFill/>
          <a:ln/>
        </p:spPr>
        <p:txBody>
          <a:bodyPr wrap="square" lIns="0" tIns="0" rIns="0" bIns="0" rtlCol="0" anchor="ctr"/>
          <a:lstStyle/>
          <a:p>
            <a:pPr marL="0" indent="0">
              <a:buNone/>
            </a:pPr>
            <a:r>
              <a:rPr lang="en-US" sz="1600" b="1" dirty="0">
                <a:solidFill>
                  <a:srgbClr val="F2A93B"/>
                </a:solidFill>
                <a:latin typeface="Cambria" pitchFamily="34" charset="0"/>
                <a:ea typeface="Cambria" pitchFamily="34" charset="-122"/>
                <a:cs typeface="Cambria" pitchFamily="34" charset="-120"/>
              </a:rPr>
              <a:t>The decision our team must make</a:t>
            </a:r>
            <a:endParaRPr lang="en-US" sz="1600" dirty="0"/>
          </a:p>
        </p:txBody>
      </p:sp>
      <p:sp>
        <p:nvSpPr>
          <p:cNvPr id="7" name="Text 5"/>
          <p:cNvSpPr txBox="1"/>
          <p:nvPr/>
        </p:nvSpPr>
        <p:spPr>
          <a:xfrm>
            <a:off x="685800" y="1737360"/>
            <a:ext cx="3566160" cy="137160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Whenever a new vendor is registered or an existing vendor is reviewed, the team must decide how much credit period and how much credit limit to allow.</a:t>
            </a:r>
            <a:endParaRPr lang="en-US" sz="1400" dirty="0"/>
          </a:p>
        </p:txBody>
      </p:sp>
      <p:sp>
        <p:nvSpPr>
          <p:cNvPr id="8" name="Shape 6"/>
          <p:cNvSpPr/>
          <p:nvPr/>
        </p:nvSpPr>
        <p:spPr>
          <a:xfrm>
            <a:off x="685800" y="3246120"/>
            <a:ext cx="3566160" cy="457200"/>
          </a:xfrm>
          <a:prstGeom prst="roundRect">
            <a:avLst>
              <a:gd name="adj" fmla="val 16000"/>
            </a:avLst>
          </a:prstGeom>
          <a:solidFill>
            <a:srgbClr val="0A5A65"/>
          </a:solidFill>
          <a:ln w="12700">
            <a:solidFill>
              <a:srgbClr val="0A5A65"/>
            </a:solidFill>
            <a:prstDash val="solid"/>
          </a:ln>
        </p:spPr>
        <p:txBody>
          <a:bodyPr/>
          <a:lstStyle/>
          <a:p>
            <a:endParaRPr lang="en-US"/>
          </a:p>
        </p:txBody>
      </p:sp>
      <p:sp>
        <p:nvSpPr>
          <p:cNvPr id="9" name="Text 7"/>
          <p:cNvSpPr txBox="1"/>
          <p:nvPr/>
        </p:nvSpPr>
        <p:spPr>
          <a:xfrm>
            <a:off x="777240" y="3246120"/>
            <a:ext cx="338328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New vendor: first-time limit and period</a:t>
            </a:r>
            <a:endParaRPr lang="en-US" sz="1200" dirty="0"/>
          </a:p>
        </p:txBody>
      </p:sp>
      <p:sp>
        <p:nvSpPr>
          <p:cNvPr id="10" name="Shape 8"/>
          <p:cNvSpPr/>
          <p:nvPr/>
        </p:nvSpPr>
        <p:spPr>
          <a:xfrm>
            <a:off x="685800" y="3794760"/>
            <a:ext cx="3566160" cy="457200"/>
          </a:xfrm>
          <a:prstGeom prst="roundRect">
            <a:avLst>
              <a:gd name="adj" fmla="val 16000"/>
            </a:avLst>
          </a:prstGeom>
          <a:solidFill>
            <a:srgbClr val="0A5A65"/>
          </a:solidFill>
          <a:ln w="12700">
            <a:solidFill>
              <a:srgbClr val="0A5A65"/>
            </a:solidFill>
            <a:prstDash val="solid"/>
          </a:ln>
        </p:spPr>
        <p:txBody>
          <a:bodyPr/>
          <a:lstStyle/>
          <a:p>
            <a:endParaRPr lang="en-US"/>
          </a:p>
        </p:txBody>
      </p:sp>
      <p:sp>
        <p:nvSpPr>
          <p:cNvPr id="11" name="Text 9"/>
          <p:cNvSpPr txBox="1"/>
          <p:nvPr/>
        </p:nvSpPr>
        <p:spPr>
          <a:xfrm>
            <a:off x="777240" y="3794760"/>
            <a:ext cx="338328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Existing vendor: periodic reset of limit and period</a:t>
            </a:r>
            <a:endParaRPr lang="en-US" sz="1200" dirty="0"/>
          </a:p>
        </p:txBody>
      </p:sp>
      <p:sp>
        <p:nvSpPr>
          <p:cNvPr id="12" name="Shape 10"/>
          <p:cNvSpPr/>
          <p:nvPr/>
        </p:nvSpPr>
        <p:spPr>
          <a:xfrm>
            <a:off x="4754880" y="1143000"/>
            <a:ext cx="3931920" cy="100584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11"/>
          <p:cNvSpPr/>
          <p:nvPr/>
        </p:nvSpPr>
        <p:spPr>
          <a:xfrm>
            <a:off x="4892040" y="1389888"/>
            <a:ext cx="512064" cy="512064"/>
          </a:xfrm>
          <a:prstGeom prst="ellipse">
            <a:avLst/>
          </a:prstGeom>
          <a:solidFill>
            <a:srgbClr val="FDF1DC"/>
          </a:solidFill>
          <a:ln w="12700">
            <a:solidFill>
              <a:srgbClr val="FDF1DC"/>
            </a:solidFill>
            <a:prstDash val="solid"/>
          </a:ln>
        </p:spPr>
        <p:txBody>
          <a:bodyPr/>
          <a:lstStyle/>
          <a:p>
            <a:endParaRPr lang="en-US"/>
          </a:p>
        </p:txBody>
      </p:sp>
      <p:pic>
        <p:nvPicPr>
          <p:cNvPr id="14" name="Image 0" descr="preencoded.png"/>
          <p:cNvPicPr>
            <a:picLocks noChangeAspect="1"/>
          </p:cNvPicPr>
          <p:nvPr/>
        </p:nvPicPr>
        <p:blipFill>
          <a:blip r:embed="rId3"/>
          <a:stretch>
            <a:fillRect/>
          </a:stretch>
        </p:blipFill>
        <p:spPr>
          <a:xfrm>
            <a:off x="5020056" y="1517904"/>
            <a:ext cx="256032" cy="256032"/>
          </a:xfrm>
          <a:prstGeom prst="rect">
            <a:avLst/>
          </a:prstGeom>
        </p:spPr>
      </p:pic>
      <p:sp>
        <p:nvSpPr>
          <p:cNvPr id="15" name="Text 12"/>
          <p:cNvSpPr txBox="1"/>
          <p:nvPr/>
        </p:nvSpPr>
        <p:spPr>
          <a:xfrm>
            <a:off x="5577840" y="1234440"/>
            <a:ext cx="3017520" cy="274320"/>
          </a:xfrm>
          <a:prstGeom prst="rect">
            <a:avLst/>
          </a:prstGeom>
          <a:noFill/>
          <a:ln/>
        </p:spPr>
        <p:txBody>
          <a:bodyPr wrap="square" lIns="0" tIns="0" rIns="0" bIns="0" rtlCol="0" anchor="ctr"/>
          <a:lstStyle/>
          <a:p>
            <a:pPr marL="0" indent="0">
              <a:buNone/>
            </a:pPr>
            <a:r>
              <a:rPr lang="en-US" sz="1400" b="1" dirty="0">
                <a:solidFill>
                  <a:srgbClr val="0B2A3D"/>
                </a:solidFill>
                <a:latin typeface="Calibri" pitchFamily="34" charset="0"/>
                <a:ea typeface="Calibri" pitchFamily="34" charset="-122"/>
                <a:cs typeface="Calibri" pitchFamily="34" charset="-120"/>
              </a:rPr>
              <a:t>Limited expertise</a:t>
            </a:r>
            <a:endParaRPr lang="en-US" sz="1400" dirty="0"/>
          </a:p>
        </p:txBody>
      </p:sp>
      <p:sp>
        <p:nvSpPr>
          <p:cNvPr id="16" name="Text 13"/>
          <p:cNvSpPr txBox="1"/>
          <p:nvPr/>
        </p:nvSpPr>
        <p:spPr>
          <a:xfrm>
            <a:off x="5577840" y="1527048"/>
            <a:ext cx="3017520" cy="566928"/>
          </a:xfrm>
          <a:prstGeom prst="rect">
            <a:avLst/>
          </a:prstGeom>
          <a:noFill/>
          <a:ln/>
        </p:spPr>
        <p:txBody>
          <a:bodyPr wrap="square" lIns="0" tIns="0" rIns="0" bIns="0" rtlCol="0" anchor="t"/>
          <a:lstStyle/>
          <a:p>
            <a:pPr marL="0" indent="0">
              <a:buNone/>
            </a:pPr>
            <a:r>
              <a:rPr lang="en-US" sz="1100" dirty="0">
                <a:solidFill>
                  <a:srgbClr val="1B2B34"/>
                </a:solidFill>
                <a:latin typeface="Calibri" pitchFamily="34" charset="0"/>
                <a:ea typeface="Calibri" pitchFamily="34" charset="-122"/>
                <a:cs typeface="Calibri" pitchFamily="34" charset="-120"/>
              </a:rPr>
              <a:t>The team lacks specialist knowledge to analyse the profit &amp; loss account, balance sheet and notes to accounts.</a:t>
            </a:r>
            <a:endParaRPr lang="en-US" sz="1100" dirty="0"/>
          </a:p>
        </p:txBody>
      </p:sp>
      <p:sp>
        <p:nvSpPr>
          <p:cNvPr id="17" name="Shape 14"/>
          <p:cNvSpPr/>
          <p:nvPr/>
        </p:nvSpPr>
        <p:spPr>
          <a:xfrm>
            <a:off x="4754880" y="2286000"/>
            <a:ext cx="3931920" cy="100584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18" name="Shape 15"/>
          <p:cNvSpPr/>
          <p:nvPr/>
        </p:nvSpPr>
        <p:spPr>
          <a:xfrm>
            <a:off x="4892040" y="2532888"/>
            <a:ext cx="512064" cy="512064"/>
          </a:xfrm>
          <a:prstGeom prst="ellipse">
            <a:avLst/>
          </a:prstGeom>
          <a:solidFill>
            <a:srgbClr val="FDF1DC"/>
          </a:solidFill>
          <a:ln w="12700">
            <a:solidFill>
              <a:srgbClr val="FDF1DC"/>
            </a:solidFill>
            <a:prstDash val="solid"/>
          </a:ln>
        </p:spPr>
        <p:txBody>
          <a:bodyPr/>
          <a:lstStyle/>
          <a:p>
            <a:endParaRPr lang="en-US"/>
          </a:p>
        </p:txBody>
      </p:sp>
      <p:pic>
        <p:nvPicPr>
          <p:cNvPr id="19" name="Image 1" descr="preencoded.png"/>
          <p:cNvPicPr>
            <a:picLocks noChangeAspect="1"/>
          </p:cNvPicPr>
          <p:nvPr/>
        </p:nvPicPr>
        <p:blipFill>
          <a:blip r:embed="rId4"/>
          <a:stretch>
            <a:fillRect/>
          </a:stretch>
        </p:blipFill>
        <p:spPr>
          <a:xfrm>
            <a:off x="5020056" y="2660904"/>
            <a:ext cx="256032" cy="256032"/>
          </a:xfrm>
          <a:prstGeom prst="rect">
            <a:avLst/>
          </a:prstGeom>
        </p:spPr>
      </p:pic>
      <p:sp>
        <p:nvSpPr>
          <p:cNvPr id="20" name="Text 16"/>
          <p:cNvSpPr txBox="1"/>
          <p:nvPr/>
        </p:nvSpPr>
        <p:spPr>
          <a:xfrm>
            <a:off x="5577840" y="2377440"/>
            <a:ext cx="3017520" cy="274320"/>
          </a:xfrm>
          <a:prstGeom prst="rect">
            <a:avLst/>
          </a:prstGeom>
          <a:noFill/>
          <a:ln/>
        </p:spPr>
        <p:txBody>
          <a:bodyPr wrap="square" lIns="0" tIns="0" rIns="0" bIns="0" rtlCol="0" anchor="ctr"/>
          <a:lstStyle/>
          <a:p>
            <a:pPr marL="0" indent="0">
              <a:buNone/>
            </a:pPr>
            <a:r>
              <a:rPr lang="en-US" sz="1400" b="1" dirty="0">
                <a:solidFill>
                  <a:srgbClr val="0B2A3D"/>
                </a:solidFill>
                <a:latin typeface="Calibri" pitchFamily="34" charset="0"/>
                <a:ea typeface="Calibri" pitchFamily="34" charset="-122"/>
                <a:cs typeface="Calibri" pitchFamily="34" charset="-120"/>
              </a:rPr>
              <a:t>Time-consuming</a:t>
            </a:r>
            <a:endParaRPr lang="en-US" sz="1400" dirty="0"/>
          </a:p>
        </p:txBody>
      </p:sp>
      <p:sp>
        <p:nvSpPr>
          <p:cNvPr id="21" name="Text 17"/>
          <p:cNvSpPr txBox="1"/>
          <p:nvPr/>
        </p:nvSpPr>
        <p:spPr>
          <a:xfrm>
            <a:off x="5577840" y="2670048"/>
            <a:ext cx="3017520" cy="566928"/>
          </a:xfrm>
          <a:prstGeom prst="rect">
            <a:avLst/>
          </a:prstGeom>
          <a:noFill/>
          <a:ln/>
        </p:spPr>
        <p:txBody>
          <a:bodyPr wrap="square" lIns="0" tIns="0" rIns="0" bIns="0" rtlCol="0" anchor="t"/>
          <a:lstStyle/>
          <a:p>
            <a:pPr marL="0" indent="0">
              <a:buNone/>
            </a:pPr>
            <a:r>
              <a:rPr lang="en-US" sz="1100" dirty="0">
                <a:solidFill>
                  <a:srgbClr val="1B2B34"/>
                </a:solidFill>
                <a:latin typeface="Calibri" pitchFamily="34" charset="0"/>
                <a:ea typeface="Calibri" pitchFamily="34" charset="-122"/>
                <a:cs typeface="Calibri" pitchFamily="34" charset="-120"/>
              </a:rPr>
              <a:t>Analysing each vendor by hand takes considerable time and effort.</a:t>
            </a:r>
            <a:endParaRPr lang="en-US" sz="1100" dirty="0"/>
          </a:p>
        </p:txBody>
      </p:sp>
      <p:sp>
        <p:nvSpPr>
          <p:cNvPr id="22" name="Shape 18"/>
          <p:cNvSpPr/>
          <p:nvPr/>
        </p:nvSpPr>
        <p:spPr>
          <a:xfrm>
            <a:off x="4754880" y="3429000"/>
            <a:ext cx="3931920" cy="100584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23" name="Shape 19"/>
          <p:cNvSpPr/>
          <p:nvPr/>
        </p:nvSpPr>
        <p:spPr>
          <a:xfrm>
            <a:off x="4892040" y="3675888"/>
            <a:ext cx="512064" cy="512064"/>
          </a:xfrm>
          <a:prstGeom prst="ellipse">
            <a:avLst/>
          </a:prstGeom>
          <a:solidFill>
            <a:srgbClr val="FDF1DC"/>
          </a:solidFill>
          <a:ln w="12700">
            <a:solidFill>
              <a:srgbClr val="FDF1DC"/>
            </a:solidFill>
            <a:prstDash val="solid"/>
          </a:ln>
        </p:spPr>
        <p:txBody>
          <a:bodyPr/>
          <a:lstStyle/>
          <a:p>
            <a:endParaRPr lang="en-US"/>
          </a:p>
        </p:txBody>
      </p:sp>
      <p:pic>
        <p:nvPicPr>
          <p:cNvPr id="24" name="Image 2" descr="preencoded.png"/>
          <p:cNvPicPr>
            <a:picLocks noChangeAspect="1"/>
          </p:cNvPicPr>
          <p:nvPr/>
        </p:nvPicPr>
        <p:blipFill>
          <a:blip r:embed="rId5"/>
          <a:stretch>
            <a:fillRect/>
          </a:stretch>
        </p:blipFill>
        <p:spPr>
          <a:xfrm>
            <a:off x="5020056" y="3803904"/>
            <a:ext cx="256032" cy="256032"/>
          </a:xfrm>
          <a:prstGeom prst="rect">
            <a:avLst/>
          </a:prstGeom>
        </p:spPr>
      </p:pic>
      <p:sp>
        <p:nvSpPr>
          <p:cNvPr id="25" name="Text 20"/>
          <p:cNvSpPr txBox="1"/>
          <p:nvPr/>
        </p:nvSpPr>
        <p:spPr>
          <a:xfrm>
            <a:off x="5577840" y="3520440"/>
            <a:ext cx="3017520" cy="274320"/>
          </a:xfrm>
          <a:prstGeom prst="rect">
            <a:avLst/>
          </a:prstGeom>
          <a:noFill/>
          <a:ln/>
        </p:spPr>
        <p:txBody>
          <a:bodyPr wrap="square" lIns="0" tIns="0" rIns="0" bIns="0" rtlCol="0" anchor="ctr"/>
          <a:lstStyle/>
          <a:p>
            <a:pPr marL="0" indent="0">
              <a:buNone/>
            </a:pPr>
            <a:r>
              <a:rPr lang="en-US" sz="1400" b="1" dirty="0">
                <a:solidFill>
                  <a:srgbClr val="0B2A3D"/>
                </a:solidFill>
                <a:latin typeface="Calibri" pitchFamily="34" charset="0"/>
                <a:ea typeface="Calibri" pitchFamily="34" charset="-122"/>
                <a:cs typeface="Calibri" pitchFamily="34" charset="-120"/>
              </a:rPr>
              <a:t>Scattered formats</a:t>
            </a:r>
            <a:endParaRPr lang="en-US" sz="1400" dirty="0"/>
          </a:p>
        </p:txBody>
      </p:sp>
      <p:sp>
        <p:nvSpPr>
          <p:cNvPr id="26" name="Text 21"/>
          <p:cNvSpPr txBox="1"/>
          <p:nvPr/>
        </p:nvSpPr>
        <p:spPr>
          <a:xfrm>
            <a:off x="5577840" y="3813048"/>
            <a:ext cx="3017520" cy="566928"/>
          </a:xfrm>
          <a:prstGeom prst="rect">
            <a:avLst/>
          </a:prstGeom>
          <a:noFill/>
          <a:ln/>
        </p:spPr>
        <p:txBody>
          <a:bodyPr wrap="square" lIns="0" tIns="0" rIns="0" bIns="0" rtlCol="0" anchor="t"/>
          <a:lstStyle/>
          <a:p>
            <a:pPr marL="0" indent="0">
              <a:buNone/>
            </a:pPr>
            <a:r>
              <a:rPr lang="en-US" sz="1100" dirty="0">
                <a:solidFill>
                  <a:srgbClr val="1B2B34"/>
                </a:solidFill>
                <a:latin typeface="Calibri" pitchFamily="34" charset="0"/>
                <a:ea typeface="Calibri" pitchFamily="34" charset="-122"/>
                <a:cs typeface="Calibri" pitchFamily="34" charset="-120"/>
              </a:rPr>
              <a:t>Vendors send financials as PDF, Excel, Word and other formats.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2A3D"/>
                </a:solidFill>
                <a:latin typeface="Cambria" pitchFamily="34" charset="0"/>
                <a:ea typeface="Cambria" pitchFamily="34" charset="-122"/>
                <a:cs typeface="Cambria" pitchFamily="34" charset="-120"/>
              </a:rPr>
              <a:t>The Solution: What the Application Does</a:t>
            </a:r>
            <a:endParaRPr lang="en-US" sz="2800" dirty="0"/>
          </a:p>
        </p:txBody>
      </p:sp>
      <p:sp>
        <p:nvSpPr>
          <p:cNvPr id="3" name="Text 1"/>
          <p:cNvSpPr txBox="1"/>
          <p:nvPr/>
        </p:nvSpPr>
        <p:spPr>
          <a:xfrm>
            <a:off x="457200" y="4773168"/>
            <a:ext cx="7498080" cy="228600"/>
          </a:xfrm>
          <a:prstGeom prst="rect">
            <a:avLst/>
          </a:prstGeom>
          <a:noFill/>
          <a:ln/>
        </p:spPr>
        <p:txBody>
          <a:bodyPr wrap="square" lIns="0" tIns="0" rIns="0" bIns="0" rtlCol="0" anchor="ctr"/>
          <a:lstStyle/>
          <a:p>
            <a:pPr marL="0" indent="0">
              <a:buNone/>
            </a:pPr>
            <a:r>
              <a:rPr lang="en-US" sz="900" dirty="0">
                <a:solidFill>
                  <a:srgbClr val="5B6E77"/>
                </a:solidFill>
                <a:latin typeface="Calibri" pitchFamily="34" charset="0"/>
                <a:ea typeface="Calibri" pitchFamily="34" charset="-122"/>
                <a:cs typeface="Calibri" pitchFamily="34" charset="-120"/>
              </a:rPr>
              <a:t>Vendor Financial Health &amp; Credit Assessment  |  Ashok Jain  |  ICAI AI Level 2  |  Gurugram  |  Batch 89</a:t>
            </a:r>
            <a:endParaRPr lang="en-US" sz="900" dirty="0"/>
          </a:p>
        </p:txBody>
      </p:sp>
      <p:sp>
        <p:nvSpPr>
          <p:cNvPr id="4" name="Text 2"/>
          <p:cNvSpPr txBox="1"/>
          <p:nvPr/>
        </p:nvSpPr>
        <p:spPr>
          <a:xfrm>
            <a:off x="8229600" y="4773168"/>
            <a:ext cx="457200" cy="228600"/>
          </a:xfrm>
          <a:prstGeom prst="rect">
            <a:avLst/>
          </a:prstGeom>
          <a:noFill/>
          <a:ln/>
        </p:spPr>
        <p:txBody>
          <a:bodyPr wrap="square" lIns="0" tIns="0" rIns="0" bIns="0" rtlCol="0" anchor="ctr"/>
          <a:lstStyle/>
          <a:p>
            <a:pPr marL="0" indent="0" algn="r">
              <a:buNone/>
            </a:pPr>
            <a:r>
              <a:rPr lang="en-US" sz="900" dirty="0">
                <a:solidFill>
                  <a:srgbClr val="5B6E77"/>
                </a:solidFill>
                <a:latin typeface="Calibri" pitchFamily="34" charset="0"/>
                <a:ea typeface="Calibri" pitchFamily="34" charset="-122"/>
                <a:cs typeface="Calibri" pitchFamily="34" charset="-120"/>
              </a:rPr>
              <a:t>5</a:t>
            </a:r>
            <a:endParaRPr lang="en-US" sz="900" dirty="0"/>
          </a:p>
        </p:txBody>
      </p:sp>
      <p:sp>
        <p:nvSpPr>
          <p:cNvPr id="5" name="Text 3"/>
          <p:cNvSpPr txBox="1"/>
          <p:nvPr/>
        </p:nvSpPr>
        <p:spPr>
          <a:xfrm>
            <a:off x="457200" y="1051560"/>
            <a:ext cx="8229600" cy="640080"/>
          </a:xfrm>
          <a:prstGeom prst="rect">
            <a:avLst/>
          </a:prstGeom>
          <a:noFill/>
          <a:ln/>
        </p:spPr>
        <p:txBody>
          <a:bodyPr wrap="square" lIns="0" tIns="0" rIns="0" bIns="0" rtlCol="0" anchor="t"/>
          <a:lstStyle/>
          <a:p>
            <a:pPr marL="0" indent="0">
              <a:buNone/>
            </a:pPr>
            <a:r>
              <a:rPr lang="en-US" sz="1500" dirty="0">
                <a:solidFill>
                  <a:srgbClr val="1B2B34"/>
                </a:solidFill>
                <a:latin typeface="Calibri" pitchFamily="34" charset="0"/>
                <a:ea typeface="Calibri" pitchFamily="34" charset="-122"/>
                <a:cs typeface="Calibri" pitchFamily="34" charset="-120"/>
              </a:rPr>
              <a:t>A secure web application that turns uploaded vendor documents into a verified, explainable first-cut credit assessment.</a:t>
            </a:r>
            <a:endParaRPr lang="en-US" sz="1500" dirty="0"/>
          </a:p>
        </p:txBody>
      </p:sp>
      <p:sp>
        <p:nvSpPr>
          <p:cNvPr id="6" name="Shape 4"/>
          <p:cNvSpPr/>
          <p:nvPr/>
        </p:nvSpPr>
        <p:spPr>
          <a:xfrm>
            <a:off x="457200" y="1828800"/>
            <a:ext cx="1920240" cy="265176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7" name="Shape 5"/>
          <p:cNvSpPr/>
          <p:nvPr/>
        </p:nvSpPr>
        <p:spPr>
          <a:xfrm>
            <a:off x="1143000" y="2011680"/>
            <a:ext cx="548640" cy="548640"/>
          </a:xfrm>
          <a:prstGeom prst="ellipse">
            <a:avLst/>
          </a:prstGeom>
          <a:solidFill>
            <a:srgbClr val="0F7C8A"/>
          </a:solidFill>
          <a:ln w="12700">
            <a:solidFill>
              <a:srgbClr val="0F7C8A"/>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1280160" y="2148840"/>
            <a:ext cx="274320" cy="274320"/>
          </a:xfrm>
          <a:prstGeom prst="rect">
            <a:avLst/>
          </a:prstGeom>
        </p:spPr>
      </p:pic>
      <p:sp>
        <p:nvSpPr>
          <p:cNvPr id="9" name="Text 6"/>
          <p:cNvSpPr txBox="1"/>
          <p:nvPr/>
        </p:nvSpPr>
        <p:spPr>
          <a:xfrm>
            <a:off x="594360" y="2697480"/>
            <a:ext cx="1645920" cy="457200"/>
          </a:xfrm>
          <a:prstGeom prst="rect">
            <a:avLst/>
          </a:prstGeom>
          <a:noFill/>
          <a:ln/>
        </p:spPr>
        <p:txBody>
          <a:bodyPr wrap="square" lIns="0" tIns="0" rIns="0" bIns="0" rtlCol="0" anchor="ctr"/>
          <a:lstStyle/>
          <a:p>
            <a:pPr marL="0" indent="0" algn="ctr">
              <a:buNone/>
            </a:pPr>
            <a:r>
              <a:rPr lang="en-US" sz="1400" b="1" dirty="0">
                <a:solidFill>
                  <a:srgbClr val="0B2A3D"/>
                </a:solidFill>
                <a:latin typeface="Calibri" pitchFamily="34" charset="0"/>
                <a:ea typeface="Calibri" pitchFamily="34" charset="-122"/>
                <a:cs typeface="Calibri" pitchFamily="34" charset="-120"/>
              </a:rPr>
              <a:t>Read</a:t>
            </a:r>
            <a:endParaRPr lang="en-US" sz="1400" dirty="0"/>
          </a:p>
        </p:txBody>
      </p:sp>
      <p:sp>
        <p:nvSpPr>
          <p:cNvPr id="10" name="Text 7"/>
          <p:cNvSpPr txBox="1"/>
          <p:nvPr/>
        </p:nvSpPr>
        <p:spPr>
          <a:xfrm>
            <a:off x="594360" y="3200400"/>
            <a:ext cx="1645920" cy="1234440"/>
          </a:xfrm>
          <a:prstGeom prst="rect">
            <a:avLst/>
          </a:prstGeom>
          <a:noFill/>
          <a:ln/>
        </p:spPr>
        <p:txBody>
          <a:bodyPr wrap="square" lIns="0" tIns="0" rIns="0" bIns="0" rtlCol="0" anchor="t"/>
          <a:lstStyle/>
          <a:p>
            <a:pPr marL="0" indent="0">
              <a:buNone/>
            </a:pPr>
            <a:r>
              <a:rPr lang="en-US" sz="1100" dirty="0">
                <a:solidFill>
                  <a:srgbClr val="1B2B34"/>
                </a:solidFill>
                <a:latin typeface="Calibri" pitchFamily="34" charset="0"/>
                <a:ea typeface="Calibri" pitchFamily="34" charset="-122"/>
                <a:cs typeface="Calibri" pitchFamily="34" charset="-120"/>
              </a:rPr>
              <a:t>PDF, Excel, Word, CSV, text or scanned images. The vendor is identified from the documents.</a:t>
            </a:r>
            <a:endParaRPr lang="en-US" sz="1100" dirty="0"/>
          </a:p>
        </p:txBody>
      </p:sp>
      <p:sp>
        <p:nvSpPr>
          <p:cNvPr id="11" name="Shape 8"/>
          <p:cNvSpPr/>
          <p:nvPr/>
        </p:nvSpPr>
        <p:spPr>
          <a:xfrm>
            <a:off x="2560320" y="1828800"/>
            <a:ext cx="1920240" cy="265176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12" name="Shape 9"/>
          <p:cNvSpPr/>
          <p:nvPr/>
        </p:nvSpPr>
        <p:spPr>
          <a:xfrm>
            <a:off x="3246120" y="2011680"/>
            <a:ext cx="548640" cy="548640"/>
          </a:xfrm>
          <a:prstGeom prst="ellipse">
            <a:avLst/>
          </a:prstGeom>
          <a:solidFill>
            <a:srgbClr val="0F7C8A"/>
          </a:solidFill>
          <a:ln w="12700">
            <a:solidFill>
              <a:srgbClr val="0F7C8A"/>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3383280" y="2148840"/>
            <a:ext cx="274320" cy="274320"/>
          </a:xfrm>
          <a:prstGeom prst="rect">
            <a:avLst/>
          </a:prstGeom>
        </p:spPr>
      </p:pic>
      <p:sp>
        <p:nvSpPr>
          <p:cNvPr id="14" name="Text 10"/>
          <p:cNvSpPr txBox="1"/>
          <p:nvPr/>
        </p:nvSpPr>
        <p:spPr>
          <a:xfrm>
            <a:off x="2697480" y="2697480"/>
            <a:ext cx="1645920" cy="457200"/>
          </a:xfrm>
          <a:prstGeom prst="rect">
            <a:avLst/>
          </a:prstGeom>
          <a:noFill/>
          <a:ln/>
        </p:spPr>
        <p:txBody>
          <a:bodyPr wrap="square" lIns="0" tIns="0" rIns="0" bIns="0" rtlCol="0" anchor="ctr"/>
          <a:lstStyle/>
          <a:p>
            <a:pPr marL="0" indent="0" algn="ctr">
              <a:buNone/>
            </a:pPr>
            <a:r>
              <a:rPr lang="en-US" sz="1400" b="1" dirty="0">
                <a:solidFill>
                  <a:srgbClr val="0B2A3D"/>
                </a:solidFill>
                <a:latin typeface="Calibri" pitchFamily="34" charset="0"/>
                <a:ea typeface="Calibri" pitchFamily="34" charset="-122"/>
                <a:cs typeface="Calibri" pitchFamily="34" charset="-120"/>
              </a:rPr>
              <a:t>Verify</a:t>
            </a:r>
            <a:endParaRPr lang="en-US" sz="1400" dirty="0"/>
          </a:p>
        </p:txBody>
      </p:sp>
      <p:sp>
        <p:nvSpPr>
          <p:cNvPr id="15" name="Text 11"/>
          <p:cNvSpPr txBox="1"/>
          <p:nvPr/>
        </p:nvSpPr>
        <p:spPr>
          <a:xfrm>
            <a:off x="2697480" y="3200400"/>
            <a:ext cx="1645920" cy="1234440"/>
          </a:xfrm>
          <a:prstGeom prst="rect">
            <a:avLst/>
          </a:prstGeom>
          <a:noFill/>
          <a:ln/>
        </p:spPr>
        <p:txBody>
          <a:bodyPr wrap="square" lIns="0" tIns="0" rIns="0" bIns="0" rtlCol="0" anchor="t"/>
          <a:lstStyle/>
          <a:p>
            <a:pPr marL="0" indent="0">
              <a:buNone/>
            </a:pPr>
            <a:r>
              <a:rPr lang="en-US" sz="1100" dirty="0">
                <a:solidFill>
                  <a:srgbClr val="1B2B34"/>
                </a:solidFill>
                <a:latin typeface="Calibri" pitchFamily="34" charset="0"/>
                <a:ea typeface="Calibri" pitchFamily="34" charset="-122"/>
                <a:cs typeface="Calibri" pitchFamily="34" charset="-120"/>
              </a:rPr>
              <a:t>Extracted figures appear in an editable table with source references. Corrections are tracked.</a:t>
            </a:r>
            <a:endParaRPr lang="en-US" sz="1100" dirty="0"/>
          </a:p>
        </p:txBody>
      </p:sp>
      <p:sp>
        <p:nvSpPr>
          <p:cNvPr id="16" name="Shape 12"/>
          <p:cNvSpPr/>
          <p:nvPr/>
        </p:nvSpPr>
        <p:spPr>
          <a:xfrm>
            <a:off x="4663440" y="1828800"/>
            <a:ext cx="1920240" cy="265176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3"/>
          <p:cNvSpPr/>
          <p:nvPr/>
        </p:nvSpPr>
        <p:spPr>
          <a:xfrm>
            <a:off x="5349240" y="2011680"/>
            <a:ext cx="548640" cy="548640"/>
          </a:xfrm>
          <a:prstGeom prst="ellipse">
            <a:avLst/>
          </a:prstGeom>
          <a:solidFill>
            <a:srgbClr val="0F7C8A"/>
          </a:solidFill>
          <a:ln w="12700">
            <a:solidFill>
              <a:srgbClr val="0F7C8A"/>
            </a:solidFill>
            <a:prstDash val="solid"/>
          </a:ln>
        </p:spPr>
        <p:txBody>
          <a:bodyPr/>
          <a:lstStyle/>
          <a:p>
            <a:endParaRPr lang="en-US"/>
          </a:p>
        </p:txBody>
      </p:sp>
      <p:pic>
        <p:nvPicPr>
          <p:cNvPr id="18" name="Image 2" descr="preencoded.png"/>
          <p:cNvPicPr>
            <a:picLocks noChangeAspect="1"/>
          </p:cNvPicPr>
          <p:nvPr/>
        </p:nvPicPr>
        <p:blipFill>
          <a:blip r:embed="rId5"/>
          <a:stretch>
            <a:fillRect/>
          </a:stretch>
        </p:blipFill>
        <p:spPr>
          <a:xfrm>
            <a:off x="5486400" y="2148840"/>
            <a:ext cx="274320" cy="274320"/>
          </a:xfrm>
          <a:prstGeom prst="rect">
            <a:avLst/>
          </a:prstGeom>
        </p:spPr>
      </p:pic>
      <p:sp>
        <p:nvSpPr>
          <p:cNvPr id="19" name="Text 14"/>
          <p:cNvSpPr txBox="1"/>
          <p:nvPr/>
        </p:nvSpPr>
        <p:spPr>
          <a:xfrm>
            <a:off x="4800600" y="2697480"/>
            <a:ext cx="1645920" cy="457200"/>
          </a:xfrm>
          <a:prstGeom prst="rect">
            <a:avLst/>
          </a:prstGeom>
          <a:noFill/>
          <a:ln/>
        </p:spPr>
        <p:txBody>
          <a:bodyPr wrap="square" lIns="0" tIns="0" rIns="0" bIns="0" rtlCol="0" anchor="ctr"/>
          <a:lstStyle/>
          <a:p>
            <a:pPr marL="0" indent="0" algn="ctr">
              <a:buNone/>
            </a:pPr>
            <a:r>
              <a:rPr lang="en-US" sz="1400" b="1" dirty="0">
                <a:solidFill>
                  <a:srgbClr val="0B2A3D"/>
                </a:solidFill>
                <a:latin typeface="Calibri" pitchFamily="34" charset="0"/>
                <a:ea typeface="Calibri" pitchFamily="34" charset="-122"/>
                <a:cs typeface="Calibri" pitchFamily="34" charset="-120"/>
              </a:rPr>
              <a:t>Analyse</a:t>
            </a:r>
            <a:endParaRPr lang="en-US" sz="1400" dirty="0"/>
          </a:p>
        </p:txBody>
      </p:sp>
      <p:sp>
        <p:nvSpPr>
          <p:cNvPr id="20" name="Text 15"/>
          <p:cNvSpPr txBox="1"/>
          <p:nvPr/>
        </p:nvSpPr>
        <p:spPr>
          <a:xfrm>
            <a:off x="4800600" y="3200400"/>
            <a:ext cx="1645920" cy="1234440"/>
          </a:xfrm>
          <a:prstGeom prst="rect">
            <a:avLst/>
          </a:prstGeom>
          <a:noFill/>
          <a:ln/>
        </p:spPr>
        <p:txBody>
          <a:bodyPr wrap="square" lIns="0" tIns="0" rIns="0" bIns="0" rtlCol="0" anchor="t"/>
          <a:lstStyle/>
          <a:p>
            <a:pPr marL="0" indent="0">
              <a:buNone/>
            </a:pPr>
            <a:r>
              <a:rPr lang="en-US" sz="1100" dirty="0">
                <a:solidFill>
                  <a:srgbClr val="1B2B34"/>
                </a:solidFill>
                <a:latin typeface="Calibri" pitchFamily="34" charset="0"/>
                <a:ea typeface="Calibri" pitchFamily="34" charset="-122"/>
                <a:cs typeface="Calibri" pitchFamily="34" charset="-120"/>
              </a:rPr>
              <a:t>25 ratios, year-on-year comparison, SWOT, red flags and a transparent score out of 100.</a:t>
            </a:r>
            <a:endParaRPr lang="en-US" sz="1100" dirty="0"/>
          </a:p>
        </p:txBody>
      </p:sp>
      <p:sp>
        <p:nvSpPr>
          <p:cNvPr id="21" name="Shape 16"/>
          <p:cNvSpPr/>
          <p:nvPr/>
        </p:nvSpPr>
        <p:spPr>
          <a:xfrm>
            <a:off x="6766560" y="1828800"/>
            <a:ext cx="1920240" cy="265176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22" name="Shape 17"/>
          <p:cNvSpPr/>
          <p:nvPr/>
        </p:nvSpPr>
        <p:spPr>
          <a:xfrm>
            <a:off x="7452360" y="2011680"/>
            <a:ext cx="548640" cy="548640"/>
          </a:xfrm>
          <a:prstGeom prst="ellipse">
            <a:avLst/>
          </a:prstGeom>
          <a:solidFill>
            <a:srgbClr val="0F7C8A"/>
          </a:solidFill>
          <a:ln w="12700">
            <a:solidFill>
              <a:srgbClr val="0F7C8A"/>
            </a:solidFill>
            <a:prstDash val="solid"/>
          </a:ln>
        </p:spPr>
        <p:txBody>
          <a:bodyPr/>
          <a:lstStyle/>
          <a:p>
            <a:endParaRPr lang="en-US"/>
          </a:p>
        </p:txBody>
      </p:sp>
      <p:pic>
        <p:nvPicPr>
          <p:cNvPr id="23" name="Image 3" descr="preencoded.png"/>
          <p:cNvPicPr>
            <a:picLocks noChangeAspect="1"/>
          </p:cNvPicPr>
          <p:nvPr/>
        </p:nvPicPr>
        <p:blipFill>
          <a:blip r:embed="rId6"/>
          <a:stretch>
            <a:fillRect/>
          </a:stretch>
        </p:blipFill>
        <p:spPr>
          <a:xfrm>
            <a:off x="7589520" y="2148840"/>
            <a:ext cx="274320" cy="274320"/>
          </a:xfrm>
          <a:prstGeom prst="rect">
            <a:avLst/>
          </a:prstGeom>
        </p:spPr>
      </p:pic>
      <p:sp>
        <p:nvSpPr>
          <p:cNvPr id="24" name="Text 18"/>
          <p:cNvSpPr txBox="1"/>
          <p:nvPr/>
        </p:nvSpPr>
        <p:spPr>
          <a:xfrm>
            <a:off x="6903720" y="2697480"/>
            <a:ext cx="1645920" cy="457200"/>
          </a:xfrm>
          <a:prstGeom prst="rect">
            <a:avLst/>
          </a:prstGeom>
          <a:noFill/>
          <a:ln/>
        </p:spPr>
        <p:txBody>
          <a:bodyPr wrap="square" lIns="0" tIns="0" rIns="0" bIns="0" rtlCol="0" anchor="ctr"/>
          <a:lstStyle/>
          <a:p>
            <a:pPr marL="0" indent="0" algn="ctr">
              <a:buNone/>
            </a:pPr>
            <a:r>
              <a:rPr lang="en-US" sz="1400" b="1" dirty="0">
                <a:solidFill>
                  <a:srgbClr val="0B2A3D"/>
                </a:solidFill>
                <a:latin typeface="Calibri" pitchFamily="34" charset="0"/>
                <a:ea typeface="Calibri" pitchFamily="34" charset="-122"/>
                <a:cs typeface="Calibri" pitchFamily="34" charset="-120"/>
              </a:rPr>
              <a:t>Recommend &amp; report</a:t>
            </a:r>
            <a:endParaRPr lang="en-US" sz="1400" dirty="0"/>
          </a:p>
        </p:txBody>
      </p:sp>
      <p:sp>
        <p:nvSpPr>
          <p:cNvPr id="25" name="Text 19"/>
          <p:cNvSpPr txBox="1"/>
          <p:nvPr/>
        </p:nvSpPr>
        <p:spPr>
          <a:xfrm>
            <a:off x="6903720" y="3200400"/>
            <a:ext cx="1645920" cy="1234440"/>
          </a:xfrm>
          <a:prstGeom prst="rect">
            <a:avLst/>
          </a:prstGeom>
          <a:noFill/>
          <a:ln/>
        </p:spPr>
        <p:txBody>
          <a:bodyPr wrap="square" lIns="0" tIns="0" rIns="0" bIns="0" rtlCol="0" anchor="t"/>
          <a:lstStyle/>
          <a:p>
            <a:pPr marL="0" indent="0">
              <a:buNone/>
            </a:pPr>
            <a:r>
              <a:rPr lang="en-US" sz="1100" dirty="0">
                <a:solidFill>
                  <a:srgbClr val="1B2B34"/>
                </a:solidFill>
                <a:latin typeface="Calibri" pitchFamily="34" charset="0"/>
                <a:ea typeface="Calibri" pitchFamily="34" charset="-122"/>
                <a:cs typeface="Calibri" pitchFamily="34" charset="-120"/>
              </a:rPr>
              <a:t>Credit limit and period with rationale, finance approval and a report in four formats.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2A3D"/>
                </a:solidFill>
                <a:latin typeface="Cambria" pitchFamily="34" charset="0"/>
                <a:ea typeface="Cambria" pitchFamily="34" charset="-122"/>
                <a:cs typeface="Cambria" pitchFamily="34" charset="-120"/>
              </a:rPr>
              <a:t>How I Built It: Step by Step</a:t>
            </a:r>
            <a:endParaRPr lang="en-US" sz="2800" dirty="0"/>
          </a:p>
        </p:txBody>
      </p:sp>
      <p:sp>
        <p:nvSpPr>
          <p:cNvPr id="3" name="Text 1"/>
          <p:cNvSpPr txBox="1"/>
          <p:nvPr/>
        </p:nvSpPr>
        <p:spPr>
          <a:xfrm>
            <a:off x="457200" y="4773168"/>
            <a:ext cx="7498080" cy="228600"/>
          </a:xfrm>
          <a:prstGeom prst="rect">
            <a:avLst/>
          </a:prstGeom>
          <a:noFill/>
          <a:ln/>
        </p:spPr>
        <p:txBody>
          <a:bodyPr wrap="square" lIns="0" tIns="0" rIns="0" bIns="0" rtlCol="0" anchor="ctr"/>
          <a:lstStyle/>
          <a:p>
            <a:pPr marL="0" indent="0">
              <a:buNone/>
            </a:pPr>
            <a:r>
              <a:rPr lang="en-US" sz="900" dirty="0">
                <a:solidFill>
                  <a:srgbClr val="5B6E77"/>
                </a:solidFill>
                <a:latin typeface="Calibri" pitchFamily="34" charset="0"/>
                <a:ea typeface="Calibri" pitchFamily="34" charset="-122"/>
                <a:cs typeface="Calibri" pitchFamily="34" charset="-120"/>
              </a:rPr>
              <a:t>Vendor Financial Health &amp; Credit Assessment  |  Ashok Jain  |  ICAI AI Level 2  |  Gurugram  |  Batch 89</a:t>
            </a:r>
            <a:endParaRPr lang="en-US" sz="900" dirty="0"/>
          </a:p>
        </p:txBody>
      </p:sp>
      <p:sp>
        <p:nvSpPr>
          <p:cNvPr id="4" name="Text 2"/>
          <p:cNvSpPr txBox="1"/>
          <p:nvPr/>
        </p:nvSpPr>
        <p:spPr>
          <a:xfrm>
            <a:off x="8229600" y="4773168"/>
            <a:ext cx="457200" cy="228600"/>
          </a:xfrm>
          <a:prstGeom prst="rect">
            <a:avLst/>
          </a:prstGeom>
          <a:noFill/>
          <a:ln/>
        </p:spPr>
        <p:txBody>
          <a:bodyPr wrap="square" lIns="0" tIns="0" rIns="0" bIns="0" rtlCol="0" anchor="ctr"/>
          <a:lstStyle/>
          <a:p>
            <a:pPr marL="0" indent="0" algn="r">
              <a:buNone/>
            </a:pPr>
            <a:r>
              <a:rPr lang="en-US" sz="900" dirty="0">
                <a:solidFill>
                  <a:srgbClr val="5B6E77"/>
                </a:solidFill>
                <a:latin typeface="Calibri" pitchFamily="34" charset="0"/>
                <a:ea typeface="Calibri" pitchFamily="34" charset="-122"/>
                <a:cs typeface="Calibri" pitchFamily="34" charset="-120"/>
              </a:rPr>
              <a:t>6</a:t>
            </a:r>
            <a:endParaRPr lang="en-US" sz="900" dirty="0"/>
          </a:p>
        </p:txBody>
      </p:sp>
      <p:sp>
        <p:nvSpPr>
          <p:cNvPr id="5" name="Shape 3"/>
          <p:cNvSpPr/>
          <p:nvPr/>
        </p:nvSpPr>
        <p:spPr>
          <a:xfrm>
            <a:off x="457200" y="1097280"/>
            <a:ext cx="1920240" cy="155448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6" name="Shape 4"/>
          <p:cNvSpPr/>
          <p:nvPr/>
        </p:nvSpPr>
        <p:spPr>
          <a:xfrm>
            <a:off x="594360" y="1234440"/>
            <a:ext cx="365760" cy="365760"/>
          </a:xfrm>
          <a:prstGeom prst="ellipse">
            <a:avLst/>
          </a:prstGeom>
          <a:solidFill>
            <a:srgbClr val="0F7C8A"/>
          </a:solidFill>
          <a:ln w="12700">
            <a:solidFill>
              <a:srgbClr val="FFFFFF"/>
            </a:solidFill>
            <a:prstDash val="solid"/>
          </a:ln>
        </p:spPr>
        <p:txBody>
          <a:bodyPr/>
          <a:lstStyle/>
          <a:p>
            <a:endParaRPr lang="en-US"/>
          </a:p>
        </p:txBody>
      </p:sp>
      <p:sp>
        <p:nvSpPr>
          <p:cNvPr id="7" name="Text 5"/>
          <p:cNvSpPr txBox="1"/>
          <p:nvPr/>
        </p:nvSpPr>
        <p:spPr>
          <a:xfrm>
            <a:off x="594360" y="1234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51560" y="1207008"/>
            <a:ext cx="1234440" cy="420624"/>
          </a:xfrm>
          <a:prstGeom prst="rect">
            <a:avLst/>
          </a:prstGeom>
          <a:noFill/>
          <a:ln/>
        </p:spPr>
        <p:txBody>
          <a:bodyPr wrap="square" lIns="0" tIns="0" rIns="0" bIns="0" rtlCol="0" anchor="ctr"/>
          <a:lstStyle/>
          <a:p>
            <a:pPr marL="0" indent="0">
              <a:buNone/>
            </a:pPr>
            <a:r>
              <a:rPr lang="en-US" sz="1200" b="1" dirty="0">
                <a:solidFill>
                  <a:srgbClr val="0B2A3D"/>
                </a:solidFill>
                <a:latin typeface="Calibri" pitchFamily="34" charset="0"/>
                <a:ea typeface="Calibri" pitchFamily="34" charset="-122"/>
                <a:cs typeface="Calibri" pitchFamily="34" charset="-120"/>
              </a:rPr>
              <a:t>Master prompt</a:t>
            </a:r>
            <a:endParaRPr lang="en-US" sz="1200" dirty="0"/>
          </a:p>
        </p:txBody>
      </p:sp>
      <p:sp>
        <p:nvSpPr>
          <p:cNvPr id="9" name="Text 7"/>
          <p:cNvSpPr txBox="1"/>
          <p:nvPr/>
        </p:nvSpPr>
        <p:spPr>
          <a:xfrm>
            <a:off x="594360" y="1755648"/>
            <a:ext cx="1691640" cy="868680"/>
          </a:xfrm>
          <a:prstGeom prst="rect">
            <a:avLst/>
          </a:prstGeom>
          <a:noFill/>
          <a:ln/>
        </p:spPr>
        <p:txBody>
          <a:bodyPr wrap="square" lIns="0" tIns="0" rIns="0" bIns="0" rtlCol="0" anchor="t"/>
          <a:lstStyle/>
          <a:p>
            <a:pPr marL="0" indent="0">
              <a:buNone/>
            </a:pPr>
            <a:r>
              <a:rPr lang="en-US" sz="1050" dirty="0">
                <a:solidFill>
                  <a:srgbClr val="1B2B34"/>
                </a:solidFill>
                <a:latin typeface="Calibri" pitchFamily="34" charset="0"/>
                <a:ea typeface="Calibri" pitchFamily="34" charset="-122"/>
                <a:cs typeface="Calibri" pitchFamily="34" charset="-120"/>
              </a:rPr>
              <a:t>One detailed brief: users, roles, security, scoring model, credit rules and report design.</a:t>
            </a:r>
            <a:endParaRPr lang="en-US" sz="1050" dirty="0"/>
          </a:p>
        </p:txBody>
      </p:sp>
      <p:sp>
        <p:nvSpPr>
          <p:cNvPr id="10" name="Shape 8"/>
          <p:cNvSpPr/>
          <p:nvPr/>
        </p:nvSpPr>
        <p:spPr>
          <a:xfrm>
            <a:off x="2560320" y="1097280"/>
            <a:ext cx="1920240" cy="155448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11" name="Shape 9"/>
          <p:cNvSpPr/>
          <p:nvPr/>
        </p:nvSpPr>
        <p:spPr>
          <a:xfrm>
            <a:off x="2697480" y="1234440"/>
            <a:ext cx="365760" cy="365760"/>
          </a:xfrm>
          <a:prstGeom prst="ellipse">
            <a:avLst/>
          </a:prstGeom>
          <a:solidFill>
            <a:srgbClr val="0F7C8A"/>
          </a:solidFill>
          <a:ln w="12700">
            <a:solidFill>
              <a:srgbClr val="FFFFFF"/>
            </a:solidFill>
            <a:prstDash val="solid"/>
          </a:ln>
        </p:spPr>
        <p:txBody>
          <a:bodyPr/>
          <a:lstStyle/>
          <a:p>
            <a:endParaRPr lang="en-US"/>
          </a:p>
        </p:txBody>
      </p:sp>
      <p:sp>
        <p:nvSpPr>
          <p:cNvPr id="12" name="Text 10"/>
          <p:cNvSpPr txBox="1"/>
          <p:nvPr/>
        </p:nvSpPr>
        <p:spPr>
          <a:xfrm>
            <a:off x="2697480" y="1234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txBox="1"/>
          <p:nvPr/>
        </p:nvSpPr>
        <p:spPr>
          <a:xfrm>
            <a:off x="3154680" y="1207008"/>
            <a:ext cx="1234440" cy="420624"/>
          </a:xfrm>
          <a:prstGeom prst="rect">
            <a:avLst/>
          </a:prstGeom>
          <a:noFill/>
          <a:ln/>
        </p:spPr>
        <p:txBody>
          <a:bodyPr wrap="square" lIns="0" tIns="0" rIns="0" bIns="0" rtlCol="0" anchor="ctr"/>
          <a:lstStyle/>
          <a:p>
            <a:pPr marL="0" indent="0">
              <a:buNone/>
            </a:pPr>
            <a:r>
              <a:rPr lang="en-US" sz="1200" b="1" dirty="0">
                <a:solidFill>
                  <a:srgbClr val="0B2A3D"/>
                </a:solidFill>
                <a:latin typeface="Calibri" pitchFamily="34" charset="0"/>
                <a:ea typeface="Calibri" pitchFamily="34" charset="-122"/>
                <a:cs typeface="Calibri" pitchFamily="34" charset="-120"/>
              </a:rPr>
              <a:t>Phase 1: Foundation</a:t>
            </a:r>
            <a:endParaRPr lang="en-US" sz="1200" dirty="0"/>
          </a:p>
        </p:txBody>
      </p:sp>
      <p:sp>
        <p:nvSpPr>
          <p:cNvPr id="14" name="Text 12"/>
          <p:cNvSpPr txBox="1"/>
          <p:nvPr/>
        </p:nvSpPr>
        <p:spPr>
          <a:xfrm>
            <a:off x="2697480" y="1755648"/>
            <a:ext cx="1691640" cy="868680"/>
          </a:xfrm>
          <a:prstGeom prst="rect">
            <a:avLst/>
          </a:prstGeom>
          <a:noFill/>
          <a:ln/>
        </p:spPr>
        <p:txBody>
          <a:bodyPr wrap="square" lIns="0" tIns="0" rIns="0" bIns="0" rtlCol="0" anchor="t"/>
          <a:lstStyle/>
          <a:p>
            <a:pPr marL="0" indent="0">
              <a:buNone/>
            </a:pPr>
            <a:r>
              <a:rPr lang="en-US" sz="1050" dirty="0">
                <a:solidFill>
                  <a:srgbClr val="1B2B34"/>
                </a:solidFill>
                <a:latin typeface="Calibri" pitchFamily="34" charset="0"/>
                <a:ea typeface="Calibri" pitchFamily="34" charset="-122"/>
                <a:cs typeface="Calibri" pitchFamily="34" charset="-120"/>
              </a:rPr>
              <a:t>Database, secure login, roles, admin user creation and private document storage.</a:t>
            </a:r>
            <a:endParaRPr lang="en-US" sz="1050" dirty="0"/>
          </a:p>
        </p:txBody>
      </p:sp>
      <p:sp>
        <p:nvSpPr>
          <p:cNvPr id="15" name="Shape 13"/>
          <p:cNvSpPr/>
          <p:nvPr/>
        </p:nvSpPr>
        <p:spPr>
          <a:xfrm>
            <a:off x="4663440" y="1097280"/>
            <a:ext cx="1920240" cy="155448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16" name="Shape 14"/>
          <p:cNvSpPr/>
          <p:nvPr/>
        </p:nvSpPr>
        <p:spPr>
          <a:xfrm>
            <a:off x="4800600" y="1234440"/>
            <a:ext cx="365760" cy="365760"/>
          </a:xfrm>
          <a:prstGeom prst="ellipse">
            <a:avLst/>
          </a:prstGeom>
          <a:solidFill>
            <a:srgbClr val="0F7C8A"/>
          </a:solidFill>
          <a:ln w="12700">
            <a:solidFill>
              <a:srgbClr val="FFFFFF"/>
            </a:solidFill>
            <a:prstDash val="solid"/>
          </a:ln>
        </p:spPr>
        <p:txBody>
          <a:bodyPr/>
          <a:lstStyle/>
          <a:p>
            <a:endParaRPr lang="en-US"/>
          </a:p>
        </p:txBody>
      </p:sp>
      <p:sp>
        <p:nvSpPr>
          <p:cNvPr id="17" name="Text 15"/>
          <p:cNvSpPr txBox="1"/>
          <p:nvPr/>
        </p:nvSpPr>
        <p:spPr>
          <a:xfrm>
            <a:off x="4800600" y="1234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txBox="1"/>
          <p:nvPr/>
        </p:nvSpPr>
        <p:spPr>
          <a:xfrm>
            <a:off x="5257800" y="1207008"/>
            <a:ext cx="1234440" cy="420624"/>
          </a:xfrm>
          <a:prstGeom prst="rect">
            <a:avLst/>
          </a:prstGeom>
          <a:noFill/>
          <a:ln/>
        </p:spPr>
        <p:txBody>
          <a:bodyPr wrap="square" lIns="0" tIns="0" rIns="0" bIns="0" rtlCol="0" anchor="ctr"/>
          <a:lstStyle/>
          <a:p>
            <a:pPr marL="0" indent="0">
              <a:buNone/>
            </a:pPr>
            <a:r>
              <a:rPr lang="en-US" sz="1200" b="1" dirty="0">
                <a:solidFill>
                  <a:srgbClr val="0B2A3D"/>
                </a:solidFill>
                <a:latin typeface="Calibri" pitchFamily="34" charset="0"/>
                <a:ea typeface="Calibri" pitchFamily="34" charset="-122"/>
                <a:cs typeface="Calibri" pitchFamily="34" charset="-120"/>
              </a:rPr>
              <a:t>Phase 2: Extraction</a:t>
            </a:r>
            <a:endParaRPr lang="en-US" sz="1200" dirty="0"/>
          </a:p>
        </p:txBody>
      </p:sp>
      <p:sp>
        <p:nvSpPr>
          <p:cNvPr id="19" name="Text 17"/>
          <p:cNvSpPr txBox="1"/>
          <p:nvPr/>
        </p:nvSpPr>
        <p:spPr>
          <a:xfrm>
            <a:off x="4800600" y="1755648"/>
            <a:ext cx="1691640" cy="868680"/>
          </a:xfrm>
          <a:prstGeom prst="rect">
            <a:avLst/>
          </a:prstGeom>
          <a:noFill/>
          <a:ln/>
        </p:spPr>
        <p:txBody>
          <a:bodyPr wrap="square" lIns="0" tIns="0" rIns="0" bIns="0" rtlCol="0" anchor="t"/>
          <a:lstStyle/>
          <a:p>
            <a:pPr marL="0" indent="0">
              <a:buNone/>
            </a:pPr>
            <a:r>
              <a:rPr lang="en-US" sz="1050" dirty="0">
                <a:solidFill>
                  <a:srgbClr val="1B2B34"/>
                </a:solidFill>
                <a:latin typeface="Calibri" pitchFamily="34" charset="0"/>
                <a:ea typeface="Calibri" pitchFamily="34" charset="-122"/>
                <a:cs typeface="Calibri" pitchFamily="34" charset="-120"/>
              </a:rPr>
              <a:t>Document reading, figure capture with source references and human review.</a:t>
            </a:r>
            <a:endParaRPr lang="en-US" sz="1050" dirty="0"/>
          </a:p>
        </p:txBody>
      </p:sp>
      <p:sp>
        <p:nvSpPr>
          <p:cNvPr id="20" name="Shape 18"/>
          <p:cNvSpPr/>
          <p:nvPr/>
        </p:nvSpPr>
        <p:spPr>
          <a:xfrm>
            <a:off x="6766560" y="1097280"/>
            <a:ext cx="1920240" cy="155448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21" name="Shape 19"/>
          <p:cNvSpPr/>
          <p:nvPr/>
        </p:nvSpPr>
        <p:spPr>
          <a:xfrm>
            <a:off x="6903720" y="1234440"/>
            <a:ext cx="365760" cy="365760"/>
          </a:xfrm>
          <a:prstGeom prst="ellipse">
            <a:avLst/>
          </a:prstGeom>
          <a:solidFill>
            <a:srgbClr val="0F7C8A"/>
          </a:solidFill>
          <a:ln w="12700">
            <a:solidFill>
              <a:srgbClr val="FFFFFF"/>
            </a:solidFill>
            <a:prstDash val="solid"/>
          </a:ln>
        </p:spPr>
        <p:txBody>
          <a:bodyPr/>
          <a:lstStyle/>
          <a:p>
            <a:endParaRPr lang="en-US"/>
          </a:p>
        </p:txBody>
      </p:sp>
      <p:sp>
        <p:nvSpPr>
          <p:cNvPr id="22" name="Text 20"/>
          <p:cNvSpPr txBox="1"/>
          <p:nvPr/>
        </p:nvSpPr>
        <p:spPr>
          <a:xfrm>
            <a:off x="6903720" y="1234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3" name="Text 21"/>
          <p:cNvSpPr txBox="1"/>
          <p:nvPr/>
        </p:nvSpPr>
        <p:spPr>
          <a:xfrm>
            <a:off x="7360920" y="1207008"/>
            <a:ext cx="1234440" cy="420624"/>
          </a:xfrm>
          <a:prstGeom prst="rect">
            <a:avLst/>
          </a:prstGeom>
          <a:noFill/>
          <a:ln/>
        </p:spPr>
        <p:txBody>
          <a:bodyPr wrap="square" lIns="0" tIns="0" rIns="0" bIns="0" rtlCol="0" anchor="ctr"/>
          <a:lstStyle/>
          <a:p>
            <a:pPr marL="0" indent="0">
              <a:buNone/>
            </a:pPr>
            <a:r>
              <a:rPr lang="en-US" sz="1200" b="1" dirty="0">
                <a:solidFill>
                  <a:srgbClr val="0B2A3D"/>
                </a:solidFill>
                <a:latin typeface="Calibri" pitchFamily="34" charset="0"/>
                <a:ea typeface="Calibri" pitchFamily="34" charset="-122"/>
                <a:cs typeface="Calibri" pitchFamily="34" charset="-120"/>
              </a:rPr>
              <a:t>Phase 3: Analysis</a:t>
            </a:r>
            <a:endParaRPr lang="en-US" sz="1200" dirty="0"/>
          </a:p>
        </p:txBody>
      </p:sp>
      <p:sp>
        <p:nvSpPr>
          <p:cNvPr id="24" name="Text 22"/>
          <p:cNvSpPr txBox="1"/>
          <p:nvPr/>
        </p:nvSpPr>
        <p:spPr>
          <a:xfrm>
            <a:off x="6903720" y="1755648"/>
            <a:ext cx="1691640" cy="868680"/>
          </a:xfrm>
          <a:prstGeom prst="rect">
            <a:avLst/>
          </a:prstGeom>
          <a:noFill/>
          <a:ln/>
        </p:spPr>
        <p:txBody>
          <a:bodyPr wrap="square" lIns="0" tIns="0" rIns="0" bIns="0" rtlCol="0" anchor="t"/>
          <a:lstStyle/>
          <a:p>
            <a:pPr marL="0" indent="0">
              <a:buNone/>
            </a:pPr>
            <a:r>
              <a:rPr lang="en-US" sz="1050" dirty="0">
                <a:solidFill>
                  <a:srgbClr val="1B2B34"/>
                </a:solidFill>
                <a:latin typeface="Calibri" pitchFamily="34" charset="0"/>
                <a:ea typeface="Calibri" pitchFamily="34" charset="-122"/>
                <a:cs typeface="Calibri" pitchFamily="34" charset="-120"/>
              </a:rPr>
              <a:t>Ratios, red flags, SWOT, weighted score and rule-based credit recommendation.</a:t>
            </a:r>
            <a:endParaRPr lang="en-US" sz="1050" dirty="0"/>
          </a:p>
        </p:txBody>
      </p:sp>
      <p:sp>
        <p:nvSpPr>
          <p:cNvPr id="25" name="Shape 23"/>
          <p:cNvSpPr/>
          <p:nvPr/>
        </p:nvSpPr>
        <p:spPr>
          <a:xfrm>
            <a:off x="457200" y="2788920"/>
            <a:ext cx="1920240" cy="155448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26" name="Shape 24"/>
          <p:cNvSpPr/>
          <p:nvPr/>
        </p:nvSpPr>
        <p:spPr>
          <a:xfrm>
            <a:off x="594360" y="2926080"/>
            <a:ext cx="365760" cy="365760"/>
          </a:xfrm>
          <a:prstGeom prst="ellipse">
            <a:avLst/>
          </a:prstGeom>
          <a:solidFill>
            <a:srgbClr val="0F7C8A"/>
          </a:solidFill>
          <a:ln w="12700">
            <a:solidFill>
              <a:srgbClr val="FFFFFF"/>
            </a:solidFill>
            <a:prstDash val="solid"/>
          </a:ln>
        </p:spPr>
        <p:txBody>
          <a:bodyPr/>
          <a:lstStyle/>
          <a:p>
            <a:endParaRPr lang="en-US"/>
          </a:p>
        </p:txBody>
      </p:sp>
      <p:sp>
        <p:nvSpPr>
          <p:cNvPr id="27" name="Text 25"/>
          <p:cNvSpPr txBox="1"/>
          <p:nvPr/>
        </p:nvSpPr>
        <p:spPr>
          <a:xfrm>
            <a:off x="594360" y="29260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8" name="Text 26"/>
          <p:cNvSpPr txBox="1"/>
          <p:nvPr/>
        </p:nvSpPr>
        <p:spPr>
          <a:xfrm>
            <a:off x="1051560" y="2898648"/>
            <a:ext cx="1234440" cy="420624"/>
          </a:xfrm>
          <a:prstGeom prst="rect">
            <a:avLst/>
          </a:prstGeom>
          <a:noFill/>
          <a:ln/>
        </p:spPr>
        <p:txBody>
          <a:bodyPr wrap="square" lIns="0" tIns="0" rIns="0" bIns="0" rtlCol="0" anchor="ctr"/>
          <a:lstStyle/>
          <a:p>
            <a:pPr marL="0" indent="0">
              <a:buNone/>
            </a:pPr>
            <a:r>
              <a:rPr lang="en-US" sz="1200" b="1" dirty="0">
                <a:solidFill>
                  <a:srgbClr val="0B2A3D"/>
                </a:solidFill>
                <a:latin typeface="Calibri" pitchFamily="34" charset="0"/>
                <a:ea typeface="Calibri" pitchFamily="34" charset="-122"/>
                <a:cs typeface="Calibri" pitchFamily="34" charset="-120"/>
              </a:rPr>
              <a:t>Phase 4: Reports</a:t>
            </a:r>
            <a:endParaRPr lang="en-US" sz="1200" dirty="0"/>
          </a:p>
        </p:txBody>
      </p:sp>
      <p:sp>
        <p:nvSpPr>
          <p:cNvPr id="29" name="Text 27"/>
          <p:cNvSpPr txBox="1"/>
          <p:nvPr/>
        </p:nvSpPr>
        <p:spPr>
          <a:xfrm>
            <a:off x="594360" y="3447288"/>
            <a:ext cx="1691640" cy="868680"/>
          </a:xfrm>
          <a:prstGeom prst="rect">
            <a:avLst/>
          </a:prstGeom>
          <a:noFill/>
          <a:ln/>
        </p:spPr>
        <p:txBody>
          <a:bodyPr wrap="square" lIns="0" tIns="0" rIns="0" bIns="0" rtlCol="0" anchor="t"/>
          <a:lstStyle/>
          <a:p>
            <a:pPr marL="0" indent="0">
              <a:buNone/>
            </a:pPr>
            <a:r>
              <a:rPr lang="en-US" sz="1050" dirty="0">
                <a:solidFill>
                  <a:srgbClr val="1B2B34"/>
                </a:solidFill>
                <a:latin typeface="Calibri" pitchFamily="34" charset="0"/>
                <a:ea typeface="Calibri" pitchFamily="34" charset="-122"/>
                <a:cs typeface="Calibri" pitchFamily="34" charset="-120"/>
              </a:rPr>
              <a:t>26-section report with PDF, Word, Excel and PowerPoint exports, plus history.</a:t>
            </a:r>
            <a:endParaRPr lang="en-US" sz="1050" dirty="0"/>
          </a:p>
        </p:txBody>
      </p:sp>
      <p:sp>
        <p:nvSpPr>
          <p:cNvPr id="30" name="Shape 28"/>
          <p:cNvSpPr/>
          <p:nvPr/>
        </p:nvSpPr>
        <p:spPr>
          <a:xfrm>
            <a:off x="2560320" y="2788920"/>
            <a:ext cx="1920240" cy="155448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31" name="Shape 29"/>
          <p:cNvSpPr/>
          <p:nvPr/>
        </p:nvSpPr>
        <p:spPr>
          <a:xfrm>
            <a:off x="2697480" y="2926080"/>
            <a:ext cx="365760" cy="365760"/>
          </a:xfrm>
          <a:prstGeom prst="ellipse">
            <a:avLst/>
          </a:prstGeom>
          <a:solidFill>
            <a:srgbClr val="0F7C8A"/>
          </a:solidFill>
          <a:ln w="12700">
            <a:solidFill>
              <a:srgbClr val="FFFFFF"/>
            </a:solidFill>
            <a:prstDash val="solid"/>
          </a:ln>
        </p:spPr>
        <p:txBody>
          <a:bodyPr/>
          <a:lstStyle/>
          <a:p>
            <a:endParaRPr lang="en-US"/>
          </a:p>
        </p:txBody>
      </p:sp>
      <p:sp>
        <p:nvSpPr>
          <p:cNvPr id="32" name="Text 30"/>
          <p:cNvSpPr txBox="1"/>
          <p:nvPr/>
        </p:nvSpPr>
        <p:spPr>
          <a:xfrm>
            <a:off x="2697480" y="29260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3" name="Text 31"/>
          <p:cNvSpPr txBox="1"/>
          <p:nvPr/>
        </p:nvSpPr>
        <p:spPr>
          <a:xfrm>
            <a:off x="3154680" y="2898648"/>
            <a:ext cx="1234440" cy="420624"/>
          </a:xfrm>
          <a:prstGeom prst="rect">
            <a:avLst/>
          </a:prstGeom>
          <a:noFill/>
          <a:ln/>
        </p:spPr>
        <p:txBody>
          <a:bodyPr wrap="square" lIns="0" tIns="0" rIns="0" bIns="0" rtlCol="0" anchor="ctr"/>
          <a:lstStyle/>
          <a:p>
            <a:pPr marL="0" indent="0">
              <a:buNone/>
            </a:pPr>
            <a:r>
              <a:rPr lang="en-US" sz="1200" b="1" dirty="0">
                <a:solidFill>
                  <a:srgbClr val="0B2A3D"/>
                </a:solidFill>
                <a:latin typeface="Calibri" pitchFamily="34" charset="0"/>
                <a:ea typeface="Calibri" pitchFamily="34" charset="-122"/>
                <a:cs typeface="Calibri" pitchFamily="34" charset="-120"/>
              </a:rPr>
              <a:t>Refine through testing</a:t>
            </a:r>
            <a:endParaRPr lang="en-US" sz="1200" dirty="0"/>
          </a:p>
        </p:txBody>
      </p:sp>
      <p:sp>
        <p:nvSpPr>
          <p:cNvPr id="34" name="Text 32"/>
          <p:cNvSpPr txBox="1"/>
          <p:nvPr/>
        </p:nvSpPr>
        <p:spPr>
          <a:xfrm>
            <a:off x="2697480" y="3447288"/>
            <a:ext cx="1691640" cy="868680"/>
          </a:xfrm>
          <a:prstGeom prst="rect">
            <a:avLst/>
          </a:prstGeom>
          <a:noFill/>
          <a:ln/>
        </p:spPr>
        <p:txBody>
          <a:bodyPr wrap="square" lIns="0" tIns="0" rIns="0" bIns="0" rtlCol="0" anchor="t"/>
          <a:lstStyle/>
          <a:p>
            <a:pPr marL="0" indent="0">
              <a:buNone/>
            </a:pPr>
            <a:r>
              <a:rPr lang="en-US" sz="1050" dirty="0">
                <a:solidFill>
                  <a:srgbClr val="1B2B34"/>
                </a:solidFill>
                <a:latin typeface="Calibri" pitchFamily="34" charset="0"/>
                <a:ea typeface="Calibri" pitchFamily="34" charset="-122"/>
                <a:cs typeface="Calibri" pitchFamily="34" charset="-120"/>
              </a:rPr>
              <a:t>INR crore display, browse-and-upload, simple summary, reopen reports, admin controls.</a:t>
            </a:r>
            <a:endParaRPr lang="en-US" sz="1050" dirty="0"/>
          </a:p>
        </p:txBody>
      </p:sp>
      <p:sp>
        <p:nvSpPr>
          <p:cNvPr id="35" name="Shape 33"/>
          <p:cNvSpPr/>
          <p:nvPr/>
        </p:nvSpPr>
        <p:spPr>
          <a:xfrm>
            <a:off x="4663440" y="2788920"/>
            <a:ext cx="1920240" cy="155448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36" name="Shape 34"/>
          <p:cNvSpPr/>
          <p:nvPr/>
        </p:nvSpPr>
        <p:spPr>
          <a:xfrm>
            <a:off x="4800600" y="2926080"/>
            <a:ext cx="365760" cy="365760"/>
          </a:xfrm>
          <a:prstGeom prst="ellipse">
            <a:avLst/>
          </a:prstGeom>
          <a:solidFill>
            <a:srgbClr val="F2A93B"/>
          </a:solidFill>
          <a:ln w="12700">
            <a:solidFill>
              <a:srgbClr val="FFFFFF"/>
            </a:solidFill>
            <a:prstDash val="solid"/>
          </a:ln>
        </p:spPr>
        <p:txBody>
          <a:bodyPr/>
          <a:lstStyle/>
          <a:p>
            <a:endParaRPr lang="en-US"/>
          </a:p>
        </p:txBody>
      </p:sp>
      <p:sp>
        <p:nvSpPr>
          <p:cNvPr id="37" name="Text 35"/>
          <p:cNvSpPr txBox="1"/>
          <p:nvPr/>
        </p:nvSpPr>
        <p:spPr>
          <a:xfrm>
            <a:off x="4800600" y="2926080"/>
            <a:ext cx="365760" cy="365760"/>
          </a:xfrm>
          <a:prstGeom prst="rect">
            <a:avLst/>
          </a:prstGeom>
          <a:noFill/>
          <a:ln/>
        </p:spPr>
        <p:txBody>
          <a:bodyPr wrap="square" lIns="0" tIns="0" rIns="0" bIns="0" rtlCol="0" anchor="ctr"/>
          <a:lstStyle/>
          <a:p>
            <a:pPr marL="0" indent="0" algn="ctr">
              <a:buNone/>
            </a:pPr>
            <a:r>
              <a:rPr lang="en-US" sz="1400" b="1" dirty="0">
                <a:solidFill>
                  <a:srgbClr val="0B2A3D"/>
                </a:solidFill>
                <a:latin typeface="Cambria" pitchFamily="34" charset="0"/>
                <a:ea typeface="Cambria" pitchFamily="34" charset="-122"/>
                <a:cs typeface="Cambria" pitchFamily="34" charset="-120"/>
              </a:rPr>
              <a:t>7</a:t>
            </a:r>
            <a:endParaRPr lang="en-US" sz="1400" dirty="0"/>
          </a:p>
        </p:txBody>
      </p:sp>
      <p:sp>
        <p:nvSpPr>
          <p:cNvPr id="38" name="Text 36"/>
          <p:cNvSpPr txBox="1"/>
          <p:nvPr/>
        </p:nvSpPr>
        <p:spPr>
          <a:xfrm>
            <a:off x="5257800" y="2898648"/>
            <a:ext cx="1234440" cy="420624"/>
          </a:xfrm>
          <a:prstGeom prst="rect">
            <a:avLst/>
          </a:prstGeom>
          <a:noFill/>
          <a:ln/>
        </p:spPr>
        <p:txBody>
          <a:bodyPr wrap="square" lIns="0" tIns="0" rIns="0" bIns="0" rtlCol="0" anchor="ctr"/>
          <a:lstStyle/>
          <a:p>
            <a:pPr marL="0" indent="0">
              <a:buNone/>
            </a:pPr>
            <a:r>
              <a:rPr lang="en-US" sz="1200" b="1" dirty="0">
                <a:solidFill>
                  <a:srgbClr val="0B2A3D"/>
                </a:solidFill>
                <a:latin typeface="Calibri" pitchFamily="34" charset="0"/>
                <a:ea typeface="Calibri" pitchFamily="34" charset="-122"/>
                <a:cs typeface="Calibri" pitchFamily="34" charset="-120"/>
              </a:rPr>
              <a:t>Name &amp; publish</a:t>
            </a:r>
            <a:endParaRPr lang="en-US" sz="1200" dirty="0"/>
          </a:p>
        </p:txBody>
      </p:sp>
      <p:sp>
        <p:nvSpPr>
          <p:cNvPr id="39" name="Text 37"/>
          <p:cNvSpPr txBox="1"/>
          <p:nvPr/>
        </p:nvSpPr>
        <p:spPr>
          <a:xfrm>
            <a:off x="4800600" y="3447288"/>
            <a:ext cx="1691640" cy="868680"/>
          </a:xfrm>
          <a:prstGeom prst="rect">
            <a:avLst/>
          </a:prstGeom>
          <a:noFill/>
          <a:ln/>
        </p:spPr>
        <p:txBody>
          <a:bodyPr wrap="square" lIns="0" tIns="0" rIns="0" bIns="0" rtlCol="0" anchor="t"/>
          <a:lstStyle/>
          <a:p>
            <a:pPr marL="0" indent="0">
              <a:buNone/>
            </a:pPr>
            <a:r>
              <a:rPr lang="en-US" sz="1050" dirty="0">
                <a:solidFill>
                  <a:srgbClr val="1B2B34"/>
                </a:solidFill>
                <a:latin typeface="Calibri" pitchFamily="34" charset="0"/>
                <a:ea typeface="Calibri" pitchFamily="34" charset="-122"/>
                <a:cs typeface="Calibri" pitchFamily="34" charset="-120"/>
              </a:rPr>
              <a:t>Set the application name and attribution, then published it at a live link.</a:t>
            </a:r>
            <a:endParaRPr lang="en-US" sz="1050" dirty="0"/>
          </a:p>
        </p:txBody>
      </p:sp>
      <p:sp>
        <p:nvSpPr>
          <p:cNvPr id="40" name="Shape 38"/>
          <p:cNvSpPr/>
          <p:nvPr/>
        </p:nvSpPr>
        <p:spPr>
          <a:xfrm>
            <a:off x="6766560" y="2788920"/>
            <a:ext cx="1920240" cy="1554480"/>
          </a:xfrm>
          <a:prstGeom prst="rect">
            <a:avLst/>
          </a:prstGeom>
          <a:solidFill>
            <a:srgbClr val="E2F1F3"/>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41" name="Shape 39"/>
          <p:cNvSpPr/>
          <p:nvPr/>
        </p:nvSpPr>
        <p:spPr>
          <a:xfrm>
            <a:off x="6903720" y="2926080"/>
            <a:ext cx="365760" cy="365760"/>
          </a:xfrm>
          <a:prstGeom prst="ellipse">
            <a:avLst/>
          </a:prstGeom>
          <a:solidFill>
            <a:srgbClr val="0B2A3D"/>
          </a:solidFill>
          <a:ln w="12700">
            <a:solidFill>
              <a:srgbClr val="FFFFFF"/>
            </a:solidFill>
            <a:prstDash val="solid"/>
          </a:ln>
        </p:spPr>
        <p:txBody>
          <a:bodyPr/>
          <a:lstStyle/>
          <a:p>
            <a:endParaRPr lang="en-US"/>
          </a:p>
        </p:txBody>
      </p:sp>
      <p:sp>
        <p:nvSpPr>
          <p:cNvPr id="42" name="Text 40"/>
          <p:cNvSpPr txBox="1"/>
          <p:nvPr/>
        </p:nvSpPr>
        <p:spPr>
          <a:xfrm>
            <a:off x="6903720" y="29260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i</a:t>
            </a:r>
            <a:endParaRPr lang="en-US" sz="1400" dirty="0"/>
          </a:p>
        </p:txBody>
      </p:sp>
      <p:sp>
        <p:nvSpPr>
          <p:cNvPr id="43" name="Text 41"/>
          <p:cNvSpPr txBox="1"/>
          <p:nvPr/>
        </p:nvSpPr>
        <p:spPr>
          <a:xfrm>
            <a:off x="7360920" y="2898648"/>
            <a:ext cx="1234440" cy="420624"/>
          </a:xfrm>
          <a:prstGeom prst="rect">
            <a:avLst/>
          </a:prstGeom>
          <a:noFill/>
          <a:ln/>
        </p:spPr>
        <p:txBody>
          <a:bodyPr wrap="square" lIns="0" tIns="0" rIns="0" bIns="0" rtlCol="0" anchor="ctr"/>
          <a:lstStyle/>
          <a:p>
            <a:pPr marL="0" indent="0">
              <a:buNone/>
            </a:pPr>
            <a:r>
              <a:rPr lang="en-US" sz="1200" b="1" dirty="0">
                <a:solidFill>
                  <a:srgbClr val="0B2A3D"/>
                </a:solidFill>
                <a:latin typeface="Calibri" pitchFamily="34" charset="0"/>
                <a:ea typeface="Calibri" pitchFamily="34" charset="-122"/>
                <a:cs typeface="Calibri" pitchFamily="34" charset="-120"/>
              </a:rPr>
              <a:t>Technology</a:t>
            </a:r>
            <a:endParaRPr lang="en-US" sz="1200" dirty="0"/>
          </a:p>
        </p:txBody>
      </p:sp>
      <p:sp>
        <p:nvSpPr>
          <p:cNvPr id="44" name="Text 42"/>
          <p:cNvSpPr txBox="1"/>
          <p:nvPr/>
        </p:nvSpPr>
        <p:spPr>
          <a:xfrm>
            <a:off x="6903720" y="3447288"/>
            <a:ext cx="1691640" cy="868680"/>
          </a:xfrm>
          <a:prstGeom prst="rect">
            <a:avLst/>
          </a:prstGeom>
          <a:noFill/>
          <a:ln/>
        </p:spPr>
        <p:txBody>
          <a:bodyPr wrap="square" lIns="0" tIns="0" rIns="0" bIns="0" rtlCol="0" anchor="t"/>
          <a:lstStyle/>
          <a:p>
            <a:pPr marL="0" indent="0">
              <a:buNone/>
            </a:pPr>
            <a:r>
              <a:rPr lang="en-US" sz="1050" dirty="0">
                <a:solidFill>
                  <a:srgbClr val="1B2B34"/>
                </a:solidFill>
                <a:latin typeface="Calibri" pitchFamily="34" charset="0"/>
                <a:ea typeface="Calibri" pitchFamily="34" charset="-122"/>
                <a:cs typeface="Calibri" pitchFamily="34" charset="-120"/>
              </a:rPr>
              <a:t>Lovable, React and TypeScript, Tailwind CSS, secure cloud database and authentication.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2A3D"/>
                </a:solidFill>
                <a:latin typeface="Cambria" pitchFamily="34" charset="0"/>
                <a:ea typeface="Cambria" pitchFamily="34" charset="-122"/>
                <a:cs typeface="Cambria" pitchFamily="34" charset="-120"/>
              </a:rPr>
              <a:t>Design Principles &amp; Controls</a:t>
            </a:r>
            <a:endParaRPr lang="en-US" sz="2800" dirty="0"/>
          </a:p>
        </p:txBody>
      </p:sp>
      <p:sp>
        <p:nvSpPr>
          <p:cNvPr id="3" name="Text 1"/>
          <p:cNvSpPr txBox="1"/>
          <p:nvPr/>
        </p:nvSpPr>
        <p:spPr>
          <a:xfrm>
            <a:off x="457200" y="4773168"/>
            <a:ext cx="7498080" cy="228600"/>
          </a:xfrm>
          <a:prstGeom prst="rect">
            <a:avLst/>
          </a:prstGeom>
          <a:noFill/>
          <a:ln/>
        </p:spPr>
        <p:txBody>
          <a:bodyPr wrap="square" lIns="0" tIns="0" rIns="0" bIns="0" rtlCol="0" anchor="ctr"/>
          <a:lstStyle/>
          <a:p>
            <a:pPr marL="0" indent="0">
              <a:buNone/>
            </a:pPr>
            <a:r>
              <a:rPr lang="en-US" sz="900" dirty="0">
                <a:solidFill>
                  <a:srgbClr val="5B6E77"/>
                </a:solidFill>
                <a:latin typeface="Calibri" pitchFamily="34" charset="0"/>
                <a:ea typeface="Calibri" pitchFamily="34" charset="-122"/>
                <a:cs typeface="Calibri" pitchFamily="34" charset="-120"/>
              </a:rPr>
              <a:t>Vendor Financial Health &amp; Credit Assessment  |  Ashok Jain  |  ICAI AI Level 2  |  Gurugram  |  Batch 89</a:t>
            </a:r>
            <a:endParaRPr lang="en-US" sz="900" dirty="0"/>
          </a:p>
        </p:txBody>
      </p:sp>
      <p:sp>
        <p:nvSpPr>
          <p:cNvPr id="4" name="Text 2"/>
          <p:cNvSpPr txBox="1"/>
          <p:nvPr/>
        </p:nvSpPr>
        <p:spPr>
          <a:xfrm>
            <a:off x="8229600" y="4773168"/>
            <a:ext cx="457200" cy="228600"/>
          </a:xfrm>
          <a:prstGeom prst="rect">
            <a:avLst/>
          </a:prstGeom>
          <a:noFill/>
          <a:ln/>
        </p:spPr>
        <p:txBody>
          <a:bodyPr wrap="square" lIns="0" tIns="0" rIns="0" bIns="0" rtlCol="0" anchor="ctr"/>
          <a:lstStyle/>
          <a:p>
            <a:pPr marL="0" indent="0" algn="r">
              <a:buNone/>
            </a:pPr>
            <a:r>
              <a:rPr lang="en-US" sz="900" dirty="0">
                <a:solidFill>
                  <a:srgbClr val="5B6E77"/>
                </a:solidFill>
                <a:latin typeface="Calibri" pitchFamily="34" charset="0"/>
                <a:ea typeface="Calibri" pitchFamily="34" charset="-122"/>
                <a:cs typeface="Calibri" pitchFamily="34" charset="-120"/>
              </a:rPr>
              <a:t>7</a:t>
            </a:r>
            <a:endParaRPr lang="en-US" sz="900" dirty="0"/>
          </a:p>
        </p:txBody>
      </p:sp>
      <p:sp>
        <p:nvSpPr>
          <p:cNvPr id="5" name="Shape 3"/>
          <p:cNvSpPr/>
          <p:nvPr/>
        </p:nvSpPr>
        <p:spPr>
          <a:xfrm>
            <a:off x="457200" y="1143000"/>
            <a:ext cx="4114800" cy="100584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6" name="Shape 4"/>
          <p:cNvSpPr/>
          <p:nvPr/>
        </p:nvSpPr>
        <p:spPr>
          <a:xfrm>
            <a:off x="594360" y="1389888"/>
            <a:ext cx="512064" cy="512064"/>
          </a:xfrm>
          <a:prstGeom prst="ellipse">
            <a:avLst/>
          </a:prstGeom>
          <a:solidFill>
            <a:srgbClr val="E2F1F3"/>
          </a:solidFill>
          <a:ln w="12700">
            <a:solidFill>
              <a:srgbClr val="E2F1F3"/>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722376" y="1517904"/>
            <a:ext cx="256032" cy="256032"/>
          </a:xfrm>
          <a:prstGeom prst="rect">
            <a:avLst/>
          </a:prstGeom>
        </p:spPr>
      </p:pic>
      <p:sp>
        <p:nvSpPr>
          <p:cNvPr id="8" name="Text 5"/>
          <p:cNvSpPr txBox="1"/>
          <p:nvPr/>
        </p:nvSpPr>
        <p:spPr>
          <a:xfrm>
            <a:off x="1280160" y="1216152"/>
            <a:ext cx="3200400" cy="274320"/>
          </a:xfrm>
          <a:prstGeom prst="rect">
            <a:avLst/>
          </a:prstGeom>
          <a:noFill/>
          <a:ln/>
        </p:spPr>
        <p:txBody>
          <a:bodyPr wrap="square" lIns="0" tIns="0" rIns="0" bIns="0" rtlCol="0" anchor="ctr"/>
          <a:lstStyle/>
          <a:p>
            <a:pPr marL="0" indent="0">
              <a:buNone/>
            </a:pPr>
            <a:r>
              <a:rPr lang="en-US" sz="1400" b="1" dirty="0">
                <a:solidFill>
                  <a:srgbClr val="0B2A3D"/>
                </a:solidFill>
                <a:latin typeface="Calibri" pitchFamily="34" charset="0"/>
                <a:ea typeface="Calibri" pitchFamily="34" charset="-122"/>
                <a:cs typeface="Calibri" pitchFamily="34" charset="-120"/>
              </a:rPr>
              <a:t>AI reads</a:t>
            </a:r>
            <a:endParaRPr lang="en-US" sz="1400" dirty="0"/>
          </a:p>
        </p:txBody>
      </p:sp>
      <p:sp>
        <p:nvSpPr>
          <p:cNvPr id="9" name="Text 6"/>
          <p:cNvSpPr txBox="1"/>
          <p:nvPr/>
        </p:nvSpPr>
        <p:spPr>
          <a:xfrm>
            <a:off x="1280160" y="1508760"/>
            <a:ext cx="3200400" cy="594360"/>
          </a:xfrm>
          <a:prstGeom prst="rect">
            <a:avLst/>
          </a:prstGeom>
          <a:noFill/>
          <a:ln/>
        </p:spPr>
        <p:txBody>
          <a:bodyPr wrap="square" lIns="0" tIns="0" rIns="0" bIns="0" rtlCol="0" anchor="t"/>
          <a:lstStyle/>
          <a:p>
            <a:pPr marL="0" indent="0">
              <a:buNone/>
            </a:pPr>
            <a:r>
              <a:rPr lang="en-US" sz="1100" dirty="0">
                <a:solidFill>
                  <a:srgbClr val="1B2B34"/>
                </a:solidFill>
                <a:latin typeface="Calibri" pitchFamily="34" charset="0"/>
                <a:ea typeface="Calibri" pitchFamily="34" charset="-122"/>
                <a:cs typeface="Calibri" pitchFamily="34" charset="-120"/>
              </a:rPr>
              <a:t>AI is used to read and classify documents and draft narrative. It never invents figures.</a:t>
            </a:r>
            <a:endParaRPr lang="en-US" sz="1100" dirty="0"/>
          </a:p>
        </p:txBody>
      </p:sp>
      <p:sp>
        <p:nvSpPr>
          <p:cNvPr id="10" name="Shape 7"/>
          <p:cNvSpPr/>
          <p:nvPr/>
        </p:nvSpPr>
        <p:spPr>
          <a:xfrm>
            <a:off x="457200" y="2286000"/>
            <a:ext cx="4114800" cy="100584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11" name="Shape 8"/>
          <p:cNvSpPr/>
          <p:nvPr/>
        </p:nvSpPr>
        <p:spPr>
          <a:xfrm>
            <a:off x="594360" y="2532888"/>
            <a:ext cx="512064" cy="512064"/>
          </a:xfrm>
          <a:prstGeom prst="ellipse">
            <a:avLst/>
          </a:prstGeom>
          <a:solidFill>
            <a:srgbClr val="E2F1F3"/>
          </a:solidFill>
          <a:ln w="12700">
            <a:solidFill>
              <a:srgbClr val="E2F1F3"/>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722376" y="2660904"/>
            <a:ext cx="256032" cy="256032"/>
          </a:xfrm>
          <a:prstGeom prst="rect">
            <a:avLst/>
          </a:prstGeom>
        </p:spPr>
      </p:pic>
      <p:sp>
        <p:nvSpPr>
          <p:cNvPr id="13" name="Text 9"/>
          <p:cNvSpPr txBox="1"/>
          <p:nvPr/>
        </p:nvSpPr>
        <p:spPr>
          <a:xfrm>
            <a:off x="1280160" y="2359152"/>
            <a:ext cx="3200400" cy="274320"/>
          </a:xfrm>
          <a:prstGeom prst="rect">
            <a:avLst/>
          </a:prstGeom>
          <a:noFill/>
          <a:ln/>
        </p:spPr>
        <p:txBody>
          <a:bodyPr wrap="square" lIns="0" tIns="0" rIns="0" bIns="0" rtlCol="0" anchor="ctr"/>
          <a:lstStyle/>
          <a:p>
            <a:pPr marL="0" indent="0">
              <a:buNone/>
            </a:pPr>
            <a:r>
              <a:rPr lang="en-US" sz="1400" b="1" dirty="0">
                <a:solidFill>
                  <a:srgbClr val="0B2A3D"/>
                </a:solidFill>
                <a:latin typeface="Calibri" pitchFamily="34" charset="0"/>
                <a:ea typeface="Calibri" pitchFamily="34" charset="-122"/>
                <a:cs typeface="Calibri" pitchFamily="34" charset="-120"/>
              </a:rPr>
              <a:t>Code calculates</a:t>
            </a:r>
            <a:endParaRPr lang="en-US" sz="1400" dirty="0"/>
          </a:p>
        </p:txBody>
      </p:sp>
      <p:sp>
        <p:nvSpPr>
          <p:cNvPr id="14" name="Text 10"/>
          <p:cNvSpPr txBox="1"/>
          <p:nvPr/>
        </p:nvSpPr>
        <p:spPr>
          <a:xfrm>
            <a:off x="1280160" y="2651760"/>
            <a:ext cx="3200400" cy="594360"/>
          </a:xfrm>
          <a:prstGeom prst="rect">
            <a:avLst/>
          </a:prstGeom>
          <a:noFill/>
          <a:ln/>
        </p:spPr>
        <p:txBody>
          <a:bodyPr wrap="square" lIns="0" tIns="0" rIns="0" bIns="0" rtlCol="0" anchor="t"/>
          <a:lstStyle/>
          <a:p>
            <a:pPr marL="0" indent="0">
              <a:buNone/>
            </a:pPr>
            <a:r>
              <a:rPr lang="en-US" sz="1100" dirty="0">
                <a:solidFill>
                  <a:srgbClr val="1B2B34"/>
                </a:solidFill>
                <a:latin typeface="Calibri" pitchFamily="34" charset="0"/>
                <a:ea typeface="Calibri" pitchFamily="34" charset="-122"/>
                <a:cs typeface="Calibri" pitchFamily="34" charset="-120"/>
              </a:rPr>
              <a:t>Ratios, growth, score, credit limit and quotas use fixed formulas in application code.</a:t>
            </a:r>
            <a:endParaRPr lang="en-US" sz="1100" dirty="0"/>
          </a:p>
        </p:txBody>
      </p:sp>
      <p:sp>
        <p:nvSpPr>
          <p:cNvPr id="15" name="Shape 11"/>
          <p:cNvSpPr/>
          <p:nvPr/>
        </p:nvSpPr>
        <p:spPr>
          <a:xfrm>
            <a:off x="457200" y="3429000"/>
            <a:ext cx="4114800" cy="100584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16" name="Shape 12"/>
          <p:cNvSpPr/>
          <p:nvPr/>
        </p:nvSpPr>
        <p:spPr>
          <a:xfrm>
            <a:off x="594360" y="3675888"/>
            <a:ext cx="512064" cy="512064"/>
          </a:xfrm>
          <a:prstGeom prst="ellipse">
            <a:avLst/>
          </a:prstGeom>
          <a:solidFill>
            <a:srgbClr val="E2F1F3"/>
          </a:solidFill>
          <a:ln w="12700">
            <a:solidFill>
              <a:srgbClr val="E2F1F3"/>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722376" y="3803904"/>
            <a:ext cx="256032" cy="256032"/>
          </a:xfrm>
          <a:prstGeom prst="rect">
            <a:avLst/>
          </a:prstGeom>
        </p:spPr>
      </p:pic>
      <p:sp>
        <p:nvSpPr>
          <p:cNvPr id="18" name="Text 13"/>
          <p:cNvSpPr txBox="1"/>
          <p:nvPr/>
        </p:nvSpPr>
        <p:spPr>
          <a:xfrm>
            <a:off x="1280160" y="3502152"/>
            <a:ext cx="3200400" cy="274320"/>
          </a:xfrm>
          <a:prstGeom prst="rect">
            <a:avLst/>
          </a:prstGeom>
          <a:noFill/>
          <a:ln/>
        </p:spPr>
        <p:txBody>
          <a:bodyPr wrap="square" lIns="0" tIns="0" rIns="0" bIns="0" rtlCol="0" anchor="ctr"/>
          <a:lstStyle/>
          <a:p>
            <a:pPr marL="0" indent="0">
              <a:buNone/>
            </a:pPr>
            <a:r>
              <a:rPr lang="en-US" sz="1400" b="1" dirty="0">
                <a:solidFill>
                  <a:srgbClr val="0B2A3D"/>
                </a:solidFill>
                <a:latin typeface="Calibri" pitchFamily="34" charset="0"/>
                <a:ea typeface="Calibri" pitchFamily="34" charset="-122"/>
                <a:cs typeface="Calibri" pitchFamily="34" charset="-120"/>
              </a:rPr>
              <a:t>Humans decide</a:t>
            </a:r>
            <a:endParaRPr lang="en-US" sz="1400" dirty="0"/>
          </a:p>
        </p:txBody>
      </p:sp>
      <p:sp>
        <p:nvSpPr>
          <p:cNvPr id="19" name="Text 14"/>
          <p:cNvSpPr txBox="1"/>
          <p:nvPr/>
        </p:nvSpPr>
        <p:spPr>
          <a:xfrm>
            <a:off x="1280160" y="3794760"/>
            <a:ext cx="3200400" cy="594360"/>
          </a:xfrm>
          <a:prstGeom prst="rect">
            <a:avLst/>
          </a:prstGeom>
          <a:noFill/>
          <a:ln/>
        </p:spPr>
        <p:txBody>
          <a:bodyPr wrap="square" lIns="0" tIns="0" rIns="0" bIns="0" rtlCol="0" anchor="t"/>
          <a:lstStyle/>
          <a:p>
            <a:pPr marL="0" indent="0">
              <a:buNone/>
            </a:pPr>
            <a:r>
              <a:rPr lang="en-US" sz="1100" dirty="0">
                <a:solidFill>
                  <a:srgbClr val="1B2B34"/>
                </a:solidFill>
                <a:latin typeface="Calibri" pitchFamily="34" charset="0"/>
                <a:ea typeface="Calibri" pitchFamily="34" charset="-122"/>
                <a:cs typeface="Calibri" pitchFamily="34" charset="-120"/>
              </a:rPr>
              <a:t>A finance user reviews the data and approves, modifies or holds. Overrides need a reason.</a:t>
            </a:r>
            <a:endParaRPr lang="en-US" sz="1100" dirty="0"/>
          </a:p>
        </p:txBody>
      </p:sp>
      <p:sp>
        <p:nvSpPr>
          <p:cNvPr id="20" name="Shape 15"/>
          <p:cNvSpPr/>
          <p:nvPr/>
        </p:nvSpPr>
        <p:spPr>
          <a:xfrm>
            <a:off x="4754880" y="1143000"/>
            <a:ext cx="3931920" cy="329184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21" name="Shape 16"/>
          <p:cNvSpPr/>
          <p:nvPr/>
        </p:nvSpPr>
        <p:spPr>
          <a:xfrm>
            <a:off x="4937760" y="1280160"/>
            <a:ext cx="457200" cy="457200"/>
          </a:xfrm>
          <a:prstGeom prst="ellipse">
            <a:avLst/>
          </a:prstGeom>
          <a:solidFill>
            <a:srgbClr val="E2F1F3"/>
          </a:solidFill>
          <a:ln w="12700">
            <a:solidFill>
              <a:srgbClr val="E2F1F3"/>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5052060" y="1394460"/>
            <a:ext cx="228600" cy="228600"/>
          </a:xfrm>
          <a:prstGeom prst="rect">
            <a:avLst/>
          </a:prstGeom>
        </p:spPr>
      </p:pic>
      <p:sp>
        <p:nvSpPr>
          <p:cNvPr id="23" name="Text 17"/>
          <p:cNvSpPr txBox="1"/>
          <p:nvPr/>
        </p:nvSpPr>
        <p:spPr>
          <a:xfrm>
            <a:off x="5532120" y="1280160"/>
            <a:ext cx="3017520" cy="457200"/>
          </a:xfrm>
          <a:prstGeom prst="rect">
            <a:avLst/>
          </a:prstGeom>
          <a:noFill/>
          <a:ln/>
        </p:spPr>
        <p:txBody>
          <a:bodyPr wrap="square" lIns="0" tIns="0" rIns="0" bIns="0" rtlCol="0" anchor="ctr"/>
          <a:lstStyle/>
          <a:p>
            <a:pPr marL="0" indent="0">
              <a:buNone/>
            </a:pPr>
            <a:r>
              <a:rPr lang="en-US" sz="1600" b="1" dirty="0">
                <a:solidFill>
                  <a:srgbClr val="0B2A3D"/>
                </a:solidFill>
                <a:latin typeface="Cambria" pitchFamily="34" charset="0"/>
                <a:ea typeface="Cambria" pitchFamily="34" charset="-122"/>
                <a:cs typeface="Cambria" pitchFamily="34" charset="-120"/>
              </a:rPr>
              <a:t>Security &amp; governance</a:t>
            </a:r>
            <a:endParaRPr lang="en-US" sz="1600" dirty="0"/>
          </a:p>
        </p:txBody>
      </p:sp>
      <p:sp>
        <p:nvSpPr>
          <p:cNvPr id="24" name="Text 18"/>
          <p:cNvSpPr txBox="1"/>
          <p:nvPr/>
        </p:nvSpPr>
        <p:spPr>
          <a:xfrm>
            <a:off x="4937760" y="1874520"/>
            <a:ext cx="3611880" cy="24688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2B34"/>
                </a:solidFill>
                <a:latin typeface="Calibri" pitchFamily="34" charset="0"/>
                <a:ea typeface="Calibri" pitchFamily="34" charset="-122"/>
                <a:cs typeface="Calibri" pitchFamily="34" charset="-120"/>
              </a:rPr>
              <a:t>Roles: Admin, Finance and Viewer, each with limited access</a:t>
            </a:r>
            <a:endParaRPr lang="en-US" sz="1200" dirty="0"/>
          </a:p>
          <a:p>
            <a:pPr marL="342900" indent="-342900">
              <a:spcAft>
                <a:spcPts val="600"/>
              </a:spcAft>
              <a:buSzPct val="100000"/>
              <a:buChar char="•"/>
            </a:pPr>
            <a:r>
              <a:rPr lang="en-US" sz="1200" dirty="0">
                <a:solidFill>
                  <a:srgbClr val="1B2B34"/>
                </a:solidFill>
                <a:latin typeface="Calibri" pitchFamily="34" charset="0"/>
                <a:ea typeface="Calibri" pitchFamily="34" charset="-122"/>
                <a:cs typeface="Calibri" pitchFamily="34" charset="-120"/>
              </a:rPr>
              <a:t>No public self-registration; the administrator creates users</a:t>
            </a:r>
            <a:endParaRPr lang="en-US" sz="1200" dirty="0"/>
          </a:p>
          <a:p>
            <a:pPr marL="342900" indent="-342900">
              <a:spcAft>
                <a:spcPts val="600"/>
              </a:spcAft>
              <a:buSzPct val="100000"/>
              <a:buChar char="•"/>
            </a:pPr>
            <a:r>
              <a:rPr lang="en-US" sz="1200" dirty="0">
                <a:solidFill>
                  <a:srgbClr val="1B2B34"/>
                </a:solidFill>
                <a:latin typeface="Calibri" pitchFamily="34" charset="0"/>
                <a:ea typeface="Calibri" pitchFamily="34" charset="-122"/>
                <a:cs typeface="Calibri" pitchFamily="34" charset="-120"/>
              </a:rPr>
              <a:t>Private document storage and row-level database security</a:t>
            </a:r>
            <a:endParaRPr lang="en-US" sz="1200" dirty="0"/>
          </a:p>
          <a:p>
            <a:pPr marL="342900" indent="-342900">
              <a:spcAft>
                <a:spcPts val="600"/>
              </a:spcAft>
              <a:buSzPct val="100000"/>
              <a:buChar char="•"/>
            </a:pPr>
            <a:r>
              <a:rPr lang="en-US" sz="1200" dirty="0">
                <a:solidFill>
                  <a:srgbClr val="1B2B34"/>
                </a:solidFill>
                <a:latin typeface="Calibri" pitchFamily="34" charset="0"/>
                <a:ea typeface="Calibri" pitchFamily="34" charset="-122"/>
                <a:cs typeface="Calibri" pitchFamily="34" charset="-120"/>
              </a:rPr>
              <a:t>Audit log of key actions, including overrides and deletions</a:t>
            </a:r>
            <a:endParaRPr lang="en-US" sz="1200" dirty="0"/>
          </a:p>
          <a:p>
            <a:pPr marL="342900" indent="-342900">
              <a:spcAft>
                <a:spcPts val="600"/>
              </a:spcAft>
              <a:buSzPct val="100000"/>
              <a:buChar char="•"/>
            </a:pPr>
            <a:r>
              <a:rPr lang="en-US" sz="1200" dirty="0">
                <a:solidFill>
                  <a:srgbClr val="1B2B34"/>
                </a:solidFill>
                <a:latin typeface="Calibri" pitchFamily="34" charset="0"/>
                <a:ea typeface="Calibri" pitchFamily="34" charset="-122"/>
                <a:cs typeface="Calibri" pitchFamily="34" charset="-120"/>
              </a:rPr>
              <a:t>Report storage quota for each user</a:t>
            </a:r>
            <a:endParaRPr lang="en-US" sz="1200" dirty="0"/>
          </a:p>
          <a:p>
            <a:pPr marL="342900" indent="-342900">
              <a:spcAft>
                <a:spcPts val="600"/>
              </a:spcAft>
              <a:buSzPct val="100000"/>
              <a:buChar char="•"/>
            </a:pPr>
            <a:r>
              <a:rPr lang="en-US" sz="1200" dirty="0">
                <a:solidFill>
                  <a:srgbClr val="1B2B34"/>
                </a:solidFill>
                <a:latin typeface="Calibri" pitchFamily="34" charset="0"/>
                <a:ea typeface="Calibri" pitchFamily="34" charset="-122"/>
                <a:cs typeface="Calibri" pitchFamily="34" charset="-120"/>
              </a:rPr>
              <a:t>Never fabricates missing data: shows "Insufficient information"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2A3D"/>
                </a:solidFill>
                <a:latin typeface="Cambria" pitchFamily="34" charset="0"/>
                <a:ea typeface="Cambria" pitchFamily="34" charset="-122"/>
                <a:cs typeface="Cambria" pitchFamily="34" charset="-120"/>
              </a:rPr>
              <a:t>Guided Assessment Workflow</a:t>
            </a:r>
            <a:endParaRPr lang="en-US" sz="2800" dirty="0"/>
          </a:p>
        </p:txBody>
      </p:sp>
      <p:sp>
        <p:nvSpPr>
          <p:cNvPr id="3" name="Text 1"/>
          <p:cNvSpPr txBox="1"/>
          <p:nvPr/>
        </p:nvSpPr>
        <p:spPr>
          <a:xfrm>
            <a:off x="457200" y="4773168"/>
            <a:ext cx="7498080" cy="228600"/>
          </a:xfrm>
          <a:prstGeom prst="rect">
            <a:avLst/>
          </a:prstGeom>
          <a:noFill/>
          <a:ln/>
        </p:spPr>
        <p:txBody>
          <a:bodyPr wrap="square" lIns="0" tIns="0" rIns="0" bIns="0" rtlCol="0" anchor="ctr"/>
          <a:lstStyle/>
          <a:p>
            <a:pPr marL="0" indent="0">
              <a:buNone/>
            </a:pPr>
            <a:r>
              <a:rPr lang="en-US" sz="900" dirty="0">
                <a:solidFill>
                  <a:srgbClr val="5B6E77"/>
                </a:solidFill>
                <a:latin typeface="Calibri" pitchFamily="34" charset="0"/>
                <a:ea typeface="Calibri" pitchFamily="34" charset="-122"/>
                <a:cs typeface="Calibri" pitchFamily="34" charset="-120"/>
              </a:rPr>
              <a:t>Vendor Financial Health &amp; Credit Assessment  |  Ashok Jain  |  ICAI AI Level 2  |  Gurugram  |  Batch 89</a:t>
            </a:r>
            <a:endParaRPr lang="en-US" sz="900" dirty="0"/>
          </a:p>
        </p:txBody>
      </p:sp>
      <p:sp>
        <p:nvSpPr>
          <p:cNvPr id="4" name="Text 2"/>
          <p:cNvSpPr txBox="1"/>
          <p:nvPr/>
        </p:nvSpPr>
        <p:spPr>
          <a:xfrm>
            <a:off x="8229600" y="4773168"/>
            <a:ext cx="457200" cy="228600"/>
          </a:xfrm>
          <a:prstGeom prst="rect">
            <a:avLst/>
          </a:prstGeom>
          <a:noFill/>
          <a:ln/>
        </p:spPr>
        <p:txBody>
          <a:bodyPr wrap="square" lIns="0" tIns="0" rIns="0" bIns="0" rtlCol="0" anchor="ctr"/>
          <a:lstStyle/>
          <a:p>
            <a:pPr marL="0" indent="0" algn="r">
              <a:buNone/>
            </a:pPr>
            <a:r>
              <a:rPr lang="en-US" sz="900" dirty="0">
                <a:solidFill>
                  <a:srgbClr val="5B6E77"/>
                </a:solidFill>
                <a:latin typeface="Calibri" pitchFamily="34" charset="0"/>
                <a:ea typeface="Calibri" pitchFamily="34" charset="-122"/>
                <a:cs typeface="Calibri" pitchFamily="34" charset="-120"/>
              </a:rPr>
              <a:t>8</a:t>
            </a:r>
            <a:endParaRPr lang="en-US" sz="900" dirty="0"/>
          </a:p>
        </p:txBody>
      </p:sp>
      <p:sp>
        <p:nvSpPr>
          <p:cNvPr id="5" name="Shape 3"/>
          <p:cNvSpPr/>
          <p:nvPr/>
        </p:nvSpPr>
        <p:spPr>
          <a:xfrm>
            <a:off x="457200" y="1143000"/>
            <a:ext cx="1554480" cy="868680"/>
          </a:xfrm>
          <a:prstGeom prst="rect">
            <a:avLst/>
          </a:prstGeom>
          <a:solidFill>
            <a:srgbClr val="0F7C8A"/>
          </a:solidFill>
          <a:ln w="12700">
            <a:solidFill>
              <a:srgbClr val="0F7C8A"/>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051560" y="1216152"/>
            <a:ext cx="365760" cy="365760"/>
          </a:xfrm>
          <a:prstGeom prst="rect">
            <a:avLst/>
          </a:prstGeom>
        </p:spPr>
      </p:pic>
      <p:sp>
        <p:nvSpPr>
          <p:cNvPr id="7" name="Text 4"/>
          <p:cNvSpPr txBox="1"/>
          <p:nvPr/>
        </p:nvSpPr>
        <p:spPr>
          <a:xfrm>
            <a:off x="457200" y="1627632"/>
            <a:ext cx="155448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Ingest</a:t>
            </a:r>
            <a:endParaRPr lang="en-US" sz="1400" dirty="0"/>
          </a:p>
        </p:txBody>
      </p:sp>
      <p:sp>
        <p:nvSpPr>
          <p:cNvPr id="8" name="Shape 5"/>
          <p:cNvSpPr/>
          <p:nvPr/>
        </p:nvSpPr>
        <p:spPr>
          <a:xfrm>
            <a:off x="457200" y="2194560"/>
            <a:ext cx="1554480" cy="420624"/>
          </a:xfrm>
          <a:prstGeom prst="rect">
            <a:avLst/>
          </a:prstGeom>
          <a:solidFill>
            <a:srgbClr val="F3F7F8"/>
          </a:solidFill>
          <a:ln w="9525">
            <a:solidFill>
              <a:srgbClr val="D5E0E4"/>
            </a:solidFill>
            <a:prstDash val="solid"/>
          </a:ln>
        </p:spPr>
        <p:txBody>
          <a:bodyPr/>
          <a:lstStyle/>
          <a:p>
            <a:endParaRPr lang="en-US"/>
          </a:p>
        </p:txBody>
      </p:sp>
      <p:sp>
        <p:nvSpPr>
          <p:cNvPr id="9" name="Text 6"/>
          <p:cNvSpPr txBox="1"/>
          <p:nvPr/>
        </p:nvSpPr>
        <p:spPr>
          <a:xfrm>
            <a:off x="530352" y="2194560"/>
            <a:ext cx="1426464" cy="420624"/>
          </a:xfrm>
          <a:prstGeom prst="rect">
            <a:avLst/>
          </a:prstGeom>
          <a:noFill/>
          <a:ln/>
        </p:spPr>
        <p:txBody>
          <a:bodyPr wrap="square" lIns="0" tIns="0" rIns="0" bIns="0" rtlCol="0" anchor="ctr"/>
          <a:lstStyle/>
          <a:p>
            <a:pPr marL="0" indent="0">
              <a:buNone/>
            </a:pPr>
            <a:r>
              <a:rPr lang="en-US" sz="1050" dirty="0">
                <a:solidFill>
                  <a:srgbClr val="1B2B34"/>
                </a:solidFill>
                <a:latin typeface="Calibri" pitchFamily="34" charset="0"/>
                <a:ea typeface="Calibri" pitchFamily="34" charset="-122"/>
                <a:cs typeface="Calibri" pitchFamily="34" charset="-120"/>
              </a:rPr>
              <a:t>1  Upload documents</a:t>
            </a:r>
            <a:endParaRPr lang="en-US" sz="1050" dirty="0"/>
          </a:p>
        </p:txBody>
      </p:sp>
      <p:sp>
        <p:nvSpPr>
          <p:cNvPr id="10" name="Shape 7"/>
          <p:cNvSpPr/>
          <p:nvPr/>
        </p:nvSpPr>
        <p:spPr>
          <a:xfrm>
            <a:off x="457200" y="2697480"/>
            <a:ext cx="1554480" cy="420624"/>
          </a:xfrm>
          <a:prstGeom prst="rect">
            <a:avLst/>
          </a:prstGeom>
          <a:solidFill>
            <a:srgbClr val="F3F7F8"/>
          </a:solidFill>
          <a:ln w="9525">
            <a:solidFill>
              <a:srgbClr val="D5E0E4"/>
            </a:solidFill>
            <a:prstDash val="solid"/>
          </a:ln>
        </p:spPr>
        <p:txBody>
          <a:bodyPr/>
          <a:lstStyle/>
          <a:p>
            <a:endParaRPr lang="en-US"/>
          </a:p>
        </p:txBody>
      </p:sp>
      <p:sp>
        <p:nvSpPr>
          <p:cNvPr id="11" name="Text 8"/>
          <p:cNvSpPr txBox="1"/>
          <p:nvPr/>
        </p:nvSpPr>
        <p:spPr>
          <a:xfrm>
            <a:off x="530352" y="2697480"/>
            <a:ext cx="1426464" cy="420624"/>
          </a:xfrm>
          <a:prstGeom prst="rect">
            <a:avLst/>
          </a:prstGeom>
          <a:noFill/>
          <a:ln/>
        </p:spPr>
        <p:txBody>
          <a:bodyPr wrap="square" lIns="0" tIns="0" rIns="0" bIns="0" rtlCol="0" anchor="ctr"/>
          <a:lstStyle/>
          <a:p>
            <a:pPr marL="0" indent="0">
              <a:buNone/>
            </a:pPr>
            <a:r>
              <a:rPr lang="en-US" sz="1050" dirty="0">
                <a:solidFill>
                  <a:srgbClr val="1B2B34"/>
                </a:solidFill>
                <a:latin typeface="Calibri" pitchFamily="34" charset="0"/>
                <a:ea typeface="Calibri" pitchFamily="34" charset="-122"/>
                <a:cs typeface="Calibri" pitchFamily="34" charset="-120"/>
              </a:rPr>
              <a:t>2  Process &amp; identify</a:t>
            </a:r>
            <a:endParaRPr lang="en-US" sz="1050" dirty="0"/>
          </a:p>
        </p:txBody>
      </p:sp>
      <p:sp>
        <p:nvSpPr>
          <p:cNvPr id="12" name="Shape 9"/>
          <p:cNvSpPr/>
          <p:nvPr/>
        </p:nvSpPr>
        <p:spPr>
          <a:xfrm>
            <a:off x="2125980" y="1143000"/>
            <a:ext cx="1554480" cy="868680"/>
          </a:xfrm>
          <a:prstGeom prst="rect">
            <a:avLst/>
          </a:prstGeom>
          <a:solidFill>
            <a:srgbClr val="0A5A65"/>
          </a:solidFill>
          <a:ln w="12700">
            <a:solidFill>
              <a:srgbClr val="0F7C8A"/>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2720340" y="1216152"/>
            <a:ext cx="365760" cy="365760"/>
          </a:xfrm>
          <a:prstGeom prst="rect">
            <a:avLst/>
          </a:prstGeom>
        </p:spPr>
      </p:pic>
      <p:sp>
        <p:nvSpPr>
          <p:cNvPr id="14" name="Text 10"/>
          <p:cNvSpPr txBox="1"/>
          <p:nvPr/>
        </p:nvSpPr>
        <p:spPr>
          <a:xfrm>
            <a:off x="2125980" y="1627632"/>
            <a:ext cx="155448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Verify</a:t>
            </a:r>
            <a:endParaRPr lang="en-US" sz="1400" dirty="0"/>
          </a:p>
        </p:txBody>
      </p:sp>
      <p:sp>
        <p:nvSpPr>
          <p:cNvPr id="15" name="Shape 11"/>
          <p:cNvSpPr/>
          <p:nvPr/>
        </p:nvSpPr>
        <p:spPr>
          <a:xfrm>
            <a:off x="2125980" y="2194560"/>
            <a:ext cx="1554480" cy="420624"/>
          </a:xfrm>
          <a:prstGeom prst="rect">
            <a:avLst/>
          </a:prstGeom>
          <a:solidFill>
            <a:srgbClr val="F3F7F8"/>
          </a:solidFill>
          <a:ln w="9525">
            <a:solidFill>
              <a:srgbClr val="D5E0E4"/>
            </a:solidFill>
            <a:prstDash val="solid"/>
          </a:ln>
        </p:spPr>
        <p:txBody>
          <a:bodyPr/>
          <a:lstStyle/>
          <a:p>
            <a:endParaRPr lang="en-US"/>
          </a:p>
        </p:txBody>
      </p:sp>
      <p:sp>
        <p:nvSpPr>
          <p:cNvPr id="16" name="Text 12"/>
          <p:cNvSpPr txBox="1"/>
          <p:nvPr/>
        </p:nvSpPr>
        <p:spPr>
          <a:xfrm>
            <a:off x="2199132" y="2194560"/>
            <a:ext cx="1426464" cy="420624"/>
          </a:xfrm>
          <a:prstGeom prst="rect">
            <a:avLst/>
          </a:prstGeom>
          <a:noFill/>
          <a:ln/>
        </p:spPr>
        <p:txBody>
          <a:bodyPr wrap="square" lIns="0" tIns="0" rIns="0" bIns="0" rtlCol="0" anchor="ctr"/>
          <a:lstStyle/>
          <a:p>
            <a:pPr marL="0" indent="0">
              <a:buNone/>
            </a:pPr>
            <a:r>
              <a:rPr lang="en-US" sz="1050" dirty="0">
                <a:solidFill>
                  <a:srgbClr val="1B2B34"/>
                </a:solidFill>
                <a:latin typeface="Calibri" pitchFamily="34" charset="0"/>
                <a:ea typeface="Calibri" pitchFamily="34" charset="-122"/>
                <a:cs typeface="Calibri" pitchFamily="34" charset="-120"/>
              </a:rPr>
              <a:t>3  Review extracted data</a:t>
            </a:r>
            <a:endParaRPr lang="en-US" sz="1050" dirty="0"/>
          </a:p>
        </p:txBody>
      </p:sp>
      <p:sp>
        <p:nvSpPr>
          <p:cNvPr id="17" name="Shape 13"/>
          <p:cNvSpPr/>
          <p:nvPr/>
        </p:nvSpPr>
        <p:spPr>
          <a:xfrm>
            <a:off x="2125980" y="2697480"/>
            <a:ext cx="1554480" cy="420624"/>
          </a:xfrm>
          <a:prstGeom prst="rect">
            <a:avLst/>
          </a:prstGeom>
          <a:solidFill>
            <a:srgbClr val="F3F7F8"/>
          </a:solidFill>
          <a:ln w="9525">
            <a:solidFill>
              <a:srgbClr val="D5E0E4"/>
            </a:solidFill>
            <a:prstDash val="solid"/>
          </a:ln>
        </p:spPr>
        <p:txBody>
          <a:bodyPr/>
          <a:lstStyle/>
          <a:p>
            <a:endParaRPr lang="en-US"/>
          </a:p>
        </p:txBody>
      </p:sp>
      <p:sp>
        <p:nvSpPr>
          <p:cNvPr id="18" name="Text 14"/>
          <p:cNvSpPr txBox="1"/>
          <p:nvPr/>
        </p:nvSpPr>
        <p:spPr>
          <a:xfrm>
            <a:off x="2199132" y="2697480"/>
            <a:ext cx="1426464" cy="420624"/>
          </a:xfrm>
          <a:prstGeom prst="rect">
            <a:avLst/>
          </a:prstGeom>
          <a:noFill/>
          <a:ln/>
        </p:spPr>
        <p:txBody>
          <a:bodyPr wrap="square" lIns="0" tIns="0" rIns="0" bIns="0" rtlCol="0" anchor="ctr"/>
          <a:lstStyle/>
          <a:p>
            <a:pPr marL="0" indent="0">
              <a:buNone/>
            </a:pPr>
            <a:r>
              <a:rPr lang="en-US" sz="1050" dirty="0">
                <a:solidFill>
                  <a:srgbClr val="1B2B34"/>
                </a:solidFill>
                <a:latin typeface="Calibri" pitchFamily="34" charset="0"/>
                <a:ea typeface="Calibri" pitchFamily="34" charset="-122"/>
                <a:cs typeface="Calibri" pitchFamily="34" charset="-120"/>
              </a:rPr>
              <a:t>4  Confirm corrections</a:t>
            </a:r>
            <a:endParaRPr lang="en-US" sz="1050" dirty="0"/>
          </a:p>
        </p:txBody>
      </p:sp>
      <p:sp>
        <p:nvSpPr>
          <p:cNvPr id="19" name="Shape 15"/>
          <p:cNvSpPr/>
          <p:nvPr/>
        </p:nvSpPr>
        <p:spPr>
          <a:xfrm>
            <a:off x="3794760" y="1143000"/>
            <a:ext cx="1554480" cy="868680"/>
          </a:xfrm>
          <a:prstGeom prst="rect">
            <a:avLst/>
          </a:prstGeom>
          <a:solidFill>
            <a:srgbClr val="0F7C8A"/>
          </a:solidFill>
          <a:ln w="12700">
            <a:solidFill>
              <a:srgbClr val="0F7C8A"/>
            </a:solidFill>
            <a:prstDash val="solid"/>
          </a:ln>
        </p:spPr>
        <p:txBody>
          <a:bodyPr/>
          <a:lstStyle/>
          <a:p>
            <a:endParaRPr lang="en-US"/>
          </a:p>
        </p:txBody>
      </p:sp>
      <p:pic>
        <p:nvPicPr>
          <p:cNvPr id="20" name="Image 2" descr="preencoded.png"/>
          <p:cNvPicPr>
            <a:picLocks noChangeAspect="1"/>
          </p:cNvPicPr>
          <p:nvPr/>
        </p:nvPicPr>
        <p:blipFill>
          <a:blip r:embed="rId5"/>
          <a:stretch>
            <a:fillRect/>
          </a:stretch>
        </p:blipFill>
        <p:spPr>
          <a:xfrm>
            <a:off x="4389120" y="1216152"/>
            <a:ext cx="365760" cy="365760"/>
          </a:xfrm>
          <a:prstGeom prst="rect">
            <a:avLst/>
          </a:prstGeom>
        </p:spPr>
      </p:pic>
      <p:sp>
        <p:nvSpPr>
          <p:cNvPr id="21" name="Text 16"/>
          <p:cNvSpPr txBox="1"/>
          <p:nvPr/>
        </p:nvSpPr>
        <p:spPr>
          <a:xfrm>
            <a:off x="3794760" y="1627632"/>
            <a:ext cx="155448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Analyse</a:t>
            </a:r>
            <a:endParaRPr lang="en-US" sz="1400" dirty="0"/>
          </a:p>
        </p:txBody>
      </p:sp>
      <p:sp>
        <p:nvSpPr>
          <p:cNvPr id="22" name="Shape 17"/>
          <p:cNvSpPr/>
          <p:nvPr/>
        </p:nvSpPr>
        <p:spPr>
          <a:xfrm>
            <a:off x="3794760" y="2194560"/>
            <a:ext cx="1554480" cy="420624"/>
          </a:xfrm>
          <a:prstGeom prst="rect">
            <a:avLst/>
          </a:prstGeom>
          <a:solidFill>
            <a:srgbClr val="F3F7F8"/>
          </a:solidFill>
          <a:ln w="9525">
            <a:solidFill>
              <a:srgbClr val="D5E0E4"/>
            </a:solidFill>
            <a:prstDash val="solid"/>
          </a:ln>
        </p:spPr>
        <p:txBody>
          <a:bodyPr/>
          <a:lstStyle/>
          <a:p>
            <a:endParaRPr lang="en-US"/>
          </a:p>
        </p:txBody>
      </p:sp>
      <p:sp>
        <p:nvSpPr>
          <p:cNvPr id="23" name="Text 18"/>
          <p:cNvSpPr txBox="1"/>
          <p:nvPr/>
        </p:nvSpPr>
        <p:spPr>
          <a:xfrm>
            <a:off x="3867912" y="2194560"/>
            <a:ext cx="1426464" cy="420624"/>
          </a:xfrm>
          <a:prstGeom prst="rect">
            <a:avLst/>
          </a:prstGeom>
          <a:noFill/>
          <a:ln/>
        </p:spPr>
        <p:txBody>
          <a:bodyPr wrap="square" lIns="0" tIns="0" rIns="0" bIns="0" rtlCol="0" anchor="ctr"/>
          <a:lstStyle/>
          <a:p>
            <a:pPr marL="0" indent="0">
              <a:buNone/>
            </a:pPr>
            <a:r>
              <a:rPr lang="en-US" sz="1050" dirty="0">
                <a:solidFill>
                  <a:srgbClr val="1B2B34"/>
                </a:solidFill>
                <a:latin typeface="Calibri" pitchFamily="34" charset="0"/>
                <a:ea typeface="Calibri" pitchFamily="34" charset="-122"/>
                <a:cs typeface="Calibri" pitchFamily="34" charset="-120"/>
              </a:rPr>
              <a:t>5  Financial analysis</a:t>
            </a:r>
            <a:endParaRPr lang="en-US" sz="1050" dirty="0"/>
          </a:p>
        </p:txBody>
      </p:sp>
      <p:sp>
        <p:nvSpPr>
          <p:cNvPr id="24" name="Shape 19"/>
          <p:cNvSpPr/>
          <p:nvPr/>
        </p:nvSpPr>
        <p:spPr>
          <a:xfrm>
            <a:off x="3794760" y="2697480"/>
            <a:ext cx="1554480" cy="420624"/>
          </a:xfrm>
          <a:prstGeom prst="rect">
            <a:avLst/>
          </a:prstGeom>
          <a:solidFill>
            <a:srgbClr val="F3F7F8"/>
          </a:solidFill>
          <a:ln w="9525">
            <a:solidFill>
              <a:srgbClr val="D5E0E4"/>
            </a:solidFill>
            <a:prstDash val="solid"/>
          </a:ln>
        </p:spPr>
        <p:txBody>
          <a:bodyPr/>
          <a:lstStyle/>
          <a:p>
            <a:endParaRPr lang="en-US"/>
          </a:p>
        </p:txBody>
      </p:sp>
      <p:sp>
        <p:nvSpPr>
          <p:cNvPr id="25" name="Text 20"/>
          <p:cNvSpPr txBox="1"/>
          <p:nvPr/>
        </p:nvSpPr>
        <p:spPr>
          <a:xfrm>
            <a:off x="3867912" y="2697480"/>
            <a:ext cx="1426464" cy="420624"/>
          </a:xfrm>
          <a:prstGeom prst="rect">
            <a:avLst/>
          </a:prstGeom>
          <a:noFill/>
          <a:ln/>
        </p:spPr>
        <p:txBody>
          <a:bodyPr wrap="square" lIns="0" tIns="0" rIns="0" bIns="0" rtlCol="0" anchor="ctr"/>
          <a:lstStyle/>
          <a:p>
            <a:pPr marL="0" indent="0">
              <a:buNone/>
            </a:pPr>
            <a:r>
              <a:rPr lang="en-US" sz="1050" dirty="0">
                <a:solidFill>
                  <a:srgbClr val="1B2B34"/>
                </a:solidFill>
                <a:latin typeface="Calibri" pitchFamily="34" charset="0"/>
                <a:ea typeface="Calibri" pitchFamily="34" charset="-122"/>
                <a:cs typeface="Calibri" pitchFamily="34" charset="-120"/>
              </a:rPr>
              <a:t>6  Ratio calculation</a:t>
            </a:r>
            <a:endParaRPr lang="en-US" sz="1050" dirty="0"/>
          </a:p>
        </p:txBody>
      </p:sp>
      <p:sp>
        <p:nvSpPr>
          <p:cNvPr id="26" name="Shape 21"/>
          <p:cNvSpPr/>
          <p:nvPr/>
        </p:nvSpPr>
        <p:spPr>
          <a:xfrm>
            <a:off x="3794760" y="3200400"/>
            <a:ext cx="1554480" cy="420624"/>
          </a:xfrm>
          <a:prstGeom prst="rect">
            <a:avLst/>
          </a:prstGeom>
          <a:solidFill>
            <a:srgbClr val="F3F7F8"/>
          </a:solidFill>
          <a:ln w="9525">
            <a:solidFill>
              <a:srgbClr val="D5E0E4"/>
            </a:solidFill>
            <a:prstDash val="solid"/>
          </a:ln>
        </p:spPr>
        <p:txBody>
          <a:bodyPr/>
          <a:lstStyle/>
          <a:p>
            <a:endParaRPr lang="en-US"/>
          </a:p>
        </p:txBody>
      </p:sp>
      <p:sp>
        <p:nvSpPr>
          <p:cNvPr id="27" name="Text 22"/>
          <p:cNvSpPr txBox="1"/>
          <p:nvPr/>
        </p:nvSpPr>
        <p:spPr>
          <a:xfrm>
            <a:off x="3867912" y="3200400"/>
            <a:ext cx="1426464" cy="420624"/>
          </a:xfrm>
          <a:prstGeom prst="rect">
            <a:avLst/>
          </a:prstGeom>
          <a:noFill/>
          <a:ln/>
        </p:spPr>
        <p:txBody>
          <a:bodyPr wrap="square" lIns="0" tIns="0" rIns="0" bIns="0" rtlCol="0" anchor="ctr"/>
          <a:lstStyle/>
          <a:p>
            <a:pPr marL="0" indent="0">
              <a:buNone/>
            </a:pPr>
            <a:r>
              <a:rPr lang="en-US" sz="1050" dirty="0">
                <a:solidFill>
                  <a:srgbClr val="1B2B34"/>
                </a:solidFill>
                <a:latin typeface="Calibri" pitchFamily="34" charset="0"/>
                <a:ea typeface="Calibri" pitchFamily="34" charset="-122"/>
                <a:cs typeface="Calibri" pitchFamily="34" charset="-120"/>
              </a:rPr>
              <a:t>7  SWOT &amp; red flags</a:t>
            </a:r>
            <a:endParaRPr lang="en-US" sz="1050" dirty="0"/>
          </a:p>
        </p:txBody>
      </p:sp>
      <p:sp>
        <p:nvSpPr>
          <p:cNvPr id="28" name="Shape 23"/>
          <p:cNvSpPr/>
          <p:nvPr/>
        </p:nvSpPr>
        <p:spPr>
          <a:xfrm>
            <a:off x="3794760" y="3703320"/>
            <a:ext cx="1554480" cy="420624"/>
          </a:xfrm>
          <a:prstGeom prst="rect">
            <a:avLst/>
          </a:prstGeom>
          <a:solidFill>
            <a:srgbClr val="F3F7F8"/>
          </a:solidFill>
          <a:ln w="9525">
            <a:solidFill>
              <a:srgbClr val="D5E0E4"/>
            </a:solidFill>
            <a:prstDash val="solid"/>
          </a:ln>
        </p:spPr>
        <p:txBody>
          <a:bodyPr/>
          <a:lstStyle/>
          <a:p>
            <a:endParaRPr lang="en-US"/>
          </a:p>
        </p:txBody>
      </p:sp>
      <p:sp>
        <p:nvSpPr>
          <p:cNvPr id="29" name="Text 24"/>
          <p:cNvSpPr txBox="1"/>
          <p:nvPr/>
        </p:nvSpPr>
        <p:spPr>
          <a:xfrm>
            <a:off x="3867912" y="3703320"/>
            <a:ext cx="1426464" cy="420624"/>
          </a:xfrm>
          <a:prstGeom prst="rect">
            <a:avLst/>
          </a:prstGeom>
          <a:noFill/>
          <a:ln/>
        </p:spPr>
        <p:txBody>
          <a:bodyPr wrap="square" lIns="0" tIns="0" rIns="0" bIns="0" rtlCol="0" anchor="ctr"/>
          <a:lstStyle/>
          <a:p>
            <a:pPr marL="0" indent="0">
              <a:buNone/>
            </a:pPr>
            <a:r>
              <a:rPr lang="en-US" sz="1050" dirty="0">
                <a:solidFill>
                  <a:srgbClr val="1B2B34"/>
                </a:solidFill>
                <a:latin typeface="Calibri" pitchFamily="34" charset="0"/>
                <a:ea typeface="Calibri" pitchFamily="34" charset="-122"/>
                <a:cs typeface="Calibri" pitchFamily="34" charset="-120"/>
              </a:rPr>
              <a:t>8  Vendor score</a:t>
            </a:r>
            <a:endParaRPr lang="en-US" sz="1050" dirty="0"/>
          </a:p>
        </p:txBody>
      </p:sp>
      <p:sp>
        <p:nvSpPr>
          <p:cNvPr id="30" name="Shape 25"/>
          <p:cNvSpPr/>
          <p:nvPr/>
        </p:nvSpPr>
        <p:spPr>
          <a:xfrm>
            <a:off x="5463540" y="1143000"/>
            <a:ext cx="1554480" cy="868680"/>
          </a:xfrm>
          <a:prstGeom prst="rect">
            <a:avLst/>
          </a:prstGeom>
          <a:solidFill>
            <a:srgbClr val="0A5A65"/>
          </a:solidFill>
          <a:ln w="12700">
            <a:solidFill>
              <a:srgbClr val="0F7C8A"/>
            </a:solidFill>
            <a:prstDash val="solid"/>
          </a:ln>
        </p:spPr>
        <p:txBody>
          <a:bodyPr/>
          <a:lstStyle/>
          <a:p>
            <a:endParaRPr lang="en-US"/>
          </a:p>
        </p:txBody>
      </p:sp>
      <p:pic>
        <p:nvPicPr>
          <p:cNvPr id="31" name="Image 3" descr="preencoded.png"/>
          <p:cNvPicPr>
            <a:picLocks noChangeAspect="1"/>
          </p:cNvPicPr>
          <p:nvPr/>
        </p:nvPicPr>
        <p:blipFill>
          <a:blip r:embed="rId6"/>
          <a:stretch>
            <a:fillRect/>
          </a:stretch>
        </p:blipFill>
        <p:spPr>
          <a:xfrm>
            <a:off x="6057900" y="1216152"/>
            <a:ext cx="365760" cy="365760"/>
          </a:xfrm>
          <a:prstGeom prst="rect">
            <a:avLst/>
          </a:prstGeom>
        </p:spPr>
      </p:pic>
      <p:sp>
        <p:nvSpPr>
          <p:cNvPr id="32" name="Text 26"/>
          <p:cNvSpPr txBox="1"/>
          <p:nvPr/>
        </p:nvSpPr>
        <p:spPr>
          <a:xfrm>
            <a:off x="5463540" y="1627632"/>
            <a:ext cx="155448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Decide</a:t>
            </a:r>
            <a:endParaRPr lang="en-US" sz="1400" dirty="0"/>
          </a:p>
        </p:txBody>
      </p:sp>
      <p:sp>
        <p:nvSpPr>
          <p:cNvPr id="33" name="Shape 27"/>
          <p:cNvSpPr/>
          <p:nvPr/>
        </p:nvSpPr>
        <p:spPr>
          <a:xfrm>
            <a:off x="5463540" y="2194560"/>
            <a:ext cx="1554480" cy="420624"/>
          </a:xfrm>
          <a:prstGeom prst="rect">
            <a:avLst/>
          </a:prstGeom>
          <a:solidFill>
            <a:srgbClr val="F3F7F8"/>
          </a:solidFill>
          <a:ln w="9525">
            <a:solidFill>
              <a:srgbClr val="D5E0E4"/>
            </a:solidFill>
            <a:prstDash val="solid"/>
          </a:ln>
        </p:spPr>
        <p:txBody>
          <a:bodyPr/>
          <a:lstStyle/>
          <a:p>
            <a:endParaRPr lang="en-US"/>
          </a:p>
        </p:txBody>
      </p:sp>
      <p:sp>
        <p:nvSpPr>
          <p:cNvPr id="34" name="Text 28"/>
          <p:cNvSpPr txBox="1"/>
          <p:nvPr/>
        </p:nvSpPr>
        <p:spPr>
          <a:xfrm>
            <a:off x="5536692" y="2194560"/>
            <a:ext cx="1426464" cy="420624"/>
          </a:xfrm>
          <a:prstGeom prst="rect">
            <a:avLst/>
          </a:prstGeom>
          <a:noFill/>
          <a:ln/>
        </p:spPr>
        <p:txBody>
          <a:bodyPr wrap="square" lIns="0" tIns="0" rIns="0" bIns="0" rtlCol="0" anchor="ctr"/>
          <a:lstStyle/>
          <a:p>
            <a:pPr marL="0" indent="0">
              <a:buNone/>
            </a:pPr>
            <a:r>
              <a:rPr lang="en-US" sz="1050" dirty="0">
                <a:solidFill>
                  <a:srgbClr val="1B2B34"/>
                </a:solidFill>
                <a:latin typeface="Calibri" pitchFamily="34" charset="0"/>
                <a:ea typeface="Calibri" pitchFamily="34" charset="-122"/>
                <a:cs typeface="Calibri" pitchFamily="34" charset="-120"/>
              </a:rPr>
              <a:t>9  Credit recommendation</a:t>
            </a:r>
            <a:endParaRPr lang="en-US" sz="1050" dirty="0"/>
          </a:p>
        </p:txBody>
      </p:sp>
      <p:sp>
        <p:nvSpPr>
          <p:cNvPr id="35" name="Shape 29"/>
          <p:cNvSpPr/>
          <p:nvPr/>
        </p:nvSpPr>
        <p:spPr>
          <a:xfrm>
            <a:off x="5463540" y="2697480"/>
            <a:ext cx="1554480" cy="420624"/>
          </a:xfrm>
          <a:prstGeom prst="rect">
            <a:avLst/>
          </a:prstGeom>
          <a:solidFill>
            <a:srgbClr val="F3F7F8"/>
          </a:solidFill>
          <a:ln w="9525">
            <a:solidFill>
              <a:srgbClr val="D5E0E4"/>
            </a:solidFill>
            <a:prstDash val="solid"/>
          </a:ln>
        </p:spPr>
        <p:txBody>
          <a:bodyPr/>
          <a:lstStyle/>
          <a:p>
            <a:endParaRPr lang="en-US"/>
          </a:p>
        </p:txBody>
      </p:sp>
      <p:sp>
        <p:nvSpPr>
          <p:cNvPr id="36" name="Text 30"/>
          <p:cNvSpPr txBox="1"/>
          <p:nvPr/>
        </p:nvSpPr>
        <p:spPr>
          <a:xfrm>
            <a:off x="5536692" y="2697480"/>
            <a:ext cx="1426464" cy="420624"/>
          </a:xfrm>
          <a:prstGeom prst="rect">
            <a:avLst/>
          </a:prstGeom>
          <a:noFill/>
          <a:ln/>
        </p:spPr>
        <p:txBody>
          <a:bodyPr wrap="square" lIns="0" tIns="0" rIns="0" bIns="0" rtlCol="0" anchor="ctr"/>
          <a:lstStyle/>
          <a:p>
            <a:pPr marL="0" indent="0">
              <a:buNone/>
            </a:pPr>
            <a:r>
              <a:rPr lang="en-US" sz="1050" dirty="0">
                <a:solidFill>
                  <a:srgbClr val="1B2B34"/>
                </a:solidFill>
                <a:latin typeface="Calibri" pitchFamily="34" charset="0"/>
                <a:ea typeface="Calibri" pitchFamily="34" charset="-122"/>
                <a:cs typeface="Calibri" pitchFamily="34" charset="-120"/>
              </a:rPr>
              <a:t>10  Finance review</a:t>
            </a:r>
            <a:endParaRPr lang="en-US" sz="1050" dirty="0"/>
          </a:p>
        </p:txBody>
      </p:sp>
      <p:sp>
        <p:nvSpPr>
          <p:cNvPr id="37" name="Shape 31"/>
          <p:cNvSpPr/>
          <p:nvPr/>
        </p:nvSpPr>
        <p:spPr>
          <a:xfrm>
            <a:off x="5463540" y="3200400"/>
            <a:ext cx="1554480" cy="420624"/>
          </a:xfrm>
          <a:prstGeom prst="rect">
            <a:avLst/>
          </a:prstGeom>
          <a:solidFill>
            <a:srgbClr val="F3F7F8"/>
          </a:solidFill>
          <a:ln w="9525">
            <a:solidFill>
              <a:srgbClr val="D5E0E4"/>
            </a:solidFill>
            <a:prstDash val="solid"/>
          </a:ln>
        </p:spPr>
        <p:txBody>
          <a:bodyPr/>
          <a:lstStyle/>
          <a:p>
            <a:endParaRPr lang="en-US"/>
          </a:p>
        </p:txBody>
      </p:sp>
      <p:sp>
        <p:nvSpPr>
          <p:cNvPr id="38" name="Text 32"/>
          <p:cNvSpPr txBox="1"/>
          <p:nvPr/>
        </p:nvSpPr>
        <p:spPr>
          <a:xfrm>
            <a:off x="5536692" y="3200400"/>
            <a:ext cx="1426464" cy="420624"/>
          </a:xfrm>
          <a:prstGeom prst="rect">
            <a:avLst/>
          </a:prstGeom>
          <a:noFill/>
          <a:ln/>
        </p:spPr>
        <p:txBody>
          <a:bodyPr wrap="square" lIns="0" tIns="0" rIns="0" bIns="0" rtlCol="0" anchor="ctr"/>
          <a:lstStyle/>
          <a:p>
            <a:pPr marL="0" indent="0">
              <a:buNone/>
            </a:pPr>
            <a:r>
              <a:rPr lang="en-US" sz="1050" dirty="0">
                <a:solidFill>
                  <a:srgbClr val="1B2B34"/>
                </a:solidFill>
                <a:latin typeface="Calibri" pitchFamily="34" charset="0"/>
                <a:ea typeface="Calibri" pitchFamily="34" charset="-122"/>
                <a:cs typeface="Calibri" pitchFamily="34" charset="-120"/>
              </a:rPr>
              <a:t>11  Approve / modify / hold</a:t>
            </a:r>
            <a:endParaRPr lang="en-US" sz="1050" dirty="0"/>
          </a:p>
        </p:txBody>
      </p:sp>
      <p:sp>
        <p:nvSpPr>
          <p:cNvPr id="39" name="Shape 33"/>
          <p:cNvSpPr/>
          <p:nvPr/>
        </p:nvSpPr>
        <p:spPr>
          <a:xfrm>
            <a:off x="7132320" y="1143000"/>
            <a:ext cx="1554480" cy="868680"/>
          </a:xfrm>
          <a:prstGeom prst="rect">
            <a:avLst/>
          </a:prstGeom>
          <a:solidFill>
            <a:srgbClr val="0F7C8A"/>
          </a:solidFill>
          <a:ln w="12700">
            <a:solidFill>
              <a:srgbClr val="0F7C8A"/>
            </a:solidFill>
            <a:prstDash val="solid"/>
          </a:ln>
        </p:spPr>
        <p:txBody>
          <a:bodyPr/>
          <a:lstStyle/>
          <a:p>
            <a:endParaRPr lang="en-US"/>
          </a:p>
        </p:txBody>
      </p:sp>
      <p:pic>
        <p:nvPicPr>
          <p:cNvPr id="40" name="Image 4" descr="preencoded.png"/>
          <p:cNvPicPr>
            <a:picLocks noChangeAspect="1"/>
          </p:cNvPicPr>
          <p:nvPr/>
        </p:nvPicPr>
        <p:blipFill>
          <a:blip r:embed="rId7"/>
          <a:stretch>
            <a:fillRect/>
          </a:stretch>
        </p:blipFill>
        <p:spPr>
          <a:xfrm>
            <a:off x="7726680" y="1216152"/>
            <a:ext cx="365760" cy="365760"/>
          </a:xfrm>
          <a:prstGeom prst="rect">
            <a:avLst/>
          </a:prstGeom>
        </p:spPr>
      </p:pic>
      <p:sp>
        <p:nvSpPr>
          <p:cNvPr id="41" name="Text 34"/>
          <p:cNvSpPr txBox="1"/>
          <p:nvPr/>
        </p:nvSpPr>
        <p:spPr>
          <a:xfrm>
            <a:off x="7132320" y="1627632"/>
            <a:ext cx="155448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Report</a:t>
            </a:r>
            <a:endParaRPr lang="en-US" sz="1400" dirty="0"/>
          </a:p>
        </p:txBody>
      </p:sp>
      <p:sp>
        <p:nvSpPr>
          <p:cNvPr id="42" name="Shape 35"/>
          <p:cNvSpPr/>
          <p:nvPr/>
        </p:nvSpPr>
        <p:spPr>
          <a:xfrm>
            <a:off x="7132320" y="2194560"/>
            <a:ext cx="1554480" cy="420624"/>
          </a:xfrm>
          <a:prstGeom prst="rect">
            <a:avLst/>
          </a:prstGeom>
          <a:solidFill>
            <a:srgbClr val="F3F7F8"/>
          </a:solidFill>
          <a:ln w="9525">
            <a:solidFill>
              <a:srgbClr val="D5E0E4"/>
            </a:solidFill>
            <a:prstDash val="solid"/>
          </a:ln>
        </p:spPr>
        <p:txBody>
          <a:bodyPr/>
          <a:lstStyle/>
          <a:p>
            <a:endParaRPr lang="en-US"/>
          </a:p>
        </p:txBody>
      </p:sp>
      <p:sp>
        <p:nvSpPr>
          <p:cNvPr id="43" name="Text 36"/>
          <p:cNvSpPr txBox="1"/>
          <p:nvPr/>
        </p:nvSpPr>
        <p:spPr>
          <a:xfrm>
            <a:off x="7205472" y="2194560"/>
            <a:ext cx="1426464" cy="420624"/>
          </a:xfrm>
          <a:prstGeom prst="rect">
            <a:avLst/>
          </a:prstGeom>
          <a:noFill/>
          <a:ln/>
        </p:spPr>
        <p:txBody>
          <a:bodyPr wrap="square" lIns="0" tIns="0" rIns="0" bIns="0" rtlCol="0" anchor="ctr"/>
          <a:lstStyle/>
          <a:p>
            <a:pPr marL="0" indent="0">
              <a:buNone/>
            </a:pPr>
            <a:r>
              <a:rPr lang="en-US" sz="1050" dirty="0">
                <a:solidFill>
                  <a:srgbClr val="1B2B34"/>
                </a:solidFill>
                <a:latin typeface="Calibri" pitchFamily="34" charset="0"/>
                <a:ea typeface="Calibri" pitchFamily="34" charset="-122"/>
                <a:cs typeface="Calibri" pitchFamily="34" charset="-120"/>
              </a:rPr>
              <a:t>12  Generate report</a:t>
            </a:r>
            <a:endParaRPr lang="en-US" sz="1050" dirty="0"/>
          </a:p>
        </p:txBody>
      </p:sp>
      <p:sp>
        <p:nvSpPr>
          <p:cNvPr id="44" name="Shape 37"/>
          <p:cNvSpPr/>
          <p:nvPr/>
        </p:nvSpPr>
        <p:spPr>
          <a:xfrm>
            <a:off x="7132320" y="2697480"/>
            <a:ext cx="1554480" cy="420624"/>
          </a:xfrm>
          <a:prstGeom prst="rect">
            <a:avLst/>
          </a:prstGeom>
          <a:solidFill>
            <a:srgbClr val="F3F7F8"/>
          </a:solidFill>
          <a:ln w="9525">
            <a:solidFill>
              <a:srgbClr val="D5E0E4"/>
            </a:solidFill>
            <a:prstDash val="solid"/>
          </a:ln>
        </p:spPr>
        <p:txBody>
          <a:bodyPr/>
          <a:lstStyle/>
          <a:p>
            <a:endParaRPr lang="en-US"/>
          </a:p>
        </p:txBody>
      </p:sp>
      <p:sp>
        <p:nvSpPr>
          <p:cNvPr id="45" name="Text 38"/>
          <p:cNvSpPr txBox="1"/>
          <p:nvPr/>
        </p:nvSpPr>
        <p:spPr>
          <a:xfrm>
            <a:off x="7205472" y="2697480"/>
            <a:ext cx="1426464" cy="420624"/>
          </a:xfrm>
          <a:prstGeom prst="rect">
            <a:avLst/>
          </a:prstGeom>
          <a:noFill/>
          <a:ln/>
        </p:spPr>
        <p:txBody>
          <a:bodyPr wrap="square" lIns="0" tIns="0" rIns="0" bIns="0" rtlCol="0" anchor="ctr"/>
          <a:lstStyle/>
          <a:p>
            <a:pPr marL="0" indent="0">
              <a:buNone/>
            </a:pPr>
            <a:r>
              <a:rPr lang="en-US" sz="1050" dirty="0">
                <a:solidFill>
                  <a:srgbClr val="1B2B34"/>
                </a:solidFill>
                <a:latin typeface="Calibri" pitchFamily="34" charset="0"/>
                <a:ea typeface="Calibri" pitchFamily="34" charset="-122"/>
                <a:cs typeface="Calibri" pitchFamily="34" charset="-120"/>
              </a:rPr>
              <a:t>13  Download</a:t>
            </a:r>
            <a:endParaRPr lang="en-US" sz="1050" dirty="0"/>
          </a:p>
        </p:txBody>
      </p:sp>
      <p:sp>
        <p:nvSpPr>
          <p:cNvPr id="46" name="Shape 39"/>
          <p:cNvSpPr/>
          <p:nvPr/>
        </p:nvSpPr>
        <p:spPr>
          <a:xfrm>
            <a:off x="457200" y="4279392"/>
            <a:ext cx="8229600" cy="365760"/>
          </a:xfrm>
          <a:prstGeom prst="rect">
            <a:avLst/>
          </a:prstGeom>
          <a:solidFill>
            <a:srgbClr val="0B2A3D"/>
          </a:solidFill>
          <a:ln w="12700">
            <a:solidFill>
              <a:srgbClr val="0B2A3D"/>
            </a:solidFill>
            <a:prstDash val="solid"/>
          </a:ln>
        </p:spPr>
        <p:txBody>
          <a:bodyPr/>
          <a:lstStyle/>
          <a:p>
            <a:endParaRPr lang="en-US"/>
          </a:p>
        </p:txBody>
      </p:sp>
      <p:sp>
        <p:nvSpPr>
          <p:cNvPr id="47" name="Text 40"/>
          <p:cNvSpPr txBox="1"/>
          <p:nvPr/>
        </p:nvSpPr>
        <p:spPr>
          <a:xfrm>
            <a:off x="548640" y="4279392"/>
            <a:ext cx="8046720" cy="365760"/>
          </a:xfrm>
          <a:prstGeom prst="rect">
            <a:avLst/>
          </a:prstGeom>
          <a:noFill/>
          <a:ln/>
        </p:spPr>
        <p:txBody>
          <a:bodyPr wrap="square" lIns="0" tIns="0" rIns="0" bIns="0"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All 13 steps run in one guided screen: New Assessment.  Nothing is estimated; missing figures stay blank and are flagged.</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2A3D"/>
                </a:solidFill>
                <a:latin typeface="Cambria" pitchFamily="34" charset="0"/>
                <a:ea typeface="Cambria" pitchFamily="34" charset="-122"/>
                <a:cs typeface="Cambria" pitchFamily="34" charset="-120"/>
              </a:rPr>
              <a:t>The Analysis Engine</a:t>
            </a:r>
            <a:endParaRPr lang="en-US" sz="2800" dirty="0"/>
          </a:p>
        </p:txBody>
      </p:sp>
      <p:sp>
        <p:nvSpPr>
          <p:cNvPr id="3" name="Text 1"/>
          <p:cNvSpPr txBox="1"/>
          <p:nvPr/>
        </p:nvSpPr>
        <p:spPr>
          <a:xfrm>
            <a:off x="457200" y="4773168"/>
            <a:ext cx="7498080" cy="228600"/>
          </a:xfrm>
          <a:prstGeom prst="rect">
            <a:avLst/>
          </a:prstGeom>
          <a:noFill/>
          <a:ln/>
        </p:spPr>
        <p:txBody>
          <a:bodyPr wrap="square" lIns="0" tIns="0" rIns="0" bIns="0" rtlCol="0" anchor="ctr"/>
          <a:lstStyle/>
          <a:p>
            <a:pPr marL="0" indent="0">
              <a:buNone/>
            </a:pPr>
            <a:r>
              <a:rPr lang="en-US" sz="900" dirty="0">
                <a:solidFill>
                  <a:srgbClr val="5B6E77"/>
                </a:solidFill>
                <a:latin typeface="Calibri" pitchFamily="34" charset="0"/>
                <a:ea typeface="Calibri" pitchFamily="34" charset="-122"/>
                <a:cs typeface="Calibri" pitchFamily="34" charset="-120"/>
              </a:rPr>
              <a:t>Vendor Financial Health &amp; Credit Assessment  |  Ashok Jain  |  ICAI AI Level 2  |  Gurugram  |  Batch 89</a:t>
            </a:r>
            <a:endParaRPr lang="en-US" sz="900" dirty="0"/>
          </a:p>
        </p:txBody>
      </p:sp>
      <p:sp>
        <p:nvSpPr>
          <p:cNvPr id="4" name="Text 2"/>
          <p:cNvSpPr txBox="1"/>
          <p:nvPr/>
        </p:nvSpPr>
        <p:spPr>
          <a:xfrm>
            <a:off x="8229600" y="4773168"/>
            <a:ext cx="457200" cy="228600"/>
          </a:xfrm>
          <a:prstGeom prst="rect">
            <a:avLst/>
          </a:prstGeom>
          <a:noFill/>
          <a:ln/>
        </p:spPr>
        <p:txBody>
          <a:bodyPr wrap="square" lIns="0" tIns="0" rIns="0" bIns="0" rtlCol="0" anchor="ctr"/>
          <a:lstStyle/>
          <a:p>
            <a:pPr marL="0" indent="0" algn="r">
              <a:buNone/>
            </a:pPr>
            <a:r>
              <a:rPr lang="en-US" sz="900" dirty="0">
                <a:solidFill>
                  <a:srgbClr val="5B6E77"/>
                </a:solidFill>
                <a:latin typeface="Calibri" pitchFamily="34" charset="0"/>
                <a:ea typeface="Calibri" pitchFamily="34" charset="-122"/>
                <a:cs typeface="Calibri" pitchFamily="34" charset="-120"/>
              </a:rPr>
              <a:t>9</a:t>
            </a:r>
            <a:endParaRPr lang="en-US" sz="900" dirty="0"/>
          </a:p>
        </p:txBody>
      </p:sp>
      <p:sp>
        <p:nvSpPr>
          <p:cNvPr id="5" name="Shape 3"/>
          <p:cNvSpPr/>
          <p:nvPr/>
        </p:nvSpPr>
        <p:spPr>
          <a:xfrm>
            <a:off x="457200" y="1143000"/>
            <a:ext cx="1572768" cy="1170432"/>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6" name="Text 4"/>
          <p:cNvSpPr txBox="1"/>
          <p:nvPr/>
        </p:nvSpPr>
        <p:spPr>
          <a:xfrm>
            <a:off x="548640" y="1188720"/>
            <a:ext cx="548640" cy="457200"/>
          </a:xfrm>
          <a:prstGeom prst="rect">
            <a:avLst/>
          </a:prstGeom>
          <a:noFill/>
          <a:ln/>
        </p:spPr>
        <p:txBody>
          <a:bodyPr wrap="square" lIns="0" tIns="0" rIns="0" bIns="0" rtlCol="0" anchor="ctr"/>
          <a:lstStyle/>
          <a:p>
            <a:pPr marL="0" indent="0">
              <a:buNone/>
            </a:pPr>
            <a:r>
              <a:rPr lang="en-US" sz="2600" b="1" dirty="0">
                <a:solidFill>
                  <a:srgbClr val="0F7C8A"/>
                </a:solidFill>
                <a:latin typeface="Cambria" pitchFamily="34" charset="0"/>
                <a:ea typeface="Cambria" pitchFamily="34" charset="-122"/>
                <a:cs typeface="Cambria" pitchFamily="34" charset="-120"/>
              </a:rPr>
              <a:t>3</a:t>
            </a:r>
            <a:endParaRPr lang="en-US" sz="2600" dirty="0"/>
          </a:p>
        </p:txBody>
      </p:sp>
      <p:sp>
        <p:nvSpPr>
          <p:cNvPr id="7" name="Text 5"/>
          <p:cNvSpPr txBox="1"/>
          <p:nvPr/>
        </p:nvSpPr>
        <p:spPr>
          <a:xfrm>
            <a:off x="1024128" y="1188720"/>
            <a:ext cx="960120" cy="457200"/>
          </a:xfrm>
          <a:prstGeom prst="rect">
            <a:avLst/>
          </a:prstGeom>
          <a:noFill/>
          <a:ln/>
        </p:spPr>
        <p:txBody>
          <a:bodyPr wrap="square" lIns="0" tIns="0" rIns="0" bIns="0" rtlCol="0" anchor="ctr"/>
          <a:lstStyle/>
          <a:p>
            <a:pPr marL="0" indent="0">
              <a:buNone/>
            </a:pPr>
            <a:r>
              <a:rPr lang="en-US" sz="1200" b="1" dirty="0">
                <a:solidFill>
                  <a:srgbClr val="0B2A3D"/>
                </a:solidFill>
                <a:latin typeface="Calibri" pitchFamily="34" charset="0"/>
                <a:ea typeface="Calibri" pitchFamily="34" charset="-122"/>
                <a:cs typeface="Calibri" pitchFamily="34" charset="-120"/>
              </a:rPr>
              <a:t>Liquidity</a:t>
            </a:r>
            <a:endParaRPr lang="en-US" sz="1200" dirty="0"/>
          </a:p>
        </p:txBody>
      </p:sp>
      <p:sp>
        <p:nvSpPr>
          <p:cNvPr id="8" name="Text 6"/>
          <p:cNvSpPr txBox="1"/>
          <p:nvPr/>
        </p:nvSpPr>
        <p:spPr>
          <a:xfrm>
            <a:off x="548640" y="1673352"/>
            <a:ext cx="1417320" cy="621792"/>
          </a:xfrm>
          <a:prstGeom prst="rect">
            <a:avLst/>
          </a:prstGeom>
          <a:noFill/>
          <a:ln/>
        </p:spPr>
        <p:txBody>
          <a:bodyPr wrap="square" lIns="0" tIns="0" rIns="0" bIns="0" rtlCol="0" anchor="t"/>
          <a:lstStyle/>
          <a:p>
            <a:pPr marL="0" indent="0">
              <a:buNone/>
            </a:pPr>
            <a:r>
              <a:rPr lang="en-US" sz="950" dirty="0">
                <a:solidFill>
                  <a:srgbClr val="1B2B34"/>
                </a:solidFill>
                <a:latin typeface="Calibri" pitchFamily="34" charset="0"/>
                <a:ea typeface="Calibri" pitchFamily="34" charset="-122"/>
                <a:cs typeface="Calibri" pitchFamily="34" charset="-120"/>
              </a:rPr>
              <a:t>Current, quick, cash</a:t>
            </a:r>
            <a:endParaRPr lang="en-US" sz="950" dirty="0"/>
          </a:p>
        </p:txBody>
      </p:sp>
      <p:sp>
        <p:nvSpPr>
          <p:cNvPr id="9" name="Shape 7"/>
          <p:cNvSpPr/>
          <p:nvPr/>
        </p:nvSpPr>
        <p:spPr>
          <a:xfrm>
            <a:off x="2148840" y="1143000"/>
            <a:ext cx="1572768" cy="1170432"/>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10" name="Text 8"/>
          <p:cNvSpPr txBox="1"/>
          <p:nvPr/>
        </p:nvSpPr>
        <p:spPr>
          <a:xfrm>
            <a:off x="2240280" y="1188720"/>
            <a:ext cx="548640" cy="457200"/>
          </a:xfrm>
          <a:prstGeom prst="rect">
            <a:avLst/>
          </a:prstGeom>
          <a:noFill/>
          <a:ln/>
        </p:spPr>
        <p:txBody>
          <a:bodyPr wrap="square" lIns="0" tIns="0" rIns="0" bIns="0" rtlCol="0" anchor="ctr"/>
          <a:lstStyle/>
          <a:p>
            <a:pPr marL="0" indent="0">
              <a:buNone/>
            </a:pPr>
            <a:r>
              <a:rPr lang="en-US" sz="2600" b="1" dirty="0">
                <a:solidFill>
                  <a:srgbClr val="0F7C8A"/>
                </a:solidFill>
                <a:latin typeface="Cambria" pitchFamily="34" charset="0"/>
                <a:ea typeface="Cambria" pitchFamily="34" charset="-122"/>
                <a:cs typeface="Cambria" pitchFamily="34" charset="-120"/>
              </a:rPr>
              <a:t>4</a:t>
            </a:r>
            <a:endParaRPr lang="en-US" sz="2600" dirty="0"/>
          </a:p>
        </p:txBody>
      </p:sp>
      <p:sp>
        <p:nvSpPr>
          <p:cNvPr id="11" name="Text 9"/>
          <p:cNvSpPr txBox="1"/>
          <p:nvPr/>
        </p:nvSpPr>
        <p:spPr>
          <a:xfrm>
            <a:off x="2715768" y="1188720"/>
            <a:ext cx="960120" cy="457200"/>
          </a:xfrm>
          <a:prstGeom prst="rect">
            <a:avLst/>
          </a:prstGeom>
          <a:noFill/>
          <a:ln/>
        </p:spPr>
        <p:txBody>
          <a:bodyPr wrap="square" lIns="0" tIns="0" rIns="0" bIns="0" rtlCol="0" anchor="ctr"/>
          <a:lstStyle/>
          <a:p>
            <a:pPr marL="0" indent="0">
              <a:buNone/>
            </a:pPr>
            <a:r>
              <a:rPr lang="en-US" sz="1200" b="1" dirty="0">
                <a:solidFill>
                  <a:srgbClr val="0B2A3D"/>
                </a:solidFill>
                <a:latin typeface="Calibri" pitchFamily="34" charset="0"/>
                <a:ea typeface="Calibri" pitchFamily="34" charset="-122"/>
                <a:cs typeface="Calibri" pitchFamily="34" charset="-120"/>
              </a:rPr>
              <a:t>Leverage</a:t>
            </a:r>
            <a:endParaRPr lang="en-US" sz="1200" dirty="0"/>
          </a:p>
        </p:txBody>
      </p:sp>
      <p:sp>
        <p:nvSpPr>
          <p:cNvPr id="12" name="Text 10"/>
          <p:cNvSpPr txBox="1"/>
          <p:nvPr/>
        </p:nvSpPr>
        <p:spPr>
          <a:xfrm>
            <a:off x="2240280" y="1673352"/>
            <a:ext cx="1417320" cy="621792"/>
          </a:xfrm>
          <a:prstGeom prst="rect">
            <a:avLst/>
          </a:prstGeom>
          <a:noFill/>
          <a:ln/>
        </p:spPr>
        <p:txBody>
          <a:bodyPr wrap="square" lIns="0" tIns="0" rIns="0" bIns="0" rtlCol="0" anchor="t"/>
          <a:lstStyle/>
          <a:p>
            <a:pPr marL="0" indent="0">
              <a:buNone/>
            </a:pPr>
            <a:r>
              <a:rPr lang="en-US" sz="950" dirty="0">
                <a:solidFill>
                  <a:srgbClr val="1B2B34"/>
                </a:solidFill>
                <a:latin typeface="Calibri" pitchFamily="34" charset="0"/>
                <a:ea typeface="Calibri" pitchFamily="34" charset="-122"/>
                <a:cs typeface="Calibri" pitchFamily="34" charset="-120"/>
              </a:rPr>
              <a:t>Debt / equity, debt / assets, debt / EBITDA, interest cover</a:t>
            </a:r>
            <a:endParaRPr lang="en-US" sz="950" dirty="0"/>
          </a:p>
        </p:txBody>
      </p:sp>
      <p:sp>
        <p:nvSpPr>
          <p:cNvPr id="13" name="Shape 11"/>
          <p:cNvSpPr/>
          <p:nvPr/>
        </p:nvSpPr>
        <p:spPr>
          <a:xfrm>
            <a:off x="3840480" y="1143000"/>
            <a:ext cx="1572768" cy="1170432"/>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14" name="Text 12"/>
          <p:cNvSpPr txBox="1"/>
          <p:nvPr/>
        </p:nvSpPr>
        <p:spPr>
          <a:xfrm>
            <a:off x="3931920" y="1188720"/>
            <a:ext cx="548640" cy="457200"/>
          </a:xfrm>
          <a:prstGeom prst="rect">
            <a:avLst/>
          </a:prstGeom>
          <a:noFill/>
          <a:ln/>
        </p:spPr>
        <p:txBody>
          <a:bodyPr wrap="square" lIns="0" tIns="0" rIns="0" bIns="0" rtlCol="0" anchor="ctr"/>
          <a:lstStyle/>
          <a:p>
            <a:pPr marL="0" indent="0">
              <a:buNone/>
            </a:pPr>
            <a:r>
              <a:rPr lang="en-US" sz="2600" b="1" dirty="0">
                <a:solidFill>
                  <a:srgbClr val="0F7C8A"/>
                </a:solidFill>
                <a:latin typeface="Cambria" pitchFamily="34" charset="0"/>
                <a:ea typeface="Cambria" pitchFamily="34" charset="-122"/>
                <a:cs typeface="Cambria" pitchFamily="34" charset="-120"/>
              </a:rPr>
              <a:t>7</a:t>
            </a:r>
            <a:endParaRPr lang="en-US" sz="2600" dirty="0"/>
          </a:p>
        </p:txBody>
      </p:sp>
      <p:sp>
        <p:nvSpPr>
          <p:cNvPr id="15" name="Text 13"/>
          <p:cNvSpPr txBox="1"/>
          <p:nvPr/>
        </p:nvSpPr>
        <p:spPr>
          <a:xfrm>
            <a:off x="4407408" y="1188720"/>
            <a:ext cx="960120" cy="457200"/>
          </a:xfrm>
          <a:prstGeom prst="rect">
            <a:avLst/>
          </a:prstGeom>
          <a:noFill/>
          <a:ln/>
        </p:spPr>
        <p:txBody>
          <a:bodyPr wrap="square" lIns="0" tIns="0" rIns="0" bIns="0" rtlCol="0" anchor="ctr"/>
          <a:lstStyle/>
          <a:p>
            <a:pPr marL="0" indent="0">
              <a:buNone/>
            </a:pPr>
            <a:r>
              <a:rPr lang="en-US" sz="1200" b="1" dirty="0">
                <a:solidFill>
                  <a:srgbClr val="0B2A3D"/>
                </a:solidFill>
                <a:latin typeface="Calibri" pitchFamily="34" charset="0"/>
                <a:ea typeface="Calibri" pitchFamily="34" charset="-122"/>
                <a:cs typeface="Calibri" pitchFamily="34" charset="-120"/>
              </a:rPr>
              <a:t>Profitability</a:t>
            </a:r>
            <a:endParaRPr lang="en-US" sz="1200" dirty="0"/>
          </a:p>
        </p:txBody>
      </p:sp>
      <p:sp>
        <p:nvSpPr>
          <p:cNvPr id="16" name="Text 14"/>
          <p:cNvSpPr txBox="1"/>
          <p:nvPr/>
        </p:nvSpPr>
        <p:spPr>
          <a:xfrm>
            <a:off x="3931920" y="1673352"/>
            <a:ext cx="1417320" cy="621792"/>
          </a:xfrm>
          <a:prstGeom prst="rect">
            <a:avLst/>
          </a:prstGeom>
          <a:noFill/>
          <a:ln/>
        </p:spPr>
        <p:txBody>
          <a:bodyPr wrap="square" lIns="0" tIns="0" rIns="0" bIns="0" rtlCol="0" anchor="t"/>
          <a:lstStyle/>
          <a:p>
            <a:pPr marL="0" indent="0">
              <a:buNone/>
            </a:pPr>
            <a:r>
              <a:rPr lang="en-US" sz="950" dirty="0">
                <a:solidFill>
                  <a:srgbClr val="1B2B34"/>
                </a:solidFill>
                <a:latin typeface="Calibri" pitchFamily="34" charset="0"/>
                <a:ea typeface="Calibri" pitchFamily="34" charset="-122"/>
                <a:cs typeface="Calibri" pitchFamily="34" charset="-120"/>
              </a:rPr>
              <a:t>Gross, EBITDA, EBIT, net margin; ROA, ROE, ROCE</a:t>
            </a:r>
            <a:endParaRPr lang="en-US" sz="950" dirty="0"/>
          </a:p>
        </p:txBody>
      </p:sp>
      <p:sp>
        <p:nvSpPr>
          <p:cNvPr id="17" name="Shape 15"/>
          <p:cNvSpPr/>
          <p:nvPr/>
        </p:nvSpPr>
        <p:spPr>
          <a:xfrm>
            <a:off x="457200" y="2423160"/>
            <a:ext cx="1572768" cy="1170432"/>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18" name="Text 16"/>
          <p:cNvSpPr txBox="1"/>
          <p:nvPr/>
        </p:nvSpPr>
        <p:spPr>
          <a:xfrm>
            <a:off x="548640" y="2468880"/>
            <a:ext cx="548640" cy="457200"/>
          </a:xfrm>
          <a:prstGeom prst="rect">
            <a:avLst/>
          </a:prstGeom>
          <a:noFill/>
          <a:ln/>
        </p:spPr>
        <p:txBody>
          <a:bodyPr wrap="square" lIns="0" tIns="0" rIns="0" bIns="0" rtlCol="0" anchor="ctr"/>
          <a:lstStyle/>
          <a:p>
            <a:pPr marL="0" indent="0">
              <a:buNone/>
            </a:pPr>
            <a:r>
              <a:rPr lang="en-US" sz="2600" b="1" dirty="0">
                <a:solidFill>
                  <a:srgbClr val="0F7C8A"/>
                </a:solidFill>
                <a:latin typeface="Cambria" pitchFamily="34" charset="0"/>
                <a:ea typeface="Cambria" pitchFamily="34" charset="-122"/>
                <a:cs typeface="Cambria" pitchFamily="34" charset="-120"/>
              </a:rPr>
              <a:t>5</a:t>
            </a:r>
            <a:endParaRPr lang="en-US" sz="2600" dirty="0"/>
          </a:p>
        </p:txBody>
      </p:sp>
      <p:sp>
        <p:nvSpPr>
          <p:cNvPr id="19" name="Text 17"/>
          <p:cNvSpPr txBox="1"/>
          <p:nvPr/>
        </p:nvSpPr>
        <p:spPr>
          <a:xfrm>
            <a:off x="1024128" y="2468880"/>
            <a:ext cx="960120" cy="457200"/>
          </a:xfrm>
          <a:prstGeom prst="rect">
            <a:avLst/>
          </a:prstGeom>
          <a:noFill/>
          <a:ln/>
        </p:spPr>
        <p:txBody>
          <a:bodyPr wrap="square" lIns="0" tIns="0" rIns="0" bIns="0" rtlCol="0" anchor="ctr"/>
          <a:lstStyle/>
          <a:p>
            <a:pPr marL="0" indent="0">
              <a:buNone/>
            </a:pPr>
            <a:r>
              <a:rPr lang="en-US" sz="1200" b="1" dirty="0">
                <a:solidFill>
                  <a:srgbClr val="0B2A3D"/>
                </a:solidFill>
                <a:latin typeface="Calibri" pitchFamily="34" charset="0"/>
                <a:ea typeface="Calibri" pitchFamily="34" charset="-122"/>
                <a:cs typeface="Calibri" pitchFamily="34" charset="-120"/>
              </a:rPr>
              <a:t>Efficiency</a:t>
            </a:r>
            <a:endParaRPr lang="en-US" sz="1200" dirty="0"/>
          </a:p>
        </p:txBody>
      </p:sp>
      <p:sp>
        <p:nvSpPr>
          <p:cNvPr id="20" name="Text 18"/>
          <p:cNvSpPr txBox="1"/>
          <p:nvPr/>
        </p:nvSpPr>
        <p:spPr>
          <a:xfrm>
            <a:off x="548640" y="2953512"/>
            <a:ext cx="1417320" cy="621792"/>
          </a:xfrm>
          <a:prstGeom prst="rect">
            <a:avLst/>
          </a:prstGeom>
          <a:noFill/>
          <a:ln/>
        </p:spPr>
        <p:txBody>
          <a:bodyPr wrap="square" lIns="0" tIns="0" rIns="0" bIns="0" rtlCol="0" anchor="t"/>
          <a:lstStyle/>
          <a:p>
            <a:pPr marL="0" indent="0">
              <a:buNone/>
            </a:pPr>
            <a:r>
              <a:rPr lang="en-US" sz="950" dirty="0">
                <a:solidFill>
                  <a:srgbClr val="1B2B34"/>
                </a:solidFill>
                <a:latin typeface="Calibri" pitchFamily="34" charset="0"/>
                <a:ea typeface="Calibri" pitchFamily="34" charset="-122"/>
                <a:cs typeface="Calibri" pitchFamily="34" charset="-120"/>
              </a:rPr>
              <a:t>Receivable, payable and inventory days; turnover; cash cycle</a:t>
            </a:r>
            <a:endParaRPr lang="en-US" sz="950" dirty="0"/>
          </a:p>
        </p:txBody>
      </p:sp>
      <p:sp>
        <p:nvSpPr>
          <p:cNvPr id="21" name="Shape 19"/>
          <p:cNvSpPr/>
          <p:nvPr/>
        </p:nvSpPr>
        <p:spPr>
          <a:xfrm>
            <a:off x="2148840" y="2423160"/>
            <a:ext cx="1572768" cy="1170432"/>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22" name="Text 20"/>
          <p:cNvSpPr txBox="1"/>
          <p:nvPr/>
        </p:nvSpPr>
        <p:spPr>
          <a:xfrm>
            <a:off x="2240280" y="2468880"/>
            <a:ext cx="548640" cy="457200"/>
          </a:xfrm>
          <a:prstGeom prst="rect">
            <a:avLst/>
          </a:prstGeom>
          <a:noFill/>
          <a:ln/>
        </p:spPr>
        <p:txBody>
          <a:bodyPr wrap="square" lIns="0" tIns="0" rIns="0" bIns="0" rtlCol="0" anchor="ctr"/>
          <a:lstStyle/>
          <a:p>
            <a:pPr marL="0" indent="0">
              <a:buNone/>
            </a:pPr>
            <a:r>
              <a:rPr lang="en-US" sz="2600" b="1" dirty="0">
                <a:solidFill>
                  <a:srgbClr val="0F7C8A"/>
                </a:solidFill>
                <a:latin typeface="Cambria" pitchFamily="34" charset="0"/>
                <a:ea typeface="Cambria" pitchFamily="34" charset="-122"/>
                <a:cs typeface="Cambria" pitchFamily="34" charset="-120"/>
              </a:rPr>
              <a:t>3</a:t>
            </a:r>
            <a:endParaRPr lang="en-US" sz="2600" dirty="0"/>
          </a:p>
        </p:txBody>
      </p:sp>
      <p:sp>
        <p:nvSpPr>
          <p:cNvPr id="23" name="Text 21"/>
          <p:cNvSpPr txBox="1"/>
          <p:nvPr/>
        </p:nvSpPr>
        <p:spPr>
          <a:xfrm>
            <a:off x="2715768" y="2468880"/>
            <a:ext cx="960120" cy="457200"/>
          </a:xfrm>
          <a:prstGeom prst="rect">
            <a:avLst/>
          </a:prstGeom>
          <a:noFill/>
          <a:ln/>
        </p:spPr>
        <p:txBody>
          <a:bodyPr wrap="square" lIns="0" tIns="0" rIns="0" bIns="0" rtlCol="0" anchor="ctr"/>
          <a:lstStyle/>
          <a:p>
            <a:pPr marL="0" indent="0">
              <a:buNone/>
            </a:pPr>
            <a:r>
              <a:rPr lang="en-US" sz="1200" b="1" dirty="0">
                <a:solidFill>
                  <a:srgbClr val="0B2A3D"/>
                </a:solidFill>
                <a:latin typeface="Calibri" pitchFamily="34" charset="0"/>
                <a:ea typeface="Calibri" pitchFamily="34" charset="-122"/>
                <a:cs typeface="Calibri" pitchFamily="34" charset="-120"/>
              </a:rPr>
              <a:t>Cash flow</a:t>
            </a:r>
            <a:endParaRPr lang="en-US" sz="1200" dirty="0"/>
          </a:p>
        </p:txBody>
      </p:sp>
      <p:sp>
        <p:nvSpPr>
          <p:cNvPr id="24" name="Text 22"/>
          <p:cNvSpPr txBox="1"/>
          <p:nvPr/>
        </p:nvSpPr>
        <p:spPr>
          <a:xfrm>
            <a:off x="2240280" y="2953512"/>
            <a:ext cx="1417320" cy="621792"/>
          </a:xfrm>
          <a:prstGeom prst="rect">
            <a:avLst/>
          </a:prstGeom>
          <a:noFill/>
          <a:ln/>
        </p:spPr>
        <p:txBody>
          <a:bodyPr wrap="square" lIns="0" tIns="0" rIns="0" bIns="0" rtlCol="0" anchor="t"/>
          <a:lstStyle/>
          <a:p>
            <a:pPr marL="0" indent="0">
              <a:buNone/>
            </a:pPr>
            <a:r>
              <a:rPr lang="en-US" sz="950" dirty="0">
                <a:solidFill>
                  <a:srgbClr val="1B2B34"/>
                </a:solidFill>
                <a:latin typeface="Calibri" pitchFamily="34" charset="0"/>
                <a:ea typeface="Calibri" pitchFamily="34" charset="-122"/>
                <a:cs typeface="Calibri" pitchFamily="34" charset="-120"/>
              </a:rPr>
              <a:t>Operating cash flow margin, to EBITDA, to debt</a:t>
            </a:r>
            <a:endParaRPr lang="en-US" sz="950" dirty="0"/>
          </a:p>
        </p:txBody>
      </p:sp>
      <p:sp>
        <p:nvSpPr>
          <p:cNvPr id="25" name="Shape 23"/>
          <p:cNvSpPr/>
          <p:nvPr/>
        </p:nvSpPr>
        <p:spPr>
          <a:xfrm>
            <a:off x="3840480" y="2423160"/>
            <a:ext cx="1572768" cy="1170432"/>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26" name="Text 24"/>
          <p:cNvSpPr txBox="1"/>
          <p:nvPr/>
        </p:nvSpPr>
        <p:spPr>
          <a:xfrm>
            <a:off x="3931920" y="2468880"/>
            <a:ext cx="548640" cy="457200"/>
          </a:xfrm>
          <a:prstGeom prst="rect">
            <a:avLst/>
          </a:prstGeom>
          <a:noFill/>
          <a:ln/>
        </p:spPr>
        <p:txBody>
          <a:bodyPr wrap="square" lIns="0" tIns="0" rIns="0" bIns="0" rtlCol="0" anchor="ctr"/>
          <a:lstStyle/>
          <a:p>
            <a:pPr marL="0" indent="0">
              <a:buNone/>
            </a:pPr>
            <a:r>
              <a:rPr lang="en-US" sz="2600" b="1" dirty="0">
                <a:solidFill>
                  <a:srgbClr val="0F7C8A"/>
                </a:solidFill>
                <a:latin typeface="Cambria" pitchFamily="34" charset="0"/>
                <a:ea typeface="Cambria" pitchFamily="34" charset="-122"/>
                <a:cs typeface="Cambria" pitchFamily="34" charset="-120"/>
              </a:rPr>
              <a:t>3</a:t>
            </a:r>
            <a:endParaRPr lang="en-US" sz="2600" dirty="0"/>
          </a:p>
        </p:txBody>
      </p:sp>
      <p:sp>
        <p:nvSpPr>
          <p:cNvPr id="27" name="Text 25"/>
          <p:cNvSpPr txBox="1"/>
          <p:nvPr/>
        </p:nvSpPr>
        <p:spPr>
          <a:xfrm>
            <a:off x="4407408" y="2468880"/>
            <a:ext cx="960120" cy="457200"/>
          </a:xfrm>
          <a:prstGeom prst="rect">
            <a:avLst/>
          </a:prstGeom>
          <a:noFill/>
          <a:ln/>
        </p:spPr>
        <p:txBody>
          <a:bodyPr wrap="square" lIns="0" tIns="0" rIns="0" bIns="0" rtlCol="0" anchor="ctr"/>
          <a:lstStyle/>
          <a:p>
            <a:pPr marL="0" indent="0">
              <a:buNone/>
            </a:pPr>
            <a:r>
              <a:rPr lang="en-US" sz="1200" b="1" dirty="0">
                <a:solidFill>
                  <a:srgbClr val="0B2A3D"/>
                </a:solidFill>
                <a:latin typeface="Calibri" pitchFamily="34" charset="0"/>
                <a:ea typeface="Calibri" pitchFamily="34" charset="-122"/>
                <a:cs typeface="Calibri" pitchFamily="34" charset="-120"/>
              </a:rPr>
              <a:t>Growth</a:t>
            </a:r>
            <a:endParaRPr lang="en-US" sz="1200" dirty="0"/>
          </a:p>
        </p:txBody>
      </p:sp>
      <p:sp>
        <p:nvSpPr>
          <p:cNvPr id="28" name="Text 26"/>
          <p:cNvSpPr txBox="1"/>
          <p:nvPr/>
        </p:nvSpPr>
        <p:spPr>
          <a:xfrm>
            <a:off x="3931920" y="2953512"/>
            <a:ext cx="1417320" cy="621792"/>
          </a:xfrm>
          <a:prstGeom prst="rect">
            <a:avLst/>
          </a:prstGeom>
          <a:noFill/>
          <a:ln/>
        </p:spPr>
        <p:txBody>
          <a:bodyPr wrap="square" lIns="0" tIns="0" rIns="0" bIns="0" rtlCol="0" anchor="t"/>
          <a:lstStyle/>
          <a:p>
            <a:pPr marL="0" indent="0">
              <a:buNone/>
            </a:pPr>
            <a:r>
              <a:rPr lang="en-US" sz="950" dirty="0">
                <a:solidFill>
                  <a:srgbClr val="1B2B34"/>
                </a:solidFill>
                <a:latin typeface="Calibri" pitchFamily="34" charset="0"/>
                <a:ea typeface="Calibri" pitchFamily="34" charset="-122"/>
                <a:cs typeface="Calibri" pitchFamily="34" charset="-120"/>
              </a:rPr>
              <a:t>Revenue, EBITDA and PAT growth</a:t>
            </a:r>
            <a:endParaRPr lang="en-US" sz="950" dirty="0"/>
          </a:p>
        </p:txBody>
      </p:sp>
      <p:sp>
        <p:nvSpPr>
          <p:cNvPr id="29" name="Shape 27"/>
          <p:cNvSpPr/>
          <p:nvPr/>
        </p:nvSpPr>
        <p:spPr>
          <a:xfrm>
            <a:off x="457200" y="3794760"/>
            <a:ext cx="5074920" cy="731520"/>
          </a:xfrm>
          <a:prstGeom prst="rect">
            <a:avLst/>
          </a:prstGeom>
          <a:solidFill>
            <a:srgbClr val="E2F1F3"/>
          </a:solidFill>
          <a:ln w="12700">
            <a:solidFill>
              <a:srgbClr val="E2F1F3"/>
            </a:solidFill>
            <a:prstDash val="solid"/>
          </a:ln>
        </p:spPr>
        <p:txBody>
          <a:bodyPr/>
          <a:lstStyle/>
          <a:p>
            <a:endParaRPr lang="en-US"/>
          </a:p>
        </p:txBody>
      </p:sp>
      <p:sp>
        <p:nvSpPr>
          <p:cNvPr id="30" name="Text 28"/>
          <p:cNvSpPr txBox="1"/>
          <p:nvPr/>
        </p:nvSpPr>
        <p:spPr>
          <a:xfrm>
            <a:off x="566928" y="3794760"/>
            <a:ext cx="4846320" cy="731520"/>
          </a:xfrm>
          <a:prstGeom prst="rect">
            <a:avLst/>
          </a:prstGeom>
          <a:noFill/>
          <a:ln/>
        </p:spPr>
        <p:txBody>
          <a:bodyPr wrap="square" lIns="0" tIns="0" rIns="0" bIns="0" rtlCol="0" anchor="ctr"/>
          <a:lstStyle/>
          <a:p>
            <a:pPr marL="0" indent="0">
              <a:buNone/>
            </a:pPr>
            <a:r>
              <a:rPr lang="en-US" sz="1050" b="1" dirty="0">
                <a:solidFill>
                  <a:srgbClr val="0A5A65"/>
                </a:solidFill>
                <a:latin typeface="Calibri" pitchFamily="34" charset="0"/>
                <a:ea typeface="Calibri" pitchFamily="34" charset="-122"/>
                <a:cs typeface="Calibri" pitchFamily="34" charset="-120"/>
              </a:rPr>
              <a:t>25 ratios in total. Each shows its formula, current and previous value, trend, interpretation and risk. If inputs are missing: "Insufficient information available".</a:t>
            </a:r>
            <a:endParaRPr lang="en-US" sz="1050" dirty="0"/>
          </a:p>
        </p:txBody>
      </p:sp>
      <p:sp>
        <p:nvSpPr>
          <p:cNvPr id="31" name="Shape 29"/>
          <p:cNvSpPr/>
          <p:nvPr/>
        </p:nvSpPr>
        <p:spPr>
          <a:xfrm>
            <a:off x="5715000" y="1143000"/>
            <a:ext cx="2971800" cy="338328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32" name="Shape 30"/>
          <p:cNvSpPr/>
          <p:nvPr/>
        </p:nvSpPr>
        <p:spPr>
          <a:xfrm>
            <a:off x="5852160" y="1261872"/>
            <a:ext cx="411480" cy="411480"/>
          </a:xfrm>
          <a:prstGeom prst="ellipse">
            <a:avLst/>
          </a:prstGeom>
          <a:solidFill>
            <a:srgbClr val="FDF1DC"/>
          </a:solidFill>
          <a:ln w="12700">
            <a:solidFill>
              <a:srgbClr val="FDF1DC"/>
            </a:solidFill>
            <a:prstDash val="solid"/>
          </a:ln>
        </p:spPr>
        <p:txBody>
          <a:bodyPr/>
          <a:lstStyle/>
          <a:p>
            <a:endParaRPr lang="en-US"/>
          </a:p>
        </p:txBody>
      </p:sp>
      <p:pic>
        <p:nvPicPr>
          <p:cNvPr id="33" name="Image 0" descr="preencoded.png"/>
          <p:cNvPicPr>
            <a:picLocks noChangeAspect="1"/>
          </p:cNvPicPr>
          <p:nvPr/>
        </p:nvPicPr>
        <p:blipFill>
          <a:blip r:embed="rId3"/>
          <a:stretch>
            <a:fillRect/>
          </a:stretch>
        </p:blipFill>
        <p:spPr>
          <a:xfrm>
            <a:off x="5955030" y="1364742"/>
            <a:ext cx="205740" cy="205740"/>
          </a:xfrm>
          <a:prstGeom prst="rect">
            <a:avLst/>
          </a:prstGeom>
        </p:spPr>
      </p:pic>
      <p:sp>
        <p:nvSpPr>
          <p:cNvPr id="34" name="Text 31"/>
          <p:cNvSpPr txBox="1"/>
          <p:nvPr/>
        </p:nvSpPr>
        <p:spPr>
          <a:xfrm>
            <a:off x="6355080" y="1261872"/>
            <a:ext cx="2286000" cy="411480"/>
          </a:xfrm>
          <a:prstGeom prst="rect">
            <a:avLst/>
          </a:prstGeom>
          <a:noFill/>
          <a:ln/>
        </p:spPr>
        <p:txBody>
          <a:bodyPr wrap="square" lIns="0" tIns="0" rIns="0" bIns="0" rtlCol="0" anchor="ctr"/>
          <a:lstStyle/>
          <a:p>
            <a:pPr marL="0" indent="0">
              <a:buNone/>
            </a:pPr>
            <a:r>
              <a:rPr lang="en-US" sz="1500" b="1" dirty="0">
                <a:solidFill>
                  <a:srgbClr val="0B2A3D"/>
                </a:solidFill>
                <a:latin typeface="Cambria" pitchFamily="34" charset="0"/>
                <a:ea typeface="Cambria" pitchFamily="34" charset="-122"/>
                <a:cs typeface="Cambria" pitchFamily="34" charset="-120"/>
              </a:rPr>
              <a:t>Red-flag engine</a:t>
            </a:r>
            <a:endParaRPr lang="en-US" sz="1500" dirty="0"/>
          </a:p>
        </p:txBody>
      </p:sp>
      <p:sp>
        <p:nvSpPr>
          <p:cNvPr id="35" name="Text 32"/>
          <p:cNvSpPr txBox="1"/>
          <p:nvPr/>
        </p:nvSpPr>
        <p:spPr>
          <a:xfrm>
            <a:off x="5852160" y="1783080"/>
            <a:ext cx="2743200" cy="214884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rgbClr val="1B2B34"/>
                </a:solidFill>
                <a:latin typeface="Calibri" pitchFamily="34" charset="0"/>
                <a:ea typeface="Calibri" pitchFamily="34" charset="-122"/>
                <a:cs typeface="Calibri" pitchFamily="34" charset="-120"/>
              </a:rPr>
              <a:t>Negative net worth</a:t>
            </a:r>
            <a:endParaRPr lang="en-US" sz="1050" dirty="0"/>
          </a:p>
          <a:p>
            <a:pPr marL="342900" indent="-342900">
              <a:spcAft>
                <a:spcPts val="200"/>
              </a:spcAft>
              <a:buSzPct val="100000"/>
              <a:buChar char="•"/>
            </a:pPr>
            <a:r>
              <a:rPr lang="en-US" sz="1050" dirty="0">
                <a:solidFill>
                  <a:srgbClr val="1B2B34"/>
                </a:solidFill>
                <a:latin typeface="Calibri" pitchFamily="34" charset="0"/>
                <a:ea typeface="Calibri" pitchFamily="34" charset="-122"/>
                <a:cs typeface="Calibri" pitchFamily="34" charset="-120"/>
              </a:rPr>
              <a:t>Loss-making or continuous losses</a:t>
            </a:r>
            <a:endParaRPr lang="en-US" sz="1050" dirty="0"/>
          </a:p>
          <a:p>
            <a:pPr marL="342900" indent="-342900">
              <a:spcAft>
                <a:spcPts val="200"/>
              </a:spcAft>
              <a:buSzPct val="100000"/>
              <a:buChar char="•"/>
            </a:pPr>
            <a:r>
              <a:rPr lang="en-US" sz="1050" dirty="0">
                <a:solidFill>
                  <a:srgbClr val="1B2B34"/>
                </a:solidFill>
                <a:latin typeface="Calibri" pitchFamily="34" charset="0"/>
                <a:ea typeface="Calibri" pitchFamily="34" charset="-122"/>
                <a:cs typeface="Calibri" pitchFamily="34" charset="-120"/>
              </a:rPr>
              <a:t>Revenue decline</a:t>
            </a:r>
            <a:endParaRPr lang="en-US" sz="1050" dirty="0"/>
          </a:p>
          <a:p>
            <a:pPr marL="342900" indent="-342900">
              <a:spcAft>
                <a:spcPts val="200"/>
              </a:spcAft>
              <a:buSzPct val="100000"/>
              <a:buChar char="•"/>
            </a:pPr>
            <a:r>
              <a:rPr lang="en-US" sz="1050" dirty="0">
                <a:solidFill>
                  <a:srgbClr val="1B2B34"/>
                </a:solidFill>
                <a:latin typeface="Calibri" pitchFamily="34" charset="0"/>
                <a:ea typeface="Calibri" pitchFamily="34" charset="-122"/>
                <a:cs typeface="Calibri" pitchFamily="34" charset="-120"/>
              </a:rPr>
              <a:t>High leverage</a:t>
            </a:r>
            <a:endParaRPr lang="en-US" sz="1050" dirty="0"/>
          </a:p>
          <a:p>
            <a:pPr marL="342900" indent="-342900">
              <a:spcAft>
                <a:spcPts val="200"/>
              </a:spcAft>
              <a:buSzPct val="100000"/>
              <a:buChar char="•"/>
            </a:pPr>
            <a:r>
              <a:rPr lang="en-US" sz="1050" dirty="0">
                <a:solidFill>
                  <a:srgbClr val="1B2B34"/>
                </a:solidFill>
                <a:latin typeface="Calibri" pitchFamily="34" charset="0"/>
                <a:ea typeface="Calibri" pitchFamily="34" charset="-122"/>
                <a:cs typeface="Calibri" pitchFamily="34" charset="-120"/>
              </a:rPr>
              <a:t>Low interest coverage</a:t>
            </a:r>
            <a:endParaRPr lang="en-US" sz="1050" dirty="0"/>
          </a:p>
          <a:p>
            <a:pPr marL="342900" indent="-342900">
              <a:spcAft>
                <a:spcPts val="200"/>
              </a:spcAft>
              <a:buSzPct val="100000"/>
              <a:buChar char="•"/>
            </a:pPr>
            <a:r>
              <a:rPr lang="en-US" sz="1050" dirty="0">
                <a:solidFill>
                  <a:srgbClr val="1B2B34"/>
                </a:solidFill>
                <a:latin typeface="Calibri" pitchFamily="34" charset="0"/>
                <a:ea typeface="Calibri" pitchFamily="34" charset="-122"/>
                <a:cs typeface="Calibri" pitchFamily="34" charset="-120"/>
              </a:rPr>
              <a:t>Weak liquidity</a:t>
            </a:r>
            <a:endParaRPr lang="en-US" sz="1050" dirty="0"/>
          </a:p>
          <a:p>
            <a:pPr marL="342900" indent="-342900">
              <a:spcAft>
                <a:spcPts val="200"/>
              </a:spcAft>
              <a:buSzPct val="100000"/>
              <a:buChar char="•"/>
            </a:pPr>
            <a:r>
              <a:rPr lang="en-US" sz="1050" dirty="0">
                <a:solidFill>
                  <a:srgbClr val="1B2B34"/>
                </a:solidFill>
                <a:latin typeface="Calibri" pitchFamily="34" charset="0"/>
                <a:ea typeface="Calibri" pitchFamily="34" charset="-122"/>
                <a:cs typeface="Calibri" pitchFamily="34" charset="-120"/>
              </a:rPr>
              <a:t>Negative operating cash flow</a:t>
            </a:r>
            <a:endParaRPr lang="en-US" sz="1050" dirty="0"/>
          </a:p>
          <a:p>
            <a:pPr marL="342900" indent="-342900">
              <a:spcAft>
                <a:spcPts val="200"/>
              </a:spcAft>
              <a:buSzPct val="100000"/>
              <a:buChar char="•"/>
            </a:pPr>
            <a:r>
              <a:rPr lang="en-US" sz="1050" dirty="0">
                <a:solidFill>
                  <a:srgbClr val="1B2B34"/>
                </a:solidFill>
                <a:latin typeface="Calibri" pitchFamily="34" charset="0"/>
                <a:ea typeface="Calibri" pitchFamily="34" charset="-122"/>
                <a:cs typeface="Calibri" pitchFamily="34" charset="-120"/>
              </a:rPr>
              <a:t>High receivable days</a:t>
            </a:r>
            <a:endParaRPr lang="en-US" sz="1050" dirty="0"/>
          </a:p>
          <a:p>
            <a:pPr marL="342900" indent="-342900">
              <a:spcAft>
                <a:spcPts val="200"/>
              </a:spcAft>
              <a:buSzPct val="100000"/>
              <a:buChar char="•"/>
            </a:pPr>
            <a:r>
              <a:rPr lang="en-US" sz="1050" dirty="0">
                <a:solidFill>
                  <a:srgbClr val="1B2B34"/>
                </a:solidFill>
                <a:latin typeface="Calibri" pitchFamily="34" charset="0"/>
                <a:ea typeface="Calibri" pitchFamily="34" charset="-122"/>
                <a:cs typeface="Calibri" pitchFamily="34" charset="-120"/>
              </a:rPr>
              <a:t>Short-term borrowing dependence</a:t>
            </a:r>
            <a:endParaRPr lang="en-US" sz="1050" dirty="0"/>
          </a:p>
          <a:p>
            <a:pPr marL="342900" indent="-342900">
              <a:spcAft>
                <a:spcPts val="200"/>
              </a:spcAft>
              <a:buSzPct val="100000"/>
              <a:buChar char="•"/>
            </a:pPr>
            <a:r>
              <a:rPr lang="en-US" sz="1050" dirty="0">
                <a:solidFill>
                  <a:srgbClr val="1B2B34"/>
                </a:solidFill>
                <a:latin typeface="Calibri" pitchFamily="34" charset="0"/>
                <a:ea typeface="Calibri" pitchFamily="34" charset="-122"/>
                <a:cs typeface="Calibri" pitchFamily="34" charset="-120"/>
              </a:rPr>
              <a:t>Sharp fall in profitability</a:t>
            </a:r>
            <a:endParaRPr lang="en-US" sz="1050" dirty="0"/>
          </a:p>
        </p:txBody>
      </p:sp>
      <p:sp>
        <p:nvSpPr>
          <p:cNvPr id="36" name="Text 33"/>
          <p:cNvSpPr txBox="1"/>
          <p:nvPr/>
        </p:nvSpPr>
        <p:spPr>
          <a:xfrm>
            <a:off x="5852160" y="3977640"/>
            <a:ext cx="2743200" cy="457200"/>
          </a:xfrm>
          <a:prstGeom prst="rect">
            <a:avLst/>
          </a:prstGeom>
          <a:noFill/>
          <a:ln/>
        </p:spPr>
        <p:txBody>
          <a:bodyPr wrap="square" lIns="0" tIns="0" rIns="0" bIns="0" rtlCol="0" anchor="t"/>
          <a:lstStyle/>
          <a:p>
            <a:pPr marL="0" indent="0">
              <a:buNone/>
            </a:pPr>
            <a:r>
              <a:rPr lang="en-US" sz="1000" i="1" dirty="0">
                <a:solidFill>
                  <a:srgbClr val="5B6E77"/>
                </a:solidFill>
                <a:latin typeface="Calibri" pitchFamily="34" charset="0"/>
                <a:ea typeface="Calibri" pitchFamily="34" charset="-122"/>
                <a:cs typeface="Calibri" pitchFamily="34" charset="-120"/>
              </a:rPr>
              <a:t>Each flag: severity, evidence, impact, reviewer attention.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2A3D"/>
                </a:solidFill>
                <a:latin typeface="Cambria" pitchFamily="34" charset="0"/>
                <a:ea typeface="Cambria" pitchFamily="34" charset="-122"/>
                <a:cs typeface="Cambria" pitchFamily="34" charset="-120"/>
              </a:rPr>
              <a:t>Vendor Score &amp; Credit Recommendation</a:t>
            </a:r>
            <a:endParaRPr lang="en-US" sz="2800" dirty="0"/>
          </a:p>
        </p:txBody>
      </p:sp>
      <p:sp>
        <p:nvSpPr>
          <p:cNvPr id="3" name="Text 1"/>
          <p:cNvSpPr txBox="1"/>
          <p:nvPr/>
        </p:nvSpPr>
        <p:spPr>
          <a:xfrm>
            <a:off x="457200" y="4773168"/>
            <a:ext cx="7498080" cy="228600"/>
          </a:xfrm>
          <a:prstGeom prst="rect">
            <a:avLst/>
          </a:prstGeom>
          <a:noFill/>
          <a:ln/>
        </p:spPr>
        <p:txBody>
          <a:bodyPr wrap="square" lIns="0" tIns="0" rIns="0" bIns="0" rtlCol="0" anchor="ctr"/>
          <a:lstStyle/>
          <a:p>
            <a:pPr marL="0" indent="0">
              <a:buNone/>
            </a:pPr>
            <a:r>
              <a:rPr lang="en-US" sz="900" dirty="0">
                <a:solidFill>
                  <a:srgbClr val="5B6E77"/>
                </a:solidFill>
                <a:latin typeface="Calibri" pitchFamily="34" charset="0"/>
                <a:ea typeface="Calibri" pitchFamily="34" charset="-122"/>
                <a:cs typeface="Calibri" pitchFamily="34" charset="-120"/>
              </a:rPr>
              <a:t>Vendor Financial Health &amp; Credit Assessment  |  Ashok Jain  |  ICAI AI Level 2  |  Gurugram  |  Batch 89</a:t>
            </a:r>
            <a:endParaRPr lang="en-US" sz="900" dirty="0"/>
          </a:p>
        </p:txBody>
      </p:sp>
      <p:sp>
        <p:nvSpPr>
          <p:cNvPr id="4" name="Text 2"/>
          <p:cNvSpPr txBox="1"/>
          <p:nvPr/>
        </p:nvSpPr>
        <p:spPr>
          <a:xfrm>
            <a:off x="8229600" y="4773168"/>
            <a:ext cx="457200" cy="228600"/>
          </a:xfrm>
          <a:prstGeom prst="rect">
            <a:avLst/>
          </a:prstGeom>
          <a:noFill/>
          <a:ln/>
        </p:spPr>
        <p:txBody>
          <a:bodyPr wrap="square" lIns="0" tIns="0" rIns="0" bIns="0" rtlCol="0" anchor="ctr"/>
          <a:lstStyle/>
          <a:p>
            <a:pPr marL="0" indent="0" algn="r">
              <a:buNone/>
            </a:pPr>
            <a:r>
              <a:rPr lang="en-US" sz="900" dirty="0">
                <a:solidFill>
                  <a:srgbClr val="5B6E77"/>
                </a:solidFill>
                <a:latin typeface="Calibri" pitchFamily="34" charset="0"/>
                <a:ea typeface="Calibri" pitchFamily="34" charset="-122"/>
                <a:cs typeface="Calibri" pitchFamily="34" charset="-120"/>
              </a:rPr>
              <a:t>10</a:t>
            </a:r>
            <a:endParaRPr lang="en-US" sz="900" dirty="0"/>
          </a:p>
        </p:txBody>
      </p:sp>
      <p:graphicFrame>
        <p:nvGraphicFramePr>
          <p:cNvPr id="5" name="Chart 0"/>
          <p:cNvGraphicFramePr/>
          <p:nvPr/>
        </p:nvGraphicFramePr>
        <p:xfrm>
          <a:off x="457200" y="1097280"/>
          <a:ext cx="411480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4754880" y="1143000"/>
            <a:ext cx="3931920" cy="114300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4892040" y="1143000"/>
            <a:ext cx="3657600" cy="1143000"/>
          </a:xfrm>
          <a:prstGeom prst="rect">
            <a:avLst/>
          </a:prstGeom>
          <a:noFill/>
          <a:ln/>
        </p:spPr>
        <p:txBody>
          <a:bodyPr wrap="square" lIns="0" tIns="0" rIns="0" bIns="0" rtlCol="0" anchor="ctr"/>
          <a:lstStyle/>
          <a:p>
            <a:pPr marL="0" indent="0">
              <a:buNone/>
            </a:pPr>
            <a:r>
              <a:rPr lang="en-US" sz="1250" b="1" dirty="0">
                <a:solidFill>
                  <a:srgbClr val="0B2A3D"/>
                </a:solidFill>
                <a:latin typeface="Calibri" pitchFamily="34" charset="0"/>
                <a:ea typeface="Calibri" pitchFamily="34" charset="-122"/>
                <a:cs typeface="Calibri" pitchFamily="34" charset="-120"/>
              </a:rPr>
              <a:t>Credit limit = lowest of  5% of revenue,  10% of net worth,  25% of working capital,  × score multiplier</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754880" y="2468880"/>
          <a:ext cx="3931920" cy="1645920"/>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29184">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Score</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0B2A3D"/>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Limit multiplier</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0B2A3D"/>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Credit period</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0B2A3D"/>
                    </a:solidFill>
                  </a:tcPr>
                </a:tc>
                <a:extLst>
                  <a:ext uri="{0D108BD9-81ED-4DB2-BD59-A6C34878D82A}">
                    <a16:rowId xmlns:a16="http://schemas.microsoft.com/office/drawing/2014/main" val="10000"/>
                  </a:ext>
                </a:extLst>
              </a:tr>
              <a:tr h="329184">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80 and above</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1.00×</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60 days</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65 to 79</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3F7F8"/>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0.75×</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3F7F8"/>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45 days</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3F7F8"/>
                    </a:solidFill>
                  </a:tcPr>
                </a:tc>
                <a:extLst>
                  <a:ext uri="{0D108BD9-81ED-4DB2-BD59-A6C34878D82A}">
                    <a16:rowId xmlns:a16="http://schemas.microsoft.com/office/drawing/2014/main" val="10002"/>
                  </a:ext>
                </a:extLst>
              </a:tr>
              <a:tr h="329184">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50 to 64</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0.50×</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30 days</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Below 50</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3F7F8"/>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0.25×</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3F7F8"/>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15 days</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3F7F8"/>
                    </a:solidFill>
                  </a:tcPr>
                </a:tc>
                <a:extLst>
                  <a:ext uri="{0D108BD9-81ED-4DB2-BD59-A6C34878D82A}">
                    <a16:rowId xmlns:a16="http://schemas.microsoft.com/office/drawing/2014/main" val="10004"/>
                  </a:ext>
                </a:extLst>
              </a:tr>
            </a:tbl>
          </a:graphicData>
        </a:graphic>
      </p:graphicFrame>
      <p:sp>
        <p:nvSpPr>
          <p:cNvPr id="9" name="Text 5"/>
          <p:cNvSpPr txBox="1"/>
          <p:nvPr/>
        </p:nvSpPr>
        <p:spPr>
          <a:xfrm>
            <a:off x="4754880" y="4160520"/>
            <a:ext cx="3931920" cy="411480"/>
          </a:xfrm>
          <a:prstGeom prst="rect">
            <a:avLst/>
          </a:prstGeom>
          <a:noFill/>
          <a:ln/>
        </p:spPr>
        <p:txBody>
          <a:bodyPr wrap="square" lIns="0" tIns="0" rIns="0" bIns="0" rtlCol="0" anchor="t"/>
          <a:lstStyle/>
          <a:p>
            <a:pPr marL="0" indent="0">
              <a:buNone/>
            </a:pPr>
            <a:r>
              <a:rPr lang="en-US" sz="1050" i="1" dirty="0">
                <a:solidFill>
                  <a:srgbClr val="5B6E77"/>
                </a:solidFill>
                <a:latin typeface="Calibri" pitchFamily="34" charset="0"/>
                <a:ea typeface="Calibri" pitchFamily="34" charset="-122"/>
                <a:cs typeface="Calibri" pitchFamily="34" charset="-120"/>
              </a:rPr>
              <a:t>Starting rules, stored as versioned configuration in the database. Confidence is reduced when scoring data is incomplete.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2A3D"/>
                </a:solidFill>
                <a:latin typeface="Cambria" pitchFamily="34" charset="0"/>
                <a:ea typeface="Cambria" pitchFamily="34" charset="-122"/>
                <a:cs typeface="Cambria" pitchFamily="34" charset="-120"/>
              </a:rPr>
              <a:t>Reports &amp; Outputs</a:t>
            </a:r>
            <a:endParaRPr lang="en-US" sz="2800" dirty="0"/>
          </a:p>
        </p:txBody>
      </p:sp>
      <p:sp>
        <p:nvSpPr>
          <p:cNvPr id="3" name="Text 1"/>
          <p:cNvSpPr txBox="1"/>
          <p:nvPr/>
        </p:nvSpPr>
        <p:spPr>
          <a:xfrm>
            <a:off x="457200" y="4773168"/>
            <a:ext cx="7498080" cy="228600"/>
          </a:xfrm>
          <a:prstGeom prst="rect">
            <a:avLst/>
          </a:prstGeom>
          <a:noFill/>
          <a:ln/>
        </p:spPr>
        <p:txBody>
          <a:bodyPr wrap="square" lIns="0" tIns="0" rIns="0" bIns="0" rtlCol="0" anchor="ctr"/>
          <a:lstStyle/>
          <a:p>
            <a:pPr marL="0" indent="0">
              <a:buNone/>
            </a:pPr>
            <a:r>
              <a:rPr lang="en-US" sz="900" dirty="0">
                <a:solidFill>
                  <a:srgbClr val="5B6E77"/>
                </a:solidFill>
                <a:latin typeface="Calibri" pitchFamily="34" charset="0"/>
                <a:ea typeface="Calibri" pitchFamily="34" charset="-122"/>
                <a:cs typeface="Calibri" pitchFamily="34" charset="-120"/>
              </a:rPr>
              <a:t>Vendor Financial Health &amp; Credit Assessment  |  Ashok Jain  |  ICAI AI Level 2  |  Gurugram  |  Batch 89</a:t>
            </a:r>
            <a:endParaRPr lang="en-US" sz="900" dirty="0"/>
          </a:p>
        </p:txBody>
      </p:sp>
      <p:sp>
        <p:nvSpPr>
          <p:cNvPr id="4" name="Text 2"/>
          <p:cNvSpPr txBox="1"/>
          <p:nvPr/>
        </p:nvSpPr>
        <p:spPr>
          <a:xfrm>
            <a:off x="8229600" y="4773168"/>
            <a:ext cx="457200" cy="228600"/>
          </a:xfrm>
          <a:prstGeom prst="rect">
            <a:avLst/>
          </a:prstGeom>
          <a:noFill/>
          <a:ln/>
        </p:spPr>
        <p:txBody>
          <a:bodyPr wrap="square" lIns="0" tIns="0" rIns="0" bIns="0" rtlCol="0" anchor="ctr"/>
          <a:lstStyle/>
          <a:p>
            <a:pPr marL="0" indent="0" algn="r">
              <a:buNone/>
            </a:pPr>
            <a:r>
              <a:rPr lang="en-US" sz="900" dirty="0">
                <a:solidFill>
                  <a:srgbClr val="5B6E77"/>
                </a:solidFill>
                <a:latin typeface="Calibri" pitchFamily="34" charset="0"/>
                <a:ea typeface="Calibri" pitchFamily="34" charset="-122"/>
                <a:cs typeface="Calibri" pitchFamily="34" charset="-120"/>
              </a:rPr>
              <a:t>11</a:t>
            </a:r>
            <a:endParaRPr lang="en-US" sz="900" dirty="0"/>
          </a:p>
        </p:txBody>
      </p:sp>
      <p:sp>
        <p:nvSpPr>
          <p:cNvPr id="5" name="Shape 3"/>
          <p:cNvSpPr/>
          <p:nvPr/>
        </p:nvSpPr>
        <p:spPr>
          <a:xfrm>
            <a:off x="457200" y="1097280"/>
            <a:ext cx="1920240" cy="96012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6" name="Shape 4"/>
          <p:cNvSpPr/>
          <p:nvPr/>
        </p:nvSpPr>
        <p:spPr>
          <a:xfrm>
            <a:off x="594360" y="1234440"/>
            <a:ext cx="548640" cy="548640"/>
          </a:xfrm>
          <a:prstGeom prst="ellipse">
            <a:avLst/>
          </a:prstGeom>
          <a:solidFill>
            <a:srgbClr val="E2F1F3"/>
          </a:solidFill>
          <a:ln w="12700">
            <a:solidFill>
              <a:srgbClr val="E2F1F3"/>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731520" y="1371600"/>
            <a:ext cx="274320" cy="274320"/>
          </a:xfrm>
          <a:prstGeom prst="rect">
            <a:avLst/>
          </a:prstGeom>
        </p:spPr>
      </p:pic>
      <p:sp>
        <p:nvSpPr>
          <p:cNvPr id="8" name="Text 5"/>
          <p:cNvSpPr txBox="1"/>
          <p:nvPr/>
        </p:nvSpPr>
        <p:spPr>
          <a:xfrm>
            <a:off x="1234440" y="1188720"/>
            <a:ext cx="1097280" cy="320040"/>
          </a:xfrm>
          <a:prstGeom prst="rect">
            <a:avLst/>
          </a:prstGeom>
          <a:noFill/>
          <a:ln/>
        </p:spPr>
        <p:txBody>
          <a:bodyPr wrap="square" lIns="0" tIns="0" rIns="0" bIns="0" rtlCol="0" anchor="ctr"/>
          <a:lstStyle/>
          <a:p>
            <a:pPr marL="0" indent="0">
              <a:buNone/>
            </a:pPr>
            <a:r>
              <a:rPr lang="en-US" sz="1400" b="1" dirty="0">
                <a:solidFill>
                  <a:srgbClr val="0B2A3D"/>
                </a:solidFill>
                <a:latin typeface="Calibri" pitchFamily="34" charset="0"/>
                <a:ea typeface="Calibri" pitchFamily="34" charset="-122"/>
                <a:cs typeface="Calibri" pitchFamily="34" charset="-120"/>
              </a:rPr>
              <a:t>PDF</a:t>
            </a:r>
            <a:endParaRPr lang="en-US" sz="1400" dirty="0"/>
          </a:p>
        </p:txBody>
      </p:sp>
      <p:sp>
        <p:nvSpPr>
          <p:cNvPr id="9" name="Text 6"/>
          <p:cNvSpPr txBox="1"/>
          <p:nvPr/>
        </p:nvSpPr>
        <p:spPr>
          <a:xfrm>
            <a:off x="1234440" y="1508760"/>
            <a:ext cx="1097280" cy="411480"/>
          </a:xfrm>
          <a:prstGeom prst="rect">
            <a:avLst/>
          </a:prstGeom>
          <a:noFill/>
          <a:ln/>
        </p:spPr>
        <p:txBody>
          <a:bodyPr wrap="square" lIns="0" tIns="0" rIns="0" bIns="0" rtlCol="0" anchor="t"/>
          <a:lstStyle/>
          <a:p>
            <a:pPr marL="0" indent="0">
              <a:buNone/>
            </a:pPr>
            <a:r>
              <a:rPr lang="en-US" sz="1050" dirty="0">
                <a:solidFill>
                  <a:srgbClr val="5B6E77"/>
                </a:solidFill>
                <a:latin typeface="Calibri" pitchFamily="34" charset="0"/>
                <a:ea typeface="Calibri" pitchFamily="34" charset="-122"/>
                <a:cs typeface="Calibri" pitchFamily="34" charset="-120"/>
              </a:rPr>
              <a:t>Full report</a:t>
            </a:r>
            <a:endParaRPr lang="en-US" sz="1050" dirty="0"/>
          </a:p>
        </p:txBody>
      </p:sp>
      <p:sp>
        <p:nvSpPr>
          <p:cNvPr id="10" name="Shape 7"/>
          <p:cNvSpPr/>
          <p:nvPr/>
        </p:nvSpPr>
        <p:spPr>
          <a:xfrm>
            <a:off x="2560320" y="1097280"/>
            <a:ext cx="1920240" cy="96012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11" name="Shape 8"/>
          <p:cNvSpPr/>
          <p:nvPr/>
        </p:nvSpPr>
        <p:spPr>
          <a:xfrm>
            <a:off x="2697480" y="1234440"/>
            <a:ext cx="548640" cy="548640"/>
          </a:xfrm>
          <a:prstGeom prst="ellipse">
            <a:avLst/>
          </a:prstGeom>
          <a:solidFill>
            <a:srgbClr val="E2F1F3"/>
          </a:solidFill>
          <a:ln w="12700">
            <a:solidFill>
              <a:srgbClr val="E2F1F3"/>
            </a:solidFill>
            <a:prstDash val="solid"/>
          </a:ln>
        </p:spPr>
        <p:txBody>
          <a:bodyPr/>
          <a:lstStyle/>
          <a:p>
            <a:endParaRPr lang="en-US"/>
          </a:p>
        </p:txBody>
      </p:sp>
      <p:pic>
        <p:nvPicPr>
          <p:cNvPr id="12" name="Image 1" descr="preencoded.png"/>
          <p:cNvPicPr>
            <a:picLocks noChangeAspect="1"/>
          </p:cNvPicPr>
          <p:nvPr/>
        </p:nvPicPr>
        <p:blipFill>
          <a:blip r:embed="rId4"/>
          <a:stretch>
            <a:fillRect/>
          </a:stretch>
        </p:blipFill>
        <p:spPr>
          <a:xfrm>
            <a:off x="2834640" y="1371600"/>
            <a:ext cx="274320" cy="274320"/>
          </a:xfrm>
          <a:prstGeom prst="rect">
            <a:avLst/>
          </a:prstGeom>
        </p:spPr>
      </p:pic>
      <p:sp>
        <p:nvSpPr>
          <p:cNvPr id="13" name="Text 9"/>
          <p:cNvSpPr txBox="1"/>
          <p:nvPr/>
        </p:nvSpPr>
        <p:spPr>
          <a:xfrm>
            <a:off x="3337560" y="1188720"/>
            <a:ext cx="1097280" cy="320040"/>
          </a:xfrm>
          <a:prstGeom prst="rect">
            <a:avLst/>
          </a:prstGeom>
          <a:noFill/>
          <a:ln/>
        </p:spPr>
        <p:txBody>
          <a:bodyPr wrap="square" lIns="0" tIns="0" rIns="0" bIns="0" rtlCol="0" anchor="ctr"/>
          <a:lstStyle/>
          <a:p>
            <a:pPr marL="0" indent="0">
              <a:buNone/>
            </a:pPr>
            <a:r>
              <a:rPr lang="en-US" sz="1400" b="1" dirty="0">
                <a:solidFill>
                  <a:srgbClr val="0B2A3D"/>
                </a:solidFill>
                <a:latin typeface="Calibri" pitchFamily="34" charset="0"/>
                <a:ea typeface="Calibri" pitchFamily="34" charset="-122"/>
                <a:cs typeface="Calibri" pitchFamily="34" charset="-120"/>
              </a:rPr>
              <a:t>Word</a:t>
            </a:r>
            <a:endParaRPr lang="en-US" sz="1400" dirty="0"/>
          </a:p>
        </p:txBody>
      </p:sp>
      <p:sp>
        <p:nvSpPr>
          <p:cNvPr id="14" name="Text 10"/>
          <p:cNvSpPr txBox="1"/>
          <p:nvPr/>
        </p:nvSpPr>
        <p:spPr>
          <a:xfrm>
            <a:off x="3337560" y="1508760"/>
            <a:ext cx="1097280" cy="411480"/>
          </a:xfrm>
          <a:prstGeom prst="rect">
            <a:avLst/>
          </a:prstGeom>
          <a:noFill/>
          <a:ln/>
        </p:spPr>
        <p:txBody>
          <a:bodyPr wrap="square" lIns="0" tIns="0" rIns="0" bIns="0" rtlCol="0" anchor="t"/>
          <a:lstStyle/>
          <a:p>
            <a:pPr marL="0" indent="0">
              <a:buNone/>
            </a:pPr>
            <a:r>
              <a:rPr lang="en-US" sz="1050" dirty="0">
                <a:solidFill>
                  <a:srgbClr val="5B6E77"/>
                </a:solidFill>
                <a:latin typeface="Calibri" pitchFamily="34" charset="0"/>
                <a:ea typeface="Calibri" pitchFamily="34" charset="-122"/>
                <a:cs typeface="Calibri" pitchFamily="34" charset="-120"/>
              </a:rPr>
              <a:t>Editable report</a:t>
            </a:r>
            <a:endParaRPr lang="en-US" sz="1050" dirty="0"/>
          </a:p>
        </p:txBody>
      </p:sp>
      <p:sp>
        <p:nvSpPr>
          <p:cNvPr id="15" name="Shape 11"/>
          <p:cNvSpPr/>
          <p:nvPr/>
        </p:nvSpPr>
        <p:spPr>
          <a:xfrm>
            <a:off x="4663440" y="1097280"/>
            <a:ext cx="1920240" cy="96012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16" name="Shape 12"/>
          <p:cNvSpPr/>
          <p:nvPr/>
        </p:nvSpPr>
        <p:spPr>
          <a:xfrm>
            <a:off x="4800600" y="1234440"/>
            <a:ext cx="548640" cy="548640"/>
          </a:xfrm>
          <a:prstGeom prst="ellipse">
            <a:avLst/>
          </a:prstGeom>
          <a:solidFill>
            <a:srgbClr val="E2F1F3"/>
          </a:solidFill>
          <a:ln w="12700">
            <a:solidFill>
              <a:srgbClr val="E2F1F3"/>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4937760" y="1371600"/>
            <a:ext cx="274320" cy="274320"/>
          </a:xfrm>
          <a:prstGeom prst="rect">
            <a:avLst/>
          </a:prstGeom>
        </p:spPr>
      </p:pic>
      <p:sp>
        <p:nvSpPr>
          <p:cNvPr id="18" name="Text 13"/>
          <p:cNvSpPr txBox="1"/>
          <p:nvPr/>
        </p:nvSpPr>
        <p:spPr>
          <a:xfrm>
            <a:off x="5440680" y="1188720"/>
            <a:ext cx="1097280" cy="320040"/>
          </a:xfrm>
          <a:prstGeom prst="rect">
            <a:avLst/>
          </a:prstGeom>
          <a:noFill/>
          <a:ln/>
        </p:spPr>
        <p:txBody>
          <a:bodyPr wrap="square" lIns="0" tIns="0" rIns="0" bIns="0" rtlCol="0" anchor="ctr"/>
          <a:lstStyle/>
          <a:p>
            <a:pPr marL="0" indent="0">
              <a:buNone/>
            </a:pPr>
            <a:r>
              <a:rPr lang="en-US" sz="1400" b="1" dirty="0">
                <a:solidFill>
                  <a:srgbClr val="0B2A3D"/>
                </a:solidFill>
                <a:latin typeface="Calibri" pitchFamily="34" charset="0"/>
                <a:ea typeface="Calibri" pitchFamily="34" charset="-122"/>
                <a:cs typeface="Calibri" pitchFamily="34" charset="-120"/>
              </a:rPr>
              <a:t>Excel</a:t>
            </a:r>
            <a:endParaRPr lang="en-US" sz="1400" dirty="0"/>
          </a:p>
        </p:txBody>
      </p:sp>
      <p:sp>
        <p:nvSpPr>
          <p:cNvPr id="19" name="Text 14"/>
          <p:cNvSpPr txBox="1"/>
          <p:nvPr/>
        </p:nvSpPr>
        <p:spPr>
          <a:xfrm>
            <a:off x="5440680" y="1508760"/>
            <a:ext cx="1097280" cy="411480"/>
          </a:xfrm>
          <a:prstGeom prst="rect">
            <a:avLst/>
          </a:prstGeom>
          <a:noFill/>
          <a:ln/>
        </p:spPr>
        <p:txBody>
          <a:bodyPr wrap="square" lIns="0" tIns="0" rIns="0" bIns="0" rtlCol="0" anchor="t"/>
          <a:lstStyle/>
          <a:p>
            <a:pPr marL="0" indent="0">
              <a:buNone/>
            </a:pPr>
            <a:r>
              <a:rPr lang="en-US" sz="1050" dirty="0">
                <a:solidFill>
                  <a:srgbClr val="5B6E77"/>
                </a:solidFill>
                <a:latin typeface="Calibri" pitchFamily="34" charset="0"/>
                <a:ea typeface="Calibri" pitchFamily="34" charset="-122"/>
                <a:cs typeface="Calibri" pitchFamily="34" charset="-120"/>
              </a:rPr>
              <a:t>Data, ratios, score</a:t>
            </a:r>
            <a:endParaRPr lang="en-US" sz="1050" dirty="0"/>
          </a:p>
        </p:txBody>
      </p:sp>
      <p:sp>
        <p:nvSpPr>
          <p:cNvPr id="20" name="Shape 15"/>
          <p:cNvSpPr/>
          <p:nvPr/>
        </p:nvSpPr>
        <p:spPr>
          <a:xfrm>
            <a:off x="6766560" y="1097280"/>
            <a:ext cx="1920240" cy="96012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21" name="Shape 16"/>
          <p:cNvSpPr/>
          <p:nvPr/>
        </p:nvSpPr>
        <p:spPr>
          <a:xfrm>
            <a:off x="6903720" y="1234440"/>
            <a:ext cx="548640" cy="548640"/>
          </a:xfrm>
          <a:prstGeom prst="ellipse">
            <a:avLst/>
          </a:prstGeom>
          <a:solidFill>
            <a:srgbClr val="E2F1F3"/>
          </a:solidFill>
          <a:ln w="12700">
            <a:solidFill>
              <a:srgbClr val="E2F1F3"/>
            </a:solidFill>
            <a:prstDash val="solid"/>
          </a:ln>
        </p:spPr>
        <p:txBody>
          <a:bodyPr/>
          <a:lstStyle/>
          <a:p>
            <a:endParaRPr lang="en-US"/>
          </a:p>
        </p:txBody>
      </p:sp>
      <p:pic>
        <p:nvPicPr>
          <p:cNvPr id="22" name="Image 3" descr="preencoded.png"/>
          <p:cNvPicPr>
            <a:picLocks noChangeAspect="1"/>
          </p:cNvPicPr>
          <p:nvPr/>
        </p:nvPicPr>
        <p:blipFill>
          <a:blip r:embed="rId6"/>
          <a:stretch>
            <a:fillRect/>
          </a:stretch>
        </p:blipFill>
        <p:spPr>
          <a:xfrm>
            <a:off x="7040880" y="1371600"/>
            <a:ext cx="274320" cy="274320"/>
          </a:xfrm>
          <a:prstGeom prst="rect">
            <a:avLst/>
          </a:prstGeom>
        </p:spPr>
      </p:pic>
      <p:sp>
        <p:nvSpPr>
          <p:cNvPr id="23" name="Text 17"/>
          <p:cNvSpPr txBox="1"/>
          <p:nvPr/>
        </p:nvSpPr>
        <p:spPr>
          <a:xfrm>
            <a:off x="7543800" y="1188720"/>
            <a:ext cx="1097280" cy="320040"/>
          </a:xfrm>
          <a:prstGeom prst="rect">
            <a:avLst/>
          </a:prstGeom>
          <a:noFill/>
          <a:ln/>
        </p:spPr>
        <p:txBody>
          <a:bodyPr wrap="square" lIns="0" tIns="0" rIns="0" bIns="0" rtlCol="0" anchor="ctr"/>
          <a:lstStyle/>
          <a:p>
            <a:pPr marL="0" indent="0">
              <a:buNone/>
            </a:pPr>
            <a:r>
              <a:rPr lang="en-US" sz="1400" b="1" dirty="0">
                <a:solidFill>
                  <a:srgbClr val="0B2A3D"/>
                </a:solidFill>
                <a:latin typeface="Calibri" pitchFamily="34" charset="0"/>
                <a:ea typeface="Calibri" pitchFamily="34" charset="-122"/>
                <a:cs typeface="Calibri" pitchFamily="34" charset="-120"/>
              </a:rPr>
              <a:t>PowerPoint</a:t>
            </a:r>
            <a:endParaRPr lang="en-US" sz="1400" dirty="0"/>
          </a:p>
        </p:txBody>
      </p:sp>
      <p:sp>
        <p:nvSpPr>
          <p:cNvPr id="24" name="Text 18"/>
          <p:cNvSpPr txBox="1"/>
          <p:nvPr/>
        </p:nvSpPr>
        <p:spPr>
          <a:xfrm>
            <a:off x="7543800" y="1508760"/>
            <a:ext cx="1097280" cy="411480"/>
          </a:xfrm>
          <a:prstGeom prst="rect">
            <a:avLst/>
          </a:prstGeom>
          <a:noFill/>
          <a:ln/>
        </p:spPr>
        <p:txBody>
          <a:bodyPr wrap="square" lIns="0" tIns="0" rIns="0" bIns="0" rtlCol="0" anchor="t"/>
          <a:lstStyle/>
          <a:p>
            <a:pPr marL="0" indent="0">
              <a:buNone/>
            </a:pPr>
            <a:r>
              <a:rPr lang="en-US" sz="1050" dirty="0">
                <a:solidFill>
                  <a:srgbClr val="5B6E77"/>
                </a:solidFill>
                <a:latin typeface="Calibri" pitchFamily="34" charset="0"/>
                <a:ea typeface="Calibri" pitchFamily="34" charset="-122"/>
                <a:cs typeface="Calibri" pitchFamily="34" charset="-120"/>
              </a:rPr>
              <a:t>Management deck</a:t>
            </a:r>
            <a:endParaRPr lang="en-US" sz="1050" dirty="0"/>
          </a:p>
        </p:txBody>
      </p:sp>
      <p:sp>
        <p:nvSpPr>
          <p:cNvPr id="25" name="Shape 19"/>
          <p:cNvSpPr/>
          <p:nvPr/>
        </p:nvSpPr>
        <p:spPr>
          <a:xfrm>
            <a:off x="457200" y="2240280"/>
            <a:ext cx="4023360" cy="228600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26" name="Text 20"/>
          <p:cNvSpPr txBox="1"/>
          <p:nvPr/>
        </p:nvSpPr>
        <p:spPr>
          <a:xfrm>
            <a:off x="640080" y="2331720"/>
            <a:ext cx="3657600" cy="365760"/>
          </a:xfrm>
          <a:prstGeom prst="rect">
            <a:avLst/>
          </a:prstGeom>
          <a:noFill/>
          <a:ln/>
        </p:spPr>
        <p:txBody>
          <a:bodyPr wrap="square" lIns="0" tIns="0" rIns="0" bIns="0" rtlCol="0" anchor="ctr"/>
          <a:lstStyle/>
          <a:p>
            <a:pPr marL="0" indent="0">
              <a:buNone/>
            </a:pPr>
            <a:r>
              <a:rPr lang="en-US" sz="1400" b="1" dirty="0">
                <a:solidFill>
                  <a:srgbClr val="0B2A3D"/>
                </a:solidFill>
                <a:latin typeface="Cambria" pitchFamily="34" charset="0"/>
                <a:ea typeface="Cambria" pitchFamily="34" charset="-122"/>
                <a:cs typeface="Cambria" pitchFamily="34" charset="-120"/>
              </a:rPr>
              <a:t>26-section Vendor Evaluation Report</a:t>
            </a:r>
            <a:endParaRPr lang="en-US" sz="1400" dirty="0"/>
          </a:p>
        </p:txBody>
      </p:sp>
      <p:sp>
        <p:nvSpPr>
          <p:cNvPr id="27" name="Text 21"/>
          <p:cNvSpPr txBox="1"/>
          <p:nvPr/>
        </p:nvSpPr>
        <p:spPr>
          <a:xfrm>
            <a:off x="640080" y="2743200"/>
            <a:ext cx="3703320" cy="173736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1B2B34"/>
                </a:solidFill>
                <a:latin typeface="Calibri" pitchFamily="34" charset="0"/>
                <a:ea typeface="Calibri" pitchFamily="34" charset="-122"/>
                <a:cs typeface="Calibri" pitchFamily="34" charset="-120"/>
              </a:rPr>
              <a:t>Executive summary and data completeness</a:t>
            </a:r>
            <a:endParaRPr lang="en-US" sz="1150" dirty="0"/>
          </a:p>
          <a:p>
            <a:pPr marL="342900" indent="-342900">
              <a:spcAft>
                <a:spcPts val="400"/>
              </a:spcAft>
              <a:buSzPct val="100000"/>
              <a:buChar char="•"/>
            </a:pPr>
            <a:r>
              <a:rPr lang="en-US" sz="1150" dirty="0">
                <a:solidFill>
                  <a:srgbClr val="1B2B34"/>
                </a:solidFill>
                <a:latin typeface="Calibri" pitchFamily="34" charset="0"/>
                <a:ea typeface="Calibri" pitchFamily="34" charset="-122"/>
                <a:cs typeface="Calibri" pitchFamily="34" charset="-120"/>
              </a:rPr>
              <a:t>Financial snapshot and multi-year performance</a:t>
            </a:r>
            <a:endParaRPr lang="en-US" sz="1150" dirty="0"/>
          </a:p>
          <a:p>
            <a:pPr marL="342900" indent="-342900">
              <a:spcAft>
                <a:spcPts val="400"/>
              </a:spcAft>
              <a:buSzPct val="100000"/>
              <a:buChar char="•"/>
            </a:pPr>
            <a:r>
              <a:rPr lang="en-US" sz="1150" dirty="0">
                <a:solidFill>
                  <a:srgbClr val="1B2B34"/>
                </a:solidFill>
                <a:latin typeface="Calibri" pitchFamily="34" charset="0"/>
                <a:ea typeface="Calibri" pitchFamily="34" charset="-122"/>
                <a:cs typeface="Calibri" pitchFamily="34" charset="-120"/>
              </a:rPr>
              <a:t>P&amp;L, balance sheet and cash flow analysis</a:t>
            </a:r>
            <a:endParaRPr lang="en-US" sz="1150" dirty="0"/>
          </a:p>
          <a:p>
            <a:pPr marL="342900" indent="-342900">
              <a:spcAft>
                <a:spcPts val="400"/>
              </a:spcAft>
              <a:buSzPct val="100000"/>
              <a:buChar char="•"/>
            </a:pPr>
            <a:r>
              <a:rPr lang="en-US" sz="1150" dirty="0">
                <a:solidFill>
                  <a:srgbClr val="1B2B34"/>
                </a:solidFill>
                <a:latin typeface="Calibri" pitchFamily="34" charset="0"/>
                <a:ea typeface="Calibri" pitchFamily="34" charset="-122"/>
                <a:cs typeface="Calibri" pitchFamily="34" charset="-120"/>
              </a:rPr>
              <a:t>Ratio analysis, SWOT and red flags</a:t>
            </a:r>
            <a:endParaRPr lang="en-US" sz="1150" dirty="0"/>
          </a:p>
          <a:p>
            <a:pPr marL="342900" indent="-342900">
              <a:spcAft>
                <a:spcPts val="400"/>
              </a:spcAft>
              <a:buSzPct val="100000"/>
              <a:buChar char="•"/>
            </a:pPr>
            <a:r>
              <a:rPr lang="en-US" sz="1150" dirty="0">
                <a:solidFill>
                  <a:srgbClr val="1B2B34"/>
                </a:solidFill>
                <a:latin typeface="Calibri" pitchFamily="34" charset="0"/>
                <a:ea typeface="Calibri" pitchFamily="34" charset="-122"/>
                <a:cs typeface="Calibri" pitchFamily="34" charset="-120"/>
              </a:rPr>
              <a:t>Score breakdown and credit recommendation</a:t>
            </a:r>
            <a:endParaRPr lang="en-US" sz="1150" dirty="0"/>
          </a:p>
          <a:p>
            <a:pPr marL="342900" indent="-342900">
              <a:spcAft>
                <a:spcPts val="400"/>
              </a:spcAft>
              <a:buSzPct val="100000"/>
              <a:buChar char="•"/>
            </a:pPr>
            <a:r>
              <a:rPr lang="en-US" sz="1150" dirty="0">
                <a:solidFill>
                  <a:srgbClr val="1B2B34"/>
                </a:solidFill>
                <a:latin typeface="Calibri" pitchFamily="34" charset="0"/>
                <a:ea typeface="Calibri" pitchFamily="34" charset="-122"/>
                <a:cs typeface="Calibri" pitchFamily="34" charset="-120"/>
              </a:rPr>
              <a:t>Finance approval, disclaimer and source references</a:t>
            </a:r>
            <a:endParaRPr lang="en-US" sz="1150" dirty="0"/>
          </a:p>
        </p:txBody>
      </p:sp>
      <p:sp>
        <p:nvSpPr>
          <p:cNvPr id="28" name="Shape 22"/>
          <p:cNvSpPr/>
          <p:nvPr/>
        </p:nvSpPr>
        <p:spPr>
          <a:xfrm>
            <a:off x="4663440" y="2240280"/>
            <a:ext cx="4023360" cy="228600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29" name="Text 23"/>
          <p:cNvSpPr txBox="1"/>
          <p:nvPr/>
        </p:nvSpPr>
        <p:spPr>
          <a:xfrm>
            <a:off x="4846320" y="2331720"/>
            <a:ext cx="3657600" cy="365760"/>
          </a:xfrm>
          <a:prstGeom prst="rect">
            <a:avLst/>
          </a:prstGeom>
          <a:noFill/>
          <a:ln/>
        </p:spPr>
        <p:txBody>
          <a:bodyPr wrap="square" lIns="0" tIns="0" rIns="0" bIns="0" rtlCol="0" anchor="ctr"/>
          <a:lstStyle/>
          <a:p>
            <a:pPr marL="0" indent="0">
              <a:buNone/>
            </a:pPr>
            <a:r>
              <a:rPr lang="en-US" sz="1400" b="1" dirty="0">
                <a:solidFill>
                  <a:srgbClr val="0B2A3D"/>
                </a:solidFill>
                <a:latin typeface="Cambria" pitchFamily="34" charset="0"/>
                <a:ea typeface="Cambria" pitchFamily="34" charset="-122"/>
                <a:cs typeface="Cambria" pitchFamily="34" charset="-120"/>
              </a:rPr>
              <a:t>Built for every reader</a:t>
            </a:r>
            <a:endParaRPr lang="en-US" sz="1400" dirty="0"/>
          </a:p>
        </p:txBody>
      </p:sp>
      <p:sp>
        <p:nvSpPr>
          <p:cNvPr id="30" name="Text 24"/>
          <p:cNvSpPr txBox="1"/>
          <p:nvPr/>
        </p:nvSpPr>
        <p:spPr>
          <a:xfrm>
            <a:off x="4846320" y="2743200"/>
            <a:ext cx="3703320" cy="1737360"/>
          </a:xfrm>
          <a:prstGeom prst="rect">
            <a:avLst/>
          </a:prstGeom>
          <a:noFill/>
          <a:ln/>
        </p:spPr>
        <p:txBody>
          <a:bodyPr wrap="square" lIns="0" tIns="0" rIns="0" bIns="0" rtlCol="0" anchor="t"/>
          <a:lstStyle/>
          <a:p>
            <a:pPr marL="342900" indent="-342900">
              <a:spcAft>
                <a:spcPts val="400"/>
              </a:spcAft>
              <a:buSzPct val="100000"/>
              <a:buChar char="•"/>
            </a:pPr>
            <a:r>
              <a:rPr lang="en-US" sz="1100" dirty="0">
                <a:solidFill>
                  <a:srgbClr val="1B2B34"/>
                </a:solidFill>
                <a:latin typeface="Calibri" pitchFamily="34" charset="0"/>
                <a:ea typeface="Calibri" pitchFamily="34" charset="-122"/>
                <a:cs typeface="Calibri" pitchFamily="34" charset="-120"/>
              </a:rPr>
              <a:t>All figures in INR crore, as Indian finance teams read them</a:t>
            </a:r>
            <a:endParaRPr lang="en-US" sz="1100" dirty="0"/>
          </a:p>
          <a:p>
            <a:pPr marL="342900" indent="-342900">
              <a:spcAft>
                <a:spcPts val="400"/>
              </a:spcAft>
              <a:buSzPct val="100000"/>
              <a:buChar char="•"/>
            </a:pPr>
            <a:r>
              <a:rPr lang="en-US" sz="1100" dirty="0">
                <a:solidFill>
                  <a:srgbClr val="1B2B34"/>
                </a:solidFill>
                <a:latin typeface="Calibri" pitchFamily="34" charset="0"/>
                <a:ea typeface="Calibri" pitchFamily="34" charset="-122"/>
                <a:cs typeface="Calibri" pitchFamily="34" charset="-120"/>
              </a:rPr>
              <a:t>Plain-language summary at the end for non-finance readers</a:t>
            </a:r>
            <a:endParaRPr lang="en-US" sz="1100" dirty="0"/>
          </a:p>
          <a:p>
            <a:pPr marL="342900" indent="-342900">
              <a:spcAft>
                <a:spcPts val="400"/>
              </a:spcAft>
              <a:buSzPct val="100000"/>
              <a:buChar char="•"/>
            </a:pPr>
            <a:r>
              <a:rPr lang="en-US" sz="1100" dirty="0">
                <a:solidFill>
                  <a:srgbClr val="1B2B34"/>
                </a:solidFill>
                <a:latin typeface="Calibri" pitchFamily="34" charset="0"/>
                <a:ea typeface="Calibri" pitchFamily="34" charset="-122"/>
                <a:cs typeface="Calibri" pitchFamily="34" charset="-120"/>
              </a:rPr>
              <a:t>On-screen report reader with a SWOT view</a:t>
            </a:r>
            <a:endParaRPr lang="en-US" sz="1100" dirty="0"/>
          </a:p>
          <a:p>
            <a:pPr marL="342900" indent="-342900">
              <a:spcAft>
                <a:spcPts val="400"/>
              </a:spcAft>
              <a:buSzPct val="100000"/>
              <a:buChar char="•"/>
            </a:pPr>
            <a:r>
              <a:rPr lang="en-US" sz="1100" dirty="0">
                <a:solidFill>
                  <a:srgbClr val="1B2B34"/>
                </a:solidFill>
                <a:latin typeface="Calibri" pitchFamily="34" charset="0"/>
                <a:ea typeface="Calibri" pitchFamily="34" charset="-122"/>
                <a:cs typeface="Calibri" pitchFamily="34" charset="-120"/>
              </a:rPr>
              <a:t>Reopen saved assessments from history without re-uploading</a:t>
            </a:r>
            <a:endParaRPr lang="en-US" sz="1100" dirty="0"/>
          </a:p>
          <a:p>
            <a:pPr marL="342900" indent="-342900">
              <a:spcAft>
                <a:spcPts val="400"/>
              </a:spcAft>
              <a:buSzPct val="100000"/>
              <a:buChar char="•"/>
            </a:pPr>
            <a:r>
              <a:rPr lang="en-US" sz="1100" dirty="0">
                <a:solidFill>
                  <a:srgbClr val="1B2B34"/>
                </a:solidFill>
                <a:latin typeface="Calibri" pitchFamily="34" charset="0"/>
                <a:ea typeface="Calibri" pitchFamily="34" charset="-122"/>
                <a:cs typeface="Calibri" pitchFamily="34" charset="-120"/>
              </a:rPr>
              <a:t>Compare periods such as FY2026 and FY2025 side by side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2A3D"/>
                </a:solidFill>
                <a:latin typeface="Cambria" pitchFamily="34" charset="0"/>
                <a:ea typeface="Cambria" pitchFamily="34" charset="-122"/>
                <a:cs typeface="Cambria" pitchFamily="34" charset="-120"/>
              </a:rPr>
              <a:t>Sample Walkthrough: ABC Limited</a:t>
            </a:r>
            <a:endParaRPr lang="en-US" sz="2800" dirty="0"/>
          </a:p>
        </p:txBody>
      </p:sp>
      <p:sp>
        <p:nvSpPr>
          <p:cNvPr id="3" name="Text 1"/>
          <p:cNvSpPr txBox="1"/>
          <p:nvPr/>
        </p:nvSpPr>
        <p:spPr>
          <a:xfrm>
            <a:off x="457200" y="4773168"/>
            <a:ext cx="7498080" cy="228600"/>
          </a:xfrm>
          <a:prstGeom prst="rect">
            <a:avLst/>
          </a:prstGeom>
          <a:noFill/>
          <a:ln/>
        </p:spPr>
        <p:txBody>
          <a:bodyPr wrap="square" lIns="0" tIns="0" rIns="0" bIns="0" rtlCol="0" anchor="ctr"/>
          <a:lstStyle/>
          <a:p>
            <a:pPr marL="0" indent="0">
              <a:buNone/>
            </a:pPr>
            <a:r>
              <a:rPr lang="en-US" sz="900" dirty="0">
                <a:solidFill>
                  <a:srgbClr val="5B6E77"/>
                </a:solidFill>
                <a:latin typeface="Calibri" pitchFamily="34" charset="0"/>
                <a:ea typeface="Calibri" pitchFamily="34" charset="-122"/>
                <a:cs typeface="Calibri" pitchFamily="34" charset="-120"/>
              </a:rPr>
              <a:t>Vendor Financial Health &amp; Credit Assessment  |  Ashok Jain  |  ICAI AI Level 2  |  Gurugram  |  Batch 89</a:t>
            </a:r>
            <a:endParaRPr lang="en-US" sz="900" dirty="0"/>
          </a:p>
        </p:txBody>
      </p:sp>
      <p:sp>
        <p:nvSpPr>
          <p:cNvPr id="4" name="Text 2"/>
          <p:cNvSpPr txBox="1"/>
          <p:nvPr/>
        </p:nvSpPr>
        <p:spPr>
          <a:xfrm>
            <a:off x="8229600" y="4773168"/>
            <a:ext cx="457200" cy="228600"/>
          </a:xfrm>
          <a:prstGeom prst="rect">
            <a:avLst/>
          </a:prstGeom>
          <a:noFill/>
          <a:ln/>
        </p:spPr>
        <p:txBody>
          <a:bodyPr wrap="square" lIns="0" tIns="0" rIns="0" bIns="0" rtlCol="0" anchor="ctr"/>
          <a:lstStyle/>
          <a:p>
            <a:pPr marL="0" indent="0" algn="r">
              <a:buNone/>
            </a:pPr>
            <a:r>
              <a:rPr lang="en-US" sz="900" dirty="0">
                <a:solidFill>
                  <a:srgbClr val="5B6E77"/>
                </a:solidFill>
                <a:latin typeface="Calibri" pitchFamily="34" charset="0"/>
                <a:ea typeface="Calibri" pitchFamily="34" charset="-122"/>
                <a:cs typeface="Calibri" pitchFamily="34" charset="-120"/>
              </a:rPr>
              <a:t>12</a:t>
            </a:r>
            <a:endParaRPr lang="en-US" sz="900" dirty="0"/>
          </a:p>
        </p:txBody>
      </p:sp>
      <p:sp>
        <p:nvSpPr>
          <p:cNvPr id="5" name="Shape 3"/>
          <p:cNvSpPr/>
          <p:nvPr/>
        </p:nvSpPr>
        <p:spPr>
          <a:xfrm>
            <a:off x="457200" y="1097280"/>
            <a:ext cx="3017520" cy="274320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6" name="Text 4"/>
          <p:cNvSpPr txBox="1"/>
          <p:nvPr/>
        </p:nvSpPr>
        <p:spPr>
          <a:xfrm>
            <a:off x="640080" y="1188720"/>
            <a:ext cx="2651760" cy="274320"/>
          </a:xfrm>
          <a:prstGeom prst="rect">
            <a:avLst/>
          </a:prstGeom>
          <a:noFill/>
          <a:ln/>
        </p:spPr>
        <p:txBody>
          <a:bodyPr wrap="square" lIns="0" tIns="0" rIns="0" bIns="0" rtlCol="0" anchor="ctr"/>
          <a:lstStyle/>
          <a:p>
            <a:pPr marL="0" indent="0">
              <a:buNone/>
            </a:pPr>
            <a:r>
              <a:rPr lang="en-US" sz="1500" b="1" dirty="0">
                <a:solidFill>
                  <a:srgbClr val="0B2A3D"/>
                </a:solidFill>
                <a:latin typeface="Cambria" pitchFamily="34" charset="0"/>
                <a:ea typeface="Cambria" pitchFamily="34" charset="-122"/>
                <a:cs typeface="Cambria" pitchFamily="34" charset="-120"/>
              </a:rPr>
              <a:t>ABC Limited (fictional)</a:t>
            </a:r>
            <a:endParaRPr lang="en-US" sz="1500" dirty="0"/>
          </a:p>
        </p:txBody>
      </p:sp>
      <p:sp>
        <p:nvSpPr>
          <p:cNvPr id="7" name="Text 5"/>
          <p:cNvSpPr txBox="1"/>
          <p:nvPr/>
        </p:nvSpPr>
        <p:spPr>
          <a:xfrm>
            <a:off x="640080" y="1481328"/>
            <a:ext cx="2651760" cy="411480"/>
          </a:xfrm>
          <a:prstGeom prst="rect">
            <a:avLst/>
          </a:prstGeom>
          <a:noFill/>
          <a:ln/>
        </p:spPr>
        <p:txBody>
          <a:bodyPr wrap="square" lIns="0" tIns="0" rIns="0" bIns="0" rtlCol="0" anchor="t"/>
          <a:lstStyle/>
          <a:p>
            <a:pPr marL="0" indent="0">
              <a:buNone/>
            </a:pPr>
            <a:r>
              <a:rPr lang="en-US" sz="1050" dirty="0">
                <a:solidFill>
                  <a:srgbClr val="5B6E77"/>
                </a:solidFill>
                <a:latin typeface="Calibri" pitchFamily="34" charset="0"/>
                <a:ea typeface="Calibri" pitchFamily="34" charset="-122"/>
                <a:cs typeface="Calibri" pitchFamily="34" charset="-120"/>
              </a:rPr>
              <a:t>Industrial components  •  FY 2024-25 and FY 2025-26  •  INR crore</a:t>
            </a:r>
            <a:endParaRPr lang="en-US" sz="1050" dirty="0"/>
          </a:p>
        </p:txBody>
      </p:sp>
      <p:sp>
        <p:nvSpPr>
          <p:cNvPr id="8" name="Text 6"/>
          <p:cNvSpPr txBox="1"/>
          <p:nvPr/>
        </p:nvSpPr>
        <p:spPr>
          <a:xfrm>
            <a:off x="640080" y="1965960"/>
            <a:ext cx="1371600" cy="384048"/>
          </a:xfrm>
          <a:prstGeom prst="rect">
            <a:avLst/>
          </a:prstGeom>
          <a:noFill/>
          <a:ln/>
        </p:spPr>
        <p:txBody>
          <a:bodyPr wrap="square" lIns="0" tIns="0" rIns="0" bIns="0" rtlCol="0" anchor="ctr"/>
          <a:lstStyle/>
          <a:p>
            <a:pPr marL="0" indent="0">
              <a:buNone/>
            </a:pPr>
            <a:r>
              <a:rPr lang="en-US" sz="2400" b="1" dirty="0">
                <a:solidFill>
                  <a:srgbClr val="0F7C8A"/>
                </a:solidFill>
                <a:latin typeface="Cambria" pitchFamily="34" charset="0"/>
                <a:ea typeface="Cambria" pitchFamily="34" charset="-122"/>
                <a:cs typeface="Cambria" pitchFamily="34" charset="-120"/>
              </a:rPr>
              <a:t>125.00</a:t>
            </a:r>
            <a:endParaRPr lang="en-US" sz="2400" dirty="0"/>
          </a:p>
        </p:txBody>
      </p:sp>
      <p:sp>
        <p:nvSpPr>
          <p:cNvPr id="9" name="Text 7"/>
          <p:cNvSpPr txBox="1"/>
          <p:nvPr/>
        </p:nvSpPr>
        <p:spPr>
          <a:xfrm>
            <a:off x="2103120" y="1965960"/>
            <a:ext cx="1188720" cy="384048"/>
          </a:xfrm>
          <a:prstGeom prst="rect">
            <a:avLst/>
          </a:prstGeom>
          <a:noFill/>
          <a:ln/>
        </p:spPr>
        <p:txBody>
          <a:bodyPr wrap="square" lIns="0" tIns="0" rIns="0" bIns="0" rtlCol="0" anchor="ctr"/>
          <a:lstStyle/>
          <a:p>
            <a:pPr marL="0" indent="0" algn="r">
              <a:buNone/>
            </a:pPr>
            <a:r>
              <a:rPr lang="en-US" sz="1500" b="1" dirty="0">
                <a:solidFill>
                  <a:srgbClr val="2E8B57"/>
                </a:solidFill>
                <a:latin typeface="Calibri" pitchFamily="34" charset="0"/>
                <a:ea typeface="Calibri" pitchFamily="34" charset="-122"/>
                <a:cs typeface="Calibri" pitchFamily="34" charset="-120"/>
              </a:rPr>
              <a:t>+15.7%</a:t>
            </a:r>
            <a:endParaRPr lang="en-US" sz="1500" dirty="0"/>
          </a:p>
        </p:txBody>
      </p:sp>
      <p:sp>
        <p:nvSpPr>
          <p:cNvPr id="10" name="Text 8"/>
          <p:cNvSpPr txBox="1"/>
          <p:nvPr/>
        </p:nvSpPr>
        <p:spPr>
          <a:xfrm>
            <a:off x="640080" y="2331720"/>
            <a:ext cx="2651760" cy="201168"/>
          </a:xfrm>
          <a:prstGeom prst="rect">
            <a:avLst/>
          </a:prstGeom>
          <a:noFill/>
          <a:ln/>
        </p:spPr>
        <p:txBody>
          <a:bodyPr wrap="square" lIns="0" tIns="0" rIns="0" bIns="0" rtlCol="0" anchor="ctr"/>
          <a:lstStyle/>
          <a:p>
            <a:pPr marL="0" indent="0">
              <a:buNone/>
            </a:pPr>
            <a:r>
              <a:rPr lang="en-US" sz="1000" dirty="0">
                <a:solidFill>
                  <a:srgbClr val="5B6E77"/>
                </a:solidFill>
                <a:latin typeface="Calibri" pitchFamily="34" charset="0"/>
                <a:ea typeface="Calibri" pitchFamily="34" charset="-122"/>
                <a:cs typeface="Calibri" pitchFamily="34" charset="-120"/>
              </a:rPr>
              <a:t>Revenue FY 2025-26 (Cr)</a:t>
            </a:r>
            <a:endParaRPr lang="en-US" sz="1000" dirty="0"/>
          </a:p>
        </p:txBody>
      </p:sp>
      <p:sp>
        <p:nvSpPr>
          <p:cNvPr id="11" name="Text 9"/>
          <p:cNvSpPr txBox="1"/>
          <p:nvPr/>
        </p:nvSpPr>
        <p:spPr>
          <a:xfrm>
            <a:off x="640080" y="2587752"/>
            <a:ext cx="1371600" cy="384048"/>
          </a:xfrm>
          <a:prstGeom prst="rect">
            <a:avLst/>
          </a:prstGeom>
          <a:noFill/>
          <a:ln/>
        </p:spPr>
        <p:txBody>
          <a:bodyPr wrap="square" lIns="0" tIns="0" rIns="0" bIns="0" rtlCol="0" anchor="ctr"/>
          <a:lstStyle/>
          <a:p>
            <a:pPr marL="0" indent="0">
              <a:buNone/>
            </a:pPr>
            <a:r>
              <a:rPr lang="en-US" sz="2400" b="1" dirty="0">
                <a:solidFill>
                  <a:srgbClr val="0F7C8A"/>
                </a:solidFill>
                <a:latin typeface="Cambria" pitchFamily="34" charset="0"/>
                <a:ea typeface="Cambria" pitchFamily="34" charset="-122"/>
                <a:cs typeface="Cambria" pitchFamily="34" charset="-120"/>
              </a:rPr>
              <a:t>25.80</a:t>
            </a:r>
            <a:endParaRPr lang="en-US" sz="2400" dirty="0"/>
          </a:p>
        </p:txBody>
      </p:sp>
      <p:sp>
        <p:nvSpPr>
          <p:cNvPr id="12" name="Text 10"/>
          <p:cNvSpPr txBox="1"/>
          <p:nvPr/>
        </p:nvSpPr>
        <p:spPr>
          <a:xfrm>
            <a:off x="2103120" y="2587752"/>
            <a:ext cx="1188720" cy="384048"/>
          </a:xfrm>
          <a:prstGeom prst="rect">
            <a:avLst/>
          </a:prstGeom>
          <a:noFill/>
          <a:ln/>
        </p:spPr>
        <p:txBody>
          <a:bodyPr wrap="square" lIns="0" tIns="0" rIns="0" bIns="0" rtlCol="0" anchor="ctr"/>
          <a:lstStyle/>
          <a:p>
            <a:pPr marL="0" indent="0" algn="r">
              <a:buNone/>
            </a:pPr>
            <a:r>
              <a:rPr lang="en-US" sz="1500" b="1" dirty="0">
                <a:solidFill>
                  <a:srgbClr val="2E8B57"/>
                </a:solidFill>
                <a:latin typeface="Calibri" pitchFamily="34" charset="0"/>
                <a:ea typeface="Calibri" pitchFamily="34" charset="-122"/>
                <a:cs typeface="Calibri" pitchFamily="34" charset="-120"/>
              </a:rPr>
              <a:t>+22.3%</a:t>
            </a:r>
            <a:endParaRPr lang="en-US" sz="1500" dirty="0"/>
          </a:p>
        </p:txBody>
      </p:sp>
      <p:sp>
        <p:nvSpPr>
          <p:cNvPr id="13" name="Text 11"/>
          <p:cNvSpPr txBox="1"/>
          <p:nvPr/>
        </p:nvSpPr>
        <p:spPr>
          <a:xfrm>
            <a:off x="640080" y="2953512"/>
            <a:ext cx="2651760" cy="201168"/>
          </a:xfrm>
          <a:prstGeom prst="rect">
            <a:avLst/>
          </a:prstGeom>
          <a:noFill/>
          <a:ln/>
        </p:spPr>
        <p:txBody>
          <a:bodyPr wrap="square" lIns="0" tIns="0" rIns="0" bIns="0" rtlCol="0" anchor="ctr"/>
          <a:lstStyle/>
          <a:p>
            <a:pPr marL="0" indent="0">
              <a:buNone/>
            </a:pPr>
            <a:r>
              <a:rPr lang="en-US" sz="1000" dirty="0">
                <a:solidFill>
                  <a:srgbClr val="5B6E77"/>
                </a:solidFill>
                <a:latin typeface="Calibri" pitchFamily="34" charset="0"/>
                <a:ea typeface="Calibri" pitchFamily="34" charset="-122"/>
                <a:cs typeface="Calibri" pitchFamily="34" charset="-120"/>
              </a:rPr>
              <a:t>EBITDA FY 2025-26 (Cr)</a:t>
            </a:r>
            <a:endParaRPr lang="en-US" sz="1000" dirty="0"/>
          </a:p>
        </p:txBody>
      </p:sp>
      <p:sp>
        <p:nvSpPr>
          <p:cNvPr id="14" name="Text 12"/>
          <p:cNvSpPr txBox="1"/>
          <p:nvPr/>
        </p:nvSpPr>
        <p:spPr>
          <a:xfrm>
            <a:off x="640080" y="3209544"/>
            <a:ext cx="1371600" cy="384048"/>
          </a:xfrm>
          <a:prstGeom prst="rect">
            <a:avLst/>
          </a:prstGeom>
          <a:noFill/>
          <a:ln/>
        </p:spPr>
        <p:txBody>
          <a:bodyPr wrap="square" lIns="0" tIns="0" rIns="0" bIns="0" rtlCol="0" anchor="ctr"/>
          <a:lstStyle/>
          <a:p>
            <a:pPr marL="0" indent="0">
              <a:buNone/>
            </a:pPr>
            <a:r>
              <a:rPr lang="en-US" sz="2400" b="1" dirty="0">
                <a:solidFill>
                  <a:srgbClr val="0F7C8A"/>
                </a:solidFill>
                <a:latin typeface="Cambria" pitchFamily="34" charset="0"/>
                <a:ea typeface="Cambria" pitchFamily="34" charset="-122"/>
                <a:cs typeface="Cambria" pitchFamily="34" charset="-120"/>
              </a:rPr>
              <a:t>10.70</a:t>
            </a:r>
            <a:endParaRPr lang="en-US" sz="2400" dirty="0"/>
          </a:p>
        </p:txBody>
      </p:sp>
      <p:sp>
        <p:nvSpPr>
          <p:cNvPr id="15" name="Text 13"/>
          <p:cNvSpPr txBox="1"/>
          <p:nvPr/>
        </p:nvSpPr>
        <p:spPr>
          <a:xfrm>
            <a:off x="2103120" y="3209544"/>
            <a:ext cx="1188720" cy="384048"/>
          </a:xfrm>
          <a:prstGeom prst="rect">
            <a:avLst/>
          </a:prstGeom>
          <a:noFill/>
          <a:ln/>
        </p:spPr>
        <p:txBody>
          <a:bodyPr wrap="square" lIns="0" tIns="0" rIns="0" bIns="0" rtlCol="0" anchor="ctr"/>
          <a:lstStyle/>
          <a:p>
            <a:pPr marL="0" indent="0" algn="r">
              <a:buNone/>
            </a:pPr>
            <a:r>
              <a:rPr lang="en-US" sz="1500" b="1" dirty="0">
                <a:solidFill>
                  <a:srgbClr val="2E8B57"/>
                </a:solidFill>
                <a:latin typeface="Calibri" pitchFamily="34" charset="0"/>
                <a:ea typeface="Calibri" pitchFamily="34" charset="-122"/>
                <a:cs typeface="Calibri" pitchFamily="34" charset="-120"/>
              </a:rPr>
              <a:t>+35.4%</a:t>
            </a:r>
            <a:endParaRPr lang="en-US" sz="1500" dirty="0"/>
          </a:p>
        </p:txBody>
      </p:sp>
      <p:sp>
        <p:nvSpPr>
          <p:cNvPr id="16" name="Text 14"/>
          <p:cNvSpPr txBox="1"/>
          <p:nvPr/>
        </p:nvSpPr>
        <p:spPr>
          <a:xfrm>
            <a:off x="640080" y="3575304"/>
            <a:ext cx="2651760" cy="201168"/>
          </a:xfrm>
          <a:prstGeom prst="rect">
            <a:avLst/>
          </a:prstGeom>
          <a:noFill/>
          <a:ln/>
        </p:spPr>
        <p:txBody>
          <a:bodyPr wrap="square" lIns="0" tIns="0" rIns="0" bIns="0" rtlCol="0" anchor="ctr"/>
          <a:lstStyle/>
          <a:p>
            <a:pPr marL="0" indent="0">
              <a:buNone/>
            </a:pPr>
            <a:r>
              <a:rPr lang="en-US" sz="1000" dirty="0">
                <a:solidFill>
                  <a:srgbClr val="5B6E77"/>
                </a:solidFill>
                <a:latin typeface="Calibri" pitchFamily="34" charset="0"/>
                <a:ea typeface="Calibri" pitchFamily="34" charset="-122"/>
                <a:cs typeface="Calibri" pitchFamily="34" charset="-120"/>
              </a:rPr>
              <a:t>Profit after tax (Cr)</a:t>
            </a:r>
            <a:endParaRPr lang="en-US" sz="1000" dirty="0"/>
          </a:p>
        </p:txBody>
      </p:sp>
      <p:graphicFrame>
        <p:nvGraphicFramePr>
          <p:cNvPr id="17" name="Chart 0"/>
          <p:cNvGraphicFramePr/>
          <p:nvPr/>
        </p:nvGraphicFramePr>
        <p:xfrm>
          <a:off x="3657600" y="1097280"/>
          <a:ext cx="50292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8" name="Shape 15"/>
          <p:cNvSpPr/>
          <p:nvPr/>
        </p:nvSpPr>
        <p:spPr>
          <a:xfrm>
            <a:off x="457200" y="3977640"/>
            <a:ext cx="8229600" cy="594360"/>
          </a:xfrm>
          <a:prstGeom prst="rect">
            <a:avLst/>
          </a:prstGeom>
          <a:solidFill>
            <a:srgbClr val="0B2A3D"/>
          </a:solidFill>
          <a:ln w="12700">
            <a:solidFill>
              <a:srgbClr val="0B2A3D"/>
            </a:solidFill>
            <a:prstDash val="solid"/>
          </a:ln>
        </p:spPr>
        <p:txBody>
          <a:bodyPr/>
          <a:lstStyle/>
          <a:p>
            <a:endParaRPr lang="en-US"/>
          </a:p>
        </p:txBody>
      </p:sp>
      <p:sp>
        <p:nvSpPr>
          <p:cNvPr id="19" name="Text 16"/>
          <p:cNvSpPr txBox="1"/>
          <p:nvPr/>
        </p:nvSpPr>
        <p:spPr>
          <a:xfrm>
            <a:off x="594360" y="3977640"/>
            <a:ext cx="7955280" cy="594360"/>
          </a:xfrm>
          <a:prstGeom prst="rect">
            <a:avLst/>
          </a:prstGeom>
          <a:noFill/>
          <a:ln/>
        </p:spPr>
        <p:txBody>
          <a:bodyPr wrap="square" lIns="0" tIns="0" rIns="0" bIns="0" rtlCol="0" anchor="ctr"/>
          <a:lstStyle/>
          <a:p>
            <a:pPr marL="0" indent="0" algn="ctr">
              <a:buNone/>
            </a:pPr>
            <a:r>
              <a:rPr lang="en-US" sz="1300" b="1" dirty="0">
                <a:solidFill>
                  <a:srgbClr val="F2A93B"/>
                </a:solidFill>
                <a:latin typeface="Calibri" pitchFamily="34" charset="0"/>
                <a:ea typeface="Calibri" pitchFamily="34" charset="-122"/>
                <a:cs typeface="Calibri" pitchFamily="34" charset="-120"/>
              </a:rPr>
              <a:t>Engine result on this data:  </a:t>
            </a:r>
            <a:r>
              <a:rPr lang="en-US" sz="1300" dirty="0">
                <a:solidFill>
                  <a:srgbClr val="FFFFFF"/>
                </a:solidFill>
                <a:latin typeface="Calibri" pitchFamily="34" charset="0"/>
                <a:ea typeface="Calibri" pitchFamily="34" charset="-122"/>
                <a:cs typeface="Calibri" pitchFamily="34" charset="-120"/>
              </a:rPr>
              <a:t>score 83.7 / 100   →   limit ₹4.25 Cr (net-worth basis)   •   60 days   •   High confidence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2A3D"/>
                </a:solidFill>
                <a:latin typeface="Cambria" pitchFamily="34" charset="0"/>
                <a:ea typeface="Cambria" pitchFamily="34" charset="-122"/>
                <a:cs typeface="Cambria" pitchFamily="34" charset="-120"/>
              </a:rPr>
              <a:t>Sample Results: Ratios &amp; Watch-points</a:t>
            </a:r>
            <a:endParaRPr lang="en-US" sz="2800" dirty="0"/>
          </a:p>
        </p:txBody>
      </p:sp>
      <p:sp>
        <p:nvSpPr>
          <p:cNvPr id="3" name="Text 1"/>
          <p:cNvSpPr txBox="1"/>
          <p:nvPr/>
        </p:nvSpPr>
        <p:spPr>
          <a:xfrm>
            <a:off x="457200" y="4773168"/>
            <a:ext cx="7498080" cy="228600"/>
          </a:xfrm>
          <a:prstGeom prst="rect">
            <a:avLst/>
          </a:prstGeom>
          <a:noFill/>
          <a:ln/>
        </p:spPr>
        <p:txBody>
          <a:bodyPr wrap="square" lIns="0" tIns="0" rIns="0" bIns="0" rtlCol="0" anchor="ctr"/>
          <a:lstStyle/>
          <a:p>
            <a:pPr marL="0" indent="0">
              <a:buNone/>
            </a:pPr>
            <a:r>
              <a:rPr lang="en-US" sz="900" dirty="0">
                <a:solidFill>
                  <a:srgbClr val="5B6E77"/>
                </a:solidFill>
                <a:latin typeface="Calibri" pitchFamily="34" charset="0"/>
                <a:ea typeface="Calibri" pitchFamily="34" charset="-122"/>
                <a:cs typeface="Calibri" pitchFamily="34" charset="-120"/>
              </a:rPr>
              <a:t>Vendor Financial Health &amp; Credit Assessment  |  Ashok Jain  |  ICAI AI Level 2  |  Gurugram  |  Batch 89</a:t>
            </a:r>
            <a:endParaRPr lang="en-US" sz="900" dirty="0"/>
          </a:p>
        </p:txBody>
      </p:sp>
      <p:sp>
        <p:nvSpPr>
          <p:cNvPr id="4" name="Text 2"/>
          <p:cNvSpPr txBox="1"/>
          <p:nvPr/>
        </p:nvSpPr>
        <p:spPr>
          <a:xfrm>
            <a:off x="8229600" y="4773168"/>
            <a:ext cx="457200" cy="228600"/>
          </a:xfrm>
          <a:prstGeom prst="rect">
            <a:avLst/>
          </a:prstGeom>
          <a:noFill/>
          <a:ln/>
        </p:spPr>
        <p:txBody>
          <a:bodyPr wrap="square" lIns="0" tIns="0" rIns="0" bIns="0" rtlCol="0" anchor="ctr"/>
          <a:lstStyle/>
          <a:p>
            <a:pPr marL="0" indent="0" algn="r">
              <a:buNone/>
            </a:pPr>
            <a:r>
              <a:rPr lang="en-US" sz="900" dirty="0">
                <a:solidFill>
                  <a:srgbClr val="5B6E77"/>
                </a:solidFill>
                <a:latin typeface="Calibri" pitchFamily="34" charset="0"/>
                <a:ea typeface="Calibri" pitchFamily="34" charset="-122"/>
                <a:cs typeface="Calibri" pitchFamily="34" charset="-120"/>
              </a:rPr>
              <a:t>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4937760" cy="3017520"/>
        </p:xfrm>
        <a:graphic>
          <a:graphicData uri="http://schemas.openxmlformats.org/drawingml/2006/table">
            <a:tbl>
              <a:tblPr/>
              <a:tblGrid>
                <a:gridCol w="21945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01752">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Ratio</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0B2A3D"/>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FY 2024-25</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0B2A3D"/>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FY 2025-26</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0B2A3D"/>
                    </a:solidFill>
                  </a:tcPr>
                </a:tc>
                <a:extLst>
                  <a:ext uri="{0D108BD9-81ED-4DB2-BD59-A6C34878D82A}">
                    <a16:rowId xmlns:a16="http://schemas.microsoft.com/office/drawing/2014/main" val="10000"/>
                  </a:ext>
                </a:extLst>
              </a:tr>
              <a:tr h="301752">
                <a:tc>
                  <a:txBody>
                    <a:bodyPr/>
                    <a:lstStyle/>
                    <a:p>
                      <a:pPr marL="0" indent="0" algn="l">
                        <a:buNone/>
                      </a:pPr>
                      <a:r>
                        <a:rPr lang="en-US" sz="1100" b="1" dirty="0">
                          <a:solidFill>
                            <a:srgbClr val="1B2B34"/>
                          </a:solidFill>
                          <a:latin typeface="Calibri" pitchFamily="34" charset="0"/>
                          <a:ea typeface="Calibri" pitchFamily="34" charset="-122"/>
                          <a:cs typeface="Calibri" pitchFamily="34" charset="-120"/>
                        </a:rPr>
                        <a:t>Current ratio</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1.44×</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1.49×</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l">
                        <a:buNone/>
                      </a:pPr>
                      <a:r>
                        <a:rPr lang="en-US" sz="1100" b="1" dirty="0">
                          <a:solidFill>
                            <a:srgbClr val="1B2B34"/>
                          </a:solidFill>
                          <a:latin typeface="Calibri" pitchFamily="34" charset="0"/>
                          <a:ea typeface="Calibri" pitchFamily="34" charset="-122"/>
                          <a:cs typeface="Calibri" pitchFamily="34" charset="-120"/>
                        </a:rPr>
                        <a:t>Quick ratio</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3F7F8"/>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0.96×</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3F7F8"/>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1.01×</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3F7F8"/>
                    </a:solidFill>
                  </a:tcPr>
                </a:tc>
                <a:extLst>
                  <a:ext uri="{0D108BD9-81ED-4DB2-BD59-A6C34878D82A}">
                    <a16:rowId xmlns:a16="http://schemas.microsoft.com/office/drawing/2014/main" val="10002"/>
                  </a:ext>
                </a:extLst>
              </a:tr>
              <a:tr h="301752">
                <a:tc>
                  <a:txBody>
                    <a:bodyPr/>
                    <a:lstStyle/>
                    <a:p>
                      <a:pPr marL="0" indent="0" algn="l">
                        <a:buNone/>
                      </a:pPr>
                      <a:r>
                        <a:rPr lang="en-US" sz="1100" b="1" dirty="0">
                          <a:solidFill>
                            <a:srgbClr val="1B2B34"/>
                          </a:solidFill>
                          <a:latin typeface="Calibri" pitchFamily="34" charset="0"/>
                          <a:ea typeface="Calibri" pitchFamily="34" charset="-122"/>
                          <a:cs typeface="Calibri" pitchFamily="34" charset="-120"/>
                        </a:rPr>
                        <a:t>Debt / equity</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1.04×</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0.80×</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lgn="l">
                        <a:buNone/>
                      </a:pPr>
                      <a:r>
                        <a:rPr lang="en-US" sz="1100" b="1" dirty="0">
                          <a:solidFill>
                            <a:srgbClr val="1B2B34"/>
                          </a:solidFill>
                          <a:latin typeface="Calibri" pitchFamily="34" charset="0"/>
                          <a:ea typeface="Calibri" pitchFamily="34" charset="-122"/>
                          <a:cs typeface="Calibri" pitchFamily="34" charset="-120"/>
                        </a:rPr>
                        <a:t>Interest coverage</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3F7F8"/>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2.88×</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3F7F8"/>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3.38×</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3F7F8"/>
                    </a:solidFill>
                  </a:tcPr>
                </a:tc>
                <a:extLst>
                  <a:ext uri="{0D108BD9-81ED-4DB2-BD59-A6C34878D82A}">
                    <a16:rowId xmlns:a16="http://schemas.microsoft.com/office/drawing/2014/main" val="10004"/>
                  </a:ext>
                </a:extLst>
              </a:tr>
              <a:tr h="301752">
                <a:tc>
                  <a:txBody>
                    <a:bodyPr/>
                    <a:lstStyle/>
                    <a:p>
                      <a:pPr marL="0" indent="0" algn="l">
                        <a:buNone/>
                      </a:pPr>
                      <a:r>
                        <a:rPr lang="en-US" sz="1100" b="1" dirty="0">
                          <a:solidFill>
                            <a:srgbClr val="1B2B34"/>
                          </a:solidFill>
                          <a:latin typeface="Calibri" pitchFamily="34" charset="0"/>
                          <a:ea typeface="Calibri" pitchFamily="34" charset="-122"/>
                          <a:cs typeface="Calibri" pitchFamily="34" charset="-120"/>
                        </a:rPr>
                        <a:t>EBITDA margin</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19.5%</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20.6%</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lgn="l">
                        <a:buNone/>
                      </a:pPr>
                      <a:r>
                        <a:rPr lang="en-US" sz="1100" b="1" dirty="0">
                          <a:solidFill>
                            <a:srgbClr val="1B2B34"/>
                          </a:solidFill>
                          <a:latin typeface="Calibri" pitchFamily="34" charset="0"/>
                          <a:ea typeface="Calibri" pitchFamily="34" charset="-122"/>
                          <a:cs typeface="Calibri" pitchFamily="34" charset="-120"/>
                        </a:rPr>
                        <a:t>Net margin</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3F7F8"/>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7.3%</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3F7F8"/>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8.6%</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3F7F8"/>
                    </a:solidFill>
                  </a:tcPr>
                </a:tc>
                <a:extLst>
                  <a:ext uri="{0D108BD9-81ED-4DB2-BD59-A6C34878D82A}">
                    <a16:rowId xmlns:a16="http://schemas.microsoft.com/office/drawing/2014/main" val="10006"/>
                  </a:ext>
                </a:extLst>
              </a:tr>
              <a:tr h="301752">
                <a:tc>
                  <a:txBody>
                    <a:bodyPr/>
                    <a:lstStyle/>
                    <a:p>
                      <a:pPr marL="0" indent="0" algn="l">
                        <a:buNone/>
                      </a:pPr>
                      <a:r>
                        <a:rPr lang="en-US" sz="1100" b="1" dirty="0">
                          <a:solidFill>
                            <a:srgbClr val="1B2B34"/>
                          </a:solidFill>
                          <a:latin typeface="Calibri" pitchFamily="34" charset="0"/>
                          <a:ea typeface="Calibri" pitchFamily="34" charset="-122"/>
                          <a:cs typeface="Calibri" pitchFamily="34" charset="-120"/>
                        </a:rPr>
                        <a:t>Receivable days</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71.0</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70.7</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1752">
                <a:tc>
                  <a:txBody>
                    <a:bodyPr/>
                    <a:lstStyle/>
                    <a:p>
                      <a:pPr marL="0" indent="0" algn="l">
                        <a:buNone/>
                      </a:pPr>
                      <a:r>
                        <a:rPr lang="en-US" sz="1100" b="1" dirty="0">
                          <a:solidFill>
                            <a:srgbClr val="1B2B34"/>
                          </a:solidFill>
                          <a:latin typeface="Calibri" pitchFamily="34" charset="0"/>
                          <a:ea typeface="Calibri" pitchFamily="34" charset="-122"/>
                          <a:cs typeface="Calibri" pitchFamily="34" charset="-120"/>
                        </a:rPr>
                        <a:t>Payable days</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3F7F8"/>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87.2</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3F7F8"/>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87.0</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3F7F8"/>
                    </a:solidFill>
                  </a:tcPr>
                </a:tc>
                <a:extLst>
                  <a:ext uri="{0D108BD9-81ED-4DB2-BD59-A6C34878D82A}">
                    <a16:rowId xmlns:a16="http://schemas.microsoft.com/office/drawing/2014/main" val="10008"/>
                  </a:ext>
                </a:extLst>
              </a:tr>
              <a:tr h="301752">
                <a:tc>
                  <a:txBody>
                    <a:bodyPr/>
                    <a:lstStyle/>
                    <a:p>
                      <a:pPr marL="0" indent="0" algn="l">
                        <a:buNone/>
                      </a:pPr>
                      <a:r>
                        <a:rPr lang="en-US" sz="1100" b="1" dirty="0">
                          <a:solidFill>
                            <a:srgbClr val="1B2B34"/>
                          </a:solidFill>
                          <a:latin typeface="Calibri" pitchFamily="34" charset="0"/>
                          <a:ea typeface="Calibri" pitchFamily="34" charset="-122"/>
                          <a:cs typeface="Calibri" pitchFamily="34" charset="-120"/>
                        </a:rPr>
                        <a:t>Op. cash flow / EBITDA</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55.5%</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B34"/>
                          </a:solidFill>
                          <a:latin typeface="Calibri" pitchFamily="34" charset="0"/>
                          <a:ea typeface="Calibri" pitchFamily="34" charset="-122"/>
                          <a:cs typeface="Calibri" pitchFamily="34" charset="-120"/>
                        </a:rPr>
                        <a:t>58.9%</a:t>
                      </a:r>
                      <a:endParaRPr lang="en-US" sz="1100" dirty="0">
                        <a:latin typeface="Calibri" charset="0"/>
                        <a:ea typeface="Calibri" charset="0"/>
                        <a:cs typeface="Calibri" charset="0"/>
                      </a:endParaRPr>
                    </a:p>
                  </a:txBody>
                  <a:tcPr anchor="ctr">
                    <a:lnL w="6350" cap="flat" cmpd="sng" algn="ctr">
                      <a:solidFill>
                        <a:srgbClr val="D5E0E4"/>
                      </a:solidFill>
                      <a:prstDash val="solid"/>
                      <a:round/>
                      <a:headEnd type="none" w="med" len="med"/>
                      <a:tailEnd type="none" w="med" len="med"/>
                    </a:lnL>
                    <a:lnR w="6350" cap="flat" cmpd="sng" algn="ctr">
                      <a:solidFill>
                        <a:srgbClr val="D5E0E4"/>
                      </a:solidFill>
                      <a:prstDash val="solid"/>
                      <a:round/>
                      <a:headEnd type="none" w="med" len="med"/>
                      <a:tailEnd type="none" w="med" len="med"/>
                    </a:lnR>
                    <a:lnT w="6350" cap="flat" cmpd="sng" algn="ctr">
                      <a:solidFill>
                        <a:srgbClr val="D5E0E4"/>
                      </a:solidFill>
                      <a:prstDash val="solid"/>
                      <a:round/>
                      <a:headEnd type="none" w="med" len="med"/>
                      <a:tailEnd type="none" w="med" len="med"/>
                    </a:lnT>
                    <a:lnB w="6350" cap="flat" cmpd="sng" algn="ctr">
                      <a:solidFill>
                        <a:srgbClr val="D5E0E4"/>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Text 3"/>
          <p:cNvSpPr txBox="1"/>
          <p:nvPr/>
        </p:nvSpPr>
        <p:spPr>
          <a:xfrm>
            <a:off x="457200" y="4206240"/>
            <a:ext cx="4937760" cy="365760"/>
          </a:xfrm>
          <a:prstGeom prst="rect">
            <a:avLst/>
          </a:prstGeom>
          <a:noFill/>
          <a:ln/>
        </p:spPr>
        <p:txBody>
          <a:bodyPr wrap="square" lIns="0" tIns="0" rIns="0" bIns="0" rtlCol="0" anchor="t"/>
          <a:lstStyle/>
          <a:p>
            <a:pPr marL="0" indent="0">
              <a:buNone/>
            </a:pPr>
            <a:r>
              <a:rPr lang="en-US" sz="1000" i="1" dirty="0">
                <a:solidFill>
                  <a:srgbClr val="5B6E77"/>
                </a:solidFill>
                <a:latin typeface="Calibri" pitchFamily="34" charset="0"/>
                <a:ea typeface="Calibri" pitchFamily="34" charset="-122"/>
                <a:cs typeface="Calibri" pitchFamily="34" charset="-120"/>
              </a:rPr>
              <a:t>Ratios use the application formulas; payable days = trade payables ÷ cost of goods sold × 365.</a:t>
            </a:r>
            <a:endParaRPr lang="en-US" sz="1000" dirty="0"/>
          </a:p>
        </p:txBody>
      </p:sp>
      <p:sp>
        <p:nvSpPr>
          <p:cNvPr id="7" name="Shape 4"/>
          <p:cNvSpPr/>
          <p:nvPr/>
        </p:nvSpPr>
        <p:spPr>
          <a:xfrm>
            <a:off x="5577840" y="1097280"/>
            <a:ext cx="3108960" cy="3429000"/>
          </a:xfrm>
          <a:prstGeom prst="rect">
            <a:avLst/>
          </a:prstGeom>
          <a:solidFill>
            <a:srgbClr val="FDF1DC"/>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8" name="Shape 5"/>
          <p:cNvSpPr/>
          <p:nvPr/>
        </p:nvSpPr>
        <p:spPr>
          <a:xfrm>
            <a:off x="5715000" y="1207008"/>
            <a:ext cx="411480" cy="411480"/>
          </a:xfrm>
          <a:prstGeom prst="ellipse">
            <a:avLst/>
          </a:prstGeom>
          <a:solidFill>
            <a:srgbClr val="FFFFFF"/>
          </a:solidFill>
          <a:ln w="12700">
            <a:solidFill>
              <a:srgbClr val="FFFFFF"/>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5817870" y="1309878"/>
            <a:ext cx="205740" cy="205740"/>
          </a:xfrm>
          <a:prstGeom prst="rect">
            <a:avLst/>
          </a:prstGeom>
        </p:spPr>
      </p:pic>
      <p:sp>
        <p:nvSpPr>
          <p:cNvPr id="10" name="Text 6"/>
          <p:cNvSpPr txBox="1"/>
          <p:nvPr/>
        </p:nvSpPr>
        <p:spPr>
          <a:xfrm>
            <a:off x="6217920" y="1207008"/>
            <a:ext cx="2377440" cy="411480"/>
          </a:xfrm>
          <a:prstGeom prst="rect">
            <a:avLst/>
          </a:prstGeom>
          <a:noFill/>
          <a:ln/>
        </p:spPr>
        <p:txBody>
          <a:bodyPr wrap="square" lIns="0" tIns="0" rIns="0" bIns="0" rtlCol="0" anchor="ctr"/>
          <a:lstStyle/>
          <a:p>
            <a:pPr marL="0" indent="0">
              <a:buNone/>
            </a:pPr>
            <a:r>
              <a:rPr lang="en-US" sz="1300" b="1" dirty="0">
                <a:solidFill>
                  <a:srgbClr val="0B2A3D"/>
                </a:solidFill>
                <a:latin typeface="Cambria" pitchFamily="34" charset="0"/>
                <a:ea typeface="Cambria" pitchFamily="34" charset="-122"/>
                <a:cs typeface="Cambria" pitchFamily="34" charset="-120"/>
              </a:rPr>
              <a:t>Watch-points for the reviewer</a:t>
            </a:r>
            <a:endParaRPr lang="en-US" sz="1300" dirty="0"/>
          </a:p>
        </p:txBody>
      </p:sp>
      <p:sp>
        <p:nvSpPr>
          <p:cNvPr id="11" name="Text 7"/>
          <p:cNvSpPr txBox="1"/>
          <p:nvPr/>
        </p:nvSpPr>
        <p:spPr>
          <a:xfrm>
            <a:off x="5715000" y="1783080"/>
            <a:ext cx="2880360" cy="269748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B2B34"/>
                </a:solidFill>
                <a:latin typeface="Calibri" pitchFamily="34" charset="0"/>
                <a:ea typeface="Calibri" pitchFamily="34" charset="-122"/>
                <a:cs typeface="Calibri" pitchFamily="34" charset="-120"/>
              </a:rPr>
              <a:t>Top five customers are about 46% of revenue; the largest is about 14%</a:t>
            </a:r>
            <a:endParaRPr lang="en-US" sz="1150" dirty="0"/>
          </a:p>
          <a:p>
            <a:pPr marL="342900" indent="-342900">
              <a:spcAft>
                <a:spcPts val="600"/>
              </a:spcAft>
              <a:buSzPct val="100000"/>
              <a:buChar char="•"/>
            </a:pPr>
            <a:r>
              <a:rPr lang="en-US" sz="1150" dirty="0">
                <a:solidFill>
                  <a:srgbClr val="1B2B34"/>
                </a:solidFill>
                <a:latin typeface="Calibri" pitchFamily="34" charset="0"/>
                <a:ea typeface="Calibri" pitchFamily="34" charset="-122"/>
                <a:cs typeface="Calibri" pitchFamily="34" charset="-120"/>
              </a:rPr>
              <a:t>Receivables over 90 days are 11.6% of total</a:t>
            </a:r>
            <a:endParaRPr lang="en-US" sz="1150" dirty="0"/>
          </a:p>
          <a:p>
            <a:pPr marL="342900" indent="-342900">
              <a:spcAft>
                <a:spcPts val="600"/>
              </a:spcAft>
              <a:buSzPct val="100000"/>
              <a:buChar char="•"/>
            </a:pPr>
            <a:r>
              <a:rPr lang="en-US" sz="1150" dirty="0">
                <a:solidFill>
                  <a:srgbClr val="1B2B34"/>
                </a:solidFill>
                <a:latin typeface="Calibri" pitchFamily="34" charset="0"/>
                <a:ea typeface="Calibri" pitchFamily="34" charset="-122"/>
                <a:cs typeface="Calibri" pitchFamily="34" charset="-120"/>
              </a:rPr>
              <a:t>Contingent liability of ₹1.65 Cr is about 3.9% of net worth</a:t>
            </a:r>
            <a:endParaRPr lang="en-US" sz="1150" dirty="0"/>
          </a:p>
          <a:p>
            <a:pPr marL="342900" indent="-342900">
              <a:spcAft>
                <a:spcPts val="600"/>
              </a:spcAft>
              <a:buSzPct val="100000"/>
              <a:buChar char="•"/>
            </a:pPr>
            <a:r>
              <a:rPr lang="en-US" sz="1150" dirty="0">
                <a:solidFill>
                  <a:srgbClr val="1B2B34"/>
                </a:solidFill>
                <a:latin typeface="Calibri" pitchFamily="34" charset="0"/>
                <a:ea typeface="Calibri" pitchFamily="34" charset="-122"/>
                <a:cs typeface="Calibri" pitchFamily="34" charset="-120"/>
              </a:rPr>
              <a:t>Payable days computed at about 87, against 78 disclosed by management</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B2A3D"/>
                </a:solidFill>
                <a:latin typeface="Cambria" pitchFamily="34" charset="0"/>
                <a:ea typeface="Cambria" pitchFamily="34" charset="-122"/>
                <a:cs typeface="Cambria" pitchFamily="34" charset="-120"/>
              </a:rPr>
              <a:t>Problem Solved &amp; Next Steps</a:t>
            </a:r>
            <a:endParaRPr lang="en-US" sz="2800" dirty="0"/>
          </a:p>
        </p:txBody>
      </p:sp>
      <p:sp>
        <p:nvSpPr>
          <p:cNvPr id="3" name="Text 1"/>
          <p:cNvSpPr txBox="1"/>
          <p:nvPr/>
        </p:nvSpPr>
        <p:spPr>
          <a:xfrm>
            <a:off x="457200" y="4773168"/>
            <a:ext cx="7498080" cy="228600"/>
          </a:xfrm>
          <a:prstGeom prst="rect">
            <a:avLst/>
          </a:prstGeom>
          <a:noFill/>
          <a:ln/>
        </p:spPr>
        <p:txBody>
          <a:bodyPr wrap="square" lIns="0" tIns="0" rIns="0" bIns="0" rtlCol="0" anchor="ctr"/>
          <a:lstStyle/>
          <a:p>
            <a:pPr marL="0" indent="0">
              <a:buNone/>
            </a:pPr>
            <a:r>
              <a:rPr lang="en-US" sz="900" dirty="0">
                <a:solidFill>
                  <a:srgbClr val="5B6E77"/>
                </a:solidFill>
                <a:latin typeface="Calibri" pitchFamily="34" charset="0"/>
                <a:ea typeface="Calibri" pitchFamily="34" charset="-122"/>
                <a:cs typeface="Calibri" pitchFamily="34" charset="-120"/>
              </a:rPr>
              <a:t>Vendor Financial Health &amp; Credit Assessment  |  Ashok Jain  |  ICAI AI Level 2  |  Gurugram  |  Batch 89</a:t>
            </a:r>
            <a:endParaRPr lang="en-US" sz="900" dirty="0"/>
          </a:p>
        </p:txBody>
      </p:sp>
      <p:sp>
        <p:nvSpPr>
          <p:cNvPr id="4" name="Text 2"/>
          <p:cNvSpPr txBox="1"/>
          <p:nvPr/>
        </p:nvSpPr>
        <p:spPr>
          <a:xfrm>
            <a:off x="8229600" y="4773168"/>
            <a:ext cx="457200" cy="228600"/>
          </a:xfrm>
          <a:prstGeom prst="rect">
            <a:avLst/>
          </a:prstGeom>
          <a:noFill/>
          <a:ln/>
        </p:spPr>
        <p:txBody>
          <a:bodyPr wrap="square" lIns="0" tIns="0" rIns="0" bIns="0" rtlCol="0" anchor="ctr"/>
          <a:lstStyle/>
          <a:p>
            <a:pPr marL="0" indent="0" algn="r">
              <a:buNone/>
            </a:pPr>
            <a:r>
              <a:rPr lang="en-US" sz="900" dirty="0">
                <a:solidFill>
                  <a:srgbClr val="5B6E77"/>
                </a:solidFill>
                <a:latin typeface="Calibri" pitchFamily="34" charset="0"/>
                <a:ea typeface="Calibri" pitchFamily="34" charset="-122"/>
                <a:cs typeface="Calibri" pitchFamily="34" charset="-120"/>
              </a:rPr>
              <a:t>14</a:t>
            </a:r>
            <a:endParaRPr lang="en-US" sz="900" dirty="0"/>
          </a:p>
        </p:txBody>
      </p:sp>
      <p:sp>
        <p:nvSpPr>
          <p:cNvPr id="5" name="Text 3"/>
          <p:cNvSpPr txBox="1"/>
          <p:nvPr/>
        </p:nvSpPr>
        <p:spPr>
          <a:xfrm>
            <a:off x="457200" y="1051560"/>
            <a:ext cx="1828800" cy="320040"/>
          </a:xfrm>
          <a:prstGeom prst="rect">
            <a:avLst/>
          </a:prstGeom>
          <a:noFill/>
          <a:ln/>
        </p:spPr>
        <p:txBody>
          <a:bodyPr wrap="square" lIns="0" tIns="0" rIns="0" bIns="0" rtlCol="0" anchor="ctr"/>
          <a:lstStyle/>
          <a:p>
            <a:pPr marL="0" indent="0">
              <a:buNone/>
            </a:pPr>
            <a:r>
              <a:rPr lang="en-US" sz="1500" b="1" dirty="0">
                <a:solidFill>
                  <a:srgbClr val="5B6E77"/>
                </a:solidFill>
                <a:latin typeface="Cambria" pitchFamily="34" charset="0"/>
                <a:ea typeface="Cambria" pitchFamily="34" charset="-122"/>
                <a:cs typeface="Cambria" pitchFamily="34" charset="-120"/>
              </a:rPr>
              <a:t>Manual process</a:t>
            </a:r>
            <a:endParaRPr lang="en-US" sz="1500" dirty="0"/>
          </a:p>
        </p:txBody>
      </p:sp>
      <p:sp>
        <p:nvSpPr>
          <p:cNvPr id="6" name="Text 4"/>
          <p:cNvSpPr txBox="1"/>
          <p:nvPr/>
        </p:nvSpPr>
        <p:spPr>
          <a:xfrm>
            <a:off x="2697480" y="1051560"/>
            <a:ext cx="2286000" cy="320040"/>
          </a:xfrm>
          <a:prstGeom prst="rect">
            <a:avLst/>
          </a:prstGeom>
          <a:noFill/>
          <a:ln/>
        </p:spPr>
        <p:txBody>
          <a:bodyPr wrap="square" lIns="0" tIns="0" rIns="0" bIns="0" rtlCol="0" anchor="ctr"/>
          <a:lstStyle/>
          <a:p>
            <a:pPr marL="0" indent="0">
              <a:buNone/>
            </a:pPr>
            <a:r>
              <a:rPr lang="en-US" sz="1500" b="1" dirty="0">
                <a:solidFill>
                  <a:srgbClr val="0F7C8A"/>
                </a:solidFill>
                <a:latin typeface="Cambria" pitchFamily="34" charset="0"/>
                <a:ea typeface="Cambria" pitchFamily="34" charset="-122"/>
                <a:cs typeface="Cambria" pitchFamily="34" charset="-120"/>
              </a:rPr>
              <a:t>With the application</a:t>
            </a:r>
            <a:endParaRPr lang="en-US" sz="1500" dirty="0"/>
          </a:p>
        </p:txBody>
      </p:sp>
      <p:sp>
        <p:nvSpPr>
          <p:cNvPr id="7" name="Shape 5"/>
          <p:cNvSpPr/>
          <p:nvPr/>
        </p:nvSpPr>
        <p:spPr>
          <a:xfrm>
            <a:off x="457200" y="1463040"/>
            <a:ext cx="2057400" cy="512064"/>
          </a:xfrm>
          <a:prstGeom prst="rect">
            <a:avLst/>
          </a:prstGeom>
          <a:solidFill>
            <a:srgbClr val="ECEFF1"/>
          </a:solidFill>
          <a:ln w="12700">
            <a:solidFill>
              <a:srgbClr val="ECEFF1"/>
            </a:solidFill>
            <a:prstDash val="solid"/>
          </a:ln>
        </p:spPr>
        <p:txBody>
          <a:bodyPr/>
          <a:lstStyle/>
          <a:p>
            <a:endParaRPr lang="en-US"/>
          </a:p>
        </p:txBody>
      </p:sp>
      <p:sp>
        <p:nvSpPr>
          <p:cNvPr id="8" name="Text 6"/>
          <p:cNvSpPr txBox="1"/>
          <p:nvPr/>
        </p:nvSpPr>
        <p:spPr>
          <a:xfrm>
            <a:off x="530352" y="1463040"/>
            <a:ext cx="1920240" cy="512064"/>
          </a:xfrm>
          <a:prstGeom prst="rect">
            <a:avLst/>
          </a:prstGeom>
          <a:noFill/>
          <a:ln/>
        </p:spPr>
        <p:txBody>
          <a:bodyPr wrap="square" lIns="0" tIns="0" rIns="0" bIns="0" rtlCol="0" anchor="ctr"/>
          <a:lstStyle/>
          <a:p>
            <a:pPr marL="0" indent="0">
              <a:buNone/>
            </a:pPr>
            <a:r>
              <a:rPr lang="en-US" sz="1050" dirty="0">
                <a:solidFill>
                  <a:srgbClr val="5B6E77"/>
                </a:solidFill>
                <a:latin typeface="Calibri" pitchFamily="34" charset="0"/>
                <a:ea typeface="Calibri" pitchFamily="34" charset="-122"/>
                <a:cs typeface="Calibri" pitchFamily="34" charset="-120"/>
              </a:rPr>
              <a:t>Needs a specialist to read statements</a:t>
            </a:r>
            <a:endParaRPr lang="en-US" sz="1050" dirty="0"/>
          </a:p>
        </p:txBody>
      </p:sp>
      <p:sp>
        <p:nvSpPr>
          <p:cNvPr id="9" name="Text 7"/>
          <p:cNvSpPr txBox="1"/>
          <p:nvPr/>
        </p:nvSpPr>
        <p:spPr>
          <a:xfrm>
            <a:off x="2514600" y="1463040"/>
            <a:ext cx="182880" cy="512064"/>
          </a:xfrm>
          <a:prstGeom prst="rect">
            <a:avLst/>
          </a:prstGeom>
          <a:noFill/>
          <a:ln/>
        </p:spPr>
        <p:txBody>
          <a:bodyPr wrap="square" lIns="0" tIns="0" rIns="0" bIns="0" rtlCol="0" anchor="ctr"/>
          <a:lstStyle/>
          <a:p>
            <a:pPr marL="0" indent="0" algn="ctr">
              <a:buNone/>
            </a:pPr>
            <a:r>
              <a:rPr lang="en-US" sz="1400" b="1" dirty="0">
                <a:solidFill>
                  <a:srgbClr val="F2A93B"/>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2697480" y="1463040"/>
            <a:ext cx="2286000" cy="512064"/>
          </a:xfrm>
          <a:prstGeom prst="rect">
            <a:avLst/>
          </a:prstGeom>
          <a:solidFill>
            <a:srgbClr val="E2F1F3"/>
          </a:solidFill>
          <a:ln w="12700">
            <a:solidFill>
              <a:srgbClr val="E2F1F3"/>
            </a:solidFill>
            <a:prstDash val="solid"/>
          </a:ln>
        </p:spPr>
        <p:txBody>
          <a:bodyPr/>
          <a:lstStyle/>
          <a:p>
            <a:endParaRPr lang="en-US"/>
          </a:p>
        </p:txBody>
      </p:sp>
      <p:sp>
        <p:nvSpPr>
          <p:cNvPr id="11" name="Text 9"/>
          <p:cNvSpPr txBox="1"/>
          <p:nvPr/>
        </p:nvSpPr>
        <p:spPr>
          <a:xfrm>
            <a:off x="2770632" y="1463040"/>
            <a:ext cx="2148840" cy="512064"/>
          </a:xfrm>
          <a:prstGeom prst="rect">
            <a:avLst/>
          </a:prstGeom>
          <a:noFill/>
          <a:ln/>
        </p:spPr>
        <p:txBody>
          <a:bodyPr wrap="square" lIns="0" tIns="0" rIns="0" bIns="0" rtlCol="0" anchor="ctr"/>
          <a:lstStyle/>
          <a:p>
            <a:pPr marL="0" indent="0">
              <a:buNone/>
            </a:pPr>
            <a:r>
              <a:rPr lang="en-US" sz="1050" b="1" dirty="0">
                <a:solidFill>
                  <a:srgbClr val="0A5A65"/>
                </a:solidFill>
                <a:latin typeface="Calibri" pitchFamily="34" charset="0"/>
                <a:ea typeface="Calibri" pitchFamily="34" charset="-122"/>
                <a:cs typeface="Calibri" pitchFamily="34" charset="-120"/>
              </a:rPr>
              <a:t>Guided, expert-style analysis</a:t>
            </a:r>
            <a:endParaRPr lang="en-US" sz="1050" dirty="0"/>
          </a:p>
        </p:txBody>
      </p:sp>
      <p:sp>
        <p:nvSpPr>
          <p:cNvPr id="12" name="Shape 10"/>
          <p:cNvSpPr/>
          <p:nvPr/>
        </p:nvSpPr>
        <p:spPr>
          <a:xfrm>
            <a:off x="457200" y="2066544"/>
            <a:ext cx="2057400" cy="512064"/>
          </a:xfrm>
          <a:prstGeom prst="rect">
            <a:avLst/>
          </a:prstGeom>
          <a:solidFill>
            <a:srgbClr val="ECEFF1"/>
          </a:solidFill>
          <a:ln w="12700">
            <a:solidFill>
              <a:srgbClr val="ECEFF1"/>
            </a:solidFill>
            <a:prstDash val="solid"/>
          </a:ln>
        </p:spPr>
        <p:txBody>
          <a:bodyPr/>
          <a:lstStyle/>
          <a:p>
            <a:endParaRPr lang="en-US"/>
          </a:p>
        </p:txBody>
      </p:sp>
      <p:sp>
        <p:nvSpPr>
          <p:cNvPr id="13" name="Text 11"/>
          <p:cNvSpPr txBox="1"/>
          <p:nvPr/>
        </p:nvSpPr>
        <p:spPr>
          <a:xfrm>
            <a:off x="530352" y="2066544"/>
            <a:ext cx="1920240" cy="512064"/>
          </a:xfrm>
          <a:prstGeom prst="rect">
            <a:avLst/>
          </a:prstGeom>
          <a:noFill/>
          <a:ln/>
        </p:spPr>
        <p:txBody>
          <a:bodyPr wrap="square" lIns="0" tIns="0" rIns="0" bIns="0" rtlCol="0" anchor="ctr"/>
          <a:lstStyle/>
          <a:p>
            <a:pPr marL="0" indent="0">
              <a:buNone/>
            </a:pPr>
            <a:r>
              <a:rPr lang="en-US" sz="1050" dirty="0">
                <a:solidFill>
                  <a:srgbClr val="5B6E77"/>
                </a:solidFill>
                <a:latin typeface="Calibri" pitchFamily="34" charset="0"/>
                <a:ea typeface="Calibri" pitchFamily="34" charset="-122"/>
                <a:cs typeface="Calibri" pitchFamily="34" charset="-120"/>
              </a:rPr>
              <a:t>Slow, vendor-by-vendor working</a:t>
            </a:r>
            <a:endParaRPr lang="en-US" sz="1050" dirty="0"/>
          </a:p>
        </p:txBody>
      </p:sp>
      <p:sp>
        <p:nvSpPr>
          <p:cNvPr id="14" name="Text 12"/>
          <p:cNvSpPr txBox="1"/>
          <p:nvPr/>
        </p:nvSpPr>
        <p:spPr>
          <a:xfrm>
            <a:off x="2514600" y="2066544"/>
            <a:ext cx="182880" cy="512064"/>
          </a:xfrm>
          <a:prstGeom prst="rect">
            <a:avLst/>
          </a:prstGeom>
          <a:noFill/>
          <a:ln/>
        </p:spPr>
        <p:txBody>
          <a:bodyPr wrap="square" lIns="0" tIns="0" rIns="0" bIns="0" rtlCol="0" anchor="ctr"/>
          <a:lstStyle/>
          <a:p>
            <a:pPr marL="0" indent="0" algn="ctr">
              <a:buNone/>
            </a:pPr>
            <a:r>
              <a:rPr lang="en-US" sz="1400" b="1" dirty="0">
                <a:solidFill>
                  <a:srgbClr val="F2A93B"/>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2697480" y="2066544"/>
            <a:ext cx="2286000" cy="512064"/>
          </a:xfrm>
          <a:prstGeom prst="rect">
            <a:avLst/>
          </a:prstGeom>
          <a:solidFill>
            <a:srgbClr val="E2F1F3"/>
          </a:solidFill>
          <a:ln w="12700">
            <a:solidFill>
              <a:srgbClr val="E2F1F3"/>
            </a:solidFill>
            <a:prstDash val="solid"/>
          </a:ln>
        </p:spPr>
        <p:txBody>
          <a:bodyPr/>
          <a:lstStyle/>
          <a:p>
            <a:endParaRPr lang="en-US"/>
          </a:p>
        </p:txBody>
      </p:sp>
      <p:sp>
        <p:nvSpPr>
          <p:cNvPr id="16" name="Text 14"/>
          <p:cNvSpPr txBox="1"/>
          <p:nvPr/>
        </p:nvSpPr>
        <p:spPr>
          <a:xfrm>
            <a:off x="2770632" y="2066544"/>
            <a:ext cx="2148840" cy="512064"/>
          </a:xfrm>
          <a:prstGeom prst="rect">
            <a:avLst/>
          </a:prstGeom>
          <a:noFill/>
          <a:ln/>
        </p:spPr>
        <p:txBody>
          <a:bodyPr wrap="square" lIns="0" tIns="0" rIns="0" bIns="0" rtlCol="0" anchor="ctr"/>
          <a:lstStyle/>
          <a:p>
            <a:pPr marL="0" indent="0">
              <a:buNone/>
            </a:pPr>
            <a:r>
              <a:rPr lang="en-US" sz="1050" b="1" dirty="0">
                <a:solidFill>
                  <a:srgbClr val="0A5A65"/>
                </a:solidFill>
                <a:latin typeface="Calibri" pitchFamily="34" charset="0"/>
                <a:ea typeface="Calibri" pitchFamily="34" charset="-122"/>
                <a:cs typeface="Calibri" pitchFamily="34" charset="-120"/>
              </a:rPr>
              <a:t>Upload once; structured results</a:t>
            </a:r>
            <a:endParaRPr lang="en-US" sz="1050" dirty="0"/>
          </a:p>
        </p:txBody>
      </p:sp>
      <p:sp>
        <p:nvSpPr>
          <p:cNvPr id="17" name="Shape 15"/>
          <p:cNvSpPr/>
          <p:nvPr/>
        </p:nvSpPr>
        <p:spPr>
          <a:xfrm>
            <a:off x="457200" y="2670048"/>
            <a:ext cx="2057400" cy="512064"/>
          </a:xfrm>
          <a:prstGeom prst="rect">
            <a:avLst/>
          </a:prstGeom>
          <a:solidFill>
            <a:srgbClr val="ECEFF1"/>
          </a:solidFill>
          <a:ln w="12700">
            <a:solidFill>
              <a:srgbClr val="ECEFF1"/>
            </a:solidFill>
            <a:prstDash val="solid"/>
          </a:ln>
        </p:spPr>
        <p:txBody>
          <a:bodyPr/>
          <a:lstStyle/>
          <a:p>
            <a:endParaRPr lang="en-US"/>
          </a:p>
        </p:txBody>
      </p:sp>
      <p:sp>
        <p:nvSpPr>
          <p:cNvPr id="18" name="Text 16"/>
          <p:cNvSpPr txBox="1"/>
          <p:nvPr/>
        </p:nvSpPr>
        <p:spPr>
          <a:xfrm>
            <a:off x="530352" y="2670048"/>
            <a:ext cx="1920240" cy="512064"/>
          </a:xfrm>
          <a:prstGeom prst="rect">
            <a:avLst/>
          </a:prstGeom>
          <a:noFill/>
          <a:ln/>
        </p:spPr>
        <p:txBody>
          <a:bodyPr wrap="square" lIns="0" tIns="0" rIns="0" bIns="0" rtlCol="0" anchor="ctr"/>
          <a:lstStyle/>
          <a:p>
            <a:pPr marL="0" indent="0">
              <a:buNone/>
            </a:pPr>
            <a:r>
              <a:rPr lang="en-US" sz="1050" dirty="0">
                <a:solidFill>
                  <a:srgbClr val="5B6E77"/>
                </a:solidFill>
                <a:latin typeface="Calibri" pitchFamily="34" charset="0"/>
                <a:ea typeface="Calibri" pitchFamily="34" charset="-122"/>
                <a:cs typeface="Calibri" pitchFamily="34" charset="-120"/>
              </a:rPr>
              <a:t>Re-keying from PDF, Excel, Word</a:t>
            </a:r>
            <a:endParaRPr lang="en-US" sz="1050" dirty="0"/>
          </a:p>
        </p:txBody>
      </p:sp>
      <p:sp>
        <p:nvSpPr>
          <p:cNvPr id="19" name="Text 17"/>
          <p:cNvSpPr txBox="1"/>
          <p:nvPr/>
        </p:nvSpPr>
        <p:spPr>
          <a:xfrm>
            <a:off x="2514600" y="2670048"/>
            <a:ext cx="182880" cy="512064"/>
          </a:xfrm>
          <a:prstGeom prst="rect">
            <a:avLst/>
          </a:prstGeom>
          <a:noFill/>
          <a:ln/>
        </p:spPr>
        <p:txBody>
          <a:bodyPr wrap="square" lIns="0" tIns="0" rIns="0" bIns="0" rtlCol="0" anchor="ctr"/>
          <a:lstStyle/>
          <a:p>
            <a:pPr marL="0" indent="0" algn="ctr">
              <a:buNone/>
            </a:pPr>
            <a:r>
              <a:rPr lang="en-US" sz="1400" b="1" dirty="0">
                <a:solidFill>
                  <a:srgbClr val="F2A93B"/>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2697480" y="2670048"/>
            <a:ext cx="2286000" cy="512064"/>
          </a:xfrm>
          <a:prstGeom prst="rect">
            <a:avLst/>
          </a:prstGeom>
          <a:solidFill>
            <a:srgbClr val="E2F1F3"/>
          </a:solidFill>
          <a:ln w="12700">
            <a:solidFill>
              <a:srgbClr val="E2F1F3"/>
            </a:solidFill>
            <a:prstDash val="solid"/>
          </a:ln>
        </p:spPr>
        <p:txBody>
          <a:bodyPr/>
          <a:lstStyle/>
          <a:p>
            <a:endParaRPr lang="en-US"/>
          </a:p>
        </p:txBody>
      </p:sp>
      <p:sp>
        <p:nvSpPr>
          <p:cNvPr id="21" name="Text 19"/>
          <p:cNvSpPr txBox="1"/>
          <p:nvPr/>
        </p:nvSpPr>
        <p:spPr>
          <a:xfrm>
            <a:off x="2770632" y="2670048"/>
            <a:ext cx="2148840" cy="512064"/>
          </a:xfrm>
          <a:prstGeom prst="rect">
            <a:avLst/>
          </a:prstGeom>
          <a:noFill/>
          <a:ln/>
        </p:spPr>
        <p:txBody>
          <a:bodyPr wrap="square" lIns="0" tIns="0" rIns="0" bIns="0" rtlCol="0" anchor="ctr"/>
          <a:lstStyle/>
          <a:p>
            <a:pPr marL="0" indent="0">
              <a:buNone/>
            </a:pPr>
            <a:r>
              <a:rPr lang="en-US" sz="1050" b="1" dirty="0">
                <a:solidFill>
                  <a:srgbClr val="0A5A65"/>
                </a:solidFill>
                <a:latin typeface="Calibri" pitchFamily="34" charset="0"/>
                <a:ea typeface="Calibri" pitchFamily="34" charset="-122"/>
                <a:cs typeface="Calibri" pitchFamily="34" charset="-120"/>
              </a:rPr>
              <a:t>Reads common formats directly</a:t>
            </a:r>
            <a:endParaRPr lang="en-US" sz="1050" dirty="0"/>
          </a:p>
        </p:txBody>
      </p:sp>
      <p:sp>
        <p:nvSpPr>
          <p:cNvPr id="22" name="Shape 20"/>
          <p:cNvSpPr/>
          <p:nvPr/>
        </p:nvSpPr>
        <p:spPr>
          <a:xfrm>
            <a:off x="457200" y="3273552"/>
            <a:ext cx="2057400" cy="512064"/>
          </a:xfrm>
          <a:prstGeom prst="rect">
            <a:avLst/>
          </a:prstGeom>
          <a:solidFill>
            <a:srgbClr val="ECEFF1"/>
          </a:solidFill>
          <a:ln w="12700">
            <a:solidFill>
              <a:srgbClr val="ECEFF1"/>
            </a:solidFill>
            <a:prstDash val="solid"/>
          </a:ln>
        </p:spPr>
        <p:txBody>
          <a:bodyPr/>
          <a:lstStyle/>
          <a:p>
            <a:endParaRPr lang="en-US"/>
          </a:p>
        </p:txBody>
      </p:sp>
      <p:sp>
        <p:nvSpPr>
          <p:cNvPr id="23" name="Text 21"/>
          <p:cNvSpPr txBox="1"/>
          <p:nvPr/>
        </p:nvSpPr>
        <p:spPr>
          <a:xfrm>
            <a:off x="530352" y="3273552"/>
            <a:ext cx="1920240" cy="512064"/>
          </a:xfrm>
          <a:prstGeom prst="rect">
            <a:avLst/>
          </a:prstGeom>
          <a:noFill/>
          <a:ln/>
        </p:spPr>
        <p:txBody>
          <a:bodyPr wrap="square" lIns="0" tIns="0" rIns="0" bIns="0" rtlCol="0" anchor="ctr"/>
          <a:lstStyle/>
          <a:p>
            <a:pPr marL="0" indent="0">
              <a:buNone/>
            </a:pPr>
            <a:r>
              <a:rPr lang="en-US" sz="1050" dirty="0">
                <a:solidFill>
                  <a:srgbClr val="5B6E77"/>
                </a:solidFill>
                <a:latin typeface="Calibri" pitchFamily="34" charset="0"/>
                <a:ea typeface="Calibri" pitchFamily="34" charset="-122"/>
                <a:cs typeface="Calibri" pitchFamily="34" charset="-120"/>
              </a:rPr>
              <a:t>Varies from analyst to analyst</a:t>
            </a:r>
            <a:endParaRPr lang="en-US" sz="1050" dirty="0"/>
          </a:p>
        </p:txBody>
      </p:sp>
      <p:sp>
        <p:nvSpPr>
          <p:cNvPr id="24" name="Text 22"/>
          <p:cNvSpPr txBox="1"/>
          <p:nvPr/>
        </p:nvSpPr>
        <p:spPr>
          <a:xfrm>
            <a:off x="2514600" y="3273552"/>
            <a:ext cx="182880" cy="512064"/>
          </a:xfrm>
          <a:prstGeom prst="rect">
            <a:avLst/>
          </a:prstGeom>
          <a:noFill/>
          <a:ln/>
        </p:spPr>
        <p:txBody>
          <a:bodyPr wrap="square" lIns="0" tIns="0" rIns="0" bIns="0" rtlCol="0" anchor="ctr"/>
          <a:lstStyle/>
          <a:p>
            <a:pPr marL="0" indent="0" algn="ctr">
              <a:buNone/>
            </a:pPr>
            <a:r>
              <a:rPr lang="en-US" sz="1400" b="1" dirty="0">
                <a:solidFill>
                  <a:srgbClr val="F2A93B"/>
                </a:solidFill>
                <a:latin typeface="Calibri" pitchFamily="34" charset="0"/>
                <a:ea typeface="Calibri" pitchFamily="34" charset="-122"/>
                <a:cs typeface="Calibri" pitchFamily="34" charset="-120"/>
              </a:rPr>
              <a:t>→</a:t>
            </a:r>
            <a:endParaRPr lang="en-US" sz="1400" dirty="0"/>
          </a:p>
        </p:txBody>
      </p:sp>
      <p:sp>
        <p:nvSpPr>
          <p:cNvPr id="25" name="Shape 23"/>
          <p:cNvSpPr/>
          <p:nvPr/>
        </p:nvSpPr>
        <p:spPr>
          <a:xfrm>
            <a:off x="2697480" y="3273552"/>
            <a:ext cx="2286000" cy="512064"/>
          </a:xfrm>
          <a:prstGeom prst="rect">
            <a:avLst/>
          </a:prstGeom>
          <a:solidFill>
            <a:srgbClr val="E2F1F3"/>
          </a:solidFill>
          <a:ln w="12700">
            <a:solidFill>
              <a:srgbClr val="E2F1F3"/>
            </a:solidFill>
            <a:prstDash val="solid"/>
          </a:ln>
        </p:spPr>
        <p:txBody>
          <a:bodyPr/>
          <a:lstStyle/>
          <a:p>
            <a:endParaRPr lang="en-US"/>
          </a:p>
        </p:txBody>
      </p:sp>
      <p:sp>
        <p:nvSpPr>
          <p:cNvPr id="26" name="Text 24"/>
          <p:cNvSpPr txBox="1"/>
          <p:nvPr/>
        </p:nvSpPr>
        <p:spPr>
          <a:xfrm>
            <a:off x="2770632" y="3273552"/>
            <a:ext cx="2148840" cy="512064"/>
          </a:xfrm>
          <a:prstGeom prst="rect">
            <a:avLst/>
          </a:prstGeom>
          <a:noFill/>
          <a:ln/>
        </p:spPr>
        <p:txBody>
          <a:bodyPr wrap="square" lIns="0" tIns="0" rIns="0" bIns="0" rtlCol="0" anchor="ctr"/>
          <a:lstStyle/>
          <a:p>
            <a:pPr marL="0" indent="0">
              <a:buNone/>
            </a:pPr>
            <a:r>
              <a:rPr lang="en-US" sz="1050" b="1" dirty="0">
                <a:solidFill>
                  <a:srgbClr val="0A5A65"/>
                </a:solidFill>
                <a:latin typeface="Calibri" pitchFamily="34" charset="0"/>
                <a:ea typeface="Calibri" pitchFamily="34" charset="-122"/>
                <a:cs typeface="Calibri" pitchFamily="34" charset="-120"/>
              </a:rPr>
              <a:t>One method for every vendor</a:t>
            </a:r>
            <a:endParaRPr lang="en-US" sz="1050" dirty="0"/>
          </a:p>
        </p:txBody>
      </p:sp>
      <p:sp>
        <p:nvSpPr>
          <p:cNvPr id="27" name="Shape 25"/>
          <p:cNvSpPr/>
          <p:nvPr/>
        </p:nvSpPr>
        <p:spPr>
          <a:xfrm>
            <a:off x="457200" y="3877056"/>
            <a:ext cx="2057400" cy="512064"/>
          </a:xfrm>
          <a:prstGeom prst="rect">
            <a:avLst/>
          </a:prstGeom>
          <a:solidFill>
            <a:srgbClr val="ECEFF1"/>
          </a:solidFill>
          <a:ln w="12700">
            <a:solidFill>
              <a:srgbClr val="ECEFF1"/>
            </a:solidFill>
            <a:prstDash val="solid"/>
          </a:ln>
        </p:spPr>
        <p:txBody>
          <a:bodyPr/>
          <a:lstStyle/>
          <a:p>
            <a:endParaRPr lang="en-US"/>
          </a:p>
        </p:txBody>
      </p:sp>
      <p:sp>
        <p:nvSpPr>
          <p:cNvPr id="28" name="Text 26"/>
          <p:cNvSpPr txBox="1"/>
          <p:nvPr/>
        </p:nvSpPr>
        <p:spPr>
          <a:xfrm>
            <a:off x="530352" y="3877056"/>
            <a:ext cx="1920240" cy="512064"/>
          </a:xfrm>
          <a:prstGeom prst="rect">
            <a:avLst/>
          </a:prstGeom>
          <a:noFill/>
          <a:ln/>
        </p:spPr>
        <p:txBody>
          <a:bodyPr wrap="square" lIns="0" tIns="0" rIns="0" bIns="0" rtlCol="0" anchor="ctr"/>
          <a:lstStyle/>
          <a:p>
            <a:pPr marL="0" indent="0">
              <a:buNone/>
            </a:pPr>
            <a:r>
              <a:rPr lang="en-US" sz="1050" dirty="0">
                <a:solidFill>
                  <a:srgbClr val="5B6E77"/>
                </a:solidFill>
                <a:latin typeface="Calibri" pitchFamily="34" charset="0"/>
                <a:ea typeface="Calibri" pitchFamily="34" charset="-122"/>
                <a:cs typeface="Calibri" pitchFamily="34" charset="-120"/>
              </a:rPr>
              <a:t>Assessments scattered in files</a:t>
            </a:r>
            <a:endParaRPr lang="en-US" sz="1050" dirty="0"/>
          </a:p>
        </p:txBody>
      </p:sp>
      <p:sp>
        <p:nvSpPr>
          <p:cNvPr id="29" name="Text 27"/>
          <p:cNvSpPr txBox="1"/>
          <p:nvPr/>
        </p:nvSpPr>
        <p:spPr>
          <a:xfrm>
            <a:off x="2514600" y="3877056"/>
            <a:ext cx="182880" cy="512064"/>
          </a:xfrm>
          <a:prstGeom prst="rect">
            <a:avLst/>
          </a:prstGeom>
          <a:noFill/>
          <a:ln/>
        </p:spPr>
        <p:txBody>
          <a:bodyPr wrap="square" lIns="0" tIns="0" rIns="0" bIns="0" rtlCol="0" anchor="ctr"/>
          <a:lstStyle/>
          <a:p>
            <a:pPr marL="0" indent="0" algn="ctr">
              <a:buNone/>
            </a:pPr>
            <a:r>
              <a:rPr lang="en-US" sz="1400" b="1" dirty="0">
                <a:solidFill>
                  <a:srgbClr val="F2A93B"/>
                </a:solidFill>
                <a:latin typeface="Calibri" pitchFamily="34" charset="0"/>
                <a:ea typeface="Calibri" pitchFamily="34" charset="-122"/>
                <a:cs typeface="Calibri" pitchFamily="34" charset="-120"/>
              </a:rPr>
              <a:t>→</a:t>
            </a:r>
            <a:endParaRPr lang="en-US" sz="1400" dirty="0"/>
          </a:p>
        </p:txBody>
      </p:sp>
      <p:sp>
        <p:nvSpPr>
          <p:cNvPr id="30" name="Shape 28"/>
          <p:cNvSpPr/>
          <p:nvPr/>
        </p:nvSpPr>
        <p:spPr>
          <a:xfrm>
            <a:off x="2697480" y="3877056"/>
            <a:ext cx="2286000" cy="512064"/>
          </a:xfrm>
          <a:prstGeom prst="rect">
            <a:avLst/>
          </a:prstGeom>
          <a:solidFill>
            <a:srgbClr val="E2F1F3"/>
          </a:solidFill>
          <a:ln w="12700">
            <a:solidFill>
              <a:srgbClr val="E2F1F3"/>
            </a:solidFill>
            <a:prstDash val="solid"/>
          </a:ln>
        </p:spPr>
        <p:txBody>
          <a:bodyPr/>
          <a:lstStyle/>
          <a:p>
            <a:endParaRPr lang="en-US"/>
          </a:p>
        </p:txBody>
      </p:sp>
      <p:sp>
        <p:nvSpPr>
          <p:cNvPr id="31" name="Text 29"/>
          <p:cNvSpPr txBox="1"/>
          <p:nvPr/>
        </p:nvSpPr>
        <p:spPr>
          <a:xfrm>
            <a:off x="2770632" y="3877056"/>
            <a:ext cx="2148840" cy="512064"/>
          </a:xfrm>
          <a:prstGeom prst="rect">
            <a:avLst/>
          </a:prstGeom>
          <a:noFill/>
          <a:ln/>
        </p:spPr>
        <p:txBody>
          <a:bodyPr wrap="square" lIns="0" tIns="0" rIns="0" bIns="0" rtlCol="0" anchor="ctr"/>
          <a:lstStyle/>
          <a:p>
            <a:pPr marL="0" indent="0">
              <a:buNone/>
            </a:pPr>
            <a:r>
              <a:rPr lang="en-US" sz="1050" b="1" dirty="0">
                <a:solidFill>
                  <a:srgbClr val="0A5A65"/>
                </a:solidFill>
                <a:latin typeface="Calibri" pitchFamily="34" charset="0"/>
                <a:ea typeface="Calibri" pitchFamily="34" charset="-122"/>
                <a:cs typeface="Calibri" pitchFamily="34" charset="-120"/>
              </a:rPr>
              <a:t>Saved, reopenable, downloadable</a:t>
            </a:r>
            <a:endParaRPr lang="en-US" sz="1050" dirty="0"/>
          </a:p>
        </p:txBody>
      </p:sp>
      <p:sp>
        <p:nvSpPr>
          <p:cNvPr id="32" name="Shape 30"/>
          <p:cNvSpPr/>
          <p:nvPr/>
        </p:nvSpPr>
        <p:spPr>
          <a:xfrm>
            <a:off x="5257800" y="1097280"/>
            <a:ext cx="3429000" cy="3383280"/>
          </a:xfrm>
          <a:prstGeom prst="rect">
            <a:avLst/>
          </a:prstGeom>
          <a:solidFill>
            <a:srgbClr val="FFFFFF"/>
          </a:solidFill>
          <a:ln w="9525">
            <a:solidFill>
              <a:srgbClr val="D5E0E4"/>
            </a:solidFill>
            <a:prstDash val="solid"/>
          </a:ln>
          <a:effectLst>
            <a:outerShdw blurRad="76200" dist="25400" dir="5400000" algn="bl" rotWithShape="0">
              <a:srgbClr val="000000">
                <a:alpha val="12000"/>
              </a:srgbClr>
            </a:outerShdw>
          </a:effectLst>
        </p:spPr>
        <p:txBody>
          <a:bodyPr/>
          <a:lstStyle/>
          <a:p>
            <a:endParaRPr lang="en-US"/>
          </a:p>
        </p:txBody>
      </p:sp>
      <p:sp>
        <p:nvSpPr>
          <p:cNvPr id="33" name="Shape 31"/>
          <p:cNvSpPr/>
          <p:nvPr/>
        </p:nvSpPr>
        <p:spPr>
          <a:xfrm>
            <a:off x="5394960" y="1207008"/>
            <a:ext cx="457200" cy="457200"/>
          </a:xfrm>
          <a:prstGeom prst="ellipse">
            <a:avLst/>
          </a:prstGeom>
          <a:solidFill>
            <a:srgbClr val="FDF1DC"/>
          </a:solidFill>
          <a:ln w="12700">
            <a:solidFill>
              <a:srgbClr val="FDF1DC"/>
            </a:solidFill>
            <a:prstDash val="solid"/>
          </a:ln>
        </p:spPr>
        <p:txBody>
          <a:bodyPr/>
          <a:lstStyle/>
          <a:p>
            <a:endParaRPr lang="en-US"/>
          </a:p>
        </p:txBody>
      </p:sp>
      <p:pic>
        <p:nvPicPr>
          <p:cNvPr id="34" name="Image 0" descr="preencoded.png"/>
          <p:cNvPicPr>
            <a:picLocks noChangeAspect="1"/>
          </p:cNvPicPr>
          <p:nvPr/>
        </p:nvPicPr>
        <p:blipFill>
          <a:blip r:embed="rId3"/>
          <a:stretch>
            <a:fillRect/>
          </a:stretch>
        </p:blipFill>
        <p:spPr>
          <a:xfrm>
            <a:off x="5509260" y="1321308"/>
            <a:ext cx="228600" cy="228600"/>
          </a:xfrm>
          <a:prstGeom prst="rect">
            <a:avLst/>
          </a:prstGeom>
        </p:spPr>
      </p:pic>
      <p:sp>
        <p:nvSpPr>
          <p:cNvPr id="35" name="Text 32"/>
          <p:cNvSpPr txBox="1"/>
          <p:nvPr/>
        </p:nvSpPr>
        <p:spPr>
          <a:xfrm>
            <a:off x="5989320" y="1207008"/>
            <a:ext cx="2560320" cy="457200"/>
          </a:xfrm>
          <a:prstGeom prst="rect">
            <a:avLst/>
          </a:prstGeom>
          <a:noFill/>
          <a:ln/>
        </p:spPr>
        <p:txBody>
          <a:bodyPr wrap="square" lIns="0" tIns="0" rIns="0" bIns="0" rtlCol="0" anchor="ctr"/>
          <a:lstStyle/>
          <a:p>
            <a:pPr marL="0" indent="0">
              <a:buNone/>
            </a:pPr>
            <a:r>
              <a:rPr lang="en-US" sz="1600" b="1" dirty="0">
                <a:solidFill>
                  <a:srgbClr val="0B2A3D"/>
                </a:solidFill>
                <a:latin typeface="Cambria" pitchFamily="34" charset="0"/>
                <a:ea typeface="Cambria" pitchFamily="34" charset="-122"/>
                <a:cs typeface="Cambria" pitchFamily="34" charset="-120"/>
              </a:rPr>
              <a:t>Next steps</a:t>
            </a:r>
            <a:endParaRPr lang="en-US" sz="1600" dirty="0"/>
          </a:p>
        </p:txBody>
      </p:sp>
      <p:sp>
        <p:nvSpPr>
          <p:cNvPr id="36" name="Text 33"/>
          <p:cNvSpPr txBox="1"/>
          <p:nvPr/>
        </p:nvSpPr>
        <p:spPr>
          <a:xfrm>
            <a:off x="5394960" y="1828800"/>
            <a:ext cx="3200400" cy="26060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B2B34"/>
                </a:solidFill>
                <a:latin typeface="Calibri" pitchFamily="34" charset="0"/>
                <a:ea typeface="Calibri" pitchFamily="34" charset="-122"/>
                <a:cs typeface="Calibri" pitchFamily="34" charset="-120"/>
              </a:rPr>
              <a:t>Configurable industry benchmarks</a:t>
            </a:r>
            <a:endParaRPr lang="en-US" sz="1150" dirty="0"/>
          </a:p>
          <a:p>
            <a:pPr marL="342900" indent="-342900">
              <a:spcAft>
                <a:spcPts val="600"/>
              </a:spcAft>
              <a:buSzPct val="100000"/>
              <a:buChar char="•"/>
            </a:pPr>
            <a:r>
              <a:rPr lang="en-US" sz="1150" dirty="0">
                <a:solidFill>
                  <a:srgbClr val="1B2B34"/>
                </a:solidFill>
                <a:latin typeface="Calibri" pitchFamily="34" charset="0"/>
                <a:ea typeface="Calibri" pitchFamily="34" charset="-122"/>
                <a:cs typeface="Calibri" pitchFamily="34" charset="-120"/>
              </a:rPr>
              <a:t>Admin-set score thresholds for risk bands</a:t>
            </a:r>
            <a:endParaRPr lang="en-US" sz="1150" dirty="0"/>
          </a:p>
          <a:p>
            <a:pPr marL="342900" indent="-342900">
              <a:spcAft>
                <a:spcPts val="600"/>
              </a:spcAft>
              <a:buSzPct val="100000"/>
              <a:buChar char="•"/>
            </a:pPr>
            <a:r>
              <a:rPr lang="en-US" sz="1150" dirty="0">
                <a:solidFill>
                  <a:srgbClr val="1B2B34"/>
                </a:solidFill>
                <a:latin typeface="Calibri" pitchFamily="34" charset="0"/>
                <a:ea typeface="Calibri" pitchFamily="34" charset="-122"/>
                <a:cs typeface="Calibri" pitchFamily="34" charset="-120"/>
              </a:rPr>
              <a:t>Bring notes-to-accounts findings, such as contingent liabilities and customer concentration, into the qualitative score</a:t>
            </a:r>
            <a:endParaRPr lang="en-US" sz="1150" dirty="0"/>
          </a:p>
          <a:p>
            <a:pPr marL="342900" indent="-342900">
              <a:spcAft>
                <a:spcPts val="600"/>
              </a:spcAft>
              <a:buSzPct val="100000"/>
              <a:buChar char="•"/>
            </a:pPr>
            <a:r>
              <a:rPr lang="en-US" sz="1150" dirty="0">
                <a:solidFill>
                  <a:srgbClr val="1B2B34"/>
                </a:solidFill>
                <a:latin typeface="Calibri" pitchFamily="34" charset="0"/>
                <a:ea typeface="Calibri" pitchFamily="34" charset="-122"/>
                <a:cs typeface="Calibri" pitchFamily="34" charset="-120"/>
              </a:rPr>
              <a:t>Advanced analytics and richer document intelligence</a:t>
            </a:r>
            <a:endParaRPr lang="en-US" sz="1150" dirty="0"/>
          </a:p>
          <a:p>
            <a:pPr marL="342900" indent="-342900">
              <a:spcAft>
                <a:spcPts val="600"/>
              </a:spcAft>
              <a:buSzPct val="100000"/>
              <a:buChar char="•"/>
            </a:pPr>
            <a:r>
              <a:rPr lang="en-US" sz="1150" dirty="0">
                <a:solidFill>
                  <a:srgbClr val="1B2B34"/>
                </a:solidFill>
                <a:latin typeface="Calibri" pitchFamily="34" charset="0"/>
                <a:ea typeface="Calibri" pitchFamily="34" charset="-122"/>
                <a:cs typeface="Calibri" pitchFamily="34" charset="-120"/>
              </a:rPr>
              <a:t>ERP integration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A3D"/>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457200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1"/>
          <p:cNvSpPr txBox="1"/>
          <p:nvPr/>
        </p:nvSpPr>
        <p:spPr>
          <a:xfrm>
            <a:off x="548640" y="1188720"/>
            <a:ext cx="5669280" cy="640080"/>
          </a:xfrm>
          <a:prstGeom prst="rect">
            <a:avLst/>
          </a:prstGeom>
          <a:noFill/>
          <a:ln/>
        </p:spPr>
        <p:txBody>
          <a:bodyPr wrap="square" lIns="0" tIns="0" rIns="0" bIns="0" rtlCol="0" anchor="t"/>
          <a:lstStyle/>
          <a:p>
            <a:pPr marL="0" indent="0">
              <a:buNone/>
            </a:pPr>
            <a:r>
              <a:rPr lang="en-US" sz="1500" dirty="0">
                <a:solidFill>
                  <a:srgbClr val="CADCE3"/>
                </a:solidFill>
                <a:latin typeface="Calibri" pitchFamily="34" charset="0"/>
                <a:ea typeface="Calibri" pitchFamily="34" charset="-122"/>
                <a:cs typeface="Calibri" pitchFamily="34" charset="-120"/>
              </a:rPr>
              <a:t>A finance-first AI application that turns vendor financial statements into clear, consistent and documented credit decisions.</a:t>
            </a:r>
            <a:endParaRPr lang="en-US" sz="1500" dirty="0"/>
          </a:p>
        </p:txBody>
      </p:sp>
      <p:sp>
        <p:nvSpPr>
          <p:cNvPr id="4" name="Shape 2"/>
          <p:cNvSpPr/>
          <p:nvPr/>
        </p:nvSpPr>
        <p:spPr>
          <a:xfrm>
            <a:off x="548640" y="2103120"/>
            <a:ext cx="1828800" cy="960120"/>
          </a:xfrm>
          <a:prstGeom prst="rect">
            <a:avLst/>
          </a:prstGeom>
          <a:solidFill>
            <a:srgbClr val="0A5A65"/>
          </a:solidFill>
          <a:ln w="12700">
            <a:solidFill>
              <a:srgbClr val="0A5A65"/>
            </a:solidFill>
            <a:prstDash val="solid"/>
          </a:ln>
        </p:spPr>
        <p:txBody>
          <a:bodyPr/>
          <a:lstStyle/>
          <a:p>
            <a:endParaRPr lang="en-US"/>
          </a:p>
        </p:txBody>
      </p:sp>
      <p:pic>
        <p:nvPicPr>
          <p:cNvPr id="5" name="Image 0" descr="preencoded.png"/>
          <p:cNvPicPr>
            <a:picLocks noChangeAspect="1"/>
          </p:cNvPicPr>
          <p:nvPr/>
        </p:nvPicPr>
        <p:blipFill>
          <a:blip r:embed="rId3"/>
          <a:stretch>
            <a:fillRect/>
          </a:stretch>
        </p:blipFill>
        <p:spPr>
          <a:xfrm>
            <a:off x="1280160" y="2194560"/>
            <a:ext cx="365760" cy="365760"/>
          </a:xfrm>
          <a:prstGeom prst="rect">
            <a:avLst/>
          </a:prstGeom>
        </p:spPr>
      </p:pic>
      <p:sp>
        <p:nvSpPr>
          <p:cNvPr id="6" name="Text 3"/>
          <p:cNvSpPr txBox="1"/>
          <p:nvPr/>
        </p:nvSpPr>
        <p:spPr>
          <a:xfrm>
            <a:off x="594360" y="2606040"/>
            <a:ext cx="17373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AI reads, code calculates</a:t>
            </a:r>
            <a:endParaRPr lang="en-US" sz="1200" dirty="0"/>
          </a:p>
        </p:txBody>
      </p:sp>
      <p:sp>
        <p:nvSpPr>
          <p:cNvPr id="7" name="Shape 4"/>
          <p:cNvSpPr/>
          <p:nvPr/>
        </p:nvSpPr>
        <p:spPr>
          <a:xfrm>
            <a:off x="2514600" y="2103120"/>
            <a:ext cx="1828800" cy="960120"/>
          </a:xfrm>
          <a:prstGeom prst="rect">
            <a:avLst/>
          </a:prstGeom>
          <a:solidFill>
            <a:srgbClr val="0A5A65"/>
          </a:solidFill>
          <a:ln w="12700">
            <a:solidFill>
              <a:srgbClr val="0A5A65"/>
            </a:solidFill>
            <a:prstDash val="solid"/>
          </a:ln>
        </p:spPr>
        <p:txBody>
          <a:bodyPr/>
          <a:lstStyle/>
          <a:p>
            <a:endParaRPr lang="en-US"/>
          </a:p>
        </p:txBody>
      </p:sp>
      <p:pic>
        <p:nvPicPr>
          <p:cNvPr id="8" name="Image 1" descr="preencoded.png"/>
          <p:cNvPicPr>
            <a:picLocks noChangeAspect="1"/>
          </p:cNvPicPr>
          <p:nvPr/>
        </p:nvPicPr>
        <p:blipFill>
          <a:blip r:embed="rId4"/>
          <a:stretch>
            <a:fillRect/>
          </a:stretch>
        </p:blipFill>
        <p:spPr>
          <a:xfrm>
            <a:off x="3246120" y="2194560"/>
            <a:ext cx="365760" cy="365760"/>
          </a:xfrm>
          <a:prstGeom prst="rect">
            <a:avLst/>
          </a:prstGeom>
        </p:spPr>
      </p:pic>
      <p:sp>
        <p:nvSpPr>
          <p:cNvPr id="9" name="Text 5"/>
          <p:cNvSpPr txBox="1"/>
          <p:nvPr/>
        </p:nvSpPr>
        <p:spPr>
          <a:xfrm>
            <a:off x="2560320" y="2606040"/>
            <a:ext cx="17373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Human verifies and decides</a:t>
            </a:r>
            <a:endParaRPr lang="en-US" sz="1200" dirty="0"/>
          </a:p>
        </p:txBody>
      </p:sp>
      <p:sp>
        <p:nvSpPr>
          <p:cNvPr id="10" name="Shape 6"/>
          <p:cNvSpPr/>
          <p:nvPr/>
        </p:nvSpPr>
        <p:spPr>
          <a:xfrm>
            <a:off x="4480560" y="2103120"/>
            <a:ext cx="1828800" cy="960120"/>
          </a:xfrm>
          <a:prstGeom prst="rect">
            <a:avLst/>
          </a:prstGeom>
          <a:solidFill>
            <a:srgbClr val="0A5A65"/>
          </a:solidFill>
          <a:ln w="12700">
            <a:solidFill>
              <a:srgbClr val="0A5A65"/>
            </a:solidFill>
            <a:prstDash val="solid"/>
          </a:ln>
        </p:spPr>
        <p:txBody>
          <a:bodyPr/>
          <a:lstStyle/>
          <a:p>
            <a:endParaRPr lang="en-US"/>
          </a:p>
        </p:txBody>
      </p:sp>
      <p:pic>
        <p:nvPicPr>
          <p:cNvPr id="11" name="Image 2" descr="preencoded.png"/>
          <p:cNvPicPr>
            <a:picLocks noChangeAspect="1"/>
          </p:cNvPicPr>
          <p:nvPr/>
        </p:nvPicPr>
        <p:blipFill>
          <a:blip r:embed="rId5"/>
          <a:stretch>
            <a:fillRect/>
          </a:stretch>
        </p:blipFill>
        <p:spPr>
          <a:xfrm>
            <a:off x="5212080" y="2194560"/>
            <a:ext cx="365760" cy="365760"/>
          </a:xfrm>
          <a:prstGeom prst="rect">
            <a:avLst/>
          </a:prstGeom>
        </p:spPr>
      </p:pic>
      <p:sp>
        <p:nvSpPr>
          <p:cNvPr id="12" name="Text 7"/>
          <p:cNvSpPr txBox="1"/>
          <p:nvPr/>
        </p:nvSpPr>
        <p:spPr>
          <a:xfrm>
            <a:off x="4526280" y="2606040"/>
            <a:ext cx="17373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Consistent credit policy</a:t>
            </a:r>
            <a:endParaRPr lang="en-US" sz="1200" dirty="0"/>
          </a:p>
        </p:txBody>
      </p:sp>
      <p:sp>
        <p:nvSpPr>
          <p:cNvPr id="13" name="Shape 8"/>
          <p:cNvSpPr/>
          <p:nvPr/>
        </p:nvSpPr>
        <p:spPr>
          <a:xfrm>
            <a:off x="548640" y="3337560"/>
            <a:ext cx="8046720" cy="914400"/>
          </a:xfrm>
          <a:prstGeom prst="rect">
            <a:avLst/>
          </a:prstGeom>
          <a:solidFill>
            <a:srgbClr val="FFFFFF"/>
          </a:solidFill>
          <a:ln w="12700">
            <a:solidFill>
              <a:srgbClr val="FFFFFF"/>
            </a:solidFill>
            <a:prstDash val="solid"/>
          </a:ln>
        </p:spPr>
        <p:txBody>
          <a:bodyPr/>
          <a:lstStyle/>
          <a:p>
            <a:endParaRPr lang="en-US"/>
          </a:p>
        </p:txBody>
      </p:sp>
      <p:sp>
        <p:nvSpPr>
          <p:cNvPr id="14" name="Text 9"/>
          <p:cNvSpPr txBox="1"/>
          <p:nvPr/>
        </p:nvSpPr>
        <p:spPr>
          <a:xfrm>
            <a:off x="731520" y="3337560"/>
            <a:ext cx="7680960" cy="914400"/>
          </a:xfrm>
          <a:prstGeom prst="rect">
            <a:avLst/>
          </a:prstGeom>
          <a:noFill/>
          <a:ln/>
        </p:spPr>
        <p:txBody>
          <a:bodyPr wrap="square" lIns="0" tIns="0" rIns="0" bIns="0" rtlCol="0" anchor="ctr"/>
          <a:lstStyle/>
          <a:p>
            <a:pPr marL="0" indent="0">
              <a:spcAft>
                <a:spcPts val="400"/>
              </a:spcAft>
              <a:buNone/>
            </a:pPr>
            <a:r>
              <a:rPr lang="en-US" sz="1400" b="1" dirty="0">
                <a:solidFill>
                  <a:srgbClr val="5B6E77"/>
                </a:solidFill>
                <a:latin typeface="Calibri" pitchFamily="34" charset="0"/>
                <a:ea typeface="Calibri" pitchFamily="34" charset="-122"/>
                <a:cs typeface="Calibri" pitchFamily="34" charset="-120"/>
              </a:rPr>
              <a:t>Link:  </a:t>
            </a:r>
            <a:r>
              <a:rPr lang="en-US" sz="1400" u="sng" dirty="0">
                <a:solidFill>
                  <a:srgbClr val="0F7C8A"/>
                </a:solidFill>
                <a:latin typeface="Calibri" pitchFamily="34" charset="0"/>
                <a:ea typeface="Calibri" pitchFamily="34" charset="-122"/>
                <a:cs typeface="Calibri" pitchFamily="34" charset="-120"/>
                <a:hlinkClick r:id="rId6">
                  <a:extLst>
                    <a:ext uri="{A12FA001-AC4F-418D-AE19-62706E023703}">
                      <ahyp:hlinkClr xmlns:ahyp="http://schemas.microsoft.com/office/drawing/2018/hyperlinkcolor" val="tx"/>
                    </a:ext>
                  </a:extLst>
                </a:hlinkClick>
              </a:rPr>
              <a:t>https://vendorfin-eval.lovable.app/dashboard</a:t>
            </a:r>
            <a:endParaRPr lang="en-US" sz="1400" dirty="0"/>
          </a:p>
          <a:p>
            <a:pPr marL="0" indent="0">
              <a:spcAft>
                <a:spcPts val="400"/>
              </a:spcAft>
              <a:buNone/>
            </a:pPr>
            <a:r>
              <a:rPr lang="en-US" sz="1400" b="1" dirty="0">
                <a:solidFill>
                  <a:srgbClr val="5B6E77"/>
                </a:solidFill>
                <a:latin typeface="Calibri" pitchFamily="34" charset="0"/>
                <a:ea typeface="Calibri" pitchFamily="34" charset="-122"/>
                <a:cs typeface="Calibri" pitchFamily="34" charset="-120"/>
              </a:rPr>
              <a:t>User ID:  </a:t>
            </a:r>
            <a:r>
              <a:rPr lang="en-US" sz="1400" b="1" dirty="0">
                <a:solidFill>
                  <a:srgbClr val="0B2A3D"/>
                </a:solidFill>
                <a:latin typeface="Calibri" pitchFamily="34" charset="0"/>
                <a:ea typeface="Calibri" pitchFamily="34" charset="-122"/>
                <a:cs typeface="Calibri" pitchFamily="34" charset="-120"/>
              </a:rPr>
              <a:t>AI@ICAI.Org</a:t>
            </a:r>
            <a:r>
              <a:rPr lang="en-US" sz="1400" b="1" dirty="0">
                <a:solidFill>
                  <a:srgbClr val="5B6E77"/>
                </a:solidFill>
                <a:latin typeface="Calibri" pitchFamily="34" charset="0"/>
                <a:ea typeface="Calibri" pitchFamily="34" charset="-122"/>
                <a:cs typeface="Calibri" pitchFamily="34" charset="-120"/>
              </a:rPr>
              <a:t>      Password:  </a:t>
            </a:r>
            <a:r>
              <a:rPr lang="en-US" sz="1400" b="1" dirty="0">
                <a:solidFill>
                  <a:srgbClr val="0B2A3D"/>
                </a:solidFill>
                <a:latin typeface="Calibri" pitchFamily="34" charset="0"/>
                <a:ea typeface="Calibri" pitchFamily="34" charset="-122"/>
                <a:cs typeface="Calibri" pitchFamily="34" charset="-120"/>
              </a:rPr>
              <a:t>123456</a:t>
            </a:r>
            <a:endParaRPr lang="en-US" sz="1400" dirty="0"/>
          </a:p>
        </p:txBody>
      </p:sp>
      <p:sp>
        <p:nvSpPr>
          <p:cNvPr id="15" name="Text 10"/>
          <p:cNvSpPr txBox="1"/>
          <p:nvPr/>
        </p:nvSpPr>
        <p:spPr>
          <a:xfrm>
            <a:off x="548640" y="4434840"/>
            <a:ext cx="8046720" cy="274320"/>
          </a:xfrm>
          <a:prstGeom prst="rect">
            <a:avLst/>
          </a:prstGeom>
          <a:noFill/>
          <a:ln/>
        </p:spPr>
        <p:txBody>
          <a:bodyPr wrap="square" lIns="0" tIns="0" rIns="0" bIns="0" rtlCol="0" anchor="ctr"/>
          <a:lstStyle/>
          <a:p>
            <a:pPr marL="0" indent="0">
              <a:buNone/>
            </a:pPr>
            <a:r>
              <a:rPr lang="en-US" sz="1200" dirty="0">
                <a:solidFill>
                  <a:srgbClr val="9FB6C0"/>
                </a:solidFill>
                <a:latin typeface="Calibri" pitchFamily="34" charset="0"/>
                <a:ea typeface="Calibri" pitchFamily="34" charset="-122"/>
                <a:cs typeface="Calibri" pitchFamily="34" charset="-120"/>
              </a:rPr>
              <a:t>CA Ashok Jain   |   ICAI AI Level 2   |   Gurugram Branch   |   Batch 89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TotalTime>
  <Words>2557</Words>
  <Application>Microsoft Office PowerPoint</Application>
  <PresentationFormat>On-screen Show (16:9)</PresentationFormat>
  <Paragraphs>332</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Vendor Financial Health &amp; Credit Assessment — ICAI AI Level 2 Capstone</dc:title>
  <dc:subject>PptxGenJS Presentation</dc:subject>
  <dc:creator>Ashok Jain</dc:creator>
  <cp:lastModifiedBy>Ashok Jain</cp:lastModifiedBy>
  <cp:revision>4</cp:revision>
  <dcterms:created xsi:type="dcterms:W3CDTF">2026-09-20T11:05:03Z</dcterms:created>
  <dcterms:modified xsi:type="dcterms:W3CDTF">2026-09-20T13:35:36Z</dcterms:modified>
</cp:coreProperties>
</file>