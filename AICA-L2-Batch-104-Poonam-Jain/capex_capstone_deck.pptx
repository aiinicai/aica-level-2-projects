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Investment Appraisal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10-Year NPV Model for Capital Investment Decisions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280160" cy="0"/>
          </a:xfrm>
          <a:prstGeom prst="line">
            <a:avLst/>
          </a:prstGeom>
          <a:noFill/>
          <a:ln w="25400">
            <a:solidFill>
              <a:srgbClr val="0E9F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Level 2  |  Presented by [Your Name]  | 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417320"/>
            <a:ext cx="101772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a proposed capital investment be accepted or rejected — based on its projected 10-year cash flows?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49040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Real Decisions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34472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static spreadsheet calculation with a dynamic engine driven by live assumptions.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3063240"/>
            <a:ext cx="502920" cy="50292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61688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61688" y="3749040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Answers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61688" y="4114800"/>
            <a:ext cx="34472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NPV, IRR, Payback and a clear Accept / Reject call the moment inputs change.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3296" y="3063240"/>
            <a:ext cx="502920" cy="50292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83296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083296" y="3749040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What-Ifs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83296" y="4114800"/>
            <a:ext cx="34472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the investment across a WACC × growth sensitivity grid.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raw assumptions to an investment decision.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30959" y="3040380"/>
            <a:ext cx="8727034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2339" y="26517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42339" y="26334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2181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236463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growth,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tax, WACC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4098" y="26517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4098" y="26334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821838" y="3611880"/>
            <a:ext cx="2181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Build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30398" y="3977640"/>
            <a:ext cx="236463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10-year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EBITDA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05856" y="26517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05856" y="26334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03597" y="3611880"/>
            <a:ext cx="2181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Cash Flow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2157" y="3977640"/>
            <a:ext cx="236463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NOPAT + Dep.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Capex − ΔWC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87614" y="26517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87614" y="26334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185355" y="3611880"/>
            <a:ext cx="2181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93915" y="3977640"/>
            <a:ext cx="236463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every 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today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69373" y="26517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69373" y="26334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367114" y="3611880"/>
            <a:ext cx="2181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75674" y="3977640"/>
            <a:ext cx="236463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NPV, IRR, Payback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Accept / Reject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Inputs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 user can flex, grouped into four categories.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3055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&amp; Margin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514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and EBITDA margin — a flat rate, or a custom rate for each of the 10 years.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8745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13055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Financing &amp; Tax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2514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 (WACC), tax rate, and useful life used for straight-line depreciation.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0965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Capital &amp; Capex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480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maintenance capex and working-capital drag, each as a % of revenue.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384048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C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0965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Value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4480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perpetuity growth and salvage value applied beyond Year 10.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Formulas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08792" cy="169164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737360"/>
            <a:ext cx="10177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 (per year)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05740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 = NOPAT + Depreciation − Capex − ΔWC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5176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left over in cash after tax, reinvestment, and funding growth.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10908792" cy="169164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749040"/>
            <a:ext cx="10177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Present Value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06908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NPV = −Capex + Σ [ FCFₜ / (1+r)ᵗ ]  + Terminal Value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66344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rupee is discounted back to today at the required rate of return (WACC).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deliverables sharing one underlying valuation engine.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057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Valuation Engine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4505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CapexNPVModel class computing NPV, IRR, Payback Period and Profitability Index from any set of assumptions.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19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6850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app (Streamlit) with live sliders, KPI cards, and a cash-flow chart that update instantly.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53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Analysis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919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colour-coded NPV grid across a range of WACC and sales-growth scenarios, to see how fragile the decision is.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Run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₹5.0 L  ·  Revenue ₹4.0 L  ·  Growth 15%/10%/10%/8%  ·  Margin 20%  ·  WACC 12%</a:t>
            </a:r>
            <a:endParaRPr lang="en-US" sz="1250" dirty="0"/>
          </a:p>
        </p:txBody>
      </p:sp>
      <p:pic>
        <p:nvPicPr>
          <p:cNvPr id="4" name="Image 0" descr="/home/claude/ppt_assets/fcf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90372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00200"/>
            <a:ext cx="3703320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38160" y="17099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₹25,283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863840" y="2743200"/>
            <a:ext cx="3703320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28529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108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13.1%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863840" y="3886200"/>
            <a:ext cx="3703320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38160" y="39959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251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5.89 yrs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863840" y="5029200"/>
            <a:ext cx="3703320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38160" y="51389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5394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621792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stronger early-year growth (15% / 10% / 10%) is enough to clear the 12% hurdle rate — a thinner early ramp would flip the call.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642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core DCF mechanics — NPV, IRR, Payback, WACC — into working, reusable Python code.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411480" cy="41148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4144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CLI tool and an interactive dashboard on top of the same underlying engine.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411480" cy="41148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1868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how sensitivity analysis reveals how fragile — or robust — an investment decision really is.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709160"/>
            <a:ext cx="10515600" cy="0"/>
          </a:xfrm>
          <a:prstGeom prst="line">
            <a:avLst/>
          </a:prstGeom>
          <a:noFill/>
          <a:ln w="12700">
            <a:solidFill>
              <a:srgbClr val="3440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2026-08-31T05:10:41Z</dcterms:created>
  <dcterms:modified xsi:type="dcterms:W3CDTF">2026-08-31T05:10:41Z</dcterms:modified>
</cp:coreProperties>
</file>