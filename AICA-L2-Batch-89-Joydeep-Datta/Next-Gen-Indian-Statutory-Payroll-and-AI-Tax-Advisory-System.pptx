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</p:embeddedFont>
    <p:embeddedFont>
      <p:font typeface="Roboto Bold" panose="02000000000000000000" charset="0"/>
      <p:regular r:id="rId20"/>
    </p:embeddedFont>
    <p:embeddedFont>
      <p:font typeface="Roboto Slab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45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payroll16092026.ai.studio" TargetMode="External"/><Relationship Id="rId4" Type="http://schemas.openxmlformats.org/officeDocument/2006/relationships/hyperlink" Target="https://github.com/joydeepdatta-lab/B89Capstone-Joydeep-Dat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874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Next-Gen Indian Statutory Payroll &amp; AI Tax Advisory System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699915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Capstone Submission — AY 2026–27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61475" y="2051348"/>
            <a:ext cx="6296860" cy="1041499"/>
          </a:xfrm>
          <a:prstGeom prst="roundRect">
            <a:avLst>
              <a:gd name="adj" fmla="val 216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12085" y="2201962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Author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2509242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Joydeep Datta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joydeep.datta@gmail.com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3212802"/>
            <a:ext cx="6296860" cy="825004"/>
          </a:xfrm>
          <a:prstGeom prst="roundRect">
            <a:avLst>
              <a:gd name="adj" fmla="val 273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12085" y="3363416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Discipline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2085" y="3670697"/>
            <a:ext cx="59956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Full-Stack Vibe Coding &amp; LLM Systems Engineering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4157762"/>
            <a:ext cx="6296860" cy="825004"/>
          </a:xfrm>
          <a:prstGeom prst="roundRect">
            <a:avLst>
              <a:gd name="adj" fmla="val 273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12085" y="4308376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Statutory Scope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2085" y="4615656"/>
            <a:ext cx="59956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Indian Income Tax Act (AY 2026–27) · EPF · ESI · Professional Tax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102721"/>
            <a:ext cx="6296860" cy="825004"/>
          </a:xfrm>
          <a:prstGeom prst="roundRect">
            <a:avLst>
              <a:gd name="adj" fmla="val 273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12085" y="5253335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 Stack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2085" y="5560616"/>
            <a:ext cx="5995639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19 · TypeScript · Express · Google Gen AI SDK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56682" y="6062663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Date: September 25,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963588" cy="143470"/>
          </a:xfrm>
          <a:prstGeom prst="roundRect">
            <a:avLst>
              <a:gd name="adj" fmla="val 7905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45986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&amp; OBJECTIVES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Indian Payroll &amp; Tax Dilemma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93491"/>
            <a:ext cx="5319083" cy="755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9427" y="2800648"/>
            <a:ext cx="505397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🏛️</a:t>
            </a:r>
            <a:r>
              <a:rPr lang="en-US" sz="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Statutory Maze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9427" y="3001863"/>
            <a:ext cx="5053977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 Old/New regimes for AY 2026–27; standard deductions of ₹75,000 vs ₹50,000; Section 87A rebate caps; EPF 12% with optional ₹15,000 wage ceiling; ESI on gross wages ≤ ₹21,000; state-specific Professional Tax; and the three-condition HRA exemption under Section 10(13A).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96468"/>
            <a:ext cx="5319083" cy="7405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427" y="3603625"/>
            <a:ext cx="505397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😟</a:t>
            </a:r>
            <a:r>
              <a:rPr lang="en-US" sz="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Employee Pain Points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19427" y="3804841"/>
            <a:ext cx="505397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Wrong regime selection costs employees thousands. Last-minute investment-proof anxiety, opaque TDS deductions, and zero access to personalized HR guidance compound the problem year after year.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84223"/>
            <a:ext cx="5319083" cy="6423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9427" y="4293195"/>
            <a:ext cx="5053977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Capstone Solution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819427" y="4494411"/>
            <a:ext cx="505397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Deterministic, auditable TypeScript calculations paired with a Google Gemini AI advisor and a unified HR/employee self-service portal — transparent, explainable, and enterprise-ready.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901181" cy="143470"/>
          </a:xfrm>
          <a:prstGeom prst="roundRect">
            <a:avLst>
              <a:gd name="adj" fmla="val 7905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39746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ENGINEERING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 &amp; Full-Stack Technology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48246"/>
            <a:ext cx="10868745" cy="4974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22865" y="1648634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&amp; Integrations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22865" y="2034662"/>
            <a:ext cx="2650038" cy="54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→ deterministic payroll engines + exports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0578" y="3373739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Server Layer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8521" y="3759767"/>
            <a:ext cx="2436325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secure AI proxy and endpoint isolation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22865" y="4217925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UI Layer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22865" y="4603954"/>
            <a:ext cx="2650038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19 SPA with TypeScript and Tailwind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612269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1475" y="6317555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19 · strict TypeScript · Vite 6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 v4 · Lucide icons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html2canvas · jsPDF · pptxgenjs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217487" y="612269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&amp;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487" y="6317555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/ Express / tsx server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endpoint isolation for API keys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@google/genai · timeout &amp; model fallback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xlsx export engine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2838"/>
            <a:ext cx="1561267" cy="233263"/>
          </a:xfrm>
          <a:prstGeom prst="roundRect">
            <a:avLst>
              <a:gd name="adj" fmla="val 7901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3548" y="688876"/>
            <a:ext cx="1986707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DELIVERABLES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26009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Application Modules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93056"/>
            <a:ext cx="307074" cy="3070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056110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Master Salary Structuring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1475" y="2370832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CTC breakdown with PF wage-ceiling toggle and component configuration.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3831" y="1593056"/>
            <a:ext cx="307074" cy="3070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3831" y="2056110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April–March Payroll Run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173831" y="2370832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Gross-to-net register with EPF/EPS, ESI, PT, and progressive TDS computation.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43014"/>
            <a:ext cx="307074" cy="3070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3306068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Employee Self-Service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61475" y="3620790"/>
            <a:ext cx="5356389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Payslip downloads and regime declarations through a dedicated employee portal.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3831" y="2843014"/>
            <a:ext cx="307074" cy="30708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3831" y="3306068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Declarations &amp; HRA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173831" y="3620790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VI-A (80C/80D/24b), HRA rent entry and landlord PAN validation.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315619"/>
            <a:ext cx="307074" cy="30708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75" y="4778673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Old vs New Simulator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61475" y="5093395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side-by-side regime comparison with real-time tax differential insights.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3831" y="4315619"/>
            <a:ext cx="307074" cy="30708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73831" y="4778673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Gemini AI Advisor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173831" y="5093395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Tax Advisor and persistent floating Copilot powered by Google Gemini.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61475" y="5456337"/>
            <a:ext cx="10868745" cy="758825"/>
          </a:xfrm>
          <a:prstGeom prst="roundRect">
            <a:avLst>
              <a:gd name="adj" fmla="val 3036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962" y="5637411"/>
            <a:ext cx="191884" cy="15349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60334" y="5619353"/>
            <a:ext cx="1021639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Prototype Limitation: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Comprehensive statutory edge-case testing is still in progress. The application requires full validation against the Income Tax Act, 2025 and applicable new forms/rules before any production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2405"/>
            <a:ext cx="1246256" cy="179487"/>
          </a:xfrm>
          <a:prstGeom prst="roundRect">
            <a:avLst>
              <a:gd name="adj" fmla="val 7898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2315" y="707827"/>
            <a:ext cx="1714159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LOGIC &amp; PRECISION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81360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Deterministic Indian Tax Engine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61475" y="1435100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 Regime Slabs — AY 2026–27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02693"/>
          <a:ext cx="5290311" cy="2501486"/>
        </p:xfrm>
        <a:graphic>
          <a:graphicData uri="http://schemas.openxmlformats.org/drawingml/2006/table">
            <a:tbl>
              <a:tblPr/>
              <a:tblGrid>
                <a:gridCol w="264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Income Range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Rate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Std. Deduction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7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₹0 – ₹3,00,000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Nil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₹75,00087A rebate ≤ ₹7L net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₹3L – ₹7L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₹7L – ₹10L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₹10L – ₹12L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₹12L – ₹15L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Above ₹15L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3773686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Old Regime Slabs</a:t>
            </a:r>
            <a:endParaRPr lang="en-US" sz="11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041279"/>
          <a:ext cx="5290311" cy="1299335"/>
        </p:xfrm>
        <a:graphic>
          <a:graphicData uri="http://schemas.openxmlformats.org/drawingml/2006/table">
            <a:tbl>
              <a:tblPr/>
              <a:tblGrid>
                <a:gridCol w="2909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Income Range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Rate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₹0 – ₹2,50,000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Nil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₹2.5L – ₹5L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₹5L – ₹10L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9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Above ₹10L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30%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61475" y="5436394"/>
            <a:ext cx="589989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₹50,000 std. deduction · 80C/80D/80CCD(1B) · 4% cess on total tax.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46259" y="1435100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HRA Exemption — Section 10(13A)</a:t>
            </a:r>
            <a:endParaRPr lang="en-US" sz="1150" dirty="0"/>
          </a:p>
        </p:txBody>
      </p:sp>
      <p:sp>
        <p:nvSpPr>
          <p:cNvPr id="8" name="Text 7"/>
          <p:cNvSpPr/>
          <p:nvPr/>
        </p:nvSpPr>
        <p:spPr>
          <a:xfrm>
            <a:off x="6246259" y="1693466"/>
            <a:ext cx="589989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Exempt amount = </a:t>
            </a: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minimum of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three conditions: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46259" y="1920875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Progressive TDS Smoothing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246259" y="2179241"/>
            <a:ext cx="529031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TDS = </a:t>
            </a: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(Projected Annual Tax − Tax Deducted to Date) ÷ Remaining Months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re-computed each payroll run to prevent year-end spikes.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46259" y="2569468"/>
            <a:ext cx="5290311" cy="498872"/>
          </a:xfrm>
          <a:prstGeom prst="roundRect">
            <a:avLst>
              <a:gd name="adj" fmla="val 3552"/>
            </a:avLst>
          </a:prstGeom>
          <a:solidFill>
            <a:srgbClr val="4507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327" y="2683669"/>
            <a:ext cx="147634" cy="1180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30028" y="2665313"/>
            <a:ext cx="478847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tax and bank-deduction math must remain </a:t>
            </a: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deterministic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never LLM-generated. Verify all slabs against current law before production use.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61475" y="5739408"/>
            <a:ext cx="3573671" cy="446088"/>
          </a:xfrm>
          <a:prstGeom prst="roundRect">
            <a:avLst>
              <a:gd name="adj" fmla="val 3972"/>
            </a:avLst>
          </a:prstGeom>
          <a:solidFill>
            <a:srgbClr val="202733"/>
          </a:solidFill>
          <a:ln w="1270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792242" y="5870178"/>
            <a:ext cx="33121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① Actual HRA received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308963" y="5739408"/>
            <a:ext cx="3573671" cy="446088"/>
          </a:xfrm>
          <a:prstGeom prst="roundRect">
            <a:avLst>
              <a:gd name="adj" fmla="val 3972"/>
            </a:avLst>
          </a:prstGeom>
          <a:solidFill>
            <a:srgbClr val="202733"/>
          </a:solidFill>
          <a:ln w="1270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4439730" y="5870178"/>
            <a:ext cx="33121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② Rent paid − 10% of Basic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956450" y="5739408"/>
            <a:ext cx="3573671" cy="446088"/>
          </a:xfrm>
          <a:prstGeom prst="roundRect">
            <a:avLst>
              <a:gd name="adj" fmla="val 3972"/>
            </a:avLst>
          </a:prstGeom>
          <a:solidFill>
            <a:srgbClr val="202733"/>
          </a:solidFill>
          <a:ln w="1270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8087217" y="5870178"/>
            <a:ext cx="331213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③ 50% Basic (metro) / 40% (non-metro)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40941"/>
            <a:ext cx="989682" cy="255786"/>
          </a:xfrm>
          <a:prstGeom prst="roundRect">
            <a:avLst>
              <a:gd name="adj" fmla="val 7898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62477" y="591443"/>
            <a:ext cx="139726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ADVISORY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856655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Google Gemini Integration &amp; Circuit-Breaker Architecture</a:t>
            </a:r>
            <a:endParaRPr lang="en-US" sz="3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33600"/>
            <a:ext cx="6296860" cy="2881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2992" y="4217277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Advisor UI &amp; Copilot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993126" y="4217277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12s Abort &amp; Rules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511357" y="4217277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Gemini Cascade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97200" y="4217277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Context Ingest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61475" y="5184180"/>
            <a:ext cx="6296860" cy="1132780"/>
          </a:xfrm>
          <a:prstGeom prst="roundRect">
            <a:avLst>
              <a:gd name="adj" fmla="val 2229"/>
            </a:avLst>
          </a:prstGeom>
          <a:solidFill>
            <a:srgbClr val="0D3E7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746" y="5400377"/>
            <a:ext cx="210338" cy="1682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8355" y="5376168"/>
            <a:ext cx="55817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Design Principle: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advises and explains — deterministic TypeScript code computes all statutory liabilities. The AI layer never overwrites calculated tax figures.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62269" cy="143470"/>
          </a:xfrm>
          <a:prstGeom prst="roundRect">
            <a:avLst>
              <a:gd name="adj" fmla="val 7905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15854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Vibe Coding: From Idea to Enterprise Prototype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54080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Vibe Coding?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5430" y="2866273"/>
            <a:ext cx="5319083" cy="67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High-velocity, intent-driven development where natural-language prompts and domain specifications guide AI-assisted code generation, testing, and iterative refinement — compressing weeks of scaffolding into focused engineering sprints.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372358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Quality Controls Applied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5429" y="4185924"/>
            <a:ext cx="5319083" cy="570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TypeScript interfaces across all domain boundaries</a:t>
            </a:r>
            <a:endParaRPr lang="en-US" sz="105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tsc --noEmit</a:t>
            </a: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Vite production builds as CI gates</a:t>
            </a:r>
            <a:endParaRPr lang="en-US" sz="105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separation: UI components · pure calculation utilities · server API routes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3100"/>
            <a:ext cx="1370375" cy="264616"/>
          </a:xfrm>
          <a:prstGeom prst="roundRect">
            <a:avLst>
              <a:gd name="adj" fmla="val 7902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5950" y="725289"/>
            <a:ext cx="1771010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01911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Security, Confidentiality &amp; Privacy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947962"/>
            <a:ext cx="5221851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700" dirty="0">
                <a:solidFill>
                  <a:srgbClr val="599CE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Current Strengths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2388096"/>
            <a:ext cx="2529618" cy="12742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798" y="2407146"/>
            <a:ext cx="229824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API Key Isolation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73798" y="2839938"/>
            <a:ext cx="229824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GEMINI_API_KEY confined to server layer — never exposed to client bundle.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708" y="2388096"/>
            <a:ext cx="2529618" cy="12742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85081" y="2407146"/>
            <a:ext cx="229824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Calculation Integrity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585081" y="2839938"/>
            <a:ext cx="229824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engine ensures statutory figures are never AI-mutated.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945533"/>
            <a:ext cx="5240901" cy="10064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3798" y="3964583"/>
            <a:ext cx="500952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Graceful Degradation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73798" y="4397375"/>
            <a:ext cx="500952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Timeout-based fallback to rule-based CA guidance when Gemini is unavailable.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314719" y="1947962"/>
            <a:ext cx="5221851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700" dirty="0">
                <a:solidFill>
                  <a:srgbClr val="E6394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Prototype Gaps to Address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5669" y="2388096"/>
            <a:ext cx="2529618" cy="12742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27041" y="2407146"/>
            <a:ext cx="229824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State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527041" y="2839938"/>
            <a:ext cx="229824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In-memory client-side sessions — no persistent server-side authentication.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6952" y="2388096"/>
            <a:ext cx="2529618" cy="127426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38324" y="2407146"/>
            <a:ext cx="229824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BOLA / IDOR Risk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9238324" y="2839938"/>
            <a:ext cx="229824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Employee objects accepted directly by AI routes — server-side authorization required.</a:t>
            </a:r>
            <a:endParaRPr lang="en-US" sz="13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5669" y="3945533"/>
            <a:ext cx="2529618" cy="207764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27041" y="3964583"/>
            <a:ext cx="229824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PII at Rest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6527041" y="4397375"/>
            <a:ext cx="229824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PAN, Aadhaar, and bank data currently unencrypted — field-level encryption needed.</a:t>
            </a:r>
            <a:endParaRPr lang="en-US" sz="13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6952" y="3945533"/>
            <a:ext cx="2529618" cy="207764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38324" y="3964583"/>
            <a:ext cx="229824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Statutory Obligations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9238324" y="4397375"/>
            <a:ext cx="2298246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DPDP Act 2023 consent · IT Act Sec 192 · Form 24Q/Form 16 · immutable audit logs required for salary changes, regime locks, and declaration approvals.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1280"/>
            <a:ext cx="1801172" cy="269180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7735" y="614363"/>
            <a:ext cx="219823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READINESS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9683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Production Checklist &amp; Deployment Roadmap</a:t>
            </a:r>
            <a:endParaRPr lang="en-US" sz="3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99716"/>
          <a:ext cx="10868745" cy="3718624"/>
        </p:xfrm>
        <a:graphic>
          <a:graphicData uri="http://schemas.openxmlformats.org/drawingml/2006/table">
            <a:tbl>
              <a:tblPr/>
              <a:tblGrid>
                <a:gridCol w="239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0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7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Pillar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Target Control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99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9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C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Prototype Status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99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9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Authentication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SAML/OIDC SSO · MFA enforcement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In-memory session only</a:t>
                      </a:r>
                      <a:endParaRPr lang="en-US" sz="13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Authorization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Server-side RBAC · tenant isolation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Client-side role flags</a:t>
                      </a:r>
                      <a:endParaRPr lang="en-US" sz="13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 Persistence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Relational DB · AES-256 at rest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No persistent store</a:t>
                      </a:r>
                      <a:endParaRPr lang="en-US" sz="13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PII Protection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Field-level encryption: PAN, Aadhaar, bank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Plaintext in state</a:t>
                      </a:r>
                      <a:endParaRPr lang="en-US" sz="13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Audit Logging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Append-only immutable ledger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Not yet implemented</a:t>
                      </a:r>
                      <a:endParaRPr lang="en-US" sz="13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Infrastructure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Docker/Cloud Run · WAF · autoscaling · DDoS protection · multi-region failover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Local dev server</a:t>
                      </a:r>
                      <a:endParaRPr lang="en-US" sz="13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5617964"/>
            <a:ext cx="10868745" cy="678656"/>
          </a:xfrm>
          <a:prstGeom prst="roundRect">
            <a:avLst>
              <a:gd name="adj" fmla="val 3917"/>
            </a:avLst>
          </a:prstGeom>
          <a:solidFill>
            <a:srgbClr val="0D3E7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5" y="5857379"/>
            <a:ext cx="221451" cy="1772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7326" y="5828308"/>
            <a:ext cx="1072527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items marked </a:t>
            </a:r>
            <a:r>
              <a:rPr lang="en-US" sz="13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scoped for post-prototype hardening before any production or regulated-environment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2507"/>
            <a:ext cx="1934320" cy="233263"/>
          </a:xfrm>
          <a:prstGeom prst="roundRect">
            <a:avLst>
              <a:gd name="adj" fmla="val 7901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3548" y="578545"/>
            <a:ext cx="2359760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&amp; FUTURE SCOPE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567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Achievements, Learnings &amp; What's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607443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Achievements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1972072"/>
            <a:ext cx="5247052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Full-stack dual-regime engine for AY 2026–27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core modules with HR and employee views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Resilient Gemini advisory with CA fallback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Excel, PDF payslip, and PPTX export pipelines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118346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1475" y="3482975"/>
            <a:ext cx="5247052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specs accelerate prototyping significantly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TypeScript interfaces prevent domain drift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math belongs in deterministic code — never AI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compilation catches defects early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475" y="4629249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1475" y="4993878"/>
            <a:ext cx="5247052" cy="12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NEFT/NACH bank integration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 16 Part A/B + Income Tax Act 2025 new forms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Biometric attendance &amp; automated LOP processing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SQL · enterprise SSO · SOC 2 readiness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statutory testing &amp; edge-case 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89518" y="1607443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Explore the Prototype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9518" y="1987649"/>
            <a:ext cx="2561169" cy="13776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38253" y="2160191"/>
            <a:ext cx="21398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38253" y="2524820"/>
            <a:ext cx="2139896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u="sng" dirty="0">
                <a:solidFill>
                  <a:srgbClr val="66A8E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github.com/joydeepdatta-lab/B89Capstone-Joydeep-Datta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5401" y="1987649"/>
            <a:ext cx="2561169" cy="13776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24136" y="2160191"/>
            <a:ext cx="21398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Application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224136" y="2524820"/>
            <a:ext cx="2139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u="sng" dirty="0">
                <a:solidFill>
                  <a:srgbClr val="66A8E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payroll16092026.ai.studio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89518" y="3505597"/>
            <a:ext cx="5247052" cy="968970"/>
          </a:xfrm>
          <a:prstGeom prst="roundRect">
            <a:avLst>
              <a:gd name="adj" fmla="val 2377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005" y="3693021"/>
            <a:ext cx="191884" cy="1534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88377" y="3656112"/>
            <a:ext cx="459470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Important: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Prototype for demonstration and academic evaluation only. Statutory rules and all production security controls require final professional validation before regulated deployment.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84725" y="4614863"/>
            <a:ext cx="585663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Submitted by </a:t>
            </a:r>
            <a:r>
              <a:rPr lang="en-US" sz="1200" b="1" i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Joydeep Datta</a:t>
            </a:r>
            <a:r>
              <a:rPr lang="en-US" sz="12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September 25,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6A8E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1163</Words>
  <Application>Microsoft Office PowerPoint</Application>
  <PresentationFormat>Widescreen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Noto Color Emoji</vt:lpstr>
      <vt:lpstr>Consolas</vt:lpstr>
      <vt:lpstr>Roboto Slab</vt:lpstr>
      <vt:lpstr>Roboto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Joydeep Datta</cp:lastModifiedBy>
  <cp:revision>2</cp:revision>
  <dcterms:created xsi:type="dcterms:W3CDTF">2026-09-25T11:31:09Z</dcterms:created>
  <dcterms:modified xsi:type="dcterms:W3CDTF">2026-09-25T20:01:29Z</dcterms:modified>
</cp:coreProperties>
</file>