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[0:00 - 0:15]  CAMERA FULL FRAME. No screen share yet.
"Good morning. I am CA Rajendra Bagade, Senior Partner at SARC and Associates.
For my AICA Level 2 capstone I have built AuditLens - a statutory audit
analytical review tool for Indian companies."
DELIVERY: Look at the lens, not the screen. Say the name of the project clearly;
this is the only time the evaluator hears it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[0:15 - 1:00]  CAMERA FULL FRAME, or this slide with your camera inset.
"Every statutory audit of an Indian company begins with the same work. The trial
balance is mapped to Schedule III. Eleven ratios that MCA made mandatory in 2021
are computed - and any that moved more than twenty-five per cent has to be
explained in the notes. Journal entries are tested for management override under
SA 240. Materiality is set, a sample is selected, and twenty-one CARO clauses are
worked through.
It is identical across clients. It takes the opening week of every engagement.
And in most firms it is still done by hand."
DELIVERY: This is the slide that earns the evaluator's attention, because they
have done this work themselves. Slow down. Let "the opening week of every
engagement"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[1:00 - 1:40]  SLIDE ON SCREEN, camera inset.
"The application does seven things, and each one answers to a provision.
It reads the trial balance and the general ledger in whatever shape the client's
system exported them. It maps every ledger to a Schedule III Division I head. It
builds the face of the statements. It computes the eleven ratios. It runs six
journal entry routines under SA 240. It sets materiality and selects a sample
under SA 320 and SA 530. And it works through all twenty-one CARO clauses."
DELIVERY: Do not read all seven descriptions - just the module names and their
authority. The slide carries the detail; you carry the pace. Forty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[1:40 - 2:10]  CAMERA FULL FRAME for the rule, then back to the slide.
"Before I show you the application, one design decision, because everything else
follows from it.
THE ENGINE COMPUTES. THE MODEL WRITES PROSE. NOTHING ELSE.
Every figure that reaches a workpaper comes from a Python function with a unit
test. The language model is asked for exactly two things - to explain a movement
in words, and to draft correspondence. It never computes a figure. It never
classifies a ledger that reaches the face of the statements. And it never
concludes on a CARO clause.
Why? Because a Chartered Accountant signs the report. Every number in it has to
be traceable to a calculation that can be re-performed."
DELIVERY: This is the most important thirty seconds in the video. Say the rule
slowly, in three beats, and pause after it. An evaluator who is a practising CA
will be testing you on exactly this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[2:10 - 2:40]  SLIDE ON SCREEN.
"Here is the pipeline. Ingest, map, compute, draft, deliver.
Notice that only the fourth stage - drafting - touches the language model, and by
the time it does, every figure has already been computed by Python. You could
remove the model entirely and the analytical review would be identical; only the
prose would fall back to a template. That is not an accident, it is the whole
design."
DELIVERY: Point at the gold box as you say "only the fourth stage". Thirty seconds -
do not linger, the demo is where the marks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[2:40 - 3:20]  SCREEN SHARE BEGINS. Camera stays in the corner.
"Let me run it. I click Use the sample client - and I should say clearly that this
is a fictitious company. No client data is used anywhere in this project.
[wait for the review to run]
Here is the mapping queue. Fifty-nine of the sixty-one ledgers were mapped on the
account code, and the engine says nothing about those. Two are here. One was
mapped on its ledger name, so it is flagged for me to confirm. And this one - a
suspense account - it could not map at all, so it returned UNMAPPED.
It did not guess. A mis-mapped ledger ends up on the face of the financial
statements, so a guess there is worse than an admission."
DELIVERY: Move the cursor deliberately. Do not scroll while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[3:20 - 3:55]  SCREEN SHARE.
"Now look at this banner. The balance sheet does not tie. It is out by four lakh
twenty thousand rupees - and that is exactly the amount sitting in the suspense
account the engine just refused to classify.
I want to be clear about why this matters. A tool that wanted to look finished
would push that difference into a rounding line, and hand me a balance sheet that
ties and is wrong. This one tells me it does not tie, tells me precisely why, and
tells me what to do about it - clear the unmapped queue and the statements will
tie."
DELIVERY: This is the single best moment in the demo. Slow right down. If the
evaluator remembers one thing, make it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[3:55 - 4:40]  SCREEN SHARE.
"These are the eleven ratios, inserted into Schedule III by MCA notification
G.S.R. 207(E) dated 24 March 2021, and applicable from financial year 2021-22.
Four of them moved by more than twenty-five per cent, so under Schedule III each
one has to be explained in the notes. The tool flags them and shows me the
numerator and denominator it used - here, profit after tax over average
shareholders' equity - so I can re-perform it.
One deliberate choice: the movements are not coloured green or red. Whether a fall
in the debt-equity ratio is a good thing is my judgement as the auditor, not a
colour the tool assigns."
DELIVERY: Say the notification number precisely - it is the kind of detail a CA
evaluator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[4:40 - 5:25]  SCREEN SHARE.
"SA 240 requires me to test the appropriateness of journal entries, because
management override of controls is a risk in every entity.
Six routines: round sums, non-working days, material entries at the period end,
back-dated entries, seldom-used account combinations, and infrequent posting
users. Look at the flag rates - every one is under one per cent. That matters. A
routine that flags thirty per cent of the population has given me a haystack, not
a work programme.
And here is the Benford first-digit test. The population conforms - which is
precisely what makes the departures the other six routines found worth looking at.
One sentence I want on the record: a flag is a selection for examination, not a
finding."
DELIVERY: End on that last sentence and pause. It shows professional judgement,
which is what separates this from a script that prints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[5:25 - 5:50]  SCREEN SHARE.
"Monetary unit sampling under SA 530. The seed and the random start are recorded,
so a reviewer can re-perform this exact selection.
But look at the warning. The computed sample covers fifty-one per cent of the
population. That is arithmetically correct and professionally useless - nobody is
vouching four hundred and sixty-six items. So the tool says so, and points me to
testing controls, or substantive analytical procedures under SA 520, or
stratifying the population.
A tool that handed me that programme without saying this would be worse than no
tool at all."
DELIVERY: Twenty-five seconds. This is a judgement moment, not a feature - land it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[5:50 - 6:10]  SCREEN SHARE.
"CARO 2020. It first tests whether the Order applies at all under paragraph 1(2) -
here it does. Then all twenty-one clauses of paragraph 3, with eight of them
pre-populated from what the books evidence. Clause seventeen knows whether there
was a cash loss. Clause nineteen knows the current ratio.
But look at what it does not do. Not one clause is answered. Every one comes back
with an empty auditor response, because concluding on a CARO clause is my job, not
the tool's."
DELIVERY: Twenty seconds. Keep it brisk - the point is the restraint, not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[6:10 - 6:45]  SCREEN SHARE.
"Now the drafting. The memorandum, the notes explaining each ratio movement, and
the enquiry letter to management under SA 240.
Read this ratio note carefully. It states the movement, it says which of the
numerator and denominator drove it - and then it stops, with a bracketed
instruction: management to state the commercial reason. The prompt explicitly
forbids inventing a reason like 'improved operational efficiency'.
[switch to the repository, open prompts/]
These are the four system instructions, versioned, with changelogs. This one
records why version 1.3 banned the words fraud, irregularity, manipulation and
override from the enquiry letter - because an earlier draft called a round-sum
entry 'irregular', and a selection is not an allegation."
DELIVERY: The changelog is your Day 1 evidence. Show it - most participants will
not have versioned their prompts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[6:45 - 7:10]  SCREEN SHARE.
"Two n8n workflows. The first runs the analytical review every quarter and emails
the engagement partner - but only when there is actually something to see. The
second watches for a new general ledger and alerts the audit manager to the
entries graded elevated.
The application installs as a progressive web app - here it is on my phone.
And finally, the part I would ask you to weigh most heavily. [run pytest] One
hundred and twenty-four tests. Every one of the eleven ratios is checked against a
figure I computed by hand, so a change that would alter a disclosed ratio fails
here, in the test suite, rather than in a client's financial statements."
DELIVERY: Have the terminal already open in a second window. The tests run in about
three seconds - let the green line appear on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[7:10 - 7:30]  SLIDE ON SCREEN.
"To tie it back to the course. Day one gave me agent architecture and prompting -
that is the prompts folder. Day two, the Gemini API and system instructions - the
drafting layer. Day three, Python - the engine. Day four, the full-stack build and
the PWA. Day five, n8n.
This table is in the README too, so you can find the evidence for each day without
hunting for it."
DELIVERY: Twenty seconds. Do not read the whole table - name the five days and let
the slide do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[7:30 - 7:50]  CAMERA FULL FRAME, or slide with camera inset.
"Finally, what it does not do - and I would rather say this than have you find it.
Schedule III Division I only; there is no Ind AS. It forms no opinion and concludes
on no CARO clause. It does not determine materiality, it computes it from the
benchmark I choose. It asserts no commercial reason for any ratio movement. And it
verifies nothing - it analyses what the books say; the audit evidence is still mine
to obtain.
And no client data is used anywhere - not in the repository, not in the samples,
not in this video."
DELIVERY: Naming your own limitations unprompted reads as confidence, not weakness.
Say it plainly and do not hedge.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[7:50 - 8:00]  CAMERA FULL FRAME. Screen share off.
"AuditLens turns the opening week of a statutory audit into a review the engagement
team can start from - without ever putting a figure on the file that a Chartered
Accountant cannot re-perform.
Thank you."
DELIVERY: Stop talking. Hold the frame for two seconds before you stop the
recording, so the cut is clean.
--- BEFORE YOU UPLOAD ---
1. Camera visible throughout? The brief requires face AND technical content.
2. Upload UNLISTED to YouTube, or to Drive set to "Anyone with the link - Viewer".
3. Open the link in an incognito window and confirm it plays.
4. Submit the link through the Google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352C"/>
        </a:solidFill>
      </p:bgPr>
    </p:bg>
    <p:spTree>
      <p:nvGrpSpPr>
        <p:cNvPr id="1" name=""/>
        <p:cNvGrpSpPr/>
        <p:nvPr/>
      </p:nvGrpSpPr>
      <p:grpSpPr>
        <a:xfrm>
          <a:off x="0" y="0"/>
          <a:ext cx="0" cy="0"/>
          <a:chOff x="0" y="0"/>
          <a:chExt cx="0" cy="0"/>
        </a:xfrm>
      </p:grpSpPr>
      <p:sp>
        <p:nvSpPr>
          <p:cNvPr id="2" name="Text 0"/>
          <p:cNvSpPr txBox="1"/>
          <p:nvPr/>
        </p:nvSpPr>
        <p:spPr>
          <a:xfrm>
            <a:off x="640080" y="1874520"/>
            <a:ext cx="822960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AuditLens</a:t>
            </a:r>
            <a:endParaRPr lang="en-US" sz="6000" dirty="0"/>
          </a:p>
        </p:txBody>
      </p:sp>
      <p:sp>
        <p:nvSpPr>
          <p:cNvPr id="3" name="Text 1"/>
          <p:cNvSpPr txBox="1"/>
          <p:nvPr/>
        </p:nvSpPr>
        <p:spPr>
          <a:xfrm>
            <a:off x="640080" y="3017520"/>
            <a:ext cx="8595360" cy="548640"/>
          </a:xfrm>
          <a:prstGeom prst="rect">
            <a:avLst/>
          </a:prstGeom>
          <a:noFill/>
          <a:ln/>
        </p:spPr>
        <p:txBody>
          <a:bodyPr wrap="square" lIns="0" tIns="0" rIns="0" bIns="0" rtlCol="0" anchor="ctr"/>
          <a:lstStyle/>
          <a:p>
            <a:pPr indent="0" marL="0">
              <a:buNone/>
            </a:pPr>
            <a:r>
              <a:rPr lang="en-US" sz="2100" i="1" dirty="0">
                <a:solidFill>
                  <a:srgbClr val="9ECFBC"/>
                </a:solidFill>
                <a:latin typeface="Cambria" pitchFamily="34" charset="0"/>
                <a:ea typeface="Cambria" pitchFamily="34" charset="-122"/>
                <a:cs typeface="Cambria" pitchFamily="34" charset="-120"/>
              </a:rPr>
              <a:t>Statutory audit analytical review for Indian companies</a:t>
            </a:r>
            <a:endParaRPr lang="en-US" sz="2100" dirty="0"/>
          </a:p>
        </p:txBody>
      </p:sp>
      <p:sp>
        <p:nvSpPr>
          <p:cNvPr id="4" name="Text 2"/>
          <p:cNvSpPr txBox="1"/>
          <p:nvPr/>
        </p:nvSpPr>
        <p:spPr>
          <a:xfrm>
            <a:off x="640080" y="3794760"/>
            <a:ext cx="7863840" cy="1005840"/>
          </a:xfrm>
          <a:prstGeom prst="rect">
            <a:avLst/>
          </a:prstGeom>
          <a:noFill/>
          <a:ln/>
        </p:spPr>
        <p:txBody>
          <a:bodyPr wrap="square" lIns="0" tIns="0" rIns="0" bIns="0" rtlCol="0" anchor="ctr"/>
          <a:lstStyle/>
          <a:p>
            <a:pPr indent="0" marL="0">
              <a:lnSpc>
                <a:spcPts val="2200"/>
              </a:lnSpc>
              <a:buNone/>
            </a:pPr>
            <a:r>
              <a:rPr lang="en-US" sz="1400" dirty="0">
                <a:solidFill>
                  <a:srgbClr val="C9DDD4"/>
                </a:solidFill>
                <a:latin typeface="Calibri" pitchFamily="34" charset="0"/>
                <a:ea typeface="Calibri" pitchFamily="34" charset="-122"/>
                <a:cs typeface="Calibri" pitchFamily="34" charset="-120"/>
              </a:rPr>
              <a:t>A trial balance goes in. The face of the Schedule III financial statements, the eleven mandated ratios, SA 240 journal entry testing, an SA 530 sample and the CARO 2020 checklist come out.</a:t>
            </a:r>
            <a:endParaRPr lang="en-US" sz="1400" dirty="0"/>
          </a:p>
        </p:txBody>
      </p:sp>
      <p:sp>
        <p:nvSpPr>
          <p:cNvPr id="5" name="Shape 3"/>
          <p:cNvSpPr/>
          <p:nvPr/>
        </p:nvSpPr>
        <p:spPr>
          <a:xfrm>
            <a:off x="640080" y="5029200"/>
            <a:ext cx="2066544" cy="310896"/>
          </a:xfrm>
          <a:prstGeom prst="roundRect">
            <a:avLst>
              <a:gd name="adj" fmla="val 50000"/>
            </a:avLst>
          </a:prstGeom>
          <a:solidFill>
            <a:srgbClr val="10352C"/>
          </a:solidFill>
          <a:ln w="9525">
            <a:solidFill>
              <a:srgbClr val="4E9E85"/>
            </a:solidFill>
            <a:prstDash val="solid"/>
          </a:ln>
        </p:spPr>
      </p:sp>
      <p:sp>
        <p:nvSpPr>
          <p:cNvPr id="6" name="Text 4"/>
          <p:cNvSpPr txBox="1"/>
          <p:nvPr/>
        </p:nvSpPr>
        <p:spPr>
          <a:xfrm>
            <a:off x="640080" y="5029200"/>
            <a:ext cx="2066544" cy="310896"/>
          </a:xfrm>
          <a:prstGeom prst="rect">
            <a:avLst/>
          </a:prstGeom>
          <a:noFill/>
          <a:ln/>
        </p:spPr>
        <p:txBody>
          <a:bodyPr wrap="square" lIns="0" tIns="0" rIns="0" bIns="0" rtlCol="0" anchor="ctr"/>
          <a:lstStyle/>
          <a:p>
            <a:pPr algn="ctr" indent="0" marL="0">
              <a:buNone/>
            </a:pPr>
            <a:r>
              <a:rPr lang="en-US" sz="1050" b="1" dirty="0">
                <a:solidFill>
                  <a:srgbClr val="9ECFBC"/>
                </a:solidFill>
                <a:latin typeface="Calibri" pitchFamily="34" charset="0"/>
                <a:ea typeface="Calibri" pitchFamily="34" charset="-122"/>
                <a:cs typeface="Calibri" pitchFamily="34" charset="-120"/>
              </a:rPr>
              <a:t>Schedule III</a:t>
            </a:r>
            <a:endParaRPr lang="en-US" sz="1050" dirty="0"/>
          </a:p>
        </p:txBody>
      </p:sp>
      <p:sp>
        <p:nvSpPr>
          <p:cNvPr id="7" name="Shape 5"/>
          <p:cNvSpPr/>
          <p:nvPr/>
        </p:nvSpPr>
        <p:spPr>
          <a:xfrm>
            <a:off x="2852928" y="5029200"/>
            <a:ext cx="1216152" cy="310896"/>
          </a:xfrm>
          <a:prstGeom prst="roundRect">
            <a:avLst>
              <a:gd name="adj" fmla="val 50000"/>
            </a:avLst>
          </a:prstGeom>
          <a:solidFill>
            <a:srgbClr val="10352C"/>
          </a:solidFill>
          <a:ln w="9525">
            <a:solidFill>
              <a:srgbClr val="4E9E85"/>
            </a:solidFill>
            <a:prstDash val="solid"/>
          </a:ln>
        </p:spPr>
      </p:sp>
      <p:sp>
        <p:nvSpPr>
          <p:cNvPr id="8" name="Text 6"/>
          <p:cNvSpPr txBox="1"/>
          <p:nvPr/>
        </p:nvSpPr>
        <p:spPr>
          <a:xfrm>
            <a:off x="2852928" y="5029200"/>
            <a:ext cx="1216152" cy="310896"/>
          </a:xfrm>
          <a:prstGeom prst="rect">
            <a:avLst/>
          </a:prstGeom>
          <a:noFill/>
          <a:ln/>
        </p:spPr>
        <p:txBody>
          <a:bodyPr wrap="square" lIns="0" tIns="0" rIns="0" bIns="0" rtlCol="0" anchor="ctr"/>
          <a:lstStyle/>
          <a:p>
            <a:pPr algn="ctr" indent="0" marL="0">
              <a:buNone/>
            </a:pPr>
            <a:r>
              <a:rPr lang="en-US" sz="1050" b="1" dirty="0">
                <a:solidFill>
                  <a:srgbClr val="9ECFBC"/>
                </a:solidFill>
                <a:latin typeface="Calibri" pitchFamily="34" charset="0"/>
                <a:ea typeface="Calibri" pitchFamily="34" charset="-122"/>
                <a:cs typeface="Calibri" pitchFamily="34" charset="-120"/>
              </a:rPr>
              <a:t>SA 240</a:t>
            </a:r>
            <a:endParaRPr lang="en-US" sz="1050" dirty="0"/>
          </a:p>
        </p:txBody>
      </p:sp>
      <p:sp>
        <p:nvSpPr>
          <p:cNvPr id="9" name="Shape 7"/>
          <p:cNvSpPr/>
          <p:nvPr/>
        </p:nvSpPr>
        <p:spPr>
          <a:xfrm>
            <a:off x="4215384" y="5029200"/>
            <a:ext cx="1216152" cy="310896"/>
          </a:xfrm>
          <a:prstGeom prst="roundRect">
            <a:avLst>
              <a:gd name="adj" fmla="val 50000"/>
            </a:avLst>
          </a:prstGeom>
          <a:solidFill>
            <a:srgbClr val="10352C"/>
          </a:solidFill>
          <a:ln w="9525">
            <a:solidFill>
              <a:srgbClr val="4E9E85"/>
            </a:solidFill>
            <a:prstDash val="solid"/>
          </a:ln>
        </p:spPr>
      </p:sp>
      <p:sp>
        <p:nvSpPr>
          <p:cNvPr id="10" name="Text 8"/>
          <p:cNvSpPr txBox="1"/>
          <p:nvPr/>
        </p:nvSpPr>
        <p:spPr>
          <a:xfrm>
            <a:off x="4215384" y="5029200"/>
            <a:ext cx="1216152" cy="310896"/>
          </a:xfrm>
          <a:prstGeom prst="rect">
            <a:avLst/>
          </a:prstGeom>
          <a:noFill/>
          <a:ln/>
        </p:spPr>
        <p:txBody>
          <a:bodyPr wrap="square" lIns="0" tIns="0" rIns="0" bIns="0" rtlCol="0" anchor="ctr"/>
          <a:lstStyle/>
          <a:p>
            <a:pPr algn="ctr" indent="0" marL="0">
              <a:buNone/>
            </a:pPr>
            <a:r>
              <a:rPr lang="en-US" sz="1050" b="1" dirty="0">
                <a:solidFill>
                  <a:srgbClr val="9ECFBC"/>
                </a:solidFill>
                <a:latin typeface="Calibri" pitchFamily="34" charset="0"/>
                <a:ea typeface="Calibri" pitchFamily="34" charset="-122"/>
                <a:cs typeface="Calibri" pitchFamily="34" charset="-120"/>
              </a:rPr>
              <a:t>SA 320</a:t>
            </a:r>
            <a:endParaRPr lang="en-US" sz="1050" dirty="0"/>
          </a:p>
        </p:txBody>
      </p:sp>
      <p:sp>
        <p:nvSpPr>
          <p:cNvPr id="11" name="Shape 9"/>
          <p:cNvSpPr/>
          <p:nvPr/>
        </p:nvSpPr>
        <p:spPr>
          <a:xfrm>
            <a:off x="5577840" y="5029200"/>
            <a:ext cx="1216152" cy="310896"/>
          </a:xfrm>
          <a:prstGeom prst="roundRect">
            <a:avLst>
              <a:gd name="adj" fmla="val 50000"/>
            </a:avLst>
          </a:prstGeom>
          <a:solidFill>
            <a:srgbClr val="10352C"/>
          </a:solidFill>
          <a:ln w="9525">
            <a:solidFill>
              <a:srgbClr val="4E9E85"/>
            </a:solidFill>
            <a:prstDash val="solid"/>
          </a:ln>
        </p:spPr>
      </p:sp>
      <p:sp>
        <p:nvSpPr>
          <p:cNvPr id="12" name="Text 10"/>
          <p:cNvSpPr txBox="1"/>
          <p:nvPr/>
        </p:nvSpPr>
        <p:spPr>
          <a:xfrm>
            <a:off x="5577840" y="5029200"/>
            <a:ext cx="1216152" cy="310896"/>
          </a:xfrm>
          <a:prstGeom prst="rect">
            <a:avLst/>
          </a:prstGeom>
          <a:noFill/>
          <a:ln/>
        </p:spPr>
        <p:txBody>
          <a:bodyPr wrap="square" lIns="0" tIns="0" rIns="0" bIns="0" rtlCol="0" anchor="ctr"/>
          <a:lstStyle/>
          <a:p>
            <a:pPr algn="ctr" indent="0" marL="0">
              <a:buNone/>
            </a:pPr>
            <a:r>
              <a:rPr lang="en-US" sz="1050" b="1" dirty="0">
                <a:solidFill>
                  <a:srgbClr val="9ECFBC"/>
                </a:solidFill>
                <a:latin typeface="Calibri" pitchFamily="34" charset="0"/>
                <a:ea typeface="Calibri" pitchFamily="34" charset="-122"/>
                <a:cs typeface="Calibri" pitchFamily="34" charset="-120"/>
              </a:rPr>
              <a:t>SA 530</a:t>
            </a:r>
            <a:endParaRPr lang="en-US" sz="1050" dirty="0"/>
          </a:p>
        </p:txBody>
      </p:sp>
      <p:sp>
        <p:nvSpPr>
          <p:cNvPr id="13" name="Shape 11"/>
          <p:cNvSpPr/>
          <p:nvPr/>
        </p:nvSpPr>
        <p:spPr>
          <a:xfrm>
            <a:off x="6940296" y="5029200"/>
            <a:ext cx="1641348" cy="310896"/>
          </a:xfrm>
          <a:prstGeom prst="roundRect">
            <a:avLst>
              <a:gd name="adj" fmla="val 50000"/>
            </a:avLst>
          </a:prstGeom>
          <a:solidFill>
            <a:srgbClr val="10352C"/>
          </a:solidFill>
          <a:ln w="9525">
            <a:solidFill>
              <a:srgbClr val="4E9E85"/>
            </a:solidFill>
            <a:prstDash val="solid"/>
          </a:ln>
        </p:spPr>
      </p:sp>
      <p:sp>
        <p:nvSpPr>
          <p:cNvPr id="14" name="Text 12"/>
          <p:cNvSpPr txBox="1"/>
          <p:nvPr/>
        </p:nvSpPr>
        <p:spPr>
          <a:xfrm>
            <a:off x="6940296" y="5029200"/>
            <a:ext cx="1641348" cy="310896"/>
          </a:xfrm>
          <a:prstGeom prst="rect">
            <a:avLst/>
          </a:prstGeom>
          <a:noFill/>
          <a:ln/>
        </p:spPr>
        <p:txBody>
          <a:bodyPr wrap="square" lIns="0" tIns="0" rIns="0" bIns="0" rtlCol="0" anchor="ctr"/>
          <a:lstStyle/>
          <a:p>
            <a:pPr algn="ctr" indent="0" marL="0">
              <a:buNone/>
            </a:pPr>
            <a:r>
              <a:rPr lang="en-US" sz="1050" b="1" dirty="0">
                <a:solidFill>
                  <a:srgbClr val="9ECFBC"/>
                </a:solidFill>
                <a:latin typeface="Calibri" pitchFamily="34" charset="0"/>
                <a:ea typeface="Calibri" pitchFamily="34" charset="-122"/>
                <a:cs typeface="Calibri" pitchFamily="34" charset="-120"/>
              </a:rPr>
              <a:t>CARO 2020</a:t>
            </a:r>
            <a:endParaRPr lang="en-US" sz="1050" dirty="0"/>
          </a:p>
        </p:txBody>
      </p:sp>
      <p:sp>
        <p:nvSpPr>
          <p:cNvPr id="15" name="Text 13"/>
          <p:cNvSpPr txBox="1"/>
          <p:nvPr/>
        </p:nvSpPr>
        <p:spPr>
          <a:xfrm>
            <a:off x="640080" y="5779008"/>
            <a:ext cx="82296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 Rajendra Bagade   ·   Senior Partner, SARC &amp; Associates</a:t>
            </a:r>
            <a:endParaRPr lang="en-US" sz="1300" dirty="0"/>
          </a:p>
        </p:txBody>
      </p:sp>
      <p:sp>
        <p:nvSpPr>
          <p:cNvPr id="16" name="Text 14"/>
          <p:cNvSpPr txBox="1"/>
          <p:nvPr/>
        </p:nvSpPr>
        <p:spPr>
          <a:xfrm>
            <a:off x="640080" y="6108192"/>
            <a:ext cx="8229600" cy="292608"/>
          </a:xfrm>
          <a:prstGeom prst="rect">
            <a:avLst/>
          </a:prstGeom>
          <a:noFill/>
          <a:ln/>
        </p:spPr>
        <p:txBody>
          <a:bodyPr wrap="square" lIns="0" tIns="0" rIns="0" bIns="0" rtlCol="0" anchor="ctr"/>
          <a:lstStyle/>
          <a:p>
            <a:pPr indent="0" marL="0">
              <a:buNone/>
            </a:pPr>
            <a:r>
              <a:rPr lang="en-US" sz="1150" dirty="0">
                <a:solidFill>
                  <a:srgbClr val="8FB8A9"/>
                </a:solidFill>
                <a:latin typeface="Calibri" pitchFamily="34" charset="0"/>
                <a:ea typeface="Calibri" pitchFamily="34" charset="-122"/>
                <a:cs typeface="Calibri" pitchFamily="34" charset="-120"/>
              </a:rPr>
              <a:t>AICA Level 2   ·   Module C Capstone Project   ·   Batch 104</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F0"/>
        </a:solidFill>
      </p:bgPr>
    </p:bg>
    <p:spTree>
      <p:nvGrpSpPr>
        <p:cNvPr id="1" name=""/>
        <p:cNvGrpSpPr/>
        <p:nvPr/>
      </p:nvGrpSpPr>
      <p:grpSpPr>
        <a:xfrm>
          <a:off x="0" y="0"/>
          <a:ext cx="0" cy="0"/>
          <a:chOff x="0" y="0"/>
          <a:chExt cx="0" cy="0"/>
        </a:xfrm>
      </p:grpSpPr>
      <p:sp>
        <p:nvSpPr>
          <p:cNvPr id="2" name="Text 0"/>
          <p:cNvSpPr txBox="1"/>
          <p:nvPr/>
        </p:nvSpPr>
        <p:spPr>
          <a:xfrm>
            <a:off x="640080" y="6199632"/>
            <a:ext cx="7315200" cy="274320"/>
          </a:xfrm>
          <a:prstGeom prst="rect">
            <a:avLst/>
          </a:prstGeom>
          <a:noFill/>
          <a:ln/>
        </p:spPr>
        <p:txBody>
          <a:bodyPr wrap="square" lIns="0" tIns="0" rIns="0" bIns="0" rtlCol="0" anchor="ctr"/>
          <a:lstStyle/>
          <a:p>
            <a:pPr indent="0" marL="0">
              <a:buNone/>
            </a:pPr>
            <a:r>
              <a:rPr lang="en-US" sz="900" dirty="0">
                <a:solidFill>
                  <a:srgbClr val="5D6A64"/>
                </a:solidFill>
                <a:latin typeface="Calibri" pitchFamily="34" charset="0"/>
                <a:ea typeface="Calibri" pitchFamily="34" charset="-122"/>
                <a:cs typeface="Calibri" pitchFamily="34" charset="-120"/>
              </a:rPr>
              <a:t>AuditLens  ·  AICA Level 2, Module C  ·  CA. Rajendra Bagade</a:t>
            </a:r>
            <a:endParaRPr lang="en-US" sz="900" dirty="0"/>
          </a:p>
        </p:txBody>
      </p:sp>
      <p:sp>
        <p:nvSpPr>
          <p:cNvPr id="3" name="Text 1"/>
          <p:cNvSpPr txBox="1"/>
          <p:nvPr/>
        </p:nvSpPr>
        <p:spPr>
          <a:xfrm>
            <a:off x="10972800" y="6199632"/>
            <a:ext cx="548640" cy="274320"/>
          </a:xfrm>
          <a:prstGeom prst="rect">
            <a:avLst/>
          </a:prstGeom>
          <a:noFill/>
          <a:ln/>
        </p:spPr>
        <p:txBody>
          <a:bodyPr wrap="square" lIns="0" tIns="0" rIns="0" bIns="0" rtlCol="0" anchor="ctr"/>
          <a:lstStyle/>
          <a:p>
            <a:pPr algn="r" indent="0" marL="0">
              <a:buNone/>
            </a:pPr>
            <a:r>
              <a:rPr lang="en-US" sz="900" dirty="0">
                <a:solidFill>
                  <a:srgbClr val="5D6A64"/>
                </a:solidFill>
                <a:latin typeface="Calibri" pitchFamily="34" charset="0"/>
                <a:ea typeface="Calibri" pitchFamily="34" charset="-122"/>
                <a:cs typeface="Calibri" pitchFamily="34" charset="-120"/>
              </a:rPr>
              <a:t>2</a:t>
            </a:r>
            <a:endParaRPr lang="en-US" sz="900" dirty="0"/>
          </a:p>
        </p:txBody>
      </p:sp>
      <p:sp>
        <p:nvSpPr>
          <p:cNvPr id="4" name="Text 2"/>
          <p:cNvSpPr txBox="1"/>
          <p:nvPr/>
        </p:nvSpPr>
        <p:spPr>
          <a:xfrm>
            <a:off x="640080" y="502920"/>
            <a:ext cx="10881360" cy="777240"/>
          </a:xfrm>
          <a:prstGeom prst="rect">
            <a:avLst/>
          </a:prstGeom>
          <a:noFill/>
          <a:ln/>
        </p:spPr>
        <p:txBody>
          <a:bodyPr wrap="square" lIns="0" tIns="0" rIns="0" bIns="0" rtlCol="0" anchor="ctr"/>
          <a:lstStyle/>
          <a:p>
            <a:pPr indent="0" marL="0">
              <a:buNone/>
            </a:pPr>
            <a:r>
              <a:rPr lang="en-US" sz="3400" b="1" dirty="0">
                <a:solidFill>
                  <a:srgbClr val="14201C"/>
                </a:solidFill>
                <a:latin typeface="Cambria" pitchFamily="34" charset="0"/>
                <a:ea typeface="Cambria" pitchFamily="34" charset="-122"/>
                <a:cs typeface="Cambria" pitchFamily="34" charset="-120"/>
              </a:rPr>
              <a:t>Every statutory audit begins with the same week</a:t>
            </a:r>
            <a:endParaRPr lang="en-US" sz="3400" dirty="0"/>
          </a:p>
        </p:txBody>
      </p:sp>
      <p:sp>
        <p:nvSpPr>
          <p:cNvPr id="5" name="Text 3"/>
          <p:cNvSpPr txBox="1"/>
          <p:nvPr/>
        </p:nvSpPr>
        <p:spPr>
          <a:xfrm>
            <a:off x="640080" y="1417320"/>
            <a:ext cx="5943600" cy="2194560"/>
          </a:xfrm>
          <a:prstGeom prst="rect">
            <a:avLst/>
          </a:prstGeom>
          <a:noFill/>
          <a:ln/>
        </p:spPr>
        <p:txBody>
          <a:bodyPr wrap="square" lIns="0" tIns="0" rIns="0" bIns="0" rtlCol="0" anchor="ctr"/>
          <a:lstStyle/>
          <a:p>
            <a:pPr indent="0" marL="0">
              <a:lnSpc>
                <a:spcPts val="2300"/>
              </a:lnSpc>
              <a:buNone/>
            </a:pPr>
            <a:r>
              <a:rPr lang="en-US" sz="1450" dirty="0">
                <a:solidFill>
                  <a:srgbClr val="14201C"/>
                </a:solidFill>
                <a:latin typeface="Calibri" pitchFamily="34" charset="0"/>
                <a:ea typeface="Calibri" pitchFamily="34" charset="-122"/>
                <a:cs typeface="Calibri" pitchFamily="34" charset="-120"/>
              </a:rPr>
              <a:t>A trial balance is mapped to Schedule III. Eleven ratios that the Ministry of Corporate Affairs made mandatory in 2021 are computed, and any that moved more than 25 per cent must be explained in the notes. Journal entries are tested for management override. Materiality is determined, a sample selected, and twenty-one CARO clauses worked through.</a:t>
            </a:r>
            <a:endParaRPr lang="en-US" sz="1450" dirty="0"/>
          </a:p>
        </p:txBody>
      </p:sp>
      <p:sp>
        <p:nvSpPr>
          <p:cNvPr id="6" name="Text 4"/>
          <p:cNvSpPr txBox="1"/>
          <p:nvPr/>
        </p:nvSpPr>
        <p:spPr>
          <a:xfrm>
            <a:off x="640080" y="3429000"/>
            <a:ext cx="5943600" cy="1051560"/>
          </a:xfrm>
          <a:prstGeom prst="rect">
            <a:avLst/>
          </a:prstGeom>
          <a:noFill/>
          <a:ln/>
        </p:spPr>
        <p:txBody>
          <a:bodyPr wrap="square" lIns="0" tIns="0" rIns="0" bIns="0" rtlCol="0" anchor="ctr"/>
          <a:lstStyle/>
          <a:p>
            <a:pPr indent="0" marL="0">
              <a:lnSpc>
                <a:spcPts val="2400"/>
              </a:lnSpc>
              <a:buNone/>
            </a:pPr>
            <a:r>
              <a:rPr lang="en-US" sz="1600" i="1" dirty="0">
                <a:solidFill>
                  <a:srgbClr val="1E5A4A"/>
                </a:solidFill>
                <a:latin typeface="Cambria" pitchFamily="34" charset="0"/>
                <a:ea typeface="Cambria" pitchFamily="34" charset="-122"/>
                <a:cs typeface="Cambria" pitchFamily="34" charset="-120"/>
              </a:rPr>
              <a:t>It is identical across clients. It consumes the opening week of every engagement. And in most firms it is done by hand, in a spreadsheet that is rebuilt each year.</a:t>
            </a:r>
            <a:endParaRPr lang="en-US" sz="1600" dirty="0"/>
          </a:p>
        </p:txBody>
      </p:sp>
      <p:sp>
        <p:nvSpPr>
          <p:cNvPr id="7" name="Shape 5"/>
          <p:cNvSpPr/>
          <p:nvPr/>
        </p:nvSpPr>
        <p:spPr>
          <a:xfrm>
            <a:off x="640080" y="4709160"/>
            <a:ext cx="5943600" cy="1207008"/>
          </a:xfrm>
          <a:prstGeom prst="rect">
            <a:avLst/>
          </a:prstGeom>
          <a:solidFill>
            <a:srgbClr val="E3EDE7"/>
          </a:solidFill>
          <a:ln w="12700">
            <a:solidFill>
              <a:srgbClr val="1E5A4A"/>
            </a:solidFill>
            <a:prstDash val="solid"/>
          </a:ln>
        </p:spPr>
      </p:sp>
      <p:sp>
        <p:nvSpPr>
          <p:cNvPr id="8" name="Text 6"/>
          <p:cNvSpPr txBox="1"/>
          <p:nvPr/>
        </p:nvSpPr>
        <p:spPr>
          <a:xfrm>
            <a:off x="914400" y="4864608"/>
            <a:ext cx="5394960" cy="914400"/>
          </a:xfrm>
          <a:prstGeom prst="rect">
            <a:avLst/>
          </a:prstGeom>
          <a:noFill/>
          <a:ln/>
        </p:spPr>
        <p:txBody>
          <a:bodyPr wrap="square" lIns="0" tIns="0" rIns="0" bIns="0" rtlCol="0" anchor="ctr"/>
          <a:lstStyle/>
          <a:p>
            <a:pPr indent="0" marL="0">
              <a:lnSpc>
                <a:spcPts val="1800"/>
              </a:lnSpc>
              <a:buNone/>
            </a:pPr>
            <a:r>
              <a:rPr lang="en-US" sz="1250" dirty="0">
                <a:solidFill>
                  <a:srgbClr val="14201C"/>
                </a:solidFill>
                <a:latin typeface="Calibri" pitchFamily="34" charset="0"/>
                <a:ea typeface="Calibri" pitchFamily="34" charset="-122"/>
                <a:cs typeface="Calibri" pitchFamily="34" charset="-120"/>
              </a:rPr>
              <a:t>For the mid-sized manufacturer used in this demonstration, that means sixty-one ledgers to classify, nine hundred and eighteen journal entries to test, and twenty-one clauses to answer — before any audit evidence is looked at.</a:t>
            </a:r>
            <a:endParaRPr lang="en-US" sz="1250" dirty="0"/>
          </a:p>
        </p:txBody>
      </p:sp>
      <p:sp>
        <p:nvSpPr>
          <p:cNvPr id="9" name="Shape 7"/>
          <p:cNvSpPr/>
          <p:nvPr/>
        </p:nvSpPr>
        <p:spPr>
          <a:xfrm>
            <a:off x="7040880" y="1417320"/>
            <a:ext cx="4480560" cy="1371600"/>
          </a:xfrm>
          <a:prstGeom prst="rect">
            <a:avLst/>
          </a:prstGeom>
          <a:solidFill>
            <a:srgbClr val="FFFFFF"/>
          </a:solidFill>
          <a:ln w="12700">
            <a:solidFill>
              <a:srgbClr val="D7DCD5"/>
            </a:solidFill>
            <a:prstDash val="solid"/>
          </a:ln>
        </p:spPr>
      </p:sp>
      <p:sp>
        <p:nvSpPr>
          <p:cNvPr id="10" name="Text 8"/>
          <p:cNvSpPr txBox="1"/>
          <p:nvPr/>
        </p:nvSpPr>
        <p:spPr>
          <a:xfrm>
            <a:off x="7269480" y="1581912"/>
            <a:ext cx="1143000" cy="1005840"/>
          </a:xfrm>
          <a:prstGeom prst="rect">
            <a:avLst/>
          </a:prstGeom>
          <a:noFill/>
          <a:ln/>
        </p:spPr>
        <p:txBody>
          <a:bodyPr wrap="square" lIns="0" tIns="0" rIns="0" bIns="0" rtlCol="0" anchor="ctr"/>
          <a:lstStyle/>
          <a:p>
            <a:pPr indent="0" marL="0">
              <a:buNone/>
            </a:pPr>
            <a:r>
              <a:rPr lang="en-US" sz="4600" b="1" dirty="0">
                <a:solidFill>
                  <a:srgbClr val="1E5A4A"/>
                </a:solidFill>
                <a:latin typeface="Cambria" pitchFamily="34" charset="0"/>
                <a:ea typeface="Cambria" pitchFamily="34" charset="-122"/>
                <a:cs typeface="Cambria" pitchFamily="34" charset="-120"/>
              </a:rPr>
              <a:t>11</a:t>
            </a:r>
            <a:endParaRPr lang="en-US" sz="4600" dirty="0"/>
          </a:p>
        </p:txBody>
      </p:sp>
      <p:sp>
        <p:nvSpPr>
          <p:cNvPr id="11" name="Text 9"/>
          <p:cNvSpPr txBox="1"/>
          <p:nvPr/>
        </p:nvSpPr>
        <p:spPr>
          <a:xfrm>
            <a:off x="8458200" y="1691640"/>
            <a:ext cx="2880360" cy="868680"/>
          </a:xfrm>
          <a:prstGeom prst="rect">
            <a:avLst/>
          </a:prstGeom>
          <a:noFill/>
          <a:ln/>
        </p:spPr>
        <p:txBody>
          <a:bodyPr wrap="square" lIns="0" tIns="0" rIns="0" bIns="0" rtlCol="0" anchor="ctr"/>
          <a:lstStyle/>
          <a:p>
            <a:pPr indent="0" marL="0">
              <a:lnSpc>
                <a:spcPts val="1600"/>
              </a:lnSpc>
              <a:buNone/>
            </a:pPr>
            <a:r>
              <a:rPr lang="en-US" sz="1200" dirty="0">
                <a:solidFill>
                  <a:srgbClr val="55635E"/>
                </a:solidFill>
                <a:latin typeface="Calibri" pitchFamily="34" charset="0"/>
                <a:ea typeface="Calibri" pitchFamily="34" charset="-122"/>
                <a:cs typeface="Calibri" pitchFamily="34" charset="-120"/>
              </a:rPr>
              <a:t>ratios mandated by</a:t>
            </a:r>
            <a:endParaRPr lang="en-US" sz="1200" dirty="0"/>
          </a:p>
          <a:p>
            <a:pPr indent="0" marL="0">
              <a:lnSpc>
                <a:spcPts val="1600"/>
              </a:lnSpc>
              <a:buNone/>
            </a:pPr>
            <a:r>
              <a:rPr lang="en-US" sz="1200" dirty="0">
                <a:solidFill>
                  <a:srgbClr val="55635E"/>
                </a:solidFill>
                <a:latin typeface="Calibri" pitchFamily="34" charset="0"/>
                <a:ea typeface="Calibri" pitchFamily="34" charset="-122"/>
                <a:cs typeface="Calibri" pitchFamily="34" charset="-120"/>
              </a:rPr>
              <a:t>Schedule III since FY 2021-22</a:t>
            </a:r>
            <a:endParaRPr lang="en-US" sz="1200" dirty="0"/>
          </a:p>
        </p:txBody>
      </p:sp>
      <p:sp>
        <p:nvSpPr>
          <p:cNvPr id="12" name="Shape 10"/>
          <p:cNvSpPr/>
          <p:nvPr/>
        </p:nvSpPr>
        <p:spPr>
          <a:xfrm>
            <a:off x="7040880" y="2990088"/>
            <a:ext cx="4480560" cy="1371600"/>
          </a:xfrm>
          <a:prstGeom prst="rect">
            <a:avLst/>
          </a:prstGeom>
          <a:solidFill>
            <a:srgbClr val="FFFFFF"/>
          </a:solidFill>
          <a:ln w="12700">
            <a:solidFill>
              <a:srgbClr val="D7DCD5"/>
            </a:solidFill>
            <a:prstDash val="solid"/>
          </a:ln>
        </p:spPr>
      </p:sp>
      <p:sp>
        <p:nvSpPr>
          <p:cNvPr id="13" name="Text 11"/>
          <p:cNvSpPr txBox="1"/>
          <p:nvPr/>
        </p:nvSpPr>
        <p:spPr>
          <a:xfrm>
            <a:off x="7269480" y="3154680"/>
            <a:ext cx="1143000" cy="1005840"/>
          </a:xfrm>
          <a:prstGeom prst="rect">
            <a:avLst/>
          </a:prstGeom>
          <a:noFill/>
          <a:ln/>
        </p:spPr>
        <p:txBody>
          <a:bodyPr wrap="square" lIns="0" tIns="0" rIns="0" bIns="0" rtlCol="0" anchor="ctr"/>
          <a:lstStyle/>
          <a:p>
            <a:pPr indent="0" marL="0">
              <a:buNone/>
            </a:pPr>
            <a:r>
              <a:rPr lang="en-US" sz="4600" b="1" dirty="0">
                <a:solidFill>
                  <a:srgbClr val="1E5A4A"/>
                </a:solidFill>
                <a:latin typeface="Cambria" pitchFamily="34" charset="0"/>
                <a:ea typeface="Cambria" pitchFamily="34" charset="-122"/>
                <a:cs typeface="Cambria" pitchFamily="34" charset="-120"/>
              </a:rPr>
              <a:t>21</a:t>
            </a:r>
            <a:endParaRPr lang="en-US" sz="4600" dirty="0"/>
          </a:p>
        </p:txBody>
      </p:sp>
      <p:sp>
        <p:nvSpPr>
          <p:cNvPr id="14" name="Text 12"/>
          <p:cNvSpPr txBox="1"/>
          <p:nvPr/>
        </p:nvSpPr>
        <p:spPr>
          <a:xfrm>
            <a:off x="8458200" y="3264408"/>
            <a:ext cx="2880360" cy="868680"/>
          </a:xfrm>
          <a:prstGeom prst="rect">
            <a:avLst/>
          </a:prstGeom>
          <a:noFill/>
          <a:ln/>
        </p:spPr>
        <p:txBody>
          <a:bodyPr wrap="square" lIns="0" tIns="0" rIns="0" bIns="0" rtlCol="0" anchor="ctr"/>
          <a:lstStyle/>
          <a:p>
            <a:pPr indent="0" marL="0">
              <a:lnSpc>
                <a:spcPts val="1600"/>
              </a:lnSpc>
              <a:buNone/>
            </a:pPr>
            <a:r>
              <a:rPr lang="en-US" sz="1200" dirty="0">
                <a:solidFill>
                  <a:srgbClr val="55635E"/>
                </a:solidFill>
                <a:latin typeface="Calibri" pitchFamily="34" charset="0"/>
                <a:ea typeface="Calibri" pitchFamily="34" charset="-122"/>
                <a:cs typeface="Calibri" pitchFamily="34" charset="-120"/>
              </a:rPr>
              <a:t>CARO 2020 clauses,</a:t>
            </a:r>
            <a:endParaRPr lang="en-US" sz="1200" dirty="0"/>
          </a:p>
          <a:p>
            <a:pPr indent="0" marL="0">
              <a:lnSpc>
                <a:spcPts val="1600"/>
              </a:lnSpc>
              <a:buNone/>
            </a:pPr>
            <a:r>
              <a:rPr lang="en-US" sz="1200" dirty="0">
                <a:solidFill>
                  <a:srgbClr val="55635E"/>
                </a:solidFill>
                <a:latin typeface="Calibri" pitchFamily="34" charset="0"/>
                <a:ea typeface="Calibri" pitchFamily="34" charset="-122"/>
                <a:cs typeface="Calibri" pitchFamily="34" charset="-120"/>
              </a:rPr>
              <a:t>every one to be answered</a:t>
            </a:r>
            <a:endParaRPr lang="en-US" sz="1200" dirty="0"/>
          </a:p>
        </p:txBody>
      </p:sp>
      <p:sp>
        <p:nvSpPr>
          <p:cNvPr id="15" name="Shape 13"/>
          <p:cNvSpPr/>
          <p:nvPr/>
        </p:nvSpPr>
        <p:spPr>
          <a:xfrm>
            <a:off x="7040880" y="4562856"/>
            <a:ext cx="4480560" cy="1371600"/>
          </a:xfrm>
          <a:prstGeom prst="rect">
            <a:avLst/>
          </a:prstGeom>
          <a:solidFill>
            <a:srgbClr val="FFFFFF"/>
          </a:solidFill>
          <a:ln w="12700">
            <a:solidFill>
              <a:srgbClr val="D7DCD5"/>
            </a:solidFill>
            <a:prstDash val="solid"/>
          </a:ln>
        </p:spPr>
      </p:sp>
      <p:sp>
        <p:nvSpPr>
          <p:cNvPr id="16" name="Text 14"/>
          <p:cNvSpPr txBox="1"/>
          <p:nvPr/>
        </p:nvSpPr>
        <p:spPr>
          <a:xfrm>
            <a:off x="7269480" y="4727448"/>
            <a:ext cx="1143000" cy="1005840"/>
          </a:xfrm>
          <a:prstGeom prst="rect">
            <a:avLst/>
          </a:prstGeom>
          <a:noFill/>
          <a:ln/>
        </p:spPr>
        <p:txBody>
          <a:bodyPr wrap="square" lIns="0" tIns="0" rIns="0" bIns="0" rtlCol="0" anchor="ctr"/>
          <a:lstStyle/>
          <a:p>
            <a:pPr indent="0" marL="0">
              <a:buNone/>
            </a:pPr>
            <a:r>
              <a:rPr lang="en-US" sz="4600" b="1" dirty="0">
                <a:solidFill>
                  <a:srgbClr val="1E5A4A"/>
                </a:solidFill>
                <a:latin typeface="Cambria" pitchFamily="34" charset="0"/>
                <a:ea typeface="Cambria" pitchFamily="34" charset="-122"/>
                <a:cs typeface="Cambria" pitchFamily="34" charset="-120"/>
              </a:rPr>
              <a:t>6</a:t>
            </a:r>
            <a:endParaRPr lang="en-US" sz="4600" dirty="0"/>
          </a:p>
        </p:txBody>
      </p:sp>
      <p:sp>
        <p:nvSpPr>
          <p:cNvPr id="17" name="Text 15"/>
          <p:cNvSpPr txBox="1"/>
          <p:nvPr/>
        </p:nvSpPr>
        <p:spPr>
          <a:xfrm>
            <a:off x="8458200" y="4837176"/>
            <a:ext cx="2880360" cy="868680"/>
          </a:xfrm>
          <a:prstGeom prst="rect">
            <a:avLst/>
          </a:prstGeom>
          <a:noFill/>
          <a:ln/>
        </p:spPr>
        <p:txBody>
          <a:bodyPr wrap="square" lIns="0" tIns="0" rIns="0" bIns="0" rtlCol="0" anchor="ctr"/>
          <a:lstStyle/>
          <a:p>
            <a:pPr indent="0" marL="0">
              <a:lnSpc>
                <a:spcPts val="1600"/>
              </a:lnSpc>
              <a:buNone/>
            </a:pPr>
            <a:r>
              <a:rPr lang="en-US" sz="1200" dirty="0">
                <a:solidFill>
                  <a:srgbClr val="55635E"/>
                </a:solidFill>
                <a:latin typeface="Calibri" pitchFamily="34" charset="0"/>
                <a:ea typeface="Calibri" pitchFamily="34" charset="-122"/>
                <a:cs typeface="Calibri" pitchFamily="34" charset="-120"/>
              </a:rPr>
              <a:t>journal entry routines</a:t>
            </a:r>
            <a:endParaRPr lang="en-US" sz="1200" dirty="0"/>
          </a:p>
          <a:p>
            <a:pPr indent="0" marL="0">
              <a:lnSpc>
                <a:spcPts val="1600"/>
              </a:lnSpc>
              <a:buNone/>
            </a:pPr>
            <a:r>
              <a:rPr lang="en-US" sz="1200" dirty="0">
                <a:solidFill>
                  <a:srgbClr val="55635E"/>
                </a:solidFill>
                <a:latin typeface="Calibri" pitchFamily="34" charset="0"/>
                <a:ea typeface="Calibri" pitchFamily="34" charset="-122"/>
                <a:cs typeface="Calibri" pitchFamily="34" charset="-120"/>
              </a:rPr>
              <a:t>required under SA 240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0"/>
        </a:solidFill>
      </p:bgPr>
    </p:bg>
    <p:spTree>
      <p:nvGrpSpPr>
        <p:cNvPr id="1" name=""/>
        <p:cNvGrpSpPr/>
        <p:nvPr/>
      </p:nvGrpSpPr>
      <p:grpSpPr>
        <a:xfrm>
          <a:off x="0" y="0"/>
          <a:ext cx="0" cy="0"/>
          <a:chOff x="0" y="0"/>
          <a:chExt cx="0" cy="0"/>
        </a:xfrm>
      </p:grpSpPr>
      <p:sp>
        <p:nvSpPr>
          <p:cNvPr id="2" name="Text 0"/>
          <p:cNvSpPr txBox="1"/>
          <p:nvPr/>
        </p:nvSpPr>
        <p:spPr>
          <a:xfrm>
            <a:off x="640080" y="6199632"/>
            <a:ext cx="7315200" cy="274320"/>
          </a:xfrm>
          <a:prstGeom prst="rect">
            <a:avLst/>
          </a:prstGeom>
          <a:noFill/>
          <a:ln/>
        </p:spPr>
        <p:txBody>
          <a:bodyPr wrap="square" lIns="0" tIns="0" rIns="0" bIns="0" rtlCol="0" anchor="ctr"/>
          <a:lstStyle/>
          <a:p>
            <a:pPr indent="0" marL="0">
              <a:buNone/>
            </a:pPr>
            <a:r>
              <a:rPr lang="en-US" sz="900" dirty="0">
                <a:solidFill>
                  <a:srgbClr val="5D6A64"/>
                </a:solidFill>
                <a:latin typeface="Calibri" pitchFamily="34" charset="0"/>
                <a:ea typeface="Calibri" pitchFamily="34" charset="-122"/>
                <a:cs typeface="Calibri" pitchFamily="34" charset="-120"/>
              </a:rPr>
              <a:t>AuditLens  ·  AICA Level 2, Module C  ·  CA. Rajendra Bagade</a:t>
            </a:r>
            <a:endParaRPr lang="en-US" sz="900" dirty="0"/>
          </a:p>
        </p:txBody>
      </p:sp>
      <p:sp>
        <p:nvSpPr>
          <p:cNvPr id="3" name="Text 1"/>
          <p:cNvSpPr txBox="1"/>
          <p:nvPr/>
        </p:nvSpPr>
        <p:spPr>
          <a:xfrm>
            <a:off x="10972800" y="6199632"/>
            <a:ext cx="548640" cy="274320"/>
          </a:xfrm>
          <a:prstGeom prst="rect">
            <a:avLst/>
          </a:prstGeom>
          <a:noFill/>
          <a:ln/>
        </p:spPr>
        <p:txBody>
          <a:bodyPr wrap="square" lIns="0" tIns="0" rIns="0" bIns="0" rtlCol="0" anchor="ctr"/>
          <a:lstStyle/>
          <a:p>
            <a:pPr algn="r" indent="0" marL="0">
              <a:buNone/>
            </a:pPr>
            <a:r>
              <a:rPr lang="en-US" sz="900" dirty="0">
                <a:solidFill>
                  <a:srgbClr val="5D6A64"/>
                </a:solidFill>
                <a:latin typeface="Calibri" pitchFamily="34" charset="0"/>
                <a:ea typeface="Calibri" pitchFamily="34" charset="-122"/>
                <a:cs typeface="Calibri" pitchFamily="34" charset="-120"/>
              </a:rPr>
              <a:t>3</a:t>
            </a:r>
            <a:endParaRPr lang="en-US" sz="900" dirty="0"/>
          </a:p>
        </p:txBody>
      </p:sp>
      <p:sp>
        <p:nvSpPr>
          <p:cNvPr id="4" name="Text 2"/>
          <p:cNvSpPr txBox="1"/>
          <p:nvPr/>
        </p:nvSpPr>
        <p:spPr>
          <a:xfrm>
            <a:off x="640080" y="502920"/>
            <a:ext cx="10881360" cy="777240"/>
          </a:xfrm>
          <a:prstGeom prst="rect">
            <a:avLst/>
          </a:prstGeom>
          <a:noFill/>
          <a:ln/>
        </p:spPr>
        <p:txBody>
          <a:bodyPr wrap="square" lIns="0" tIns="0" rIns="0" bIns="0" rtlCol="0" anchor="ctr"/>
          <a:lstStyle/>
          <a:p>
            <a:pPr indent="0" marL="0">
              <a:buNone/>
            </a:pPr>
            <a:r>
              <a:rPr lang="en-US" sz="3400" b="1" dirty="0">
                <a:solidFill>
                  <a:srgbClr val="14201C"/>
                </a:solidFill>
                <a:latin typeface="Cambria" pitchFamily="34" charset="0"/>
                <a:ea typeface="Cambria" pitchFamily="34" charset="-122"/>
                <a:cs typeface="Cambria" pitchFamily="34" charset="-120"/>
              </a:rPr>
              <a:t>What the application does</a:t>
            </a:r>
            <a:endParaRPr lang="en-US" sz="3400" dirty="0"/>
          </a:p>
        </p:txBody>
      </p:sp>
      <p:sp>
        <p:nvSpPr>
          <p:cNvPr id="5" name="Text 3"/>
          <p:cNvSpPr txBox="1"/>
          <p:nvPr/>
        </p:nvSpPr>
        <p:spPr>
          <a:xfrm>
            <a:off x="640080" y="1298448"/>
            <a:ext cx="7315200" cy="320040"/>
          </a:xfrm>
          <a:prstGeom prst="rect">
            <a:avLst/>
          </a:prstGeom>
          <a:noFill/>
          <a:ln/>
        </p:spPr>
        <p:txBody>
          <a:bodyPr wrap="square" lIns="0" tIns="0" rIns="0" bIns="0" rtlCol="0" anchor="ctr"/>
          <a:lstStyle/>
          <a:p>
            <a:pPr indent="0" marL="0">
              <a:buNone/>
            </a:pPr>
            <a:r>
              <a:rPr lang="en-US" sz="1350" dirty="0">
                <a:solidFill>
                  <a:srgbClr val="55635E"/>
                </a:solidFill>
                <a:latin typeface="Calibri" pitchFamily="34" charset="0"/>
                <a:ea typeface="Calibri" pitchFamily="34" charset="-122"/>
                <a:cs typeface="Calibri" pitchFamily="34" charset="-120"/>
              </a:rPr>
              <a:t>Eight modules. Seven of them answer to a provision.</a:t>
            </a:r>
            <a:endParaRPr lang="en-US" sz="1350" dirty="0"/>
          </a:p>
        </p:txBody>
      </p:sp>
      <p:sp>
        <p:nvSpPr>
          <p:cNvPr id="6" name="Shape 4"/>
          <p:cNvSpPr/>
          <p:nvPr/>
        </p:nvSpPr>
        <p:spPr>
          <a:xfrm>
            <a:off x="640080" y="1810512"/>
            <a:ext cx="384048" cy="384048"/>
          </a:xfrm>
          <a:prstGeom prst="ellipse">
            <a:avLst/>
          </a:prstGeom>
          <a:solidFill>
            <a:srgbClr val="1E5A4A"/>
          </a:solidFill>
          <a:ln w="12700">
            <a:solidFill>
              <a:srgbClr val="1E5A4A"/>
            </a:solidFill>
            <a:prstDash val="solid"/>
          </a:ln>
        </p:spPr>
      </p:sp>
      <p:sp>
        <p:nvSpPr>
          <p:cNvPr id="7" name="Text 5"/>
          <p:cNvSpPr txBox="1"/>
          <p:nvPr/>
        </p:nvSpPr>
        <p:spPr>
          <a:xfrm>
            <a:off x="640080" y="18105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170432" y="1755648"/>
            <a:ext cx="1051560" cy="274320"/>
          </a:xfrm>
          <a:prstGeom prst="rect">
            <a:avLst/>
          </a:prstGeom>
          <a:noFill/>
          <a:ln/>
        </p:spPr>
        <p:txBody>
          <a:bodyPr wrap="square" lIns="0" tIns="0" rIns="0" bIns="0" rtlCol="0" anchor="t"/>
          <a:lstStyle/>
          <a:p>
            <a:pPr indent="0" marL="0">
              <a:buNone/>
            </a:pPr>
            <a:r>
              <a:rPr lang="en-US" sz="1400" b="1" dirty="0">
                <a:solidFill>
                  <a:srgbClr val="14201C"/>
                </a:solidFill>
                <a:latin typeface="Calibri" pitchFamily="34" charset="0"/>
                <a:ea typeface="Calibri" pitchFamily="34" charset="-122"/>
                <a:cs typeface="Calibri" pitchFamily="34" charset="-120"/>
              </a:rPr>
              <a:t>Ingest</a:t>
            </a:r>
            <a:endParaRPr lang="en-US" sz="1400" dirty="0"/>
          </a:p>
        </p:txBody>
      </p:sp>
      <p:sp>
        <p:nvSpPr>
          <p:cNvPr id="9" name="Text 7"/>
          <p:cNvSpPr txBox="1"/>
          <p:nvPr/>
        </p:nvSpPr>
        <p:spPr>
          <a:xfrm>
            <a:off x="1170432" y="2048256"/>
            <a:ext cx="4709160" cy="777240"/>
          </a:xfrm>
          <a:prstGeom prst="rect">
            <a:avLst/>
          </a:prstGeom>
          <a:noFill/>
          <a:ln/>
        </p:spPr>
        <p:txBody>
          <a:bodyPr wrap="square" lIns="0" tIns="0" rIns="0" bIns="0" rtlCol="0" anchor="t"/>
          <a:lstStyle/>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Trial balance and general ledger in whatever shape the client exported them - aliased headers, Indian number formats, bracketed negatives.</a:t>
            </a:r>
            <a:endParaRPr lang="en-US" sz="1100" dirty="0"/>
          </a:p>
        </p:txBody>
      </p:sp>
      <p:sp>
        <p:nvSpPr>
          <p:cNvPr id="10" name="Shape 8"/>
          <p:cNvSpPr/>
          <p:nvPr/>
        </p:nvSpPr>
        <p:spPr>
          <a:xfrm>
            <a:off x="6263640" y="1810512"/>
            <a:ext cx="384048" cy="384048"/>
          </a:xfrm>
          <a:prstGeom prst="ellipse">
            <a:avLst/>
          </a:prstGeom>
          <a:solidFill>
            <a:srgbClr val="1E5A4A"/>
          </a:solidFill>
          <a:ln w="12700">
            <a:solidFill>
              <a:srgbClr val="1E5A4A"/>
            </a:solidFill>
            <a:prstDash val="solid"/>
          </a:ln>
        </p:spPr>
      </p:sp>
      <p:sp>
        <p:nvSpPr>
          <p:cNvPr id="11" name="Text 9"/>
          <p:cNvSpPr txBox="1"/>
          <p:nvPr/>
        </p:nvSpPr>
        <p:spPr>
          <a:xfrm>
            <a:off x="6263640" y="18105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6793992" y="1755648"/>
            <a:ext cx="1051560" cy="274320"/>
          </a:xfrm>
          <a:prstGeom prst="rect">
            <a:avLst/>
          </a:prstGeom>
          <a:noFill/>
          <a:ln/>
        </p:spPr>
        <p:txBody>
          <a:bodyPr wrap="square" lIns="0" tIns="0" rIns="0" bIns="0" rtlCol="0" anchor="t"/>
          <a:lstStyle/>
          <a:p>
            <a:pPr indent="0" marL="0">
              <a:buNone/>
            </a:pPr>
            <a:r>
              <a:rPr lang="en-US" sz="1400" b="1" dirty="0">
                <a:solidFill>
                  <a:srgbClr val="14201C"/>
                </a:solidFill>
                <a:latin typeface="Calibri" pitchFamily="34" charset="0"/>
                <a:ea typeface="Calibri" pitchFamily="34" charset="-122"/>
                <a:cs typeface="Calibri" pitchFamily="34" charset="-120"/>
              </a:rPr>
              <a:t>Map</a:t>
            </a:r>
            <a:endParaRPr lang="en-US" sz="1400" dirty="0"/>
          </a:p>
        </p:txBody>
      </p:sp>
      <p:sp>
        <p:nvSpPr>
          <p:cNvPr id="13" name="Text 11"/>
          <p:cNvSpPr txBox="1"/>
          <p:nvPr/>
        </p:nvSpPr>
        <p:spPr>
          <a:xfrm>
            <a:off x="7891272" y="1792224"/>
            <a:ext cx="2103120" cy="237744"/>
          </a:xfrm>
          <a:prstGeom prst="rect">
            <a:avLst/>
          </a:prstGeom>
          <a:noFill/>
          <a:ln/>
        </p:spPr>
        <p:txBody>
          <a:bodyPr wrap="square" lIns="0" tIns="0" rIns="0" bIns="0" rtlCol="0" anchor="t"/>
          <a:lstStyle/>
          <a:p>
            <a:pPr indent="0" marL="0">
              <a:buNone/>
            </a:pPr>
            <a:r>
              <a:rPr lang="en-US" sz="950" b="1" spc="40" kern="0" dirty="0">
                <a:solidFill>
                  <a:srgbClr val="8A5710"/>
                </a:solidFill>
                <a:latin typeface="Calibri" pitchFamily="34" charset="0"/>
                <a:ea typeface="Calibri" pitchFamily="34" charset="-122"/>
                <a:cs typeface="Calibri" pitchFamily="34" charset="-120"/>
              </a:rPr>
              <a:t>Schedule III</a:t>
            </a:r>
            <a:endParaRPr lang="en-US" sz="950" dirty="0"/>
          </a:p>
        </p:txBody>
      </p:sp>
      <p:sp>
        <p:nvSpPr>
          <p:cNvPr id="14" name="Text 12"/>
          <p:cNvSpPr txBox="1"/>
          <p:nvPr/>
        </p:nvSpPr>
        <p:spPr>
          <a:xfrm>
            <a:off x="6793992" y="2048256"/>
            <a:ext cx="4709160" cy="777240"/>
          </a:xfrm>
          <a:prstGeom prst="rect">
            <a:avLst/>
          </a:prstGeom>
          <a:noFill/>
          <a:ln/>
        </p:spPr>
        <p:txBody>
          <a:bodyPr wrap="square" lIns="0" tIns="0" rIns="0" bIns="0" rtlCol="0" anchor="t"/>
          <a:lstStyle/>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Every ledger to a Division I presentation head, on the account code first and the ledger name second.</a:t>
            </a:r>
            <a:endParaRPr lang="en-US" sz="1100" dirty="0"/>
          </a:p>
        </p:txBody>
      </p:sp>
      <p:sp>
        <p:nvSpPr>
          <p:cNvPr id="15" name="Shape 13"/>
          <p:cNvSpPr/>
          <p:nvPr/>
        </p:nvSpPr>
        <p:spPr>
          <a:xfrm>
            <a:off x="640080" y="2971800"/>
            <a:ext cx="384048" cy="384048"/>
          </a:xfrm>
          <a:prstGeom prst="ellipse">
            <a:avLst/>
          </a:prstGeom>
          <a:solidFill>
            <a:srgbClr val="1E5A4A"/>
          </a:solidFill>
          <a:ln w="12700">
            <a:solidFill>
              <a:srgbClr val="1E5A4A"/>
            </a:solidFill>
            <a:prstDash val="solid"/>
          </a:ln>
        </p:spPr>
      </p:sp>
      <p:sp>
        <p:nvSpPr>
          <p:cNvPr id="16" name="Text 14"/>
          <p:cNvSpPr txBox="1"/>
          <p:nvPr/>
        </p:nvSpPr>
        <p:spPr>
          <a:xfrm>
            <a:off x="640080" y="2971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170432" y="2916936"/>
            <a:ext cx="1051560" cy="274320"/>
          </a:xfrm>
          <a:prstGeom prst="rect">
            <a:avLst/>
          </a:prstGeom>
          <a:noFill/>
          <a:ln/>
        </p:spPr>
        <p:txBody>
          <a:bodyPr wrap="square" lIns="0" tIns="0" rIns="0" bIns="0" rtlCol="0" anchor="t"/>
          <a:lstStyle/>
          <a:p>
            <a:pPr indent="0" marL="0">
              <a:buNone/>
            </a:pPr>
            <a:r>
              <a:rPr lang="en-US" sz="1400" b="1" dirty="0">
                <a:solidFill>
                  <a:srgbClr val="14201C"/>
                </a:solidFill>
                <a:latin typeface="Calibri" pitchFamily="34" charset="0"/>
                <a:ea typeface="Calibri" pitchFamily="34" charset="-122"/>
                <a:cs typeface="Calibri" pitchFamily="34" charset="-120"/>
              </a:rPr>
              <a:t>Present</a:t>
            </a:r>
            <a:endParaRPr lang="en-US" sz="1400" dirty="0"/>
          </a:p>
        </p:txBody>
      </p:sp>
      <p:sp>
        <p:nvSpPr>
          <p:cNvPr id="18" name="Text 16"/>
          <p:cNvSpPr txBox="1"/>
          <p:nvPr/>
        </p:nvSpPr>
        <p:spPr>
          <a:xfrm>
            <a:off x="2267712" y="2953512"/>
            <a:ext cx="2103120" cy="237744"/>
          </a:xfrm>
          <a:prstGeom prst="rect">
            <a:avLst/>
          </a:prstGeom>
          <a:noFill/>
          <a:ln/>
        </p:spPr>
        <p:txBody>
          <a:bodyPr wrap="square" lIns="0" tIns="0" rIns="0" bIns="0" rtlCol="0" anchor="t"/>
          <a:lstStyle/>
          <a:p>
            <a:pPr indent="0" marL="0">
              <a:buNone/>
            </a:pPr>
            <a:r>
              <a:rPr lang="en-US" sz="950" b="1" spc="40" kern="0" dirty="0">
                <a:solidFill>
                  <a:srgbClr val="8A5710"/>
                </a:solidFill>
                <a:latin typeface="Calibri" pitchFamily="34" charset="0"/>
                <a:ea typeface="Calibri" pitchFamily="34" charset="-122"/>
                <a:cs typeface="Calibri" pitchFamily="34" charset="-120"/>
              </a:rPr>
              <a:t>Schedule III</a:t>
            </a:r>
            <a:endParaRPr lang="en-US" sz="950" dirty="0"/>
          </a:p>
        </p:txBody>
      </p:sp>
      <p:sp>
        <p:nvSpPr>
          <p:cNvPr id="19" name="Text 17"/>
          <p:cNvSpPr txBox="1"/>
          <p:nvPr/>
        </p:nvSpPr>
        <p:spPr>
          <a:xfrm>
            <a:off x="1170432" y="3209544"/>
            <a:ext cx="4709160" cy="777240"/>
          </a:xfrm>
          <a:prstGeom prst="rect">
            <a:avLst/>
          </a:prstGeom>
          <a:noFill/>
          <a:ln/>
        </p:spPr>
        <p:txBody>
          <a:bodyPr wrap="square" lIns="0" tIns="0" rIns="0" bIns="0" rtlCol="0" anchor="t"/>
          <a:lstStyle/>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The Balance Sheet and Statement of Profit and Loss, with an honest reconciliation when they do not tie.</a:t>
            </a:r>
            <a:endParaRPr lang="en-US" sz="1100" dirty="0"/>
          </a:p>
        </p:txBody>
      </p:sp>
      <p:sp>
        <p:nvSpPr>
          <p:cNvPr id="20" name="Shape 18"/>
          <p:cNvSpPr/>
          <p:nvPr/>
        </p:nvSpPr>
        <p:spPr>
          <a:xfrm>
            <a:off x="6263640" y="2971800"/>
            <a:ext cx="384048" cy="384048"/>
          </a:xfrm>
          <a:prstGeom prst="ellipse">
            <a:avLst/>
          </a:prstGeom>
          <a:solidFill>
            <a:srgbClr val="1E5A4A"/>
          </a:solidFill>
          <a:ln w="12700">
            <a:solidFill>
              <a:srgbClr val="1E5A4A"/>
            </a:solidFill>
            <a:prstDash val="solid"/>
          </a:ln>
        </p:spPr>
      </p:sp>
      <p:sp>
        <p:nvSpPr>
          <p:cNvPr id="21" name="Text 19"/>
          <p:cNvSpPr txBox="1"/>
          <p:nvPr/>
        </p:nvSpPr>
        <p:spPr>
          <a:xfrm>
            <a:off x="6263640" y="2971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6793992" y="2916936"/>
            <a:ext cx="1051560" cy="274320"/>
          </a:xfrm>
          <a:prstGeom prst="rect">
            <a:avLst/>
          </a:prstGeom>
          <a:noFill/>
          <a:ln/>
        </p:spPr>
        <p:txBody>
          <a:bodyPr wrap="square" lIns="0" tIns="0" rIns="0" bIns="0" rtlCol="0" anchor="t"/>
          <a:lstStyle/>
          <a:p>
            <a:pPr indent="0" marL="0">
              <a:buNone/>
            </a:pPr>
            <a:r>
              <a:rPr lang="en-US" sz="1400" b="1" dirty="0">
                <a:solidFill>
                  <a:srgbClr val="14201C"/>
                </a:solidFill>
                <a:latin typeface="Calibri" pitchFamily="34" charset="0"/>
                <a:ea typeface="Calibri" pitchFamily="34" charset="-122"/>
                <a:cs typeface="Calibri" pitchFamily="34" charset="-120"/>
              </a:rPr>
              <a:t>Measure</a:t>
            </a:r>
            <a:endParaRPr lang="en-US" sz="1400" dirty="0"/>
          </a:p>
        </p:txBody>
      </p:sp>
      <p:sp>
        <p:nvSpPr>
          <p:cNvPr id="23" name="Text 21"/>
          <p:cNvSpPr txBox="1"/>
          <p:nvPr/>
        </p:nvSpPr>
        <p:spPr>
          <a:xfrm>
            <a:off x="7891272" y="2953512"/>
            <a:ext cx="2103120" cy="237744"/>
          </a:xfrm>
          <a:prstGeom prst="rect">
            <a:avLst/>
          </a:prstGeom>
          <a:noFill/>
          <a:ln/>
        </p:spPr>
        <p:txBody>
          <a:bodyPr wrap="square" lIns="0" tIns="0" rIns="0" bIns="0" rtlCol="0" anchor="t"/>
          <a:lstStyle/>
          <a:p>
            <a:pPr indent="0" marL="0">
              <a:buNone/>
            </a:pPr>
            <a:r>
              <a:rPr lang="en-US" sz="950" b="1" spc="40" kern="0" dirty="0">
                <a:solidFill>
                  <a:srgbClr val="8A5710"/>
                </a:solidFill>
                <a:latin typeface="Calibri" pitchFamily="34" charset="0"/>
                <a:ea typeface="Calibri" pitchFamily="34" charset="-122"/>
                <a:cs typeface="Calibri" pitchFamily="34" charset="-120"/>
              </a:rPr>
              <a:t>G.S.R. 207(E)</a:t>
            </a:r>
            <a:endParaRPr lang="en-US" sz="950" dirty="0"/>
          </a:p>
        </p:txBody>
      </p:sp>
      <p:sp>
        <p:nvSpPr>
          <p:cNvPr id="24" name="Text 22"/>
          <p:cNvSpPr txBox="1"/>
          <p:nvPr/>
        </p:nvSpPr>
        <p:spPr>
          <a:xfrm>
            <a:off x="6793992" y="3209544"/>
            <a:ext cx="4709160" cy="777240"/>
          </a:xfrm>
          <a:prstGeom prst="rect">
            <a:avLst/>
          </a:prstGeom>
          <a:noFill/>
          <a:ln/>
        </p:spPr>
        <p:txBody>
          <a:bodyPr wrap="square" lIns="0" tIns="0" rIns="0" bIns="0" rtlCol="0" anchor="t"/>
          <a:lstStyle/>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The eleven mandated ratios, with every movement beyond 25 per cent flagged for the notes.</a:t>
            </a:r>
            <a:endParaRPr lang="en-US" sz="1100" dirty="0"/>
          </a:p>
        </p:txBody>
      </p:sp>
      <p:sp>
        <p:nvSpPr>
          <p:cNvPr id="25" name="Shape 23"/>
          <p:cNvSpPr/>
          <p:nvPr/>
        </p:nvSpPr>
        <p:spPr>
          <a:xfrm>
            <a:off x="640080" y="4133088"/>
            <a:ext cx="384048" cy="384048"/>
          </a:xfrm>
          <a:prstGeom prst="ellipse">
            <a:avLst/>
          </a:prstGeom>
          <a:solidFill>
            <a:srgbClr val="1E5A4A"/>
          </a:solidFill>
          <a:ln w="12700">
            <a:solidFill>
              <a:srgbClr val="1E5A4A"/>
            </a:solidFill>
            <a:prstDash val="solid"/>
          </a:ln>
        </p:spPr>
      </p:sp>
      <p:sp>
        <p:nvSpPr>
          <p:cNvPr id="26" name="Text 24"/>
          <p:cNvSpPr txBox="1"/>
          <p:nvPr/>
        </p:nvSpPr>
        <p:spPr>
          <a:xfrm>
            <a:off x="640080" y="41330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1170432" y="4078224"/>
            <a:ext cx="1051560" cy="274320"/>
          </a:xfrm>
          <a:prstGeom prst="rect">
            <a:avLst/>
          </a:prstGeom>
          <a:noFill/>
          <a:ln/>
        </p:spPr>
        <p:txBody>
          <a:bodyPr wrap="square" lIns="0" tIns="0" rIns="0" bIns="0" rtlCol="0" anchor="t"/>
          <a:lstStyle/>
          <a:p>
            <a:pPr indent="0" marL="0">
              <a:buNone/>
            </a:pPr>
            <a:r>
              <a:rPr lang="en-US" sz="1400" b="1" dirty="0">
                <a:solidFill>
                  <a:srgbClr val="14201C"/>
                </a:solidFill>
                <a:latin typeface="Calibri" pitchFamily="34" charset="0"/>
                <a:ea typeface="Calibri" pitchFamily="34" charset="-122"/>
                <a:cs typeface="Calibri" pitchFamily="34" charset="-120"/>
              </a:rPr>
              <a:t>Test</a:t>
            </a:r>
            <a:endParaRPr lang="en-US" sz="1400" dirty="0"/>
          </a:p>
        </p:txBody>
      </p:sp>
      <p:sp>
        <p:nvSpPr>
          <p:cNvPr id="28" name="Text 26"/>
          <p:cNvSpPr txBox="1"/>
          <p:nvPr/>
        </p:nvSpPr>
        <p:spPr>
          <a:xfrm>
            <a:off x="2267712" y="4114800"/>
            <a:ext cx="2103120" cy="237744"/>
          </a:xfrm>
          <a:prstGeom prst="rect">
            <a:avLst/>
          </a:prstGeom>
          <a:noFill/>
          <a:ln/>
        </p:spPr>
        <p:txBody>
          <a:bodyPr wrap="square" lIns="0" tIns="0" rIns="0" bIns="0" rtlCol="0" anchor="t"/>
          <a:lstStyle/>
          <a:p>
            <a:pPr indent="0" marL="0">
              <a:buNone/>
            </a:pPr>
            <a:r>
              <a:rPr lang="en-US" sz="950" b="1" spc="40" kern="0" dirty="0">
                <a:solidFill>
                  <a:srgbClr val="8A5710"/>
                </a:solidFill>
                <a:latin typeface="Calibri" pitchFamily="34" charset="0"/>
                <a:ea typeface="Calibri" pitchFamily="34" charset="-122"/>
                <a:cs typeface="Calibri" pitchFamily="34" charset="-120"/>
              </a:rPr>
              <a:t>SA 240</a:t>
            </a:r>
            <a:endParaRPr lang="en-US" sz="950" dirty="0"/>
          </a:p>
        </p:txBody>
      </p:sp>
      <p:sp>
        <p:nvSpPr>
          <p:cNvPr id="29" name="Text 27"/>
          <p:cNvSpPr txBox="1"/>
          <p:nvPr/>
        </p:nvSpPr>
        <p:spPr>
          <a:xfrm>
            <a:off x="1170432" y="4370832"/>
            <a:ext cx="4709160" cy="777240"/>
          </a:xfrm>
          <a:prstGeom prst="rect">
            <a:avLst/>
          </a:prstGeom>
          <a:noFill/>
          <a:ln/>
        </p:spPr>
        <p:txBody>
          <a:bodyPr wrap="square" lIns="0" tIns="0" rIns="0" bIns="0" rtlCol="0" anchor="t"/>
          <a:lstStyle/>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Six journal entry routines plus the Benford first-digit test.</a:t>
            </a:r>
            <a:endParaRPr lang="en-US" sz="1100" dirty="0"/>
          </a:p>
        </p:txBody>
      </p:sp>
      <p:sp>
        <p:nvSpPr>
          <p:cNvPr id="30" name="Shape 28"/>
          <p:cNvSpPr/>
          <p:nvPr/>
        </p:nvSpPr>
        <p:spPr>
          <a:xfrm>
            <a:off x="6263640" y="4133088"/>
            <a:ext cx="384048" cy="384048"/>
          </a:xfrm>
          <a:prstGeom prst="ellipse">
            <a:avLst/>
          </a:prstGeom>
          <a:solidFill>
            <a:srgbClr val="1E5A4A"/>
          </a:solidFill>
          <a:ln w="12700">
            <a:solidFill>
              <a:srgbClr val="1E5A4A"/>
            </a:solidFill>
            <a:prstDash val="solid"/>
          </a:ln>
        </p:spPr>
      </p:sp>
      <p:sp>
        <p:nvSpPr>
          <p:cNvPr id="31" name="Text 29"/>
          <p:cNvSpPr txBox="1"/>
          <p:nvPr/>
        </p:nvSpPr>
        <p:spPr>
          <a:xfrm>
            <a:off x="6263640" y="41330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6793992" y="4078224"/>
            <a:ext cx="1051560" cy="274320"/>
          </a:xfrm>
          <a:prstGeom prst="rect">
            <a:avLst/>
          </a:prstGeom>
          <a:noFill/>
          <a:ln/>
        </p:spPr>
        <p:txBody>
          <a:bodyPr wrap="square" lIns="0" tIns="0" rIns="0" bIns="0" rtlCol="0" anchor="t"/>
          <a:lstStyle/>
          <a:p>
            <a:pPr indent="0" marL="0">
              <a:buNone/>
            </a:pPr>
            <a:r>
              <a:rPr lang="en-US" sz="1400" b="1" dirty="0">
                <a:solidFill>
                  <a:srgbClr val="14201C"/>
                </a:solidFill>
                <a:latin typeface="Calibri" pitchFamily="34" charset="0"/>
                <a:ea typeface="Calibri" pitchFamily="34" charset="-122"/>
                <a:cs typeface="Calibri" pitchFamily="34" charset="-120"/>
              </a:rPr>
              <a:t>Sample</a:t>
            </a:r>
            <a:endParaRPr lang="en-US" sz="1400" dirty="0"/>
          </a:p>
        </p:txBody>
      </p:sp>
      <p:sp>
        <p:nvSpPr>
          <p:cNvPr id="33" name="Text 31"/>
          <p:cNvSpPr txBox="1"/>
          <p:nvPr/>
        </p:nvSpPr>
        <p:spPr>
          <a:xfrm>
            <a:off x="7891272" y="4114800"/>
            <a:ext cx="2103120" cy="237744"/>
          </a:xfrm>
          <a:prstGeom prst="rect">
            <a:avLst/>
          </a:prstGeom>
          <a:noFill/>
          <a:ln/>
        </p:spPr>
        <p:txBody>
          <a:bodyPr wrap="square" lIns="0" tIns="0" rIns="0" bIns="0" rtlCol="0" anchor="t"/>
          <a:lstStyle/>
          <a:p>
            <a:pPr indent="0" marL="0">
              <a:buNone/>
            </a:pPr>
            <a:r>
              <a:rPr lang="en-US" sz="950" b="1" spc="40" kern="0" dirty="0">
                <a:solidFill>
                  <a:srgbClr val="8A5710"/>
                </a:solidFill>
                <a:latin typeface="Calibri" pitchFamily="34" charset="0"/>
                <a:ea typeface="Calibri" pitchFamily="34" charset="-122"/>
                <a:cs typeface="Calibri" pitchFamily="34" charset="-120"/>
              </a:rPr>
              <a:t>SA 320 / SA 530</a:t>
            </a:r>
            <a:endParaRPr lang="en-US" sz="950" dirty="0"/>
          </a:p>
        </p:txBody>
      </p:sp>
      <p:sp>
        <p:nvSpPr>
          <p:cNvPr id="34" name="Text 32"/>
          <p:cNvSpPr txBox="1"/>
          <p:nvPr/>
        </p:nvSpPr>
        <p:spPr>
          <a:xfrm>
            <a:off x="6793992" y="4370832"/>
            <a:ext cx="4709160" cy="777240"/>
          </a:xfrm>
          <a:prstGeom prst="rect">
            <a:avLst/>
          </a:prstGeom>
          <a:noFill/>
          <a:ln/>
        </p:spPr>
        <p:txBody>
          <a:bodyPr wrap="square" lIns="0" tIns="0" rIns="0" bIns="0" rtlCol="0" anchor="t"/>
          <a:lstStyle/>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Materiality from the auditor’s benchmark, and a monetary unit sample with the seed recorded.</a:t>
            </a:r>
            <a:endParaRPr lang="en-US" sz="1100" dirty="0"/>
          </a:p>
        </p:txBody>
      </p:sp>
      <p:sp>
        <p:nvSpPr>
          <p:cNvPr id="35" name="Shape 33"/>
          <p:cNvSpPr/>
          <p:nvPr/>
        </p:nvSpPr>
        <p:spPr>
          <a:xfrm>
            <a:off x="640080" y="5294376"/>
            <a:ext cx="384048" cy="384048"/>
          </a:xfrm>
          <a:prstGeom prst="ellipse">
            <a:avLst/>
          </a:prstGeom>
          <a:solidFill>
            <a:srgbClr val="1E5A4A"/>
          </a:solidFill>
          <a:ln w="12700">
            <a:solidFill>
              <a:srgbClr val="1E5A4A"/>
            </a:solidFill>
            <a:prstDash val="solid"/>
          </a:ln>
        </p:spPr>
      </p:sp>
      <p:sp>
        <p:nvSpPr>
          <p:cNvPr id="36" name="Text 34"/>
          <p:cNvSpPr txBox="1"/>
          <p:nvPr/>
        </p:nvSpPr>
        <p:spPr>
          <a:xfrm>
            <a:off x="640080" y="52943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Text 35"/>
          <p:cNvSpPr txBox="1"/>
          <p:nvPr/>
        </p:nvSpPr>
        <p:spPr>
          <a:xfrm>
            <a:off x="1170432" y="5239512"/>
            <a:ext cx="1051560" cy="274320"/>
          </a:xfrm>
          <a:prstGeom prst="rect">
            <a:avLst/>
          </a:prstGeom>
          <a:noFill/>
          <a:ln/>
        </p:spPr>
        <p:txBody>
          <a:bodyPr wrap="square" lIns="0" tIns="0" rIns="0" bIns="0" rtlCol="0" anchor="t"/>
          <a:lstStyle/>
          <a:p>
            <a:pPr indent="0" marL="0">
              <a:buNone/>
            </a:pPr>
            <a:r>
              <a:rPr lang="en-US" sz="1400" b="1" dirty="0">
                <a:solidFill>
                  <a:srgbClr val="14201C"/>
                </a:solidFill>
                <a:latin typeface="Calibri" pitchFamily="34" charset="0"/>
                <a:ea typeface="Calibri" pitchFamily="34" charset="-122"/>
                <a:cs typeface="Calibri" pitchFamily="34" charset="-120"/>
              </a:rPr>
              <a:t>Report</a:t>
            </a:r>
            <a:endParaRPr lang="en-US" sz="1400" dirty="0"/>
          </a:p>
        </p:txBody>
      </p:sp>
      <p:sp>
        <p:nvSpPr>
          <p:cNvPr id="38" name="Text 36"/>
          <p:cNvSpPr txBox="1"/>
          <p:nvPr/>
        </p:nvSpPr>
        <p:spPr>
          <a:xfrm>
            <a:off x="2267712" y="5276088"/>
            <a:ext cx="2103120" cy="237744"/>
          </a:xfrm>
          <a:prstGeom prst="rect">
            <a:avLst/>
          </a:prstGeom>
          <a:noFill/>
          <a:ln/>
        </p:spPr>
        <p:txBody>
          <a:bodyPr wrap="square" lIns="0" tIns="0" rIns="0" bIns="0" rtlCol="0" anchor="t"/>
          <a:lstStyle/>
          <a:p>
            <a:pPr indent="0" marL="0">
              <a:buNone/>
            </a:pPr>
            <a:r>
              <a:rPr lang="en-US" sz="950" b="1" spc="40" kern="0" dirty="0">
                <a:solidFill>
                  <a:srgbClr val="8A5710"/>
                </a:solidFill>
                <a:latin typeface="Calibri" pitchFamily="34" charset="0"/>
                <a:ea typeface="Calibri" pitchFamily="34" charset="-122"/>
                <a:cs typeface="Calibri" pitchFamily="34" charset="-120"/>
              </a:rPr>
              <a:t>CARO 2020</a:t>
            </a:r>
            <a:endParaRPr lang="en-US" sz="950" dirty="0"/>
          </a:p>
        </p:txBody>
      </p:sp>
      <p:sp>
        <p:nvSpPr>
          <p:cNvPr id="39" name="Text 37"/>
          <p:cNvSpPr txBox="1"/>
          <p:nvPr/>
        </p:nvSpPr>
        <p:spPr>
          <a:xfrm>
            <a:off x="1170432" y="5532120"/>
            <a:ext cx="4709160" cy="777240"/>
          </a:xfrm>
          <a:prstGeom prst="rect">
            <a:avLst/>
          </a:prstGeom>
          <a:noFill/>
          <a:ln/>
        </p:spPr>
        <p:txBody>
          <a:bodyPr wrap="square" lIns="0" tIns="0" rIns="0" bIns="0" rtlCol="0" anchor="t"/>
          <a:lstStyle/>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Applicability and all twenty-one clauses, pre-populated from what the books evidence.</a:t>
            </a:r>
            <a:endParaRPr lang="en-US" sz="1100" dirty="0"/>
          </a:p>
        </p:txBody>
      </p:sp>
      <p:sp>
        <p:nvSpPr>
          <p:cNvPr id="40" name="Shape 38"/>
          <p:cNvSpPr/>
          <p:nvPr/>
        </p:nvSpPr>
        <p:spPr>
          <a:xfrm>
            <a:off x="6263640" y="5294376"/>
            <a:ext cx="384048" cy="384048"/>
          </a:xfrm>
          <a:prstGeom prst="ellipse">
            <a:avLst/>
          </a:prstGeom>
          <a:solidFill>
            <a:srgbClr val="1E5A4A"/>
          </a:solidFill>
          <a:ln w="12700">
            <a:solidFill>
              <a:srgbClr val="1E5A4A"/>
            </a:solidFill>
            <a:prstDash val="solid"/>
          </a:ln>
        </p:spPr>
      </p:sp>
      <p:sp>
        <p:nvSpPr>
          <p:cNvPr id="41" name="Text 39"/>
          <p:cNvSpPr txBox="1"/>
          <p:nvPr/>
        </p:nvSpPr>
        <p:spPr>
          <a:xfrm>
            <a:off x="6263640" y="52943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2" name="Text 40"/>
          <p:cNvSpPr txBox="1"/>
          <p:nvPr/>
        </p:nvSpPr>
        <p:spPr>
          <a:xfrm>
            <a:off x="6793992" y="5239512"/>
            <a:ext cx="1051560" cy="274320"/>
          </a:xfrm>
          <a:prstGeom prst="rect">
            <a:avLst/>
          </a:prstGeom>
          <a:noFill/>
          <a:ln/>
        </p:spPr>
        <p:txBody>
          <a:bodyPr wrap="square" lIns="0" tIns="0" rIns="0" bIns="0" rtlCol="0" anchor="t"/>
          <a:lstStyle/>
          <a:p>
            <a:pPr indent="0" marL="0">
              <a:buNone/>
            </a:pPr>
            <a:r>
              <a:rPr lang="en-US" sz="1400" b="1" dirty="0">
                <a:solidFill>
                  <a:srgbClr val="14201C"/>
                </a:solidFill>
                <a:latin typeface="Calibri" pitchFamily="34" charset="0"/>
                <a:ea typeface="Calibri" pitchFamily="34" charset="-122"/>
                <a:cs typeface="Calibri" pitchFamily="34" charset="-120"/>
              </a:rPr>
              <a:t>Draft</a:t>
            </a:r>
            <a:endParaRPr lang="en-US" sz="1400" dirty="0"/>
          </a:p>
        </p:txBody>
      </p:sp>
      <p:sp>
        <p:nvSpPr>
          <p:cNvPr id="43" name="Text 41"/>
          <p:cNvSpPr txBox="1"/>
          <p:nvPr/>
        </p:nvSpPr>
        <p:spPr>
          <a:xfrm>
            <a:off x="6793992" y="5532120"/>
            <a:ext cx="4709160" cy="777240"/>
          </a:xfrm>
          <a:prstGeom prst="rect">
            <a:avLst/>
          </a:prstGeom>
          <a:noFill/>
          <a:ln/>
        </p:spPr>
        <p:txBody>
          <a:bodyPr wrap="square" lIns="0" tIns="0" rIns="0" bIns="0" rtlCol="0" anchor="t"/>
          <a:lstStyle/>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The analytical memorandum, the ratio variance notes, and the enquiry letter to management.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352C"/>
        </a:solidFill>
      </p:bgPr>
    </p:bg>
    <p:spTree>
      <p:nvGrpSpPr>
        <p:cNvPr id="1" name=""/>
        <p:cNvGrpSpPr/>
        <p:nvPr/>
      </p:nvGrpSpPr>
      <p:grpSpPr>
        <a:xfrm>
          <a:off x="0" y="0"/>
          <a:ext cx="0" cy="0"/>
          <a:chOff x="0" y="0"/>
          <a:chExt cx="0" cy="0"/>
        </a:xfrm>
      </p:grpSpPr>
      <p:sp>
        <p:nvSpPr>
          <p:cNvPr id="2" name="Text 0"/>
          <p:cNvSpPr txBox="1"/>
          <p:nvPr/>
        </p:nvSpPr>
        <p:spPr>
          <a:xfrm>
            <a:off x="640080" y="777240"/>
            <a:ext cx="9144000" cy="457200"/>
          </a:xfrm>
          <a:prstGeom prst="rect">
            <a:avLst/>
          </a:prstGeom>
          <a:noFill/>
          <a:ln/>
        </p:spPr>
        <p:txBody>
          <a:bodyPr wrap="square" lIns="0" tIns="0" rIns="0" bIns="0" rtlCol="0" anchor="ctr"/>
          <a:lstStyle/>
          <a:p>
            <a:pPr indent="0" marL="0">
              <a:buNone/>
            </a:pPr>
            <a:r>
              <a:rPr lang="en-US" sz="1400" b="1" spc="50" kern="0" dirty="0">
                <a:solidFill>
                  <a:srgbClr val="8FB8A9"/>
                </a:solidFill>
                <a:latin typeface="Calibri" pitchFamily="34" charset="0"/>
                <a:ea typeface="Calibri" pitchFamily="34" charset="-122"/>
                <a:cs typeface="Calibri" pitchFamily="34" charset="-120"/>
              </a:rPr>
              <a:t>The design decision that matters</a:t>
            </a:r>
            <a:endParaRPr lang="en-US" sz="1400" dirty="0"/>
          </a:p>
        </p:txBody>
      </p:sp>
      <p:sp>
        <p:nvSpPr>
          <p:cNvPr id="3" name="Text 1"/>
          <p:cNvSpPr txBox="1"/>
          <p:nvPr/>
        </p:nvSpPr>
        <p:spPr>
          <a:xfrm>
            <a:off x="640080" y="1508760"/>
            <a:ext cx="10515600" cy="2286000"/>
          </a:xfrm>
          <a:prstGeom prst="rect">
            <a:avLst/>
          </a:prstGeom>
          <a:noFill/>
          <a:ln/>
        </p:spPr>
        <p:txBody>
          <a:bodyPr wrap="square" lIns="0" tIns="0" rIns="0" bIns="0" rtlCol="0" anchor="ctr"/>
          <a:lstStyle/>
          <a:p>
            <a:pPr indent="0" marL="0">
              <a:lnSpc>
                <a:spcPts val="5400"/>
              </a:lnSpc>
              <a:buNone/>
            </a:pPr>
            <a:r>
              <a:rPr lang="en-US" sz="4400" b="1" dirty="0">
                <a:solidFill>
                  <a:srgbClr val="FFFFFF"/>
                </a:solidFill>
                <a:latin typeface="Cambria" pitchFamily="34" charset="0"/>
                <a:ea typeface="Cambria" pitchFamily="34" charset="-122"/>
                <a:cs typeface="Cambria" pitchFamily="34" charset="-120"/>
              </a:rPr>
              <a:t>The engine computes.</a:t>
            </a:r>
            <a:endParaRPr lang="en-US" sz="4400" dirty="0"/>
          </a:p>
          <a:p>
            <a:pPr indent="0" marL="0">
              <a:lnSpc>
                <a:spcPts val="5400"/>
              </a:lnSpc>
              <a:buNone/>
            </a:pPr>
            <a:r>
              <a:rPr lang="en-US" sz="4400" b="1" dirty="0">
                <a:solidFill>
                  <a:srgbClr val="FFFFFF"/>
                </a:solidFill>
                <a:latin typeface="Cambria" pitchFamily="34" charset="0"/>
                <a:ea typeface="Cambria" pitchFamily="34" charset="-122"/>
                <a:cs typeface="Cambria" pitchFamily="34" charset="-120"/>
              </a:rPr>
              <a:t>The model writes prose.</a:t>
            </a:r>
            <a:endParaRPr lang="en-US" sz="4400" dirty="0"/>
          </a:p>
          <a:p>
            <a:pPr indent="0" marL="0">
              <a:lnSpc>
                <a:spcPts val="5400"/>
              </a:lnSpc>
              <a:buNone/>
            </a:pPr>
            <a:r>
              <a:rPr lang="en-US" sz="4400" b="1" dirty="0">
                <a:solidFill>
                  <a:srgbClr val="FFFFFF"/>
                </a:solidFill>
                <a:latin typeface="Cambria" pitchFamily="34" charset="0"/>
                <a:ea typeface="Cambria" pitchFamily="34" charset="-122"/>
                <a:cs typeface="Cambria" pitchFamily="34" charset="-120"/>
              </a:rPr>
              <a:t>Nothing else.</a:t>
            </a:r>
            <a:endParaRPr lang="en-US" sz="4400" dirty="0"/>
          </a:p>
        </p:txBody>
      </p:sp>
      <p:sp>
        <p:nvSpPr>
          <p:cNvPr id="4" name="Text 2"/>
          <p:cNvSpPr txBox="1"/>
          <p:nvPr/>
        </p:nvSpPr>
        <p:spPr>
          <a:xfrm>
            <a:off x="640080" y="3977640"/>
            <a:ext cx="5577840" cy="1280160"/>
          </a:xfrm>
          <a:prstGeom prst="rect">
            <a:avLst/>
          </a:prstGeom>
          <a:noFill/>
          <a:ln/>
        </p:spPr>
        <p:txBody>
          <a:bodyPr wrap="square" lIns="0" tIns="0" rIns="0" bIns="0" rtlCol="0" anchor="ctr"/>
          <a:lstStyle/>
          <a:p>
            <a:pPr indent="0" marL="0">
              <a:lnSpc>
                <a:spcPts val="2200"/>
              </a:lnSpc>
              <a:buNone/>
            </a:pPr>
            <a:r>
              <a:rPr lang="en-US" sz="1400" dirty="0">
                <a:solidFill>
                  <a:srgbClr val="C9DDD4"/>
                </a:solidFill>
                <a:latin typeface="Calibri" pitchFamily="34" charset="0"/>
                <a:ea typeface="Calibri" pitchFamily="34" charset="-122"/>
                <a:cs typeface="Calibri" pitchFamily="34" charset="-120"/>
              </a:rPr>
              <a:t>Every figure that reaches a workpaper is produced by a pure Python function with a unit test. The language model is asked for two things only — an explanation in words, and correspondence.</a:t>
            </a:r>
            <a:endParaRPr lang="en-US" sz="1400" dirty="0"/>
          </a:p>
        </p:txBody>
      </p:sp>
      <p:sp>
        <p:nvSpPr>
          <p:cNvPr id="5" name="Shape 3"/>
          <p:cNvSpPr/>
          <p:nvPr/>
        </p:nvSpPr>
        <p:spPr>
          <a:xfrm>
            <a:off x="6720840" y="4041648"/>
            <a:ext cx="237744" cy="237744"/>
          </a:xfrm>
          <a:prstGeom prst="ellipse">
            <a:avLst/>
          </a:prstGeom>
          <a:solidFill>
            <a:srgbClr val="B77515"/>
          </a:solidFill>
          <a:ln w="12700">
            <a:solidFill>
              <a:srgbClr val="B77515"/>
            </a:solidFill>
            <a:prstDash val="solid"/>
          </a:ln>
        </p:spPr>
      </p:sp>
      <p:sp>
        <p:nvSpPr>
          <p:cNvPr id="6" name="Text 4"/>
          <p:cNvSpPr txBox="1"/>
          <p:nvPr/>
        </p:nvSpPr>
        <p:spPr>
          <a:xfrm>
            <a:off x="7114032" y="3977640"/>
            <a:ext cx="448056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It never computes a figure.</a:t>
            </a:r>
            <a:endParaRPr lang="en-US" sz="1300" dirty="0"/>
          </a:p>
        </p:txBody>
      </p:sp>
      <p:sp>
        <p:nvSpPr>
          <p:cNvPr id="7" name="Shape 5"/>
          <p:cNvSpPr/>
          <p:nvPr/>
        </p:nvSpPr>
        <p:spPr>
          <a:xfrm>
            <a:off x="6720840" y="4608576"/>
            <a:ext cx="237744" cy="237744"/>
          </a:xfrm>
          <a:prstGeom prst="ellipse">
            <a:avLst/>
          </a:prstGeom>
          <a:solidFill>
            <a:srgbClr val="B77515"/>
          </a:solidFill>
          <a:ln w="12700">
            <a:solidFill>
              <a:srgbClr val="B77515"/>
            </a:solidFill>
            <a:prstDash val="solid"/>
          </a:ln>
        </p:spPr>
      </p:sp>
      <p:sp>
        <p:nvSpPr>
          <p:cNvPr id="8" name="Text 6"/>
          <p:cNvSpPr txBox="1"/>
          <p:nvPr/>
        </p:nvSpPr>
        <p:spPr>
          <a:xfrm>
            <a:off x="7114032" y="4544568"/>
            <a:ext cx="448056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It never classifies a ledger that reaches the statements.</a:t>
            </a:r>
            <a:endParaRPr lang="en-US" sz="1300" dirty="0"/>
          </a:p>
        </p:txBody>
      </p:sp>
      <p:sp>
        <p:nvSpPr>
          <p:cNvPr id="9" name="Shape 7"/>
          <p:cNvSpPr/>
          <p:nvPr/>
        </p:nvSpPr>
        <p:spPr>
          <a:xfrm>
            <a:off x="6720840" y="5175504"/>
            <a:ext cx="237744" cy="237744"/>
          </a:xfrm>
          <a:prstGeom prst="ellipse">
            <a:avLst/>
          </a:prstGeom>
          <a:solidFill>
            <a:srgbClr val="B77515"/>
          </a:solidFill>
          <a:ln w="12700">
            <a:solidFill>
              <a:srgbClr val="B77515"/>
            </a:solidFill>
            <a:prstDash val="solid"/>
          </a:ln>
        </p:spPr>
      </p:sp>
      <p:sp>
        <p:nvSpPr>
          <p:cNvPr id="10" name="Text 8"/>
          <p:cNvSpPr txBox="1"/>
          <p:nvPr/>
        </p:nvSpPr>
        <p:spPr>
          <a:xfrm>
            <a:off x="7114032" y="5111496"/>
            <a:ext cx="448056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It never concludes on a CARO clause.</a:t>
            </a:r>
            <a:endParaRPr lang="en-US" sz="1300" dirty="0"/>
          </a:p>
        </p:txBody>
      </p:sp>
      <p:sp>
        <p:nvSpPr>
          <p:cNvPr id="11" name="Text 9"/>
          <p:cNvSpPr txBox="1"/>
          <p:nvPr/>
        </p:nvSpPr>
        <p:spPr>
          <a:xfrm>
            <a:off x="640080" y="5852160"/>
            <a:ext cx="10515600" cy="548640"/>
          </a:xfrm>
          <a:prstGeom prst="rect">
            <a:avLst/>
          </a:prstGeom>
          <a:noFill/>
          <a:ln/>
        </p:spPr>
        <p:txBody>
          <a:bodyPr wrap="square" lIns="0" tIns="0" rIns="0" bIns="0" rtlCol="0" anchor="ctr"/>
          <a:lstStyle/>
          <a:p>
            <a:pPr indent="0" marL="0">
              <a:buNone/>
            </a:pPr>
            <a:r>
              <a:rPr lang="en-US" sz="1500" i="1" dirty="0">
                <a:solidFill>
                  <a:srgbClr val="9ECFBC"/>
                </a:solidFill>
                <a:latin typeface="Cambria" pitchFamily="34" charset="0"/>
                <a:ea typeface="Cambria" pitchFamily="34" charset="-122"/>
                <a:cs typeface="Cambria" pitchFamily="34" charset="-120"/>
              </a:rPr>
              <a:t>A Chartered Accountant signs the report. Every number in it has to be traceable to a calculation that can be re-performed.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0"/>
        </a:solidFill>
      </p:bgPr>
    </p:bg>
    <p:spTree>
      <p:nvGrpSpPr>
        <p:cNvPr id="1" name=""/>
        <p:cNvGrpSpPr/>
        <p:nvPr/>
      </p:nvGrpSpPr>
      <p:grpSpPr>
        <a:xfrm>
          <a:off x="0" y="0"/>
          <a:ext cx="0" cy="0"/>
          <a:chOff x="0" y="0"/>
          <a:chExt cx="0" cy="0"/>
        </a:xfrm>
      </p:grpSpPr>
      <p:sp>
        <p:nvSpPr>
          <p:cNvPr id="2" name="Text 0"/>
          <p:cNvSpPr txBox="1"/>
          <p:nvPr/>
        </p:nvSpPr>
        <p:spPr>
          <a:xfrm>
            <a:off x="640080" y="6199632"/>
            <a:ext cx="7315200" cy="274320"/>
          </a:xfrm>
          <a:prstGeom prst="rect">
            <a:avLst/>
          </a:prstGeom>
          <a:noFill/>
          <a:ln/>
        </p:spPr>
        <p:txBody>
          <a:bodyPr wrap="square" lIns="0" tIns="0" rIns="0" bIns="0" rtlCol="0" anchor="ctr"/>
          <a:lstStyle/>
          <a:p>
            <a:pPr indent="0" marL="0">
              <a:buNone/>
            </a:pPr>
            <a:r>
              <a:rPr lang="en-US" sz="900" dirty="0">
                <a:solidFill>
                  <a:srgbClr val="5D6A64"/>
                </a:solidFill>
                <a:latin typeface="Calibri" pitchFamily="34" charset="0"/>
                <a:ea typeface="Calibri" pitchFamily="34" charset="-122"/>
                <a:cs typeface="Calibri" pitchFamily="34" charset="-120"/>
              </a:rPr>
              <a:t>AuditLens  ·  AICA Level 2, Module C  ·  CA. Rajendra Bagade</a:t>
            </a:r>
            <a:endParaRPr lang="en-US" sz="900" dirty="0"/>
          </a:p>
        </p:txBody>
      </p:sp>
      <p:sp>
        <p:nvSpPr>
          <p:cNvPr id="3" name="Text 1"/>
          <p:cNvSpPr txBox="1"/>
          <p:nvPr/>
        </p:nvSpPr>
        <p:spPr>
          <a:xfrm>
            <a:off x="10972800" y="6199632"/>
            <a:ext cx="548640" cy="274320"/>
          </a:xfrm>
          <a:prstGeom prst="rect">
            <a:avLst/>
          </a:prstGeom>
          <a:noFill/>
          <a:ln/>
        </p:spPr>
        <p:txBody>
          <a:bodyPr wrap="square" lIns="0" tIns="0" rIns="0" bIns="0" rtlCol="0" anchor="ctr"/>
          <a:lstStyle/>
          <a:p>
            <a:pPr algn="r" indent="0" marL="0">
              <a:buNone/>
            </a:pPr>
            <a:r>
              <a:rPr lang="en-US" sz="900" dirty="0">
                <a:solidFill>
                  <a:srgbClr val="5D6A64"/>
                </a:solidFill>
                <a:latin typeface="Calibri" pitchFamily="34" charset="0"/>
                <a:ea typeface="Calibri" pitchFamily="34" charset="-122"/>
                <a:cs typeface="Calibri" pitchFamily="34" charset="-120"/>
              </a:rPr>
              <a:t>5</a:t>
            </a:r>
            <a:endParaRPr lang="en-US" sz="900" dirty="0"/>
          </a:p>
        </p:txBody>
      </p:sp>
      <p:sp>
        <p:nvSpPr>
          <p:cNvPr id="4" name="Text 2"/>
          <p:cNvSpPr txBox="1"/>
          <p:nvPr/>
        </p:nvSpPr>
        <p:spPr>
          <a:xfrm>
            <a:off x="640080" y="502920"/>
            <a:ext cx="10881360" cy="777240"/>
          </a:xfrm>
          <a:prstGeom prst="rect">
            <a:avLst/>
          </a:prstGeom>
          <a:noFill/>
          <a:ln/>
        </p:spPr>
        <p:txBody>
          <a:bodyPr wrap="square" lIns="0" tIns="0" rIns="0" bIns="0" rtlCol="0" anchor="ctr"/>
          <a:lstStyle/>
          <a:p>
            <a:pPr indent="0" marL="0">
              <a:buNone/>
            </a:pPr>
            <a:r>
              <a:rPr lang="en-US" sz="3400" b="1" dirty="0">
                <a:solidFill>
                  <a:srgbClr val="14201C"/>
                </a:solidFill>
                <a:latin typeface="Cambria" pitchFamily="34" charset="0"/>
                <a:ea typeface="Cambria" pitchFamily="34" charset="-122"/>
                <a:cs typeface="Cambria" pitchFamily="34" charset="-120"/>
              </a:rPr>
              <a:t>How it is put together</a:t>
            </a:r>
            <a:endParaRPr lang="en-US" sz="3400" dirty="0"/>
          </a:p>
        </p:txBody>
      </p:sp>
      <p:sp>
        <p:nvSpPr>
          <p:cNvPr id="5" name="Text 3"/>
          <p:cNvSpPr txBox="1"/>
          <p:nvPr/>
        </p:nvSpPr>
        <p:spPr>
          <a:xfrm>
            <a:off x="640080" y="1298448"/>
            <a:ext cx="9144000" cy="320040"/>
          </a:xfrm>
          <a:prstGeom prst="rect">
            <a:avLst/>
          </a:prstGeom>
          <a:noFill/>
          <a:ln/>
        </p:spPr>
        <p:txBody>
          <a:bodyPr wrap="square" lIns="0" tIns="0" rIns="0" bIns="0" rtlCol="0" anchor="ctr"/>
          <a:lstStyle/>
          <a:p>
            <a:pPr indent="0" marL="0">
              <a:buNone/>
            </a:pPr>
            <a:r>
              <a:rPr lang="en-US" sz="1350" dirty="0">
                <a:solidFill>
                  <a:srgbClr val="55635E"/>
                </a:solidFill>
                <a:latin typeface="Calibri" pitchFamily="34" charset="0"/>
                <a:ea typeface="Calibri" pitchFamily="34" charset="-122"/>
                <a:cs typeface="Calibri" pitchFamily="34" charset="-120"/>
              </a:rPr>
              <a:t>A thin interface, a deterministic core, and a model layer that only ever reads and writes.</a:t>
            </a:r>
            <a:endParaRPr lang="en-US" sz="1350" dirty="0"/>
          </a:p>
        </p:txBody>
      </p:sp>
      <p:sp>
        <p:nvSpPr>
          <p:cNvPr id="6" name="Shape 4"/>
          <p:cNvSpPr/>
          <p:nvPr/>
        </p:nvSpPr>
        <p:spPr>
          <a:xfrm>
            <a:off x="640080" y="1874520"/>
            <a:ext cx="2000707" cy="1847088"/>
          </a:xfrm>
          <a:prstGeom prst="rect">
            <a:avLst/>
          </a:prstGeom>
          <a:solidFill>
            <a:srgbClr val="FFFFFF"/>
          </a:solidFill>
          <a:ln w="12700">
            <a:solidFill>
              <a:srgbClr val="D7DCD5"/>
            </a:solidFill>
            <a:prstDash val="solid"/>
          </a:ln>
        </p:spPr>
      </p:sp>
      <p:sp>
        <p:nvSpPr>
          <p:cNvPr id="7" name="Text 5"/>
          <p:cNvSpPr txBox="1"/>
          <p:nvPr/>
        </p:nvSpPr>
        <p:spPr>
          <a:xfrm>
            <a:off x="841248" y="2029968"/>
            <a:ext cx="1598371" cy="256032"/>
          </a:xfrm>
          <a:prstGeom prst="rect">
            <a:avLst/>
          </a:prstGeom>
          <a:noFill/>
          <a:ln/>
        </p:spPr>
        <p:txBody>
          <a:bodyPr wrap="square" lIns="0" tIns="0" rIns="0" bIns="0" rtlCol="0" anchor="ctr"/>
          <a:lstStyle/>
          <a:p>
            <a:pPr indent="0" marL="0">
              <a:buNone/>
            </a:pPr>
            <a:r>
              <a:rPr lang="en-US" sz="950" b="1" spc="80" kern="0" dirty="0">
                <a:solidFill>
                  <a:srgbClr val="1E5A4A"/>
                </a:solidFill>
                <a:latin typeface="Calibri" pitchFamily="34" charset="0"/>
                <a:ea typeface="Calibri" pitchFamily="34" charset="-122"/>
                <a:cs typeface="Calibri" pitchFamily="34" charset="-120"/>
              </a:rPr>
              <a:t>PYTHON</a:t>
            </a:r>
            <a:endParaRPr lang="en-US" sz="950" dirty="0"/>
          </a:p>
        </p:txBody>
      </p:sp>
      <p:sp>
        <p:nvSpPr>
          <p:cNvPr id="8" name="Text 6"/>
          <p:cNvSpPr txBox="1"/>
          <p:nvPr/>
        </p:nvSpPr>
        <p:spPr>
          <a:xfrm>
            <a:off x="841248" y="2331720"/>
            <a:ext cx="1598371" cy="365760"/>
          </a:xfrm>
          <a:prstGeom prst="rect">
            <a:avLst/>
          </a:prstGeom>
          <a:noFill/>
          <a:ln/>
        </p:spPr>
        <p:txBody>
          <a:bodyPr wrap="square" lIns="0" tIns="0" rIns="0" bIns="0" rtlCol="0" anchor="ctr"/>
          <a:lstStyle/>
          <a:p>
            <a:pPr indent="0" marL="0">
              <a:buNone/>
            </a:pPr>
            <a:r>
              <a:rPr lang="en-US" sz="1800" b="1" dirty="0">
                <a:solidFill>
                  <a:srgbClr val="14201C"/>
                </a:solidFill>
                <a:latin typeface="Cambria" pitchFamily="34" charset="0"/>
                <a:ea typeface="Cambria" pitchFamily="34" charset="-122"/>
                <a:cs typeface="Cambria" pitchFamily="34" charset="-120"/>
              </a:rPr>
              <a:t>Ingest</a:t>
            </a:r>
            <a:endParaRPr lang="en-US" sz="1800" dirty="0"/>
          </a:p>
        </p:txBody>
      </p:sp>
      <p:sp>
        <p:nvSpPr>
          <p:cNvPr id="9" name="Text 7"/>
          <p:cNvSpPr txBox="1"/>
          <p:nvPr/>
        </p:nvSpPr>
        <p:spPr>
          <a:xfrm>
            <a:off x="841248" y="2724912"/>
            <a:ext cx="1598371" cy="1188720"/>
          </a:xfrm>
          <a:prstGeom prst="rect">
            <a:avLst/>
          </a:prstGeom>
          <a:noFill/>
          <a:ln/>
        </p:spPr>
        <p:txBody>
          <a:bodyPr wrap="square" lIns="0" tIns="0" rIns="0" bIns="0" rtlCol="0" anchor="t"/>
          <a:lstStyle/>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Trial balance,</a:t>
            </a:r>
            <a:endParaRPr lang="en-US" sz="1100" dirty="0"/>
          </a:p>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comparative,</a:t>
            </a:r>
            <a:endParaRPr lang="en-US" sz="1100" dirty="0"/>
          </a:p>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general ledger</a:t>
            </a:r>
            <a:endParaRPr lang="en-US" sz="1100" dirty="0"/>
          </a:p>
        </p:txBody>
      </p:sp>
      <p:sp>
        <p:nvSpPr>
          <p:cNvPr id="10" name="Text 8"/>
          <p:cNvSpPr txBox="1"/>
          <p:nvPr/>
        </p:nvSpPr>
        <p:spPr>
          <a:xfrm>
            <a:off x="2640787" y="2569464"/>
            <a:ext cx="219456" cy="457200"/>
          </a:xfrm>
          <a:prstGeom prst="rect">
            <a:avLst/>
          </a:prstGeom>
          <a:noFill/>
          <a:ln/>
        </p:spPr>
        <p:txBody>
          <a:bodyPr wrap="square" lIns="0" tIns="0" rIns="0" bIns="0" rtlCol="0" anchor="ctr"/>
          <a:lstStyle/>
          <a:p>
            <a:pPr algn="ctr" indent="0" marL="0">
              <a:buNone/>
            </a:pPr>
            <a:r>
              <a:rPr lang="en-US" sz="2200" b="1" dirty="0">
                <a:solidFill>
                  <a:srgbClr val="7C8983"/>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2860243" y="1874520"/>
            <a:ext cx="2000707" cy="1847088"/>
          </a:xfrm>
          <a:prstGeom prst="rect">
            <a:avLst/>
          </a:prstGeom>
          <a:solidFill>
            <a:srgbClr val="FFFFFF"/>
          </a:solidFill>
          <a:ln w="12700">
            <a:solidFill>
              <a:srgbClr val="D7DCD5"/>
            </a:solidFill>
            <a:prstDash val="solid"/>
          </a:ln>
        </p:spPr>
      </p:sp>
      <p:sp>
        <p:nvSpPr>
          <p:cNvPr id="12" name="Text 10"/>
          <p:cNvSpPr txBox="1"/>
          <p:nvPr/>
        </p:nvSpPr>
        <p:spPr>
          <a:xfrm>
            <a:off x="3061411" y="2029968"/>
            <a:ext cx="1598371" cy="256032"/>
          </a:xfrm>
          <a:prstGeom prst="rect">
            <a:avLst/>
          </a:prstGeom>
          <a:noFill/>
          <a:ln/>
        </p:spPr>
        <p:txBody>
          <a:bodyPr wrap="square" lIns="0" tIns="0" rIns="0" bIns="0" rtlCol="0" anchor="ctr"/>
          <a:lstStyle/>
          <a:p>
            <a:pPr indent="0" marL="0">
              <a:buNone/>
            </a:pPr>
            <a:r>
              <a:rPr lang="en-US" sz="950" b="1" spc="80" kern="0" dirty="0">
                <a:solidFill>
                  <a:srgbClr val="1E5A4A"/>
                </a:solidFill>
                <a:latin typeface="Calibri" pitchFamily="34" charset="0"/>
                <a:ea typeface="Calibri" pitchFamily="34" charset="-122"/>
                <a:cs typeface="Calibri" pitchFamily="34" charset="-120"/>
              </a:rPr>
              <a:t>PYTHON</a:t>
            </a:r>
            <a:endParaRPr lang="en-US" sz="950" dirty="0"/>
          </a:p>
        </p:txBody>
      </p:sp>
      <p:sp>
        <p:nvSpPr>
          <p:cNvPr id="13" name="Text 11"/>
          <p:cNvSpPr txBox="1"/>
          <p:nvPr/>
        </p:nvSpPr>
        <p:spPr>
          <a:xfrm>
            <a:off x="3061411" y="2331720"/>
            <a:ext cx="1598371" cy="365760"/>
          </a:xfrm>
          <a:prstGeom prst="rect">
            <a:avLst/>
          </a:prstGeom>
          <a:noFill/>
          <a:ln/>
        </p:spPr>
        <p:txBody>
          <a:bodyPr wrap="square" lIns="0" tIns="0" rIns="0" bIns="0" rtlCol="0" anchor="ctr"/>
          <a:lstStyle/>
          <a:p>
            <a:pPr indent="0" marL="0">
              <a:buNone/>
            </a:pPr>
            <a:r>
              <a:rPr lang="en-US" sz="1800" b="1" dirty="0">
                <a:solidFill>
                  <a:srgbClr val="14201C"/>
                </a:solidFill>
                <a:latin typeface="Cambria" pitchFamily="34" charset="0"/>
                <a:ea typeface="Cambria" pitchFamily="34" charset="-122"/>
                <a:cs typeface="Cambria" pitchFamily="34" charset="-120"/>
              </a:rPr>
              <a:t>Map</a:t>
            </a:r>
            <a:endParaRPr lang="en-US" sz="1800" dirty="0"/>
          </a:p>
        </p:txBody>
      </p:sp>
      <p:sp>
        <p:nvSpPr>
          <p:cNvPr id="14" name="Text 12"/>
          <p:cNvSpPr txBox="1"/>
          <p:nvPr/>
        </p:nvSpPr>
        <p:spPr>
          <a:xfrm>
            <a:off x="3061411" y="2724912"/>
            <a:ext cx="1598371" cy="1188720"/>
          </a:xfrm>
          <a:prstGeom prst="rect">
            <a:avLst/>
          </a:prstGeom>
          <a:noFill/>
          <a:ln/>
        </p:spPr>
        <p:txBody>
          <a:bodyPr wrap="square" lIns="0" tIns="0" rIns="0" bIns="0" rtlCol="0" anchor="t"/>
          <a:lstStyle/>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Account code first,</a:t>
            </a:r>
            <a:endParaRPr lang="en-US" sz="1100" dirty="0"/>
          </a:p>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ledger name second,</a:t>
            </a:r>
            <a:endParaRPr lang="en-US" sz="1100" dirty="0"/>
          </a:p>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UNMAPPED otherwise</a:t>
            </a:r>
            <a:endParaRPr lang="en-US" sz="1100" dirty="0"/>
          </a:p>
        </p:txBody>
      </p:sp>
      <p:sp>
        <p:nvSpPr>
          <p:cNvPr id="15" name="Text 13"/>
          <p:cNvSpPr txBox="1"/>
          <p:nvPr/>
        </p:nvSpPr>
        <p:spPr>
          <a:xfrm>
            <a:off x="4860950" y="2569464"/>
            <a:ext cx="219456" cy="457200"/>
          </a:xfrm>
          <a:prstGeom prst="rect">
            <a:avLst/>
          </a:prstGeom>
          <a:noFill/>
          <a:ln/>
        </p:spPr>
        <p:txBody>
          <a:bodyPr wrap="square" lIns="0" tIns="0" rIns="0" bIns="0" rtlCol="0" anchor="ctr"/>
          <a:lstStyle/>
          <a:p>
            <a:pPr algn="ctr" indent="0" marL="0">
              <a:buNone/>
            </a:pPr>
            <a:r>
              <a:rPr lang="en-US" sz="2200" b="1" dirty="0">
                <a:solidFill>
                  <a:srgbClr val="7C8983"/>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5080406" y="1874520"/>
            <a:ext cx="2000707" cy="1847088"/>
          </a:xfrm>
          <a:prstGeom prst="rect">
            <a:avLst/>
          </a:prstGeom>
          <a:solidFill>
            <a:srgbClr val="FFFFFF"/>
          </a:solidFill>
          <a:ln w="12700">
            <a:solidFill>
              <a:srgbClr val="D7DCD5"/>
            </a:solidFill>
            <a:prstDash val="solid"/>
          </a:ln>
        </p:spPr>
      </p:sp>
      <p:sp>
        <p:nvSpPr>
          <p:cNvPr id="17" name="Text 15"/>
          <p:cNvSpPr txBox="1"/>
          <p:nvPr/>
        </p:nvSpPr>
        <p:spPr>
          <a:xfrm>
            <a:off x="5281574" y="2029968"/>
            <a:ext cx="1598371" cy="256032"/>
          </a:xfrm>
          <a:prstGeom prst="rect">
            <a:avLst/>
          </a:prstGeom>
          <a:noFill/>
          <a:ln/>
        </p:spPr>
        <p:txBody>
          <a:bodyPr wrap="square" lIns="0" tIns="0" rIns="0" bIns="0" rtlCol="0" anchor="ctr"/>
          <a:lstStyle/>
          <a:p>
            <a:pPr indent="0" marL="0">
              <a:buNone/>
            </a:pPr>
            <a:r>
              <a:rPr lang="en-US" sz="950" b="1" spc="80" kern="0" dirty="0">
                <a:solidFill>
                  <a:srgbClr val="1E5A4A"/>
                </a:solidFill>
                <a:latin typeface="Calibri" pitchFamily="34" charset="0"/>
                <a:ea typeface="Calibri" pitchFamily="34" charset="-122"/>
                <a:cs typeface="Calibri" pitchFamily="34" charset="-120"/>
              </a:rPr>
              <a:t>PYTHON</a:t>
            </a:r>
            <a:endParaRPr lang="en-US" sz="950" dirty="0"/>
          </a:p>
        </p:txBody>
      </p:sp>
      <p:sp>
        <p:nvSpPr>
          <p:cNvPr id="18" name="Text 16"/>
          <p:cNvSpPr txBox="1"/>
          <p:nvPr/>
        </p:nvSpPr>
        <p:spPr>
          <a:xfrm>
            <a:off x="5281574" y="2331720"/>
            <a:ext cx="1598371" cy="365760"/>
          </a:xfrm>
          <a:prstGeom prst="rect">
            <a:avLst/>
          </a:prstGeom>
          <a:noFill/>
          <a:ln/>
        </p:spPr>
        <p:txBody>
          <a:bodyPr wrap="square" lIns="0" tIns="0" rIns="0" bIns="0" rtlCol="0" anchor="ctr"/>
          <a:lstStyle/>
          <a:p>
            <a:pPr indent="0" marL="0">
              <a:buNone/>
            </a:pPr>
            <a:r>
              <a:rPr lang="en-US" sz="1800" b="1" dirty="0">
                <a:solidFill>
                  <a:srgbClr val="14201C"/>
                </a:solidFill>
                <a:latin typeface="Cambria" pitchFamily="34" charset="0"/>
                <a:ea typeface="Cambria" pitchFamily="34" charset="-122"/>
                <a:cs typeface="Cambria" pitchFamily="34" charset="-120"/>
              </a:rPr>
              <a:t>Compute</a:t>
            </a:r>
            <a:endParaRPr lang="en-US" sz="1800" dirty="0"/>
          </a:p>
        </p:txBody>
      </p:sp>
      <p:sp>
        <p:nvSpPr>
          <p:cNvPr id="19" name="Text 17"/>
          <p:cNvSpPr txBox="1"/>
          <p:nvPr/>
        </p:nvSpPr>
        <p:spPr>
          <a:xfrm>
            <a:off x="5281574" y="2724912"/>
            <a:ext cx="1598371" cy="1188720"/>
          </a:xfrm>
          <a:prstGeom prst="rect">
            <a:avLst/>
          </a:prstGeom>
          <a:noFill/>
          <a:ln/>
        </p:spPr>
        <p:txBody>
          <a:bodyPr wrap="square" lIns="0" tIns="0" rIns="0" bIns="0" rtlCol="0" anchor="t"/>
          <a:lstStyle/>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Statements, ratios,</a:t>
            </a:r>
            <a:endParaRPr lang="en-US" sz="1100" dirty="0"/>
          </a:p>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SA 240 routines,</a:t>
            </a:r>
            <a:endParaRPr lang="en-US" sz="1100" dirty="0"/>
          </a:p>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materiality, sample</a:t>
            </a:r>
            <a:endParaRPr lang="en-US" sz="1100" dirty="0"/>
          </a:p>
        </p:txBody>
      </p:sp>
      <p:sp>
        <p:nvSpPr>
          <p:cNvPr id="20" name="Text 18"/>
          <p:cNvSpPr txBox="1"/>
          <p:nvPr/>
        </p:nvSpPr>
        <p:spPr>
          <a:xfrm>
            <a:off x="7081114" y="2569464"/>
            <a:ext cx="219456" cy="457200"/>
          </a:xfrm>
          <a:prstGeom prst="rect">
            <a:avLst/>
          </a:prstGeom>
          <a:noFill/>
          <a:ln/>
        </p:spPr>
        <p:txBody>
          <a:bodyPr wrap="square" lIns="0" tIns="0" rIns="0" bIns="0" rtlCol="0" anchor="ctr"/>
          <a:lstStyle/>
          <a:p>
            <a:pPr algn="ctr" indent="0" marL="0">
              <a:buNone/>
            </a:pPr>
            <a:r>
              <a:rPr lang="en-US" sz="2200" b="1" dirty="0">
                <a:solidFill>
                  <a:srgbClr val="7C8983"/>
                </a:solidFill>
                <a:latin typeface="Calibri" pitchFamily="34" charset="0"/>
                <a:ea typeface="Calibri" pitchFamily="34" charset="-122"/>
                <a:cs typeface="Calibri" pitchFamily="34" charset="-120"/>
              </a:rPr>
              <a:t>›</a:t>
            </a:r>
            <a:endParaRPr lang="en-US" sz="2200" dirty="0"/>
          </a:p>
        </p:txBody>
      </p:sp>
      <p:sp>
        <p:nvSpPr>
          <p:cNvPr id="21" name="Shape 19"/>
          <p:cNvSpPr/>
          <p:nvPr/>
        </p:nvSpPr>
        <p:spPr>
          <a:xfrm>
            <a:off x="7300570" y="1874520"/>
            <a:ext cx="2000707" cy="1847088"/>
          </a:xfrm>
          <a:prstGeom prst="rect">
            <a:avLst/>
          </a:prstGeom>
          <a:solidFill>
            <a:srgbClr val="F7ECD9"/>
          </a:solidFill>
          <a:ln w="19050">
            <a:solidFill>
              <a:srgbClr val="B77515"/>
            </a:solidFill>
            <a:prstDash val="solid"/>
          </a:ln>
        </p:spPr>
      </p:sp>
      <p:sp>
        <p:nvSpPr>
          <p:cNvPr id="22" name="Text 20"/>
          <p:cNvSpPr txBox="1"/>
          <p:nvPr/>
        </p:nvSpPr>
        <p:spPr>
          <a:xfrm>
            <a:off x="7501738" y="2029968"/>
            <a:ext cx="1598371" cy="256032"/>
          </a:xfrm>
          <a:prstGeom prst="rect">
            <a:avLst/>
          </a:prstGeom>
          <a:noFill/>
          <a:ln/>
        </p:spPr>
        <p:txBody>
          <a:bodyPr wrap="square" lIns="0" tIns="0" rIns="0" bIns="0" rtlCol="0" anchor="ctr"/>
          <a:lstStyle/>
          <a:p>
            <a:pPr indent="0" marL="0">
              <a:buNone/>
            </a:pPr>
            <a:r>
              <a:rPr lang="en-US" sz="950" b="1" spc="80" kern="0" dirty="0">
                <a:solidFill>
                  <a:srgbClr val="8A5710"/>
                </a:solidFill>
                <a:latin typeface="Calibri" pitchFamily="34" charset="0"/>
                <a:ea typeface="Calibri" pitchFamily="34" charset="-122"/>
                <a:cs typeface="Calibri" pitchFamily="34" charset="-120"/>
              </a:rPr>
              <a:t>MODEL LAYER</a:t>
            </a:r>
            <a:endParaRPr lang="en-US" sz="950" dirty="0"/>
          </a:p>
        </p:txBody>
      </p:sp>
      <p:sp>
        <p:nvSpPr>
          <p:cNvPr id="23" name="Text 21"/>
          <p:cNvSpPr txBox="1"/>
          <p:nvPr/>
        </p:nvSpPr>
        <p:spPr>
          <a:xfrm>
            <a:off x="7501738" y="2331720"/>
            <a:ext cx="1598371" cy="365760"/>
          </a:xfrm>
          <a:prstGeom prst="rect">
            <a:avLst/>
          </a:prstGeom>
          <a:noFill/>
          <a:ln/>
        </p:spPr>
        <p:txBody>
          <a:bodyPr wrap="square" lIns="0" tIns="0" rIns="0" bIns="0" rtlCol="0" anchor="ctr"/>
          <a:lstStyle/>
          <a:p>
            <a:pPr indent="0" marL="0">
              <a:buNone/>
            </a:pPr>
            <a:r>
              <a:rPr lang="en-US" sz="1800" b="1" dirty="0">
                <a:solidFill>
                  <a:srgbClr val="14201C"/>
                </a:solidFill>
                <a:latin typeface="Cambria" pitchFamily="34" charset="0"/>
                <a:ea typeface="Cambria" pitchFamily="34" charset="-122"/>
                <a:cs typeface="Cambria" pitchFamily="34" charset="-120"/>
              </a:rPr>
              <a:t>Draft</a:t>
            </a:r>
            <a:endParaRPr lang="en-US" sz="1800" dirty="0"/>
          </a:p>
        </p:txBody>
      </p:sp>
      <p:sp>
        <p:nvSpPr>
          <p:cNvPr id="24" name="Text 22"/>
          <p:cNvSpPr txBox="1"/>
          <p:nvPr/>
        </p:nvSpPr>
        <p:spPr>
          <a:xfrm>
            <a:off x="7501738" y="2724912"/>
            <a:ext cx="1598371" cy="1188720"/>
          </a:xfrm>
          <a:prstGeom prst="rect">
            <a:avLst/>
          </a:prstGeom>
          <a:noFill/>
          <a:ln/>
        </p:spPr>
        <p:txBody>
          <a:bodyPr wrap="square" lIns="0" tIns="0" rIns="0" bIns="0" rtlCol="0" anchor="t"/>
          <a:lstStyle/>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Memorandum,</a:t>
            </a:r>
            <a:endParaRPr lang="en-US" sz="1100" dirty="0"/>
          </a:p>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ratio notes,</a:t>
            </a:r>
            <a:endParaRPr lang="en-US" sz="1100" dirty="0"/>
          </a:p>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enquiry letter</a:t>
            </a:r>
            <a:endParaRPr lang="en-US" sz="1100" dirty="0"/>
          </a:p>
        </p:txBody>
      </p:sp>
      <p:sp>
        <p:nvSpPr>
          <p:cNvPr id="25" name="Text 23"/>
          <p:cNvSpPr txBox="1"/>
          <p:nvPr/>
        </p:nvSpPr>
        <p:spPr>
          <a:xfrm>
            <a:off x="9301277" y="2569464"/>
            <a:ext cx="219456" cy="457200"/>
          </a:xfrm>
          <a:prstGeom prst="rect">
            <a:avLst/>
          </a:prstGeom>
          <a:noFill/>
          <a:ln/>
        </p:spPr>
        <p:txBody>
          <a:bodyPr wrap="square" lIns="0" tIns="0" rIns="0" bIns="0" rtlCol="0" anchor="ctr"/>
          <a:lstStyle/>
          <a:p>
            <a:pPr algn="ctr" indent="0" marL="0">
              <a:buNone/>
            </a:pPr>
            <a:r>
              <a:rPr lang="en-US" sz="2200" b="1" dirty="0">
                <a:solidFill>
                  <a:srgbClr val="7C8983"/>
                </a:solidFill>
                <a:latin typeface="Calibri" pitchFamily="34" charset="0"/>
                <a:ea typeface="Calibri" pitchFamily="34" charset="-122"/>
                <a:cs typeface="Calibri" pitchFamily="34" charset="-120"/>
              </a:rPr>
              <a:t>›</a:t>
            </a:r>
            <a:endParaRPr lang="en-US" sz="2200" dirty="0"/>
          </a:p>
        </p:txBody>
      </p:sp>
      <p:sp>
        <p:nvSpPr>
          <p:cNvPr id="26" name="Shape 24"/>
          <p:cNvSpPr/>
          <p:nvPr/>
        </p:nvSpPr>
        <p:spPr>
          <a:xfrm>
            <a:off x="9520733" y="1874520"/>
            <a:ext cx="2000707" cy="1847088"/>
          </a:xfrm>
          <a:prstGeom prst="rect">
            <a:avLst/>
          </a:prstGeom>
          <a:solidFill>
            <a:srgbClr val="FFFFFF"/>
          </a:solidFill>
          <a:ln w="12700">
            <a:solidFill>
              <a:srgbClr val="D7DCD5"/>
            </a:solidFill>
            <a:prstDash val="solid"/>
          </a:ln>
        </p:spPr>
      </p:sp>
      <p:sp>
        <p:nvSpPr>
          <p:cNvPr id="27" name="Text 25"/>
          <p:cNvSpPr txBox="1"/>
          <p:nvPr/>
        </p:nvSpPr>
        <p:spPr>
          <a:xfrm>
            <a:off x="9721901" y="2029968"/>
            <a:ext cx="1598371" cy="256032"/>
          </a:xfrm>
          <a:prstGeom prst="rect">
            <a:avLst/>
          </a:prstGeom>
          <a:noFill/>
          <a:ln/>
        </p:spPr>
        <p:txBody>
          <a:bodyPr wrap="square" lIns="0" tIns="0" rIns="0" bIns="0" rtlCol="0" anchor="ctr"/>
          <a:lstStyle/>
          <a:p>
            <a:pPr indent="0" marL="0">
              <a:buNone/>
            </a:pPr>
            <a:r>
              <a:rPr lang="en-US" sz="950" b="1" spc="80" kern="0" dirty="0">
                <a:solidFill>
                  <a:srgbClr val="1E5A4A"/>
                </a:solidFill>
                <a:latin typeface="Calibri" pitchFamily="34" charset="0"/>
                <a:ea typeface="Calibri" pitchFamily="34" charset="-122"/>
                <a:cs typeface="Calibri" pitchFamily="34" charset="-120"/>
              </a:rPr>
              <a:t>PYTHON</a:t>
            </a:r>
            <a:endParaRPr lang="en-US" sz="950" dirty="0"/>
          </a:p>
        </p:txBody>
      </p:sp>
      <p:sp>
        <p:nvSpPr>
          <p:cNvPr id="28" name="Text 26"/>
          <p:cNvSpPr txBox="1"/>
          <p:nvPr/>
        </p:nvSpPr>
        <p:spPr>
          <a:xfrm>
            <a:off x="9721901" y="2331720"/>
            <a:ext cx="1598371" cy="365760"/>
          </a:xfrm>
          <a:prstGeom prst="rect">
            <a:avLst/>
          </a:prstGeom>
          <a:noFill/>
          <a:ln/>
        </p:spPr>
        <p:txBody>
          <a:bodyPr wrap="square" lIns="0" tIns="0" rIns="0" bIns="0" rtlCol="0" anchor="ctr"/>
          <a:lstStyle/>
          <a:p>
            <a:pPr indent="0" marL="0">
              <a:buNone/>
            </a:pPr>
            <a:r>
              <a:rPr lang="en-US" sz="1800" b="1" dirty="0">
                <a:solidFill>
                  <a:srgbClr val="14201C"/>
                </a:solidFill>
                <a:latin typeface="Cambria" pitchFamily="34" charset="0"/>
                <a:ea typeface="Cambria" pitchFamily="34" charset="-122"/>
                <a:cs typeface="Cambria" pitchFamily="34" charset="-120"/>
              </a:rPr>
              <a:t>Deliver</a:t>
            </a:r>
            <a:endParaRPr lang="en-US" sz="1800" dirty="0"/>
          </a:p>
        </p:txBody>
      </p:sp>
      <p:sp>
        <p:nvSpPr>
          <p:cNvPr id="29" name="Text 27"/>
          <p:cNvSpPr txBox="1"/>
          <p:nvPr/>
        </p:nvSpPr>
        <p:spPr>
          <a:xfrm>
            <a:off x="9721901" y="2724912"/>
            <a:ext cx="1598371" cy="1188720"/>
          </a:xfrm>
          <a:prstGeom prst="rect">
            <a:avLst/>
          </a:prstGeom>
          <a:noFill/>
          <a:ln/>
        </p:spPr>
        <p:txBody>
          <a:bodyPr wrap="square" lIns="0" tIns="0" rIns="0" bIns="0" rtlCol="0" anchor="t"/>
          <a:lstStyle/>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PWA dashboard,</a:t>
            </a:r>
            <a:endParaRPr lang="en-US" sz="1100" dirty="0"/>
          </a:p>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11-sheet workpaper,</a:t>
            </a:r>
            <a:endParaRPr lang="en-US" sz="1100" dirty="0"/>
          </a:p>
          <a:p>
            <a:pPr indent="0" marL="0">
              <a:lnSpc>
                <a:spcPts val="1500"/>
              </a:lnSpc>
              <a:buNone/>
            </a:pPr>
            <a:r>
              <a:rPr lang="en-US" sz="1100" dirty="0">
                <a:solidFill>
                  <a:srgbClr val="55635E"/>
                </a:solidFill>
                <a:latin typeface="Calibri" pitchFamily="34" charset="0"/>
                <a:ea typeface="Calibri" pitchFamily="34" charset="-122"/>
                <a:cs typeface="Calibri" pitchFamily="34" charset="-120"/>
              </a:rPr>
              <a:t>n8n automation</a:t>
            </a:r>
            <a:endParaRPr lang="en-US" sz="1100" dirty="0"/>
          </a:p>
        </p:txBody>
      </p:sp>
      <p:sp>
        <p:nvSpPr>
          <p:cNvPr id="30" name="Shape 28"/>
          <p:cNvSpPr/>
          <p:nvPr/>
        </p:nvSpPr>
        <p:spPr>
          <a:xfrm>
            <a:off x="640080" y="4160520"/>
            <a:ext cx="10881360" cy="1234440"/>
          </a:xfrm>
          <a:prstGeom prst="rect">
            <a:avLst/>
          </a:prstGeom>
          <a:solidFill>
            <a:srgbClr val="E3EDE7"/>
          </a:solidFill>
          <a:ln w="12700">
            <a:solidFill>
              <a:srgbClr val="1E5A4A"/>
            </a:solidFill>
            <a:prstDash val="solid"/>
          </a:ln>
        </p:spPr>
      </p:sp>
      <p:sp>
        <p:nvSpPr>
          <p:cNvPr id="31" name="Text 29"/>
          <p:cNvSpPr txBox="1"/>
          <p:nvPr/>
        </p:nvSpPr>
        <p:spPr>
          <a:xfrm>
            <a:off x="914400" y="4251960"/>
            <a:ext cx="10332720" cy="1051560"/>
          </a:xfrm>
          <a:prstGeom prst="rect">
            <a:avLst/>
          </a:prstGeom>
          <a:noFill/>
          <a:ln/>
        </p:spPr>
        <p:txBody>
          <a:bodyPr wrap="square" lIns="0" tIns="0" rIns="0" bIns="0" rtlCol="0" anchor="ctr"/>
          <a:lstStyle/>
          <a:p>
            <a:pPr indent="0" marL="0">
              <a:lnSpc>
                <a:spcPts val="2000"/>
              </a:lnSpc>
              <a:buNone/>
            </a:pPr>
            <a:r>
              <a:rPr lang="en-US" sz="1300" dirty="0">
                <a:solidFill>
                  <a:srgbClr val="14201C"/>
                </a:solidFill>
                <a:latin typeface="Calibri" pitchFamily="34" charset="0"/>
                <a:ea typeface="Calibri" pitchFamily="34" charset="-122"/>
                <a:cs typeface="Calibri" pitchFamily="34" charset="-120"/>
              </a:rPr>
              <a:t>Only the fourth stage touches the language model — and it receives figures the engine has already computed. Remove the model entirely and the analytical review is unchanged; only the prose falls back to a template.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F0"/>
        </a:solidFill>
      </p:bgPr>
    </p:bg>
    <p:spTree>
      <p:nvGrpSpPr>
        <p:cNvPr id="1" name=""/>
        <p:cNvGrpSpPr/>
        <p:nvPr/>
      </p:nvGrpSpPr>
      <p:grpSpPr>
        <a:xfrm>
          <a:off x="0" y="0"/>
          <a:ext cx="0" cy="0"/>
          <a:chOff x="0" y="0"/>
          <a:chExt cx="0" cy="0"/>
        </a:xfrm>
      </p:grpSpPr>
      <p:sp>
        <p:nvSpPr>
          <p:cNvPr id="2" name="Text 0"/>
          <p:cNvSpPr txBox="1"/>
          <p:nvPr/>
        </p:nvSpPr>
        <p:spPr>
          <a:xfrm>
            <a:off x="640080" y="6199632"/>
            <a:ext cx="7315200" cy="274320"/>
          </a:xfrm>
          <a:prstGeom prst="rect">
            <a:avLst/>
          </a:prstGeom>
          <a:noFill/>
          <a:ln/>
        </p:spPr>
        <p:txBody>
          <a:bodyPr wrap="square" lIns="0" tIns="0" rIns="0" bIns="0" rtlCol="0" anchor="ctr"/>
          <a:lstStyle/>
          <a:p>
            <a:pPr indent="0" marL="0">
              <a:buNone/>
            </a:pPr>
            <a:r>
              <a:rPr lang="en-US" sz="900" dirty="0">
                <a:solidFill>
                  <a:srgbClr val="5D6A64"/>
                </a:solidFill>
                <a:latin typeface="Calibri" pitchFamily="34" charset="0"/>
                <a:ea typeface="Calibri" pitchFamily="34" charset="-122"/>
                <a:cs typeface="Calibri" pitchFamily="34" charset="-120"/>
              </a:rPr>
              <a:t>AuditLens  ·  AICA Level 2, Module C  ·  CA. Rajendra Bagade</a:t>
            </a:r>
            <a:endParaRPr lang="en-US" sz="900" dirty="0"/>
          </a:p>
        </p:txBody>
      </p:sp>
      <p:sp>
        <p:nvSpPr>
          <p:cNvPr id="3" name="Text 1"/>
          <p:cNvSpPr txBox="1"/>
          <p:nvPr/>
        </p:nvSpPr>
        <p:spPr>
          <a:xfrm>
            <a:off x="10972800" y="6199632"/>
            <a:ext cx="548640" cy="274320"/>
          </a:xfrm>
          <a:prstGeom prst="rect">
            <a:avLst/>
          </a:prstGeom>
          <a:noFill/>
          <a:ln/>
        </p:spPr>
        <p:txBody>
          <a:bodyPr wrap="square" lIns="0" tIns="0" rIns="0" bIns="0" rtlCol="0" anchor="ctr"/>
          <a:lstStyle/>
          <a:p>
            <a:pPr algn="r" indent="0" marL="0">
              <a:buNone/>
            </a:pPr>
            <a:r>
              <a:rPr lang="en-US" sz="900" dirty="0">
                <a:solidFill>
                  <a:srgbClr val="5D6A64"/>
                </a:solidFill>
                <a:latin typeface="Calibri" pitchFamily="34" charset="0"/>
                <a:ea typeface="Calibri" pitchFamily="34" charset="-122"/>
                <a:cs typeface="Calibri" pitchFamily="34" charset="-120"/>
              </a:rPr>
              <a:t>6</a:t>
            </a:r>
            <a:endParaRPr lang="en-US" sz="900" dirty="0"/>
          </a:p>
        </p:txBody>
      </p:sp>
      <p:sp>
        <p:nvSpPr>
          <p:cNvPr id="4" name="Shape 2"/>
          <p:cNvSpPr/>
          <p:nvPr/>
        </p:nvSpPr>
        <p:spPr>
          <a:xfrm>
            <a:off x="640080" y="310896"/>
            <a:ext cx="1298448" cy="310896"/>
          </a:xfrm>
          <a:prstGeom prst="roundRect">
            <a:avLst>
              <a:gd name="adj" fmla="val 50000"/>
            </a:avLst>
          </a:prstGeom>
          <a:solidFill>
            <a:srgbClr val="B77515"/>
          </a:solidFill>
          <a:ln w="12700">
            <a:solidFill>
              <a:srgbClr val="B77515"/>
            </a:solidFill>
            <a:prstDash val="solid"/>
          </a:ln>
        </p:spPr>
      </p:sp>
      <p:sp>
        <p:nvSpPr>
          <p:cNvPr id="5" name="Text 3"/>
          <p:cNvSpPr txBox="1"/>
          <p:nvPr/>
        </p:nvSpPr>
        <p:spPr>
          <a:xfrm>
            <a:off x="640080" y="310896"/>
            <a:ext cx="1298448"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LIVE DEMO</a:t>
            </a:r>
            <a:endParaRPr lang="en-US" sz="1000" dirty="0"/>
          </a:p>
        </p:txBody>
      </p:sp>
      <p:sp>
        <p:nvSpPr>
          <p:cNvPr id="6" name="Text 4"/>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2400" b="1" dirty="0">
                <a:solidFill>
                  <a:srgbClr val="14201C"/>
                </a:solidFill>
                <a:latin typeface="Cambria" pitchFamily="34" charset="0"/>
                <a:ea typeface="Cambria" pitchFamily="34" charset="-122"/>
                <a:cs typeface="Cambria" pitchFamily="34" charset="-120"/>
              </a:rPr>
              <a:t>Ingest, and the ledgers it refuses to guess</a:t>
            </a:r>
            <a:endParaRPr lang="en-US" sz="2400" dirty="0"/>
          </a:p>
        </p:txBody>
      </p:sp>
      <p:sp>
        <p:nvSpPr>
          <p:cNvPr id="7" name="Shape 5"/>
          <p:cNvSpPr/>
          <p:nvPr/>
        </p:nvSpPr>
        <p:spPr>
          <a:xfrm>
            <a:off x="640080" y="1481328"/>
            <a:ext cx="3712464" cy="274320"/>
          </a:xfrm>
          <a:prstGeom prst="roundRect">
            <a:avLst>
              <a:gd name="adj" fmla="val 50000"/>
            </a:avLst>
          </a:prstGeom>
          <a:solidFill>
            <a:srgbClr val="E3EDE7"/>
          </a:solidFill>
          <a:ln w="9525">
            <a:solidFill>
              <a:srgbClr val="1E5A4A"/>
            </a:solidFill>
            <a:prstDash val="solid"/>
          </a:ln>
        </p:spPr>
      </p:sp>
      <p:sp>
        <p:nvSpPr>
          <p:cNvPr id="8" name="Text 6"/>
          <p:cNvSpPr txBox="1"/>
          <p:nvPr/>
        </p:nvSpPr>
        <p:spPr>
          <a:xfrm>
            <a:off x="640080" y="1481328"/>
            <a:ext cx="3712464" cy="274320"/>
          </a:xfrm>
          <a:prstGeom prst="rect">
            <a:avLst/>
          </a:prstGeom>
          <a:noFill/>
          <a:ln/>
        </p:spPr>
        <p:txBody>
          <a:bodyPr wrap="square" lIns="0" tIns="0" rIns="0" bIns="0" rtlCol="0" anchor="ctr"/>
          <a:lstStyle/>
          <a:p>
            <a:pPr algn="ctr" indent="0" marL="0">
              <a:buNone/>
            </a:pPr>
            <a:r>
              <a:rPr lang="en-US" sz="1000" b="1" spc="60" kern="0" dirty="0">
                <a:solidFill>
                  <a:srgbClr val="1E5A4A"/>
                </a:solidFill>
                <a:latin typeface="Calibri" pitchFamily="34" charset="0"/>
                <a:ea typeface="Calibri" pitchFamily="34" charset="-122"/>
                <a:cs typeface="Calibri" pitchFamily="34" charset="-120"/>
              </a:rPr>
              <a:t>Schedule III, Division I</a:t>
            </a:r>
            <a:endParaRPr lang="en-US" sz="1000" dirty="0"/>
          </a:p>
        </p:txBody>
      </p:sp>
      <p:sp>
        <p:nvSpPr>
          <p:cNvPr id="9" name="Text 7"/>
          <p:cNvSpPr txBox="1"/>
          <p:nvPr/>
        </p:nvSpPr>
        <p:spPr>
          <a:xfrm>
            <a:off x="640080" y="1938528"/>
            <a:ext cx="3986784" cy="2331720"/>
          </a:xfrm>
          <a:prstGeom prst="rect">
            <a:avLst/>
          </a:prstGeom>
          <a:noFill/>
          <a:ln/>
        </p:spPr>
        <p:txBody>
          <a:bodyPr wrap="square" lIns="0" tIns="0" rIns="0" bIns="0" rtlCol="0" anchor="t"/>
          <a:lstStyle/>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Fifty-nine of sixty-one ledgers were mapped on the account code, and the engine says nothing about them. Two are in this queue: one it mapped on the ledger name, and one it could not map at all.</a:t>
            </a:r>
            <a:endParaRPr lang="en-US" sz="1350" dirty="0"/>
          </a:p>
          <a:p>
            <a:pPr indent="0" marL="0">
              <a:lnSpc>
                <a:spcPts val="2000"/>
              </a:lnSpc>
              <a:buNone/>
            </a:pPr>
            <a:endParaRPr lang="en-US" sz="1350" dirty="0"/>
          </a:p>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It returned UNMAPPED rather than guessing, because a mis-mapped ledger appears on the face of the financial statements.</a:t>
            </a:r>
            <a:endParaRPr lang="en-US" sz="1350" dirty="0"/>
          </a:p>
        </p:txBody>
      </p:sp>
      <p:sp>
        <p:nvSpPr>
          <p:cNvPr id="10" name="Text 8"/>
          <p:cNvSpPr txBox="1"/>
          <p:nvPr/>
        </p:nvSpPr>
        <p:spPr>
          <a:xfrm>
            <a:off x="640080" y="4480560"/>
            <a:ext cx="3986784" cy="15544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Click "Use the sample client" - say the client is fictitious and no client data is used anywhere</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Let the summary tiles land, then open the Mapping queue tab</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Point at the suspense account row and the word UNMAPPED</a:t>
            </a:r>
            <a:endParaRPr lang="en-US" sz="1100" dirty="0"/>
          </a:p>
        </p:txBody>
      </p:sp>
      <p:sp>
        <p:nvSpPr>
          <p:cNvPr id="11" name="Shape 9"/>
          <p:cNvSpPr/>
          <p:nvPr/>
        </p:nvSpPr>
        <p:spPr>
          <a:xfrm>
            <a:off x="5042916" y="1586484"/>
            <a:ext cx="6519672" cy="4105656"/>
          </a:xfrm>
          <a:prstGeom prst="rect">
            <a:avLst/>
          </a:prstGeom>
          <a:solidFill>
            <a:srgbClr val="FFFFFF"/>
          </a:solidFill>
          <a:ln w="12700">
            <a:solidFill>
              <a:srgbClr val="C9D2CC"/>
            </a:solidFill>
            <a:prstDash val="solid"/>
          </a:ln>
          <a:effectLst>
            <a:outerShdw sx="100000" sy="100000" kx="0" ky="0" algn="bl" rotWithShape="0" blurRad="127000" dist="25400" dir="5400000">
              <a:srgbClr val="9AA79F">
                <a:alpha val="30000"/>
              </a:srgbClr>
            </a:outerShdw>
          </a:effectLst>
        </p:spPr>
      </p:sp>
      <p:pic>
        <p:nvPicPr>
          <p:cNvPr id="12" name="Image 0" descr="/tmp/shots/05_mapping.png">    </p:cNvPr>
          <p:cNvPicPr>
            <a:picLocks noChangeAspect="1"/>
          </p:cNvPicPr>
          <p:nvPr/>
        </p:nvPicPr>
        <p:blipFill>
          <a:blip r:embed="rId1"/>
          <a:stretch>
            <a:fillRect/>
          </a:stretch>
        </p:blipFill>
        <p:spPr>
          <a:xfrm>
            <a:off x="5084064" y="1627632"/>
            <a:ext cx="6437376" cy="40233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F0"/>
        </a:solidFill>
      </p:bgPr>
    </p:bg>
    <p:spTree>
      <p:nvGrpSpPr>
        <p:cNvPr id="1" name=""/>
        <p:cNvGrpSpPr/>
        <p:nvPr/>
      </p:nvGrpSpPr>
      <p:grpSpPr>
        <a:xfrm>
          <a:off x="0" y="0"/>
          <a:ext cx="0" cy="0"/>
          <a:chOff x="0" y="0"/>
          <a:chExt cx="0" cy="0"/>
        </a:xfrm>
      </p:grpSpPr>
      <p:sp>
        <p:nvSpPr>
          <p:cNvPr id="2" name="Text 0"/>
          <p:cNvSpPr txBox="1"/>
          <p:nvPr/>
        </p:nvSpPr>
        <p:spPr>
          <a:xfrm>
            <a:off x="640080" y="6199632"/>
            <a:ext cx="7315200" cy="274320"/>
          </a:xfrm>
          <a:prstGeom prst="rect">
            <a:avLst/>
          </a:prstGeom>
          <a:noFill/>
          <a:ln/>
        </p:spPr>
        <p:txBody>
          <a:bodyPr wrap="square" lIns="0" tIns="0" rIns="0" bIns="0" rtlCol="0" anchor="ctr"/>
          <a:lstStyle/>
          <a:p>
            <a:pPr indent="0" marL="0">
              <a:buNone/>
            </a:pPr>
            <a:r>
              <a:rPr lang="en-US" sz="900" dirty="0">
                <a:solidFill>
                  <a:srgbClr val="5D6A64"/>
                </a:solidFill>
                <a:latin typeface="Calibri" pitchFamily="34" charset="0"/>
                <a:ea typeface="Calibri" pitchFamily="34" charset="-122"/>
                <a:cs typeface="Calibri" pitchFamily="34" charset="-120"/>
              </a:rPr>
              <a:t>AuditLens  ·  AICA Level 2, Module C  ·  CA. Rajendra Bagade</a:t>
            </a:r>
            <a:endParaRPr lang="en-US" sz="900" dirty="0"/>
          </a:p>
        </p:txBody>
      </p:sp>
      <p:sp>
        <p:nvSpPr>
          <p:cNvPr id="3" name="Text 1"/>
          <p:cNvSpPr txBox="1"/>
          <p:nvPr/>
        </p:nvSpPr>
        <p:spPr>
          <a:xfrm>
            <a:off x="10972800" y="6199632"/>
            <a:ext cx="548640" cy="274320"/>
          </a:xfrm>
          <a:prstGeom prst="rect">
            <a:avLst/>
          </a:prstGeom>
          <a:noFill/>
          <a:ln/>
        </p:spPr>
        <p:txBody>
          <a:bodyPr wrap="square" lIns="0" tIns="0" rIns="0" bIns="0" rtlCol="0" anchor="ctr"/>
          <a:lstStyle/>
          <a:p>
            <a:pPr algn="r" indent="0" marL="0">
              <a:buNone/>
            </a:pPr>
            <a:r>
              <a:rPr lang="en-US" sz="900" dirty="0">
                <a:solidFill>
                  <a:srgbClr val="5D6A64"/>
                </a:solidFill>
                <a:latin typeface="Calibri" pitchFamily="34" charset="0"/>
                <a:ea typeface="Calibri" pitchFamily="34" charset="-122"/>
                <a:cs typeface="Calibri" pitchFamily="34" charset="-120"/>
              </a:rPr>
              <a:t>7</a:t>
            </a:r>
            <a:endParaRPr lang="en-US" sz="900" dirty="0"/>
          </a:p>
        </p:txBody>
      </p:sp>
      <p:sp>
        <p:nvSpPr>
          <p:cNvPr id="4" name="Shape 2"/>
          <p:cNvSpPr/>
          <p:nvPr/>
        </p:nvSpPr>
        <p:spPr>
          <a:xfrm>
            <a:off x="640080" y="310896"/>
            <a:ext cx="1298448" cy="310896"/>
          </a:xfrm>
          <a:prstGeom prst="roundRect">
            <a:avLst>
              <a:gd name="adj" fmla="val 50000"/>
            </a:avLst>
          </a:prstGeom>
          <a:solidFill>
            <a:srgbClr val="B77515"/>
          </a:solidFill>
          <a:ln w="12700">
            <a:solidFill>
              <a:srgbClr val="B77515"/>
            </a:solidFill>
            <a:prstDash val="solid"/>
          </a:ln>
        </p:spPr>
      </p:sp>
      <p:sp>
        <p:nvSpPr>
          <p:cNvPr id="5" name="Text 3"/>
          <p:cNvSpPr txBox="1"/>
          <p:nvPr/>
        </p:nvSpPr>
        <p:spPr>
          <a:xfrm>
            <a:off x="640080" y="310896"/>
            <a:ext cx="1298448"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LIVE DEMO</a:t>
            </a:r>
            <a:endParaRPr lang="en-US" sz="1000" dirty="0"/>
          </a:p>
        </p:txBody>
      </p:sp>
      <p:sp>
        <p:nvSpPr>
          <p:cNvPr id="6" name="Text 4"/>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2400" b="1" dirty="0">
                <a:solidFill>
                  <a:srgbClr val="14201C"/>
                </a:solidFill>
                <a:latin typeface="Cambria" pitchFamily="34" charset="0"/>
                <a:ea typeface="Cambria" pitchFamily="34" charset="-122"/>
                <a:cs typeface="Cambria" pitchFamily="34" charset="-120"/>
              </a:rPr>
              <a:t>A balance sheet that does not tie — and says so</a:t>
            </a:r>
            <a:endParaRPr lang="en-US" sz="2400" dirty="0"/>
          </a:p>
        </p:txBody>
      </p:sp>
      <p:sp>
        <p:nvSpPr>
          <p:cNvPr id="7" name="Shape 5"/>
          <p:cNvSpPr/>
          <p:nvPr/>
        </p:nvSpPr>
        <p:spPr>
          <a:xfrm>
            <a:off x="640080" y="1481328"/>
            <a:ext cx="3986784" cy="274320"/>
          </a:xfrm>
          <a:prstGeom prst="roundRect">
            <a:avLst>
              <a:gd name="adj" fmla="val 50000"/>
            </a:avLst>
          </a:prstGeom>
          <a:solidFill>
            <a:srgbClr val="F7ECD9"/>
          </a:solidFill>
          <a:ln w="9525">
            <a:solidFill>
              <a:srgbClr val="B77515"/>
            </a:solidFill>
            <a:prstDash val="solid"/>
          </a:ln>
        </p:spPr>
      </p:sp>
      <p:sp>
        <p:nvSpPr>
          <p:cNvPr id="8" name="Text 6"/>
          <p:cNvSpPr txBox="1"/>
          <p:nvPr/>
        </p:nvSpPr>
        <p:spPr>
          <a:xfrm>
            <a:off x="640080" y="1481328"/>
            <a:ext cx="3986784" cy="274320"/>
          </a:xfrm>
          <a:prstGeom prst="rect">
            <a:avLst/>
          </a:prstGeom>
          <a:noFill/>
          <a:ln/>
        </p:spPr>
        <p:txBody>
          <a:bodyPr wrap="square" lIns="0" tIns="0" rIns="0" bIns="0" rtlCol="0" anchor="ctr"/>
          <a:lstStyle/>
          <a:p>
            <a:pPr algn="ctr" indent="0" marL="0">
              <a:buNone/>
            </a:pPr>
            <a:r>
              <a:rPr lang="en-US" sz="1000" b="1" spc="60" kern="0" dirty="0">
                <a:solidFill>
                  <a:srgbClr val="B77515"/>
                </a:solidFill>
                <a:latin typeface="Calibri" pitchFamily="34" charset="0"/>
                <a:ea typeface="Calibri" pitchFamily="34" charset="-122"/>
                <a:cs typeface="Calibri" pitchFamily="34" charset="-120"/>
              </a:rPr>
              <a:t>The strongest 30 seconds in the demo</a:t>
            </a:r>
            <a:endParaRPr lang="en-US" sz="1000" dirty="0"/>
          </a:p>
        </p:txBody>
      </p:sp>
      <p:sp>
        <p:nvSpPr>
          <p:cNvPr id="9" name="Text 7"/>
          <p:cNvSpPr txBox="1"/>
          <p:nvPr/>
        </p:nvSpPr>
        <p:spPr>
          <a:xfrm>
            <a:off x="640080" y="1938528"/>
            <a:ext cx="3986784" cy="2331720"/>
          </a:xfrm>
          <a:prstGeom prst="rect">
            <a:avLst/>
          </a:prstGeom>
          <a:noFill/>
          <a:ln/>
        </p:spPr>
        <p:txBody>
          <a:bodyPr wrap="square" lIns="0" tIns="0" rIns="0" bIns="0" rtlCol="0" anchor="t"/>
          <a:lstStyle/>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The balance sheet is out by four lakh twenty thousand rupees — exactly the amount sitting in the suspense account the engine refused to classify.</a:t>
            </a:r>
            <a:endParaRPr lang="en-US" sz="1350" dirty="0"/>
          </a:p>
          <a:p>
            <a:pPr indent="0" marL="0">
              <a:lnSpc>
                <a:spcPts val="2000"/>
              </a:lnSpc>
              <a:buNone/>
            </a:pPr>
            <a:endParaRPr lang="en-US" sz="1350" dirty="0"/>
          </a:p>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A lesser tool would force that difference to a rounding line and produce statements that tie and are wrong.</a:t>
            </a:r>
            <a:endParaRPr lang="en-US" sz="1350" dirty="0"/>
          </a:p>
        </p:txBody>
      </p:sp>
      <p:sp>
        <p:nvSpPr>
          <p:cNvPr id="10" name="Text 8"/>
          <p:cNvSpPr txBox="1"/>
          <p:nvPr/>
        </p:nvSpPr>
        <p:spPr>
          <a:xfrm>
            <a:off x="640080" y="4480560"/>
            <a:ext cx="3986784" cy="15544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Open the Statements tab</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Point at the reconciliation banner and read the figure out loud</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Say what a tool that forced the difference would have produced</a:t>
            </a:r>
            <a:endParaRPr lang="en-US" sz="1100" dirty="0"/>
          </a:p>
        </p:txBody>
      </p:sp>
      <p:sp>
        <p:nvSpPr>
          <p:cNvPr id="11" name="Shape 9"/>
          <p:cNvSpPr/>
          <p:nvPr/>
        </p:nvSpPr>
        <p:spPr>
          <a:xfrm>
            <a:off x="5042916" y="1586484"/>
            <a:ext cx="6519672" cy="4105656"/>
          </a:xfrm>
          <a:prstGeom prst="rect">
            <a:avLst/>
          </a:prstGeom>
          <a:solidFill>
            <a:srgbClr val="FFFFFF"/>
          </a:solidFill>
          <a:ln w="12700">
            <a:solidFill>
              <a:srgbClr val="C9D2CC"/>
            </a:solidFill>
            <a:prstDash val="solid"/>
          </a:ln>
          <a:effectLst>
            <a:outerShdw sx="100000" sy="100000" kx="0" ky="0" algn="bl" rotWithShape="0" blurRad="127000" dist="25400" dir="5400000">
              <a:srgbClr val="9AA79F">
                <a:alpha val="30000"/>
              </a:srgbClr>
            </a:outerShdw>
          </a:effectLst>
        </p:spPr>
      </p:sp>
      <p:pic>
        <p:nvPicPr>
          <p:cNvPr id="12" name="Image 0" descr="/tmp/shots/04_statements.png">    </p:cNvPr>
          <p:cNvPicPr>
            <a:picLocks noChangeAspect="1"/>
          </p:cNvPicPr>
          <p:nvPr/>
        </p:nvPicPr>
        <p:blipFill>
          <a:blip r:embed="rId1"/>
          <a:stretch>
            <a:fillRect/>
          </a:stretch>
        </p:blipFill>
        <p:spPr>
          <a:xfrm>
            <a:off x="5084064" y="1627632"/>
            <a:ext cx="6437376" cy="4023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F0"/>
        </a:solidFill>
      </p:bgPr>
    </p:bg>
    <p:spTree>
      <p:nvGrpSpPr>
        <p:cNvPr id="1" name=""/>
        <p:cNvGrpSpPr/>
        <p:nvPr/>
      </p:nvGrpSpPr>
      <p:grpSpPr>
        <a:xfrm>
          <a:off x="0" y="0"/>
          <a:ext cx="0" cy="0"/>
          <a:chOff x="0" y="0"/>
          <a:chExt cx="0" cy="0"/>
        </a:xfrm>
      </p:grpSpPr>
      <p:sp>
        <p:nvSpPr>
          <p:cNvPr id="2" name="Text 0"/>
          <p:cNvSpPr txBox="1"/>
          <p:nvPr/>
        </p:nvSpPr>
        <p:spPr>
          <a:xfrm>
            <a:off x="640080" y="6199632"/>
            <a:ext cx="7315200" cy="274320"/>
          </a:xfrm>
          <a:prstGeom prst="rect">
            <a:avLst/>
          </a:prstGeom>
          <a:noFill/>
          <a:ln/>
        </p:spPr>
        <p:txBody>
          <a:bodyPr wrap="square" lIns="0" tIns="0" rIns="0" bIns="0" rtlCol="0" anchor="ctr"/>
          <a:lstStyle/>
          <a:p>
            <a:pPr indent="0" marL="0">
              <a:buNone/>
            </a:pPr>
            <a:r>
              <a:rPr lang="en-US" sz="900" dirty="0">
                <a:solidFill>
                  <a:srgbClr val="5D6A64"/>
                </a:solidFill>
                <a:latin typeface="Calibri" pitchFamily="34" charset="0"/>
                <a:ea typeface="Calibri" pitchFamily="34" charset="-122"/>
                <a:cs typeface="Calibri" pitchFamily="34" charset="-120"/>
              </a:rPr>
              <a:t>AuditLens  ·  AICA Level 2, Module C  ·  CA. Rajendra Bagade</a:t>
            </a:r>
            <a:endParaRPr lang="en-US" sz="900" dirty="0"/>
          </a:p>
        </p:txBody>
      </p:sp>
      <p:sp>
        <p:nvSpPr>
          <p:cNvPr id="3" name="Text 1"/>
          <p:cNvSpPr txBox="1"/>
          <p:nvPr/>
        </p:nvSpPr>
        <p:spPr>
          <a:xfrm>
            <a:off x="10972800" y="6199632"/>
            <a:ext cx="548640" cy="274320"/>
          </a:xfrm>
          <a:prstGeom prst="rect">
            <a:avLst/>
          </a:prstGeom>
          <a:noFill/>
          <a:ln/>
        </p:spPr>
        <p:txBody>
          <a:bodyPr wrap="square" lIns="0" tIns="0" rIns="0" bIns="0" rtlCol="0" anchor="ctr"/>
          <a:lstStyle/>
          <a:p>
            <a:pPr algn="r" indent="0" marL="0">
              <a:buNone/>
            </a:pPr>
            <a:r>
              <a:rPr lang="en-US" sz="900" dirty="0">
                <a:solidFill>
                  <a:srgbClr val="5D6A64"/>
                </a:solidFill>
                <a:latin typeface="Calibri" pitchFamily="34" charset="0"/>
                <a:ea typeface="Calibri" pitchFamily="34" charset="-122"/>
                <a:cs typeface="Calibri" pitchFamily="34" charset="-120"/>
              </a:rPr>
              <a:t>8</a:t>
            </a:r>
            <a:endParaRPr lang="en-US" sz="900" dirty="0"/>
          </a:p>
        </p:txBody>
      </p:sp>
      <p:sp>
        <p:nvSpPr>
          <p:cNvPr id="4" name="Shape 2"/>
          <p:cNvSpPr/>
          <p:nvPr/>
        </p:nvSpPr>
        <p:spPr>
          <a:xfrm>
            <a:off x="640080" y="310896"/>
            <a:ext cx="1298448" cy="310896"/>
          </a:xfrm>
          <a:prstGeom prst="roundRect">
            <a:avLst>
              <a:gd name="adj" fmla="val 50000"/>
            </a:avLst>
          </a:prstGeom>
          <a:solidFill>
            <a:srgbClr val="B77515"/>
          </a:solidFill>
          <a:ln w="12700">
            <a:solidFill>
              <a:srgbClr val="B77515"/>
            </a:solidFill>
            <a:prstDash val="solid"/>
          </a:ln>
        </p:spPr>
      </p:sp>
      <p:sp>
        <p:nvSpPr>
          <p:cNvPr id="5" name="Text 3"/>
          <p:cNvSpPr txBox="1"/>
          <p:nvPr/>
        </p:nvSpPr>
        <p:spPr>
          <a:xfrm>
            <a:off x="640080" y="310896"/>
            <a:ext cx="1298448"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LIVE DEMO</a:t>
            </a:r>
            <a:endParaRPr lang="en-US" sz="1000" dirty="0"/>
          </a:p>
        </p:txBody>
      </p:sp>
      <p:sp>
        <p:nvSpPr>
          <p:cNvPr id="6" name="Text 4"/>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2400" b="1" dirty="0">
                <a:solidFill>
                  <a:srgbClr val="14201C"/>
                </a:solidFill>
                <a:latin typeface="Cambria" pitchFamily="34" charset="0"/>
                <a:ea typeface="Cambria" pitchFamily="34" charset="-122"/>
                <a:cs typeface="Cambria" pitchFamily="34" charset="-120"/>
              </a:rPr>
              <a:t>The eleven ratios Schedule III requires</a:t>
            </a:r>
            <a:endParaRPr lang="en-US" sz="2400" dirty="0"/>
          </a:p>
        </p:txBody>
      </p:sp>
      <p:sp>
        <p:nvSpPr>
          <p:cNvPr id="7" name="Shape 5"/>
          <p:cNvSpPr/>
          <p:nvPr/>
        </p:nvSpPr>
        <p:spPr>
          <a:xfrm>
            <a:off x="640080" y="1481328"/>
            <a:ext cx="3986784" cy="274320"/>
          </a:xfrm>
          <a:prstGeom prst="roundRect">
            <a:avLst>
              <a:gd name="adj" fmla="val 50000"/>
            </a:avLst>
          </a:prstGeom>
          <a:solidFill>
            <a:srgbClr val="E3EDE7"/>
          </a:solidFill>
          <a:ln w="9525">
            <a:solidFill>
              <a:srgbClr val="1E5A4A"/>
            </a:solidFill>
            <a:prstDash val="solid"/>
          </a:ln>
        </p:spPr>
      </p:sp>
      <p:sp>
        <p:nvSpPr>
          <p:cNvPr id="8" name="Text 6"/>
          <p:cNvSpPr txBox="1"/>
          <p:nvPr/>
        </p:nvSpPr>
        <p:spPr>
          <a:xfrm>
            <a:off x="640080" y="1481328"/>
            <a:ext cx="3986784" cy="274320"/>
          </a:xfrm>
          <a:prstGeom prst="rect">
            <a:avLst/>
          </a:prstGeom>
          <a:noFill/>
          <a:ln/>
        </p:spPr>
        <p:txBody>
          <a:bodyPr wrap="square" lIns="0" tIns="0" rIns="0" bIns="0" rtlCol="0" anchor="ctr"/>
          <a:lstStyle/>
          <a:p>
            <a:pPr algn="ctr" indent="0" marL="0">
              <a:buNone/>
            </a:pPr>
            <a:r>
              <a:rPr lang="en-US" sz="1000" b="1" spc="60" kern="0" dirty="0">
                <a:solidFill>
                  <a:srgbClr val="1E5A4A"/>
                </a:solidFill>
                <a:latin typeface="Calibri" pitchFamily="34" charset="0"/>
                <a:ea typeface="Calibri" pitchFamily="34" charset="-122"/>
                <a:cs typeface="Calibri" pitchFamily="34" charset="-120"/>
              </a:rPr>
              <a:t>G.S.R. 207(E) dated 24 March 2021</a:t>
            </a:r>
            <a:endParaRPr lang="en-US" sz="1000" dirty="0"/>
          </a:p>
        </p:txBody>
      </p:sp>
      <p:sp>
        <p:nvSpPr>
          <p:cNvPr id="9" name="Text 7"/>
          <p:cNvSpPr txBox="1"/>
          <p:nvPr/>
        </p:nvSpPr>
        <p:spPr>
          <a:xfrm>
            <a:off x="640080" y="1938528"/>
            <a:ext cx="3986784" cy="2331720"/>
          </a:xfrm>
          <a:prstGeom prst="rect">
            <a:avLst/>
          </a:prstGeom>
          <a:noFill/>
          <a:ln/>
        </p:spPr>
        <p:txBody>
          <a:bodyPr wrap="square" lIns="0" tIns="0" rIns="0" bIns="0" rtlCol="0" anchor="t"/>
          <a:lstStyle/>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Inserted by MCA notification G.S.R. 207(E) dated 24 March 2021, applicable from FY 2021-22. Four ratios moved beyond twenty-five per cent and must be explained in the notes.</a:t>
            </a:r>
            <a:endParaRPr lang="en-US" sz="1350" dirty="0"/>
          </a:p>
          <a:p>
            <a:pPr indent="0" marL="0">
              <a:lnSpc>
                <a:spcPts val="2000"/>
              </a:lnSpc>
              <a:buNone/>
            </a:pPr>
            <a:endParaRPr lang="en-US" sz="1350" dirty="0"/>
          </a:p>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The movements are shown in neutral colour. Whether a fall in the debt-equity ratio is favourable is the auditor’s judgement, not a colour the tool assigns.</a:t>
            </a:r>
            <a:endParaRPr lang="en-US" sz="1350" dirty="0"/>
          </a:p>
        </p:txBody>
      </p:sp>
      <p:sp>
        <p:nvSpPr>
          <p:cNvPr id="10" name="Text 8"/>
          <p:cNvSpPr txBox="1"/>
          <p:nvPr/>
        </p:nvSpPr>
        <p:spPr>
          <a:xfrm>
            <a:off x="640080" y="4480560"/>
            <a:ext cx="3986784" cy="15544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Open the Ratios tab</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Read the citation off the panel heading</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Open one flagged card and read its numerator and denominator aloud</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Point out that the movement is not coloured green or red</a:t>
            </a:r>
            <a:endParaRPr lang="en-US" sz="1100" dirty="0"/>
          </a:p>
        </p:txBody>
      </p:sp>
      <p:sp>
        <p:nvSpPr>
          <p:cNvPr id="11" name="Shape 9"/>
          <p:cNvSpPr/>
          <p:nvPr/>
        </p:nvSpPr>
        <p:spPr>
          <a:xfrm>
            <a:off x="5042916" y="1586484"/>
            <a:ext cx="6519672" cy="4105656"/>
          </a:xfrm>
          <a:prstGeom prst="rect">
            <a:avLst/>
          </a:prstGeom>
          <a:solidFill>
            <a:srgbClr val="FFFFFF"/>
          </a:solidFill>
          <a:ln w="12700">
            <a:solidFill>
              <a:srgbClr val="C9D2CC"/>
            </a:solidFill>
            <a:prstDash val="solid"/>
          </a:ln>
          <a:effectLst>
            <a:outerShdw sx="100000" sy="100000" kx="0" ky="0" algn="bl" rotWithShape="0" blurRad="127000" dist="25400" dir="5400000">
              <a:srgbClr val="9AA79F">
                <a:alpha val="30000"/>
              </a:srgbClr>
            </a:outerShdw>
          </a:effectLst>
        </p:spPr>
      </p:sp>
      <p:pic>
        <p:nvPicPr>
          <p:cNvPr id="12" name="Image 0" descr="/tmp/shots/03_ratios.png">    </p:cNvPr>
          <p:cNvPicPr>
            <a:picLocks noChangeAspect="1"/>
          </p:cNvPicPr>
          <p:nvPr/>
        </p:nvPicPr>
        <p:blipFill>
          <a:blip r:embed="rId1"/>
          <a:stretch>
            <a:fillRect/>
          </a:stretch>
        </p:blipFill>
        <p:spPr>
          <a:xfrm>
            <a:off x="5084064" y="1627632"/>
            <a:ext cx="6437376" cy="40233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F0"/>
        </a:solidFill>
      </p:bgPr>
    </p:bg>
    <p:spTree>
      <p:nvGrpSpPr>
        <p:cNvPr id="1" name=""/>
        <p:cNvGrpSpPr/>
        <p:nvPr/>
      </p:nvGrpSpPr>
      <p:grpSpPr>
        <a:xfrm>
          <a:off x="0" y="0"/>
          <a:ext cx="0" cy="0"/>
          <a:chOff x="0" y="0"/>
          <a:chExt cx="0" cy="0"/>
        </a:xfrm>
      </p:grpSpPr>
      <p:sp>
        <p:nvSpPr>
          <p:cNvPr id="2" name="Text 0"/>
          <p:cNvSpPr txBox="1"/>
          <p:nvPr/>
        </p:nvSpPr>
        <p:spPr>
          <a:xfrm>
            <a:off x="640080" y="6199632"/>
            <a:ext cx="7315200" cy="274320"/>
          </a:xfrm>
          <a:prstGeom prst="rect">
            <a:avLst/>
          </a:prstGeom>
          <a:noFill/>
          <a:ln/>
        </p:spPr>
        <p:txBody>
          <a:bodyPr wrap="square" lIns="0" tIns="0" rIns="0" bIns="0" rtlCol="0" anchor="ctr"/>
          <a:lstStyle/>
          <a:p>
            <a:pPr indent="0" marL="0">
              <a:buNone/>
            </a:pPr>
            <a:r>
              <a:rPr lang="en-US" sz="900" dirty="0">
                <a:solidFill>
                  <a:srgbClr val="5D6A64"/>
                </a:solidFill>
                <a:latin typeface="Calibri" pitchFamily="34" charset="0"/>
                <a:ea typeface="Calibri" pitchFamily="34" charset="-122"/>
                <a:cs typeface="Calibri" pitchFamily="34" charset="-120"/>
              </a:rPr>
              <a:t>AuditLens  ·  AICA Level 2, Module C  ·  CA. Rajendra Bagade</a:t>
            </a:r>
            <a:endParaRPr lang="en-US" sz="900" dirty="0"/>
          </a:p>
        </p:txBody>
      </p:sp>
      <p:sp>
        <p:nvSpPr>
          <p:cNvPr id="3" name="Text 1"/>
          <p:cNvSpPr txBox="1"/>
          <p:nvPr/>
        </p:nvSpPr>
        <p:spPr>
          <a:xfrm>
            <a:off x="10972800" y="6199632"/>
            <a:ext cx="548640" cy="274320"/>
          </a:xfrm>
          <a:prstGeom prst="rect">
            <a:avLst/>
          </a:prstGeom>
          <a:noFill/>
          <a:ln/>
        </p:spPr>
        <p:txBody>
          <a:bodyPr wrap="square" lIns="0" tIns="0" rIns="0" bIns="0" rtlCol="0" anchor="ctr"/>
          <a:lstStyle/>
          <a:p>
            <a:pPr algn="r" indent="0" marL="0">
              <a:buNone/>
            </a:pPr>
            <a:r>
              <a:rPr lang="en-US" sz="900" dirty="0">
                <a:solidFill>
                  <a:srgbClr val="5D6A64"/>
                </a:solidFill>
                <a:latin typeface="Calibri" pitchFamily="34" charset="0"/>
                <a:ea typeface="Calibri" pitchFamily="34" charset="-122"/>
                <a:cs typeface="Calibri" pitchFamily="34" charset="-120"/>
              </a:rPr>
              <a:t>9</a:t>
            </a:r>
            <a:endParaRPr lang="en-US" sz="900" dirty="0"/>
          </a:p>
        </p:txBody>
      </p:sp>
      <p:sp>
        <p:nvSpPr>
          <p:cNvPr id="4" name="Shape 2"/>
          <p:cNvSpPr/>
          <p:nvPr/>
        </p:nvSpPr>
        <p:spPr>
          <a:xfrm>
            <a:off x="640080" y="310896"/>
            <a:ext cx="1298448" cy="310896"/>
          </a:xfrm>
          <a:prstGeom prst="roundRect">
            <a:avLst>
              <a:gd name="adj" fmla="val 50000"/>
            </a:avLst>
          </a:prstGeom>
          <a:solidFill>
            <a:srgbClr val="B77515"/>
          </a:solidFill>
          <a:ln w="12700">
            <a:solidFill>
              <a:srgbClr val="B77515"/>
            </a:solidFill>
            <a:prstDash val="solid"/>
          </a:ln>
        </p:spPr>
      </p:sp>
      <p:sp>
        <p:nvSpPr>
          <p:cNvPr id="5" name="Text 3"/>
          <p:cNvSpPr txBox="1"/>
          <p:nvPr/>
        </p:nvSpPr>
        <p:spPr>
          <a:xfrm>
            <a:off x="640080" y="310896"/>
            <a:ext cx="1298448"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LIVE DEMO</a:t>
            </a:r>
            <a:endParaRPr lang="en-US" sz="1000" dirty="0"/>
          </a:p>
        </p:txBody>
      </p:sp>
      <p:sp>
        <p:nvSpPr>
          <p:cNvPr id="6" name="Text 4"/>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2400" b="1" dirty="0">
                <a:solidFill>
                  <a:srgbClr val="14201C"/>
                </a:solidFill>
                <a:latin typeface="Cambria" pitchFamily="34" charset="0"/>
                <a:ea typeface="Cambria" pitchFamily="34" charset="-122"/>
                <a:cs typeface="Cambria" pitchFamily="34" charset="-120"/>
              </a:rPr>
              <a:t>Journal entry testing under SA 240</a:t>
            </a:r>
            <a:endParaRPr lang="en-US" sz="2400" dirty="0"/>
          </a:p>
        </p:txBody>
      </p:sp>
      <p:sp>
        <p:nvSpPr>
          <p:cNvPr id="7" name="Shape 5"/>
          <p:cNvSpPr/>
          <p:nvPr/>
        </p:nvSpPr>
        <p:spPr>
          <a:xfrm>
            <a:off x="640080" y="1481328"/>
            <a:ext cx="1161288" cy="274320"/>
          </a:xfrm>
          <a:prstGeom prst="roundRect">
            <a:avLst>
              <a:gd name="adj" fmla="val 50000"/>
            </a:avLst>
          </a:prstGeom>
          <a:solidFill>
            <a:srgbClr val="E3EDE7"/>
          </a:solidFill>
          <a:ln w="9525">
            <a:solidFill>
              <a:srgbClr val="1E5A4A"/>
            </a:solidFill>
            <a:prstDash val="solid"/>
          </a:ln>
        </p:spPr>
      </p:sp>
      <p:sp>
        <p:nvSpPr>
          <p:cNvPr id="8" name="Text 6"/>
          <p:cNvSpPr txBox="1"/>
          <p:nvPr/>
        </p:nvSpPr>
        <p:spPr>
          <a:xfrm>
            <a:off x="640080" y="1481328"/>
            <a:ext cx="1161288" cy="274320"/>
          </a:xfrm>
          <a:prstGeom prst="rect">
            <a:avLst/>
          </a:prstGeom>
          <a:noFill/>
          <a:ln/>
        </p:spPr>
        <p:txBody>
          <a:bodyPr wrap="square" lIns="0" tIns="0" rIns="0" bIns="0" rtlCol="0" anchor="ctr"/>
          <a:lstStyle/>
          <a:p>
            <a:pPr algn="ctr" indent="0" marL="0">
              <a:buNone/>
            </a:pPr>
            <a:r>
              <a:rPr lang="en-US" sz="1000" b="1" spc="60" kern="0" dirty="0">
                <a:solidFill>
                  <a:srgbClr val="1E5A4A"/>
                </a:solidFill>
                <a:latin typeface="Calibri" pitchFamily="34" charset="0"/>
                <a:ea typeface="Calibri" pitchFamily="34" charset="-122"/>
                <a:cs typeface="Calibri" pitchFamily="34" charset="-120"/>
              </a:rPr>
              <a:t>SA 240</a:t>
            </a:r>
            <a:endParaRPr lang="en-US" sz="1000" dirty="0"/>
          </a:p>
        </p:txBody>
      </p:sp>
      <p:sp>
        <p:nvSpPr>
          <p:cNvPr id="9" name="Text 7"/>
          <p:cNvSpPr txBox="1"/>
          <p:nvPr/>
        </p:nvSpPr>
        <p:spPr>
          <a:xfrm>
            <a:off x="640080" y="1938528"/>
            <a:ext cx="3986784" cy="2331720"/>
          </a:xfrm>
          <a:prstGeom prst="rect">
            <a:avLst/>
          </a:prstGeom>
          <a:noFill/>
          <a:ln/>
        </p:spPr>
        <p:txBody>
          <a:bodyPr wrap="square" lIns="0" tIns="0" rIns="0" bIns="0" rtlCol="0" anchor="t"/>
          <a:lstStyle/>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SA 240 requires the auditor to test journal entries, because management override of controls is a risk in every entity. Six routines, and every flag rate is under one per cent — so the output is a work programme, not a haystack.</a:t>
            </a:r>
            <a:endParaRPr lang="en-US" sz="1350" dirty="0"/>
          </a:p>
          <a:p>
            <a:pPr indent="0" marL="0">
              <a:lnSpc>
                <a:spcPts val="2000"/>
              </a:lnSpc>
              <a:buNone/>
            </a:pPr>
            <a:endParaRPr lang="en-US" sz="1350" dirty="0"/>
          </a:p>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The population conforms to Benford, which is what makes the other routines’ findings worth looking at.</a:t>
            </a:r>
            <a:endParaRPr lang="en-US" sz="1350" dirty="0"/>
          </a:p>
        </p:txBody>
      </p:sp>
      <p:sp>
        <p:nvSpPr>
          <p:cNvPr id="10" name="Text 8"/>
          <p:cNvSpPr txBox="1"/>
          <p:nvPr/>
        </p:nvSpPr>
        <p:spPr>
          <a:xfrm>
            <a:off x="640080" y="4480560"/>
            <a:ext cx="3986784" cy="15544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Open the Journal entries tab</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Walk the six routines and their flag rates</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Point at the Benford chart and read the conclusion</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Say: a flag is a selection for examination, not a finding</a:t>
            </a:r>
            <a:endParaRPr lang="en-US" sz="1100" dirty="0"/>
          </a:p>
        </p:txBody>
      </p:sp>
      <p:sp>
        <p:nvSpPr>
          <p:cNvPr id="11" name="Shape 9"/>
          <p:cNvSpPr/>
          <p:nvPr/>
        </p:nvSpPr>
        <p:spPr>
          <a:xfrm>
            <a:off x="5042916" y="1586484"/>
            <a:ext cx="6519672" cy="4105656"/>
          </a:xfrm>
          <a:prstGeom prst="rect">
            <a:avLst/>
          </a:prstGeom>
          <a:solidFill>
            <a:srgbClr val="FFFFFF"/>
          </a:solidFill>
          <a:ln w="12700">
            <a:solidFill>
              <a:srgbClr val="C9D2CC"/>
            </a:solidFill>
            <a:prstDash val="solid"/>
          </a:ln>
          <a:effectLst>
            <a:outerShdw sx="100000" sy="100000" kx="0" ky="0" algn="bl" rotWithShape="0" blurRad="127000" dist="25400" dir="5400000">
              <a:srgbClr val="9AA79F">
                <a:alpha val="30000"/>
              </a:srgbClr>
            </a:outerShdw>
          </a:effectLst>
        </p:spPr>
      </p:sp>
      <p:pic>
        <p:nvPicPr>
          <p:cNvPr id="12" name="Image 0" descr="/tmp/shots/06_je.png">    </p:cNvPr>
          <p:cNvPicPr>
            <a:picLocks noChangeAspect="1"/>
          </p:cNvPicPr>
          <p:nvPr/>
        </p:nvPicPr>
        <p:blipFill>
          <a:blip r:embed="rId1"/>
          <a:stretch>
            <a:fillRect/>
          </a:stretch>
        </p:blipFill>
        <p:spPr>
          <a:xfrm>
            <a:off x="5084064" y="1627632"/>
            <a:ext cx="6437376" cy="40233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F0"/>
        </a:solidFill>
      </p:bgPr>
    </p:bg>
    <p:spTree>
      <p:nvGrpSpPr>
        <p:cNvPr id="1" name=""/>
        <p:cNvGrpSpPr/>
        <p:nvPr/>
      </p:nvGrpSpPr>
      <p:grpSpPr>
        <a:xfrm>
          <a:off x="0" y="0"/>
          <a:ext cx="0" cy="0"/>
          <a:chOff x="0" y="0"/>
          <a:chExt cx="0" cy="0"/>
        </a:xfrm>
      </p:grpSpPr>
      <p:sp>
        <p:nvSpPr>
          <p:cNvPr id="2" name="Text 0"/>
          <p:cNvSpPr txBox="1"/>
          <p:nvPr/>
        </p:nvSpPr>
        <p:spPr>
          <a:xfrm>
            <a:off x="640080" y="6199632"/>
            <a:ext cx="7315200" cy="274320"/>
          </a:xfrm>
          <a:prstGeom prst="rect">
            <a:avLst/>
          </a:prstGeom>
          <a:noFill/>
          <a:ln/>
        </p:spPr>
        <p:txBody>
          <a:bodyPr wrap="square" lIns="0" tIns="0" rIns="0" bIns="0" rtlCol="0" anchor="ctr"/>
          <a:lstStyle/>
          <a:p>
            <a:pPr indent="0" marL="0">
              <a:buNone/>
            </a:pPr>
            <a:r>
              <a:rPr lang="en-US" sz="900" dirty="0">
                <a:solidFill>
                  <a:srgbClr val="5D6A64"/>
                </a:solidFill>
                <a:latin typeface="Calibri" pitchFamily="34" charset="0"/>
                <a:ea typeface="Calibri" pitchFamily="34" charset="-122"/>
                <a:cs typeface="Calibri" pitchFamily="34" charset="-120"/>
              </a:rPr>
              <a:t>AuditLens  ·  AICA Level 2, Module C  ·  CA. Rajendra Bagade</a:t>
            </a:r>
            <a:endParaRPr lang="en-US" sz="900" dirty="0"/>
          </a:p>
        </p:txBody>
      </p:sp>
      <p:sp>
        <p:nvSpPr>
          <p:cNvPr id="3" name="Text 1"/>
          <p:cNvSpPr txBox="1"/>
          <p:nvPr/>
        </p:nvSpPr>
        <p:spPr>
          <a:xfrm>
            <a:off x="10972800" y="6199632"/>
            <a:ext cx="548640" cy="274320"/>
          </a:xfrm>
          <a:prstGeom prst="rect">
            <a:avLst/>
          </a:prstGeom>
          <a:noFill/>
          <a:ln/>
        </p:spPr>
        <p:txBody>
          <a:bodyPr wrap="square" lIns="0" tIns="0" rIns="0" bIns="0" rtlCol="0" anchor="ctr"/>
          <a:lstStyle/>
          <a:p>
            <a:pPr algn="r" indent="0" marL="0">
              <a:buNone/>
            </a:pPr>
            <a:r>
              <a:rPr lang="en-US" sz="900" dirty="0">
                <a:solidFill>
                  <a:srgbClr val="5D6A64"/>
                </a:solidFill>
                <a:latin typeface="Calibri" pitchFamily="34" charset="0"/>
                <a:ea typeface="Calibri" pitchFamily="34" charset="-122"/>
                <a:cs typeface="Calibri" pitchFamily="34" charset="-120"/>
              </a:rPr>
              <a:t>10</a:t>
            </a:r>
            <a:endParaRPr lang="en-US" sz="900" dirty="0"/>
          </a:p>
        </p:txBody>
      </p:sp>
      <p:sp>
        <p:nvSpPr>
          <p:cNvPr id="4" name="Shape 2"/>
          <p:cNvSpPr/>
          <p:nvPr/>
        </p:nvSpPr>
        <p:spPr>
          <a:xfrm>
            <a:off x="640080" y="310896"/>
            <a:ext cx="1298448" cy="310896"/>
          </a:xfrm>
          <a:prstGeom prst="roundRect">
            <a:avLst>
              <a:gd name="adj" fmla="val 50000"/>
            </a:avLst>
          </a:prstGeom>
          <a:solidFill>
            <a:srgbClr val="B77515"/>
          </a:solidFill>
          <a:ln w="12700">
            <a:solidFill>
              <a:srgbClr val="B77515"/>
            </a:solidFill>
            <a:prstDash val="solid"/>
          </a:ln>
        </p:spPr>
      </p:sp>
      <p:sp>
        <p:nvSpPr>
          <p:cNvPr id="5" name="Text 3"/>
          <p:cNvSpPr txBox="1"/>
          <p:nvPr/>
        </p:nvSpPr>
        <p:spPr>
          <a:xfrm>
            <a:off x="640080" y="310896"/>
            <a:ext cx="1298448"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LIVE DEMO</a:t>
            </a:r>
            <a:endParaRPr lang="en-US" sz="1000" dirty="0"/>
          </a:p>
        </p:txBody>
      </p:sp>
      <p:sp>
        <p:nvSpPr>
          <p:cNvPr id="6" name="Text 4"/>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2400" b="1" dirty="0">
                <a:solidFill>
                  <a:srgbClr val="14201C"/>
                </a:solidFill>
                <a:latin typeface="Cambria" pitchFamily="34" charset="0"/>
                <a:ea typeface="Cambria" pitchFamily="34" charset="-122"/>
                <a:cs typeface="Cambria" pitchFamily="34" charset="-120"/>
              </a:rPr>
              <a:t>When the tool says sampling is the wrong answer</a:t>
            </a:r>
            <a:endParaRPr lang="en-US" sz="2400" dirty="0"/>
          </a:p>
        </p:txBody>
      </p:sp>
      <p:sp>
        <p:nvSpPr>
          <p:cNvPr id="7" name="Shape 5"/>
          <p:cNvSpPr/>
          <p:nvPr/>
        </p:nvSpPr>
        <p:spPr>
          <a:xfrm>
            <a:off x="640080" y="1481328"/>
            <a:ext cx="2436876" cy="274320"/>
          </a:xfrm>
          <a:prstGeom prst="roundRect">
            <a:avLst>
              <a:gd name="adj" fmla="val 50000"/>
            </a:avLst>
          </a:prstGeom>
          <a:solidFill>
            <a:srgbClr val="F7ECD9"/>
          </a:solidFill>
          <a:ln w="9525">
            <a:solidFill>
              <a:srgbClr val="B77515"/>
            </a:solidFill>
            <a:prstDash val="solid"/>
          </a:ln>
        </p:spPr>
      </p:sp>
      <p:sp>
        <p:nvSpPr>
          <p:cNvPr id="8" name="Text 6"/>
          <p:cNvSpPr txBox="1"/>
          <p:nvPr/>
        </p:nvSpPr>
        <p:spPr>
          <a:xfrm>
            <a:off x="640080" y="1481328"/>
            <a:ext cx="2436876" cy="274320"/>
          </a:xfrm>
          <a:prstGeom prst="rect">
            <a:avLst/>
          </a:prstGeom>
          <a:noFill/>
          <a:ln/>
        </p:spPr>
        <p:txBody>
          <a:bodyPr wrap="square" lIns="0" tIns="0" rIns="0" bIns="0" rtlCol="0" anchor="ctr"/>
          <a:lstStyle/>
          <a:p>
            <a:pPr algn="ctr" indent="0" marL="0">
              <a:buNone/>
            </a:pPr>
            <a:r>
              <a:rPr lang="en-US" sz="1000" b="1" spc="60" kern="0" dirty="0">
                <a:solidFill>
                  <a:srgbClr val="B77515"/>
                </a:solidFill>
                <a:latin typeface="Calibri" pitchFamily="34" charset="0"/>
                <a:ea typeface="Calibri" pitchFamily="34" charset="-122"/>
                <a:cs typeface="Calibri" pitchFamily="34" charset="-120"/>
              </a:rPr>
              <a:t>SA 530 / SA 520</a:t>
            </a:r>
            <a:endParaRPr lang="en-US" sz="1000" dirty="0"/>
          </a:p>
        </p:txBody>
      </p:sp>
      <p:sp>
        <p:nvSpPr>
          <p:cNvPr id="9" name="Text 7"/>
          <p:cNvSpPr txBox="1"/>
          <p:nvPr/>
        </p:nvSpPr>
        <p:spPr>
          <a:xfrm>
            <a:off x="640080" y="1938528"/>
            <a:ext cx="3986784" cy="2331720"/>
          </a:xfrm>
          <a:prstGeom prst="rect">
            <a:avLst/>
          </a:prstGeom>
          <a:noFill/>
          <a:ln/>
        </p:spPr>
        <p:txBody>
          <a:bodyPr wrap="square" lIns="0" tIns="0" rIns="0" bIns="0" rtlCol="0" anchor="t"/>
          <a:lstStyle/>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The sample is arithmetically correct and professionally useless: it covers fifty-one per cent of the population.</a:t>
            </a:r>
            <a:endParaRPr lang="en-US" sz="1350" dirty="0"/>
          </a:p>
          <a:p>
            <a:pPr indent="0" marL="0">
              <a:lnSpc>
                <a:spcPts val="2000"/>
              </a:lnSpc>
              <a:buNone/>
            </a:pPr>
            <a:endParaRPr lang="en-US" sz="1350" dirty="0"/>
          </a:p>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So the tool says so, and points to controls reliance, substantive analytical procedures under SA 520, or stratification instead. The seed and random start are recorded so a reviewer can re-perform the selection exactly.</a:t>
            </a:r>
            <a:endParaRPr lang="en-US" sz="1350" dirty="0"/>
          </a:p>
        </p:txBody>
      </p:sp>
      <p:sp>
        <p:nvSpPr>
          <p:cNvPr id="10" name="Text 8"/>
          <p:cNvSpPr txBox="1"/>
          <p:nvPr/>
        </p:nvSpPr>
        <p:spPr>
          <a:xfrm>
            <a:off x="640080" y="4480560"/>
            <a:ext cx="3986784" cy="15544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Open the Sample tab</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Read the warning banner aloud</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Point at the seed and the random start</a:t>
            </a:r>
            <a:endParaRPr lang="en-US" sz="1100" dirty="0"/>
          </a:p>
        </p:txBody>
      </p:sp>
      <p:sp>
        <p:nvSpPr>
          <p:cNvPr id="11" name="Shape 9"/>
          <p:cNvSpPr/>
          <p:nvPr/>
        </p:nvSpPr>
        <p:spPr>
          <a:xfrm>
            <a:off x="5042916" y="1586484"/>
            <a:ext cx="6519672" cy="4105656"/>
          </a:xfrm>
          <a:prstGeom prst="rect">
            <a:avLst/>
          </a:prstGeom>
          <a:solidFill>
            <a:srgbClr val="FFFFFF"/>
          </a:solidFill>
          <a:ln w="12700">
            <a:solidFill>
              <a:srgbClr val="C9D2CC"/>
            </a:solidFill>
            <a:prstDash val="solid"/>
          </a:ln>
          <a:effectLst>
            <a:outerShdw sx="100000" sy="100000" kx="0" ky="0" algn="bl" rotWithShape="0" blurRad="127000" dist="25400" dir="5400000">
              <a:srgbClr val="9AA79F">
                <a:alpha val="30000"/>
              </a:srgbClr>
            </a:outerShdw>
          </a:effectLst>
        </p:spPr>
      </p:sp>
      <p:pic>
        <p:nvPicPr>
          <p:cNvPr id="12" name="Image 0" descr="/tmp/shots/07_sample.png">    </p:cNvPr>
          <p:cNvPicPr>
            <a:picLocks noChangeAspect="1"/>
          </p:cNvPicPr>
          <p:nvPr/>
        </p:nvPicPr>
        <p:blipFill>
          <a:blip r:embed="rId1"/>
          <a:stretch>
            <a:fillRect/>
          </a:stretch>
        </p:blipFill>
        <p:spPr>
          <a:xfrm>
            <a:off x="5084064" y="1627632"/>
            <a:ext cx="6437376" cy="40233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F0"/>
        </a:solidFill>
      </p:bgPr>
    </p:bg>
    <p:spTree>
      <p:nvGrpSpPr>
        <p:cNvPr id="1" name=""/>
        <p:cNvGrpSpPr/>
        <p:nvPr/>
      </p:nvGrpSpPr>
      <p:grpSpPr>
        <a:xfrm>
          <a:off x="0" y="0"/>
          <a:ext cx="0" cy="0"/>
          <a:chOff x="0" y="0"/>
          <a:chExt cx="0" cy="0"/>
        </a:xfrm>
      </p:grpSpPr>
      <p:sp>
        <p:nvSpPr>
          <p:cNvPr id="2" name="Text 0"/>
          <p:cNvSpPr txBox="1"/>
          <p:nvPr/>
        </p:nvSpPr>
        <p:spPr>
          <a:xfrm>
            <a:off x="640080" y="6199632"/>
            <a:ext cx="7315200" cy="274320"/>
          </a:xfrm>
          <a:prstGeom prst="rect">
            <a:avLst/>
          </a:prstGeom>
          <a:noFill/>
          <a:ln/>
        </p:spPr>
        <p:txBody>
          <a:bodyPr wrap="square" lIns="0" tIns="0" rIns="0" bIns="0" rtlCol="0" anchor="ctr"/>
          <a:lstStyle/>
          <a:p>
            <a:pPr indent="0" marL="0">
              <a:buNone/>
            </a:pPr>
            <a:r>
              <a:rPr lang="en-US" sz="900" dirty="0">
                <a:solidFill>
                  <a:srgbClr val="5D6A64"/>
                </a:solidFill>
                <a:latin typeface="Calibri" pitchFamily="34" charset="0"/>
                <a:ea typeface="Calibri" pitchFamily="34" charset="-122"/>
                <a:cs typeface="Calibri" pitchFamily="34" charset="-120"/>
              </a:rPr>
              <a:t>AuditLens  ·  AICA Level 2, Module C  ·  CA. Rajendra Bagade</a:t>
            </a:r>
            <a:endParaRPr lang="en-US" sz="900" dirty="0"/>
          </a:p>
        </p:txBody>
      </p:sp>
      <p:sp>
        <p:nvSpPr>
          <p:cNvPr id="3" name="Text 1"/>
          <p:cNvSpPr txBox="1"/>
          <p:nvPr/>
        </p:nvSpPr>
        <p:spPr>
          <a:xfrm>
            <a:off x="10972800" y="6199632"/>
            <a:ext cx="548640" cy="274320"/>
          </a:xfrm>
          <a:prstGeom prst="rect">
            <a:avLst/>
          </a:prstGeom>
          <a:noFill/>
          <a:ln/>
        </p:spPr>
        <p:txBody>
          <a:bodyPr wrap="square" lIns="0" tIns="0" rIns="0" bIns="0" rtlCol="0" anchor="ctr"/>
          <a:lstStyle/>
          <a:p>
            <a:pPr algn="r" indent="0" marL="0">
              <a:buNone/>
            </a:pPr>
            <a:r>
              <a:rPr lang="en-US" sz="900" dirty="0">
                <a:solidFill>
                  <a:srgbClr val="5D6A64"/>
                </a:solidFill>
                <a:latin typeface="Calibri" pitchFamily="34" charset="0"/>
                <a:ea typeface="Calibri" pitchFamily="34" charset="-122"/>
                <a:cs typeface="Calibri" pitchFamily="34" charset="-120"/>
              </a:rPr>
              <a:t>11</a:t>
            </a:r>
            <a:endParaRPr lang="en-US" sz="900" dirty="0"/>
          </a:p>
        </p:txBody>
      </p:sp>
      <p:sp>
        <p:nvSpPr>
          <p:cNvPr id="4" name="Shape 2"/>
          <p:cNvSpPr/>
          <p:nvPr/>
        </p:nvSpPr>
        <p:spPr>
          <a:xfrm>
            <a:off x="640080" y="310896"/>
            <a:ext cx="1298448" cy="310896"/>
          </a:xfrm>
          <a:prstGeom prst="roundRect">
            <a:avLst>
              <a:gd name="adj" fmla="val 50000"/>
            </a:avLst>
          </a:prstGeom>
          <a:solidFill>
            <a:srgbClr val="B77515"/>
          </a:solidFill>
          <a:ln w="12700">
            <a:solidFill>
              <a:srgbClr val="B77515"/>
            </a:solidFill>
            <a:prstDash val="solid"/>
          </a:ln>
        </p:spPr>
      </p:sp>
      <p:sp>
        <p:nvSpPr>
          <p:cNvPr id="5" name="Text 3"/>
          <p:cNvSpPr txBox="1"/>
          <p:nvPr/>
        </p:nvSpPr>
        <p:spPr>
          <a:xfrm>
            <a:off x="640080" y="310896"/>
            <a:ext cx="1298448"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LIVE DEMO</a:t>
            </a:r>
            <a:endParaRPr lang="en-US" sz="1000" dirty="0"/>
          </a:p>
        </p:txBody>
      </p:sp>
      <p:sp>
        <p:nvSpPr>
          <p:cNvPr id="6" name="Text 4"/>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2400" b="1" dirty="0">
                <a:solidFill>
                  <a:srgbClr val="14201C"/>
                </a:solidFill>
                <a:latin typeface="Cambria" pitchFamily="34" charset="0"/>
                <a:ea typeface="Cambria" pitchFamily="34" charset="-122"/>
                <a:cs typeface="Cambria" pitchFamily="34" charset="-120"/>
              </a:rPr>
              <a:t>CARO 2020 — twenty-one clauses, none of them answered</a:t>
            </a:r>
            <a:endParaRPr lang="en-US" sz="2400" dirty="0"/>
          </a:p>
        </p:txBody>
      </p:sp>
      <p:sp>
        <p:nvSpPr>
          <p:cNvPr id="7" name="Shape 5"/>
          <p:cNvSpPr/>
          <p:nvPr/>
        </p:nvSpPr>
        <p:spPr>
          <a:xfrm>
            <a:off x="640080" y="1481328"/>
            <a:ext cx="3429000" cy="274320"/>
          </a:xfrm>
          <a:prstGeom prst="roundRect">
            <a:avLst>
              <a:gd name="adj" fmla="val 50000"/>
            </a:avLst>
          </a:prstGeom>
          <a:solidFill>
            <a:srgbClr val="E3EDE7"/>
          </a:solidFill>
          <a:ln w="9525">
            <a:solidFill>
              <a:srgbClr val="1E5A4A"/>
            </a:solidFill>
            <a:prstDash val="solid"/>
          </a:ln>
        </p:spPr>
      </p:sp>
      <p:sp>
        <p:nvSpPr>
          <p:cNvPr id="8" name="Text 6"/>
          <p:cNvSpPr txBox="1"/>
          <p:nvPr/>
        </p:nvSpPr>
        <p:spPr>
          <a:xfrm>
            <a:off x="640080" y="1481328"/>
            <a:ext cx="3429000" cy="274320"/>
          </a:xfrm>
          <a:prstGeom prst="rect">
            <a:avLst/>
          </a:prstGeom>
          <a:noFill/>
          <a:ln/>
        </p:spPr>
        <p:txBody>
          <a:bodyPr wrap="square" lIns="0" tIns="0" rIns="0" bIns="0" rtlCol="0" anchor="ctr"/>
          <a:lstStyle/>
          <a:p>
            <a:pPr algn="ctr" indent="0" marL="0">
              <a:buNone/>
            </a:pPr>
            <a:r>
              <a:rPr lang="en-US" sz="1000" b="1" spc="60" kern="0" dirty="0">
                <a:solidFill>
                  <a:srgbClr val="1E5A4A"/>
                </a:solidFill>
                <a:latin typeface="Calibri" pitchFamily="34" charset="0"/>
                <a:ea typeface="Calibri" pitchFamily="34" charset="-122"/>
                <a:cs typeface="Calibri" pitchFamily="34" charset="-120"/>
              </a:rPr>
              <a:t>CARO 2020, paragraph 3</a:t>
            </a:r>
            <a:endParaRPr lang="en-US" sz="1000" dirty="0"/>
          </a:p>
        </p:txBody>
      </p:sp>
      <p:sp>
        <p:nvSpPr>
          <p:cNvPr id="9" name="Text 7"/>
          <p:cNvSpPr txBox="1"/>
          <p:nvPr/>
        </p:nvSpPr>
        <p:spPr>
          <a:xfrm>
            <a:off x="640080" y="1938528"/>
            <a:ext cx="3986784" cy="2331720"/>
          </a:xfrm>
          <a:prstGeom prst="rect">
            <a:avLst/>
          </a:prstGeom>
          <a:noFill/>
          <a:ln/>
        </p:spPr>
        <p:txBody>
          <a:bodyPr wrap="square" lIns="0" tIns="0" rIns="0" bIns="0" rtlCol="0" anchor="t"/>
          <a:lstStyle/>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Applicability is tested under paragraph 1(2) first. Then all twenty-one clauses, eight of them pre-populated with what the books actually evidence.</a:t>
            </a:r>
            <a:endParaRPr lang="en-US" sz="1350" dirty="0"/>
          </a:p>
          <a:p>
            <a:pPr indent="0" marL="0">
              <a:lnSpc>
                <a:spcPts val="2000"/>
              </a:lnSpc>
              <a:buNone/>
            </a:pPr>
            <a:endParaRPr lang="en-US" sz="1350" dirty="0"/>
          </a:p>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Not one is concluded. Every clause comes back with an empty auditor response, because concluding on a CARO clause is not the tool’s to do.</a:t>
            </a:r>
            <a:endParaRPr lang="en-US" sz="1350" dirty="0"/>
          </a:p>
        </p:txBody>
      </p:sp>
      <p:sp>
        <p:nvSpPr>
          <p:cNvPr id="10" name="Text 8"/>
          <p:cNvSpPr txBox="1"/>
          <p:nvPr/>
        </p:nvSpPr>
        <p:spPr>
          <a:xfrm>
            <a:off x="640080" y="4480560"/>
            <a:ext cx="3986784" cy="15544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Open the CARO 2020 tab</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Read the applicability line at the top</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Scroll to clause (xvii) or (xix) and show the evidence it pulled from the books</a:t>
            </a:r>
            <a:endParaRPr lang="en-US" sz="1100" dirty="0"/>
          </a:p>
        </p:txBody>
      </p:sp>
      <p:sp>
        <p:nvSpPr>
          <p:cNvPr id="11" name="Shape 9"/>
          <p:cNvSpPr/>
          <p:nvPr/>
        </p:nvSpPr>
        <p:spPr>
          <a:xfrm>
            <a:off x="5042916" y="1586484"/>
            <a:ext cx="6519672" cy="4105656"/>
          </a:xfrm>
          <a:prstGeom prst="rect">
            <a:avLst/>
          </a:prstGeom>
          <a:solidFill>
            <a:srgbClr val="FFFFFF"/>
          </a:solidFill>
          <a:ln w="12700">
            <a:solidFill>
              <a:srgbClr val="C9D2CC"/>
            </a:solidFill>
            <a:prstDash val="solid"/>
          </a:ln>
          <a:effectLst>
            <a:outerShdw sx="100000" sy="100000" kx="0" ky="0" algn="bl" rotWithShape="0" blurRad="127000" dist="25400" dir="5400000">
              <a:srgbClr val="9AA79F">
                <a:alpha val="30000"/>
              </a:srgbClr>
            </a:outerShdw>
          </a:effectLst>
        </p:spPr>
      </p:sp>
      <p:pic>
        <p:nvPicPr>
          <p:cNvPr id="12" name="Image 0" descr="/tmp/shots/08_caro.png">    </p:cNvPr>
          <p:cNvPicPr>
            <a:picLocks noChangeAspect="1"/>
          </p:cNvPicPr>
          <p:nvPr/>
        </p:nvPicPr>
        <p:blipFill>
          <a:blip r:embed="rId1"/>
          <a:stretch>
            <a:fillRect/>
          </a:stretch>
        </p:blipFill>
        <p:spPr>
          <a:xfrm>
            <a:off x="5084064" y="1627632"/>
            <a:ext cx="6437376" cy="40233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4F0"/>
        </a:solidFill>
      </p:bgPr>
    </p:bg>
    <p:spTree>
      <p:nvGrpSpPr>
        <p:cNvPr id="1" name=""/>
        <p:cNvGrpSpPr/>
        <p:nvPr/>
      </p:nvGrpSpPr>
      <p:grpSpPr>
        <a:xfrm>
          <a:off x="0" y="0"/>
          <a:ext cx="0" cy="0"/>
          <a:chOff x="0" y="0"/>
          <a:chExt cx="0" cy="0"/>
        </a:xfrm>
      </p:grpSpPr>
      <p:sp>
        <p:nvSpPr>
          <p:cNvPr id="2" name="Text 0"/>
          <p:cNvSpPr txBox="1"/>
          <p:nvPr/>
        </p:nvSpPr>
        <p:spPr>
          <a:xfrm>
            <a:off x="640080" y="6199632"/>
            <a:ext cx="7315200" cy="274320"/>
          </a:xfrm>
          <a:prstGeom prst="rect">
            <a:avLst/>
          </a:prstGeom>
          <a:noFill/>
          <a:ln/>
        </p:spPr>
        <p:txBody>
          <a:bodyPr wrap="square" lIns="0" tIns="0" rIns="0" bIns="0" rtlCol="0" anchor="ctr"/>
          <a:lstStyle/>
          <a:p>
            <a:pPr indent="0" marL="0">
              <a:buNone/>
            </a:pPr>
            <a:r>
              <a:rPr lang="en-US" sz="900" dirty="0">
                <a:solidFill>
                  <a:srgbClr val="5D6A64"/>
                </a:solidFill>
                <a:latin typeface="Calibri" pitchFamily="34" charset="0"/>
                <a:ea typeface="Calibri" pitchFamily="34" charset="-122"/>
                <a:cs typeface="Calibri" pitchFamily="34" charset="-120"/>
              </a:rPr>
              <a:t>AuditLens  ·  AICA Level 2, Module C  ·  CA. Rajendra Bagade</a:t>
            </a:r>
            <a:endParaRPr lang="en-US" sz="900" dirty="0"/>
          </a:p>
        </p:txBody>
      </p:sp>
      <p:sp>
        <p:nvSpPr>
          <p:cNvPr id="3" name="Text 1"/>
          <p:cNvSpPr txBox="1"/>
          <p:nvPr/>
        </p:nvSpPr>
        <p:spPr>
          <a:xfrm>
            <a:off x="10972800" y="6199632"/>
            <a:ext cx="548640" cy="274320"/>
          </a:xfrm>
          <a:prstGeom prst="rect">
            <a:avLst/>
          </a:prstGeom>
          <a:noFill/>
          <a:ln/>
        </p:spPr>
        <p:txBody>
          <a:bodyPr wrap="square" lIns="0" tIns="0" rIns="0" bIns="0" rtlCol="0" anchor="ctr"/>
          <a:lstStyle/>
          <a:p>
            <a:pPr algn="r" indent="0" marL="0">
              <a:buNone/>
            </a:pPr>
            <a:r>
              <a:rPr lang="en-US" sz="900" dirty="0">
                <a:solidFill>
                  <a:srgbClr val="5D6A64"/>
                </a:solidFill>
                <a:latin typeface="Calibri" pitchFamily="34" charset="0"/>
                <a:ea typeface="Calibri" pitchFamily="34" charset="-122"/>
                <a:cs typeface="Calibri" pitchFamily="34" charset="-120"/>
              </a:rPr>
              <a:t>12</a:t>
            </a:r>
            <a:endParaRPr lang="en-US" sz="900" dirty="0"/>
          </a:p>
        </p:txBody>
      </p:sp>
      <p:sp>
        <p:nvSpPr>
          <p:cNvPr id="4" name="Shape 2"/>
          <p:cNvSpPr/>
          <p:nvPr/>
        </p:nvSpPr>
        <p:spPr>
          <a:xfrm>
            <a:off x="640080" y="310896"/>
            <a:ext cx="1298448" cy="310896"/>
          </a:xfrm>
          <a:prstGeom prst="roundRect">
            <a:avLst>
              <a:gd name="adj" fmla="val 50000"/>
            </a:avLst>
          </a:prstGeom>
          <a:solidFill>
            <a:srgbClr val="B77515"/>
          </a:solidFill>
          <a:ln w="12700">
            <a:solidFill>
              <a:srgbClr val="B77515"/>
            </a:solidFill>
            <a:prstDash val="solid"/>
          </a:ln>
        </p:spPr>
      </p:sp>
      <p:sp>
        <p:nvSpPr>
          <p:cNvPr id="5" name="Text 3"/>
          <p:cNvSpPr txBox="1"/>
          <p:nvPr/>
        </p:nvSpPr>
        <p:spPr>
          <a:xfrm>
            <a:off x="640080" y="310896"/>
            <a:ext cx="1298448"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LIVE DEMO</a:t>
            </a:r>
            <a:endParaRPr lang="en-US" sz="1000" dirty="0"/>
          </a:p>
        </p:txBody>
      </p:sp>
      <p:sp>
        <p:nvSpPr>
          <p:cNvPr id="6" name="Text 4"/>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2400" b="1" dirty="0">
                <a:solidFill>
                  <a:srgbClr val="14201C"/>
                </a:solidFill>
                <a:latin typeface="Cambria" pitchFamily="34" charset="0"/>
                <a:ea typeface="Cambria" pitchFamily="34" charset="-122"/>
                <a:cs typeface="Cambria" pitchFamily="34" charset="-120"/>
              </a:rPr>
              <a:t>What the model is actually allowed to do</a:t>
            </a:r>
            <a:endParaRPr lang="en-US" sz="2400" dirty="0"/>
          </a:p>
        </p:txBody>
      </p:sp>
      <p:sp>
        <p:nvSpPr>
          <p:cNvPr id="7" name="Shape 5"/>
          <p:cNvSpPr/>
          <p:nvPr/>
        </p:nvSpPr>
        <p:spPr>
          <a:xfrm>
            <a:off x="640080" y="1481328"/>
            <a:ext cx="2153412" cy="274320"/>
          </a:xfrm>
          <a:prstGeom prst="roundRect">
            <a:avLst>
              <a:gd name="adj" fmla="val 50000"/>
            </a:avLst>
          </a:prstGeom>
          <a:solidFill>
            <a:srgbClr val="E3EDE7"/>
          </a:solidFill>
          <a:ln w="9525">
            <a:solidFill>
              <a:srgbClr val="1E5A4A"/>
            </a:solidFill>
            <a:prstDash val="solid"/>
          </a:ln>
        </p:spPr>
      </p:sp>
      <p:sp>
        <p:nvSpPr>
          <p:cNvPr id="8" name="Text 6"/>
          <p:cNvSpPr txBox="1"/>
          <p:nvPr/>
        </p:nvSpPr>
        <p:spPr>
          <a:xfrm>
            <a:off x="640080" y="1481328"/>
            <a:ext cx="2153412" cy="274320"/>
          </a:xfrm>
          <a:prstGeom prst="rect">
            <a:avLst/>
          </a:prstGeom>
          <a:noFill/>
          <a:ln/>
        </p:spPr>
        <p:txBody>
          <a:bodyPr wrap="square" lIns="0" tIns="0" rIns="0" bIns="0" rtlCol="0" anchor="ctr"/>
          <a:lstStyle/>
          <a:p>
            <a:pPr algn="ctr" indent="0" marL="0">
              <a:buNone/>
            </a:pPr>
            <a:r>
              <a:rPr lang="en-US" sz="1000" b="1" spc="60" kern="0" dirty="0">
                <a:solidFill>
                  <a:srgbClr val="1E5A4A"/>
                </a:solidFill>
                <a:latin typeface="Calibri" pitchFamily="34" charset="0"/>
                <a:ea typeface="Calibri" pitchFamily="34" charset="-122"/>
                <a:cs typeface="Calibri" pitchFamily="34" charset="-120"/>
              </a:rPr>
              <a:t>Day 1 · Day 2</a:t>
            </a:r>
            <a:endParaRPr lang="en-US" sz="1000" dirty="0"/>
          </a:p>
        </p:txBody>
      </p:sp>
      <p:sp>
        <p:nvSpPr>
          <p:cNvPr id="9" name="Text 7"/>
          <p:cNvSpPr txBox="1"/>
          <p:nvPr/>
        </p:nvSpPr>
        <p:spPr>
          <a:xfrm>
            <a:off x="640080" y="1938528"/>
            <a:ext cx="3986784" cy="2331720"/>
          </a:xfrm>
          <a:prstGeom prst="rect">
            <a:avLst/>
          </a:prstGeom>
          <a:noFill/>
          <a:ln/>
        </p:spPr>
        <p:txBody>
          <a:bodyPr wrap="square" lIns="0" tIns="0" rIns="0" bIns="0" rtlCol="0" anchor="t"/>
          <a:lstStyle/>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The memorandum, the ratio variance notes and the enquiry letter to management — drafted from versioned system instructions held as files in the repository.</a:t>
            </a:r>
            <a:endParaRPr lang="en-US" sz="1350" dirty="0"/>
          </a:p>
          <a:p>
            <a:pPr indent="0" marL="0">
              <a:lnSpc>
                <a:spcPts val="2000"/>
              </a:lnSpc>
              <a:buNone/>
            </a:pPr>
            <a:endParaRPr lang="en-US" sz="1350" dirty="0"/>
          </a:p>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Notice the bracketed instruction: management to state the commercial reason. The prompt forbids inventing one.</a:t>
            </a:r>
            <a:endParaRPr lang="en-US" sz="1350" dirty="0"/>
          </a:p>
        </p:txBody>
      </p:sp>
      <p:sp>
        <p:nvSpPr>
          <p:cNvPr id="10" name="Text 8"/>
          <p:cNvSpPr txBox="1"/>
          <p:nvPr/>
        </p:nvSpPr>
        <p:spPr>
          <a:xfrm>
            <a:off x="640080" y="4480560"/>
            <a:ext cx="3986784" cy="15544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Open Drafts and click Generate</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Read one ratio note and point at the bracketed instruction</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Switch to the repo and open prompts/ — show the four files and a changelog</a:t>
            </a:r>
            <a:endParaRPr lang="en-US" sz="1100" dirty="0"/>
          </a:p>
        </p:txBody>
      </p:sp>
      <p:sp>
        <p:nvSpPr>
          <p:cNvPr id="11" name="Shape 9"/>
          <p:cNvSpPr/>
          <p:nvPr/>
        </p:nvSpPr>
        <p:spPr>
          <a:xfrm>
            <a:off x="5042916" y="1586484"/>
            <a:ext cx="6519672" cy="4105656"/>
          </a:xfrm>
          <a:prstGeom prst="rect">
            <a:avLst/>
          </a:prstGeom>
          <a:solidFill>
            <a:srgbClr val="FFFFFF"/>
          </a:solidFill>
          <a:ln w="12700">
            <a:solidFill>
              <a:srgbClr val="C9D2CC"/>
            </a:solidFill>
            <a:prstDash val="solid"/>
          </a:ln>
          <a:effectLst>
            <a:outerShdw sx="100000" sy="100000" kx="0" ky="0" algn="bl" rotWithShape="0" blurRad="127000" dist="25400" dir="5400000">
              <a:srgbClr val="9AA79F">
                <a:alpha val="30000"/>
              </a:srgbClr>
            </a:outerShdw>
          </a:effectLst>
        </p:spPr>
      </p:sp>
      <p:pic>
        <p:nvPicPr>
          <p:cNvPr id="12" name="Image 0" descr="/tmp/shots/09_drafts.png">    </p:cNvPr>
          <p:cNvPicPr>
            <a:picLocks noChangeAspect="1"/>
          </p:cNvPicPr>
          <p:nvPr/>
        </p:nvPicPr>
        <p:blipFill>
          <a:blip r:embed="rId1"/>
          <a:stretch>
            <a:fillRect/>
          </a:stretch>
        </p:blipFill>
        <p:spPr>
          <a:xfrm>
            <a:off x="5084064" y="1627632"/>
            <a:ext cx="6437376" cy="40233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4F0"/>
        </a:solidFill>
      </p:bgPr>
    </p:bg>
    <p:spTree>
      <p:nvGrpSpPr>
        <p:cNvPr id="1" name=""/>
        <p:cNvGrpSpPr/>
        <p:nvPr/>
      </p:nvGrpSpPr>
      <p:grpSpPr>
        <a:xfrm>
          <a:off x="0" y="0"/>
          <a:ext cx="0" cy="0"/>
          <a:chOff x="0" y="0"/>
          <a:chExt cx="0" cy="0"/>
        </a:xfrm>
      </p:grpSpPr>
      <p:sp>
        <p:nvSpPr>
          <p:cNvPr id="2" name="Text 0"/>
          <p:cNvSpPr txBox="1"/>
          <p:nvPr/>
        </p:nvSpPr>
        <p:spPr>
          <a:xfrm>
            <a:off x="640080" y="6199632"/>
            <a:ext cx="7315200" cy="274320"/>
          </a:xfrm>
          <a:prstGeom prst="rect">
            <a:avLst/>
          </a:prstGeom>
          <a:noFill/>
          <a:ln/>
        </p:spPr>
        <p:txBody>
          <a:bodyPr wrap="square" lIns="0" tIns="0" rIns="0" bIns="0" rtlCol="0" anchor="ctr"/>
          <a:lstStyle/>
          <a:p>
            <a:pPr indent="0" marL="0">
              <a:buNone/>
            </a:pPr>
            <a:r>
              <a:rPr lang="en-US" sz="900" dirty="0">
                <a:solidFill>
                  <a:srgbClr val="5D6A64"/>
                </a:solidFill>
                <a:latin typeface="Calibri" pitchFamily="34" charset="0"/>
                <a:ea typeface="Calibri" pitchFamily="34" charset="-122"/>
                <a:cs typeface="Calibri" pitchFamily="34" charset="-120"/>
              </a:rPr>
              <a:t>AuditLens  ·  AICA Level 2, Module C  ·  CA. Rajendra Bagade</a:t>
            </a:r>
            <a:endParaRPr lang="en-US" sz="900" dirty="0"/>
          </a:p>
        </p:txBody>
      </p:sp>
      <p:sp>
        <p:nvSpPr>
          <p:cNvPr id="3" name="Text 1"/>
          <p:cNvSpPr txBox="1"/>
          <p:nvPr/>
        </p:nvSpPr>
        <p:spPr>
          <a:xfrm>
            <a:off x="10972800" y="6199632"/>
            <a:ext cx="548640" cy="274320"/>
          </a:xfrm>
          <a:prstGeom prst="rect">
            <a:avLst/>
          </a:prstGeom>
          <a:noFill/>
          <a:ln/>
        </p:spPr>
        <p:txBody>
          <a:bodyPr wrap="square" lIns="0" tIns="0" rIns="0" bIns="0" rtlCol="0" anchor="ctr"/>
          <a:lstStyle/>
          <a:p>
            <a:pPr algn="r" indent="0" marL="0">
              <a:buNone/>
            </a:pPr>
            <a:r>
              <a:rPr lang="en-US" sz="900" dirty="0">
                <a:solidFill>
                  <a:srgbClr val="5D6A64"/>
                </a:solidFill>
                <a:latin typeface="Calibri" pitchFamily="34" charset="0"/>
                <a:ea typeface="Calibri" pitchFamily="34" charset="-122"/>
                <a:cs typeface="Calibri" pitchFamily="34" charset="-120"/>
              </a:rPr>
              <a:t>13</a:t>
            </a:r>
            <a:endParaRPr lang="en-US" sz="900" dirty="0"/>
          </a:p>
        </p:txBody>
      </p:sp>
      <p:sp>
        <p:nvSpPr>
          <p:cNvPr id="4" name="Shape 2"/>
          <p:cNvSpPr/>
          <p:nvPr/>
        </p:nvSpPr>
        <p:spPr>
          <a:xfrm>
            <a:off x="640080" y="310896"/>
            <a:ext cx="1298448" cy="310896"/>
          </a:xfrm>
          <a:prstGeom prst="roundRect">
            <a:avLst>
              <a:gd name="adj" fmla="val 50000"/>
            </a:avLst>
          </a:prstGeom>
          <a:solidFill>
            <a:srgbClr val="B77515"/>
          </a:solidFill>
          <a:ln w="12700">
            <a:solidFill>
              <a:srgbClr val="B77515"/>
            </a:solidFill>
            <a:prstDash val="solid"/>
          </a:ln>
        </p:spPr>
      </p:sp>
      <p:sp>
        <p:nvSpPr>
          <p:cNvPr id="5" name="Text 3"/>
          <p:cNvSpPr txBox="1"/>
          <p:nvPr/>
        </p:nvSpPr>
        <p:spPr>
          <a:xfrm>
            <a:off x="640080" y="310896"/>
            <a:ext cx="1298448"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LIVE DEMO</a:t>
            </a:r>
            <a:endParaRPr lang="en-US" sz="1000" dirty="0"/>
          </a:p>
        </p:txBody>
      </p:sp>
      <p:sp>
        <p:nvSpPr>
          <p:cNvPr id="6" name="Text 4"/>
          <p:cNvSpPr txBox="1"/>
          <p:nvPr/>
        </p:nvSpPr>
        <p:spPr>
          <a:xfrm>
            <a:off x="640080" y="694944"/>
            <a:ext cx="10881360" cy="777240"/>
          </a:xfrm>
          <a:prstGeom prst="rect">
            <a:avLst/>
          </a:prstGeom>
          <a:noFill/>
          <a:ln/>
        </p:spPr>
        <p:txBody>
          <a:bodyPr wrap="square" lIns="0" tIns="0" rIns="0" bIns="0" rtlCol="0" anchor="ctr"/>
          <a:lstStyle/>
          <a:p>
            <a:pPr indent="0" marL="0">
              <a:buNone/>
            </a:pPr>
            <a:r>
              <a:rPr lang="en-US" sz="2400" b="1" dirty="0">
                <a:solidFill>
                  <a:srgbClr val="14201C"/>
                </a:solidFill>
                <a:latin typeface="Cambria" pitchFamily="34" charset="0"/>
                <a:ea typeface="Cambria" pitchFamily="34" charset="-122"/>
                <a:cs typeface="Cambria" pitchFamily="34" charset="-120"/>
              </a:rPr>
              <a:t>Automation, deployment, and how it is verified</a:t>
            </a:r>
            <a:endParaRPr lang="en-US" sz="2400" dirty="0"/>
          </a:p>
        </p:txBody>
      </p:sp>
      <p:sp>
        <p:nvSpPr>
          <p:cNvPr id="7" name="Shape 5"/>
          <p:cNvSpPr/>
          <p:nvPr/>
        </p:nvSpPr>
        <p:spPr>
          <a:xfrm>
            <a:off x="640080" y="1481328"/>
            <a:ext cx="2153412" cy="274320"/>
          </a:xfrm>
          <a:prstGeom prst="roundRect">
            <a:avLst>
              <a:gd name="adj" fmla="val 50000"/>
            </a:avLst>
          </a:prstGeom>
          <a:solidFill>
            <a:srgbClr val="E3EDE7"/>
          </a:solidFill>
          <a:ln w="9525">
            <a:solidFill>
              <a:srgbClr val="1E5A4A"/>
            </a:solidFill>
            <a:prstDash val="solid"/>
          </a:ln>
        </p:spPr>
      </p:sp>
      <p:sp>
        <p:nvSpPr>
          <p:cNvPr id="8" name="Text 6"/>
          <p:cNvSpPr txBox="1"/>
          <p:nvPr/>
        </p:nvSpPr>
        <p:spPr>
          <a:xfrm>
            <a:off x="640080" y="1481328"/>
            <a:ext cx="2153412" cy="274320"/>
          </a:xfrm>
          <a:prstGeom prst="rect">
            <a:avLst/>
          </a:prstGeom>
          <a:noFill/>
          <a:ln/>
        </p:spPr>
        <p:txBody>
          <a:bodyPr wrap="square" lIns="0" tIns="0" rIns="0" bIns="0" rtlCol="0" anchor="ctr"/>
          <a:lstStyle/>
          <a:p>
            <a:pPr algn="ctr" indent="0" marL="0">
              <a:buNone/>
            </a:pPr>
            <a:r>
              <a:rPr lang="en-US" sz="1000" b="1" spc="60" kern="0" dirty="0">
                <a:solidFill>
                  <a:srgbClr val="1E5A4A"/>
                </a:solidFill>
                <a:latin typeface="Calibri" pitchFamily="34" charset="0"/>
                <a:ea typeface="Calibri" pitchFamily="34" charset="-122"/>
                <a:cs typeface="Calibri" pitchFamily="34" charset="-120"/>
              </a:rPr>
              <a:t>Day 4 · Day 5</a:t>
            </a:r>
            <a:endParaRPr lang="en-US" sz="1000" dirty="0"/>
          </a:p>
        </p:txBody>
      </p:sp>
      <p:sp>
        <p:nvSpPr>
          <p:cNvPr id="9" name="Text 7"/>
          <p:cNvSpPr txBox="1"/>
          <p:nvPr/>
        </p:nvSpPr>
        <p:spPr>
          <a:xfrm>
            <a:off x="640080" y="1938528"/>
            <a:ext cx="3986784" cy="2331720"/>
          </a:xfrm>
          <a:prstGeom prst="rect">
            <a:avLst/>
          </a:prstGeom>
          <a:noFill/>
          <a:ln/>
        </p:spPr>
        <p:txBody>
          <a:bodyPr wrap="square" lIns="0" tIns="0" rIns="0" bIns="0" rtlCol="0" anchor="t"/>
          <a:lstStyle/>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Two n8n workflows: a quarterly analytical review that emails the engagement partner only when there is something to see, and a journal entry alert.</a:t>
            </a:r>
            <a:endParaRPr lang="en-US" sz="1350" dirty="0"/>
          </a:p>
          <a:p>
            <a:pPr indent="0" marL="0">
              <a:lnSpc>
                <a:spcPts val="2000"/>
              </a:lnSpc>
              <a:buNone/>
            </a:pPr>
            <a:endParaRPr lang="en-US" sz="1350" dirty="0"/>
          </a:p>
          <a:p>
            <a:pPr indent="0" marL="0">
              <a:lnSpc>
                <a:spcPts val="2000"/>
              </a:lnSpc>
              <a:buNone/>
            </a:pPr>
            <a:r>
              <a:rPr lang="en-US" sz="1350" dirty="0">
                <a:solidFill>
                  <a:srgbClr val="14201C"/>
                </a:solidFill>
                <a:latin typeface="Calibri" pitchFamily="34" charset="0"/>
                <a:ea typeface="Calibri" pitchFamily="34" charset="-122"/>
                <a:cs typeface="Calibri" pitchFamily="34" charset="-120"/>
              </a:rPr>
              <a:t>The application installs as a progressive web app. And the whole engine is covered by one hundred and twenty-four tests.</a:t>
            </a:r>
            <a:endParaRPr lang="en-US" sz="1350" dirty="0"/>
          </a:p>
        </p:txBody>
      </p:sp>
      <p:sp>
        <p:nvSpPr>
          <p:cNvPr id="10" name="Text 8"/>
          <p:cNvSpPr txBox="1"/>
          <p:nvPr/>
        </p:nvSpPr>
        <p:spPr>
          <a:xfrm>
            <a:off x="640080" y="4480560"/>
            <a:ext cx="3986784" cy="15544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Show the n8n canvas and an execution log</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Install the PWA on a phone or from the browser address bar</a:t>
            </a:r>
            <a:endParaRPr lang="en-US" sz="1100" dirty="0"/>
          </a:p>
          <a:p>
            <a:pPr marL="177800" indent="-177800">
              <a:spcAft>
                <a:spcPts val="600"/>
              </a:spcAft>
              <a:buSzPct val="100000"/>
              <a:buChar char="•"/>
            </a:pPr>
            <a:r>
              <a:rPr lang="en-US" sz="1100" dirty="0">
                <a:solidFill>
                  <a:srgbClr val="55635E"/>
                </a:solidFill>
                <a:latin typeface="Calibri" pitchFamily="34" charset="0"/>
                <a:ea typeface="Calibri" pitchFamily="34" charset="-122"/>
                <a:cs typeface="Calibri" pitchFamily="34" charset="-120"/>
              </a:rPr>
              <a:t>Run python -m pytest in a second terminal window; let the 124 tests pass on camera</a:t>
            </a:r>
            <a:endParaRPr lang="en-US" sz="1100" dirty="0"/>
          </a:p>
        </p:txBody>
      </p:sp>
      <p:sp>
        <p:nvSpPr>
          <p:cNvPr id="11" name="Shape 9"/>
          <p:cNvSpPr/>
          <p:nvPr/>
        </p:nvSpPr>
        <p:spPr>
          <a:xfrm>
            <a:off x="5042916" y="1586484"/>
            <a:ext cx="6519672" cy="4105656"/>
          </a:xfrm>
          <a:prstGeom prst="rect">
            <a:avLst/>
          </a:prstGeom>
          <a:solidFill>
            <a:srgbClr val="FFFFFF"/>
          </a:solidFill>
          <a:ln w="12700">
            <a:solidFill>
              <a:srgbClr val="C9D2CC"/>
            </a:solidFill>
            <a:prstDash val="solid"/>
          </a:ln>
          <a:effectLst>
            <a:outerShdw sx="100000" sy="100000" kx="0" ky="0" algn="bl" rotWithShape="0" blurRad="127000" dist="25400" dir="5400000">
              <a:srgbClr val="9AA79F">
                <a:alpha val="30000"/>
              </a:srgbClr>
            </a:outerShdw>
          </a:effectLst>
        </p:spPr>
      </p:sp>
      <p:pic>
        <p:nvPicPr>
          <p:cNvPr id="12" name="Image 0" descr="/tmp/shots/01_setup_crop.png">    </p:cNvPr>
          <p:cNvPicPr>
            <a:picLocks noChangeAspect="1"/>
          </p:cNvPicPr>
          <p:nvPr/>
        </p:nvPicPr>
        <p:blipFill>
          <a:blip r:embed="rId1"/>
          <a:stretch>
            <a:fillRect/>
          </a:stretch>
        </p:blipFill>
        <p:spPr>
          <a:xfrm>
            <a:off x="5084064" y="1627632"/>
            <a:ext cx="6437376" cy="40233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4F0"/>
        </a:solidFill>
      </p:bgPr>
    </p:bg>
    <p:spTree>
      <p:nvGrpSpPr>
        <p:cNvPr id="1" name=""/>
        <p:cNvGrpSpPr/>
        <p:nvPr/>
      </p:nvGrpSpPr>
      <p:grpSpPr>
        <a:xfrm>
          <a:off x="0" y="0"/>
          <a:ext cx="0" cy="0"/>
          <a:chOff x="0" y="0"/>
          <a:chExt cx="0" cy="0"/>
        </a:xfrm>
      </p:grpSpPr>
      <p:sp>
        <p:nvSpPr>
          <p:cNvPr id="2" name="Text 0"/>
          <p:cNvSpPr txBox="1"/>
          <p:nvPr/>
        </p:nvSpPr>
        <p:spPr>
          <a:xfrm>
            <a:off x="640080" y="6199632"/>
            <a:ext cx="7315200" cy="274320"/>
          </a:xfrm>
          <a:prstGeom prst="rect">
            <a:avLst/>
          </a:prstGeom>
          <a:noFill/>
          <a:ln/>
        </p:spPr>
        <p:txBody>
          <a:bodyPr wrap="square" lIns="0" tIns="0" rIns="0" bIns="0" rtlCol="0" anchor="ctr"/>
          <a:lstStyle/>
          <a:p>
            <a:pPr indent="0" marL="0">
              <a:buNone/>
            </a:pPr>
            <a:r>
              <a:rPr lang="en-US" sz="900" dirty="0">
                <a:solidFill>
                  <a:srgbClr val="5D6A64"/>
                </a:solidFill>
                <a:latin typeface="Calibri" pitchFamily="34" charset="0"/>
                <a:ea typeface="Calibri" pitchFamily="34" charset="-122"/>
                <a:cs typeface="Calibri" pitchFamily="34" charset="-120"/>
              </a:rPr>
              <a:t>AuditLens  ·  AICA Level 2, Module C  ·  CA. Rajendra Bagade</a:t>
            </a:r>
            <a:endParaRPr lang="en-US" sz="900" dirty="0"/>
          </a:p>
        </p:txBody>
      </p:sp>
      <p:sp>
        <p:nvSpPr>
          <p:cNvPr id="3" name="Text 1"/>
          <p:cNvSpPr txBox="1"/>
          <p:nvPr/>
        </p:nvSpPr>
        <p:spPr>
          <a:xfrm>
            <a:off x="10972800" y="6199632"/>
            <a:ext cx="548640" cy="274320"/>
          </a:xfrm>
          <a:prstGeom prst="rect">
            <a:avLst/>
          </a:prstGeom>
          <a:noFill/>
          <a:ln/>
        </p:spPr>
        <p:txBody>
          <a:bodyPr wrap="square" lIns="0" tIns="0" rIns="0" bIns="0" rtlCol="0" anchor="ctr"/>
          <a:lstStyle/>
          <a:p>
            <a:pPr algn="r" indent="0" marL="0">
              <a:buNone/>
            </a:pPr>
            <a:r>
              <a:rPr lang="en-US" sz="900" dirty="0">
                <a:solidFill>
                  <a:srgbClr val="5D6A64"/>
                </a:solidFill>
                <a:latin typeface="Calibri" pitchFamily="34" charset="0"/>
                <a:ea typeface="Calibri" pitchFamily="34" charset="-122"/>
                <a:cs typeface="Calibri" pitchFamily="34" charset="-120"/>
              </a:rPr>
              <a:t>14</a:t>
            </a:r>
            <a:endParaRPr lang="en-US" sz="900" dirty="0"/>
          </a:p>
        </p:txBody>
      </p:sp>
      <p:sp>
        <p:nvSpPr>
          <p:cNvPr id="4" name="Text 2"/>
          <p:cNvSpPr txBox="1"/>
          <p:nvPr/>
        </p:nvSpPr>
        <p:spPr>
          <a:xfrm>
            <a:off x="640080" y="502920"/>
            <a:ext cx="10881360" cy="777240"/>
          </a:xfrm>
          <a:prstGeom prst="rect">
            <a:avLst/>
          </a:prstGeom>
          <a:noFill/>
          <a:ln/>
        </p:spPr>
        <p:txBody>
          <a:bodyPr wrap="square" lIns="0" tIns="0" rIns="0" bIns="0" rtlCol="0" anchor="ctr"/>
          <a:lstStyle/>
          <a:p>
            <a:pPr indent="0" marL="0">
              <a:buNone/>
            </a:pPr>
            <a:r>
              <a:rPr lang="en-US" sz="3400" b="1" dirty="0">
                <a:solidFill>
                  <a:srgbClr val="14201C"/>
                </a:solidFill>
                <a:latin typeface="Cambria" pitchFamily="34" charset="0"/>
                <a:ea typeface="Cambria" pitchFamily="34" charset="-122"/>
                <a:cs typeface="Cambria" pitchFamily="34" charset="-120"/>
              </a:rPr>
              <a:t>Where each day of Level 2 appears</a:t>
            </a:r>
            <a:endParaRPr lang="en-US" sz="3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881360" cy="914400"/>
        </p:xfrm>
        <a:graphic>
          <a:graphicData uri="http://schemas.openxmlformats.org/drawingml/2006/table">
            <a:tbl>
              <a:tblPr/>
              <a:tblGrid>
                <a:gridCol w="914400"/>
                <a:gridCol w="3566160"/>
                <a:gridCol w="4114800"/>
                <a:gridCol w="2286000"/>
              </a:tblGrid>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Day</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1E5A4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Learning</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1E5A4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 it is used</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1E5A4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Evidence in the repository</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1E5A4A"/>
                    </a:solidFill>
                  </a:tcPr>
                </a:tc>
              </a:tr>
              <a:tr h="566928">
                <a:tc>
                  <a:txBody>
                    <a:bodyPr/>
                    <a:lstStyle/>
                    <a:p>
                      <a:pPr indent="0" marL="0">
                        <a:buNone/>
                      </a:pPr>
                      <a:r>
                        <a:rPr lang="en-US" sz="1150" b="1" dirty="0">
                          <a:solidFill>
                            <a:srgbClr val="1E5A4A"/>
                          </a:solidFill>
                          <a:latin typeface="Calibri" pitchFamily="34" charset="0"/>
                          <a:ea typeface="Calibri" pitchFamily="34" charset="-122"/>
                          <a:cs typeface="Calibri" pitchFamily="34" charset="-120"/>
                        </a:rPr>
                        <a:t>Day 1</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FFFFF"/>
                    </a:solidFill>
                  </a:tcPr>
                </a:tc>
                <a:tc>
                  <a:txBody>
                    <a:bodyPr/>
                    <a:lstStyle/>
                    <a:p>
                      <a:pPr indent="0" marL="0">
                        <a:buNone/>
                      </a:pPr>
                      <a:r>
                        <a:rPr lang="en-US" sz="1150" dirty="0">
                          <a:solidFill>
                            <a:srgbClr val="14201C"/>
                          </a:solidFill>
                          <a:latin typeface="Calibri" pitchFamily="34" charset="0"/>
                          <a:ea typeface="Calibri" pitchFamily="34" charset="-122"/>
                          <a:cs typeface="Calibri" pitchFamily="34" charset="-120"/>
                        </a:rPr>
                        <a:t>Agent architecture, advanced prompting</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FFFFF"/>
                    </a:solidFill>
                  </a:tcPr>
                </a:tc>
                <a:tc>
                  <a:txBody>
                    <a:bodyPr/>
                    <a:lstStyle/>
                    <a:p>
                      <a:pPr indent="0" marL="0">
                        <a:buNone/>
                      </a:pPr>
                      <a:r>
                        <a:rPr lang="en-US" sz="1150" dirty="0">
                          <a:solidFill>
                            <a:srgbClr val="14201C"/>
                          </a:solidFill>
                          <a:latin typeface="Calibri" pitchFamily="34" charset="0"/>
                          <a:ea typeface="Calibri" pitchFamily="34" charset="-122"/>
                          <a:cs typeface="Calibri" pitchFamily="34" charset="-120"/>
                        </a:rPr>
                        <a:t>Four versioned system instructions with changelogs</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FFFFF"/>
                    </a:solidFill>
                  </a:tcPr>
                </a:tc>
                <a:tc>
                  <a:txBody>
                    <a:bodyPr/>
                    <a:lstStyle/>
                    <a:p>
                      <a:pPr indent="0" marL="0">
                        <a:buNone/>
                      </a:pPr>
                      <a:r>
                        <a:rPr lang="en-US" sz="1150" dirty="0">
                          <a:solidFill>
                            <a:srgbClr val="8A5710"/>
                          </a:solidFill>
                          <a:latin typeface="Consolas" pitchFamily="34" charset="0"/>
                          <a:ea typeface="Consolas" pitchFamily="34" charset="-122"/>
                          <a:cs typeface="Consolas" pitchFamily="34" charset="-120"/>
                        </a:rPr>
                        <a:t>prompts/</a:t>
                      </a:r>
                      <a:endParaRPr lang="en-US" sz="1150" dirty="0">
                        <a:latin typeface="Consolas" charset="0"/>
                        <a:ea typeface="Consolas" charset="0"/>
                        <a:cs typeface="Consolas"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E5A4A"/>
                          </a:solidFill>
                          <a:latin typeface="Calibri" pitchFamily="34" charset="0"/>
                          <a:ea typeface="Calibri" pitchFamily="34" charset="-122"/>
                          <a:cs typeface="Calibri" pitchFamily="34" charset="-120"/>
                        </a:rPr>
                        <a:t>Day 2</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3F4F0"/>
                    </a:solidFill>
                  </a:tcPr>
                </a:tc>
                <a:tc>
                  <a:txBody>
                    <a:bodyPr/>
                    <a:lstStyle/>
                    <a:p>
                      <a:pPr indent="0" marL="0">
                        <a:buNone/>
                      </a:pPr>
                      <a:r>
                        <a:rPr lang="en-US" sz="1150" dirty="0">
                          <a:solidFill>
                            <a:srgbClr val="14201C"/>
                          </a:solidFill>
                          <a:latin typeface="Calibri" pitchFamily="34" charset="0"/>
                          <a:ea typeface="Calibri" pitchFamily="34" charset="-122"/>
                          <a:cs typeface="Calibri" pitchFamily="34" charset="-120"/>
                        </a:rPr>
                        <a:t>Gemini API, system instructions, model parameters, local models</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3F4F0"/>
                    </a:solidFill>
                  </a:tcPr>
                </a:tc>
                <a:tc>
                  <a:txBody>
                    <a:bodyPr/>
                    <a:lstStyle/>
                    <a:p>
                      <a:pPr indent="0" marL="0">
                        <a:buNone/>
                      </a:pPr>
                      <a:r>
                        <a:rPr lang="en-US" sz="1150" dirty="0">
                          <a:solidFill>
                            <a:srgbClr val="14201C"/>
                          </a:solidFill>
                          <a:latin typeface="Calibri" pitchFamily="34" charset="0"/>
                          <a:ea typeface="Calibri" pitchFamily="34" charset="-122"/>
                          <a:cs typeface="Calibri" pitchFamily="34" charset="-120"/>
                        </a:rPr>
                        <a:t>The drafting layer, with an LM Studio path for confidential engagements</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3F4F0"/>
                    </a:solidFill>
                  </a:tcPr>
                </a:tc>
                <a:tc>
                  <a:txBody>
                    <a:bodyPr/>
                    <a:lstStyle/>
                    <a:p>
                      <a:pPr indent="0" marL="0">
                        <a:buNone/>
                      </a:pPr>
                      <a:r>
                        <a:rPr lang="en-US" sz="1150" dirty="0">
                          <a:solidFill>
                            <a:srgbClr val="8A5710"/>
                          </a:solidFill>
                          <a:latin typeface="Consolas" pitchFamily="34" charset="0"/>
                          <a:ea typeface="Consolas" pitchFamily="34" charset="-122"/>
                          <a:cs typeface="Consolas" pitchFamily="34" charset="-120"/>
                        </a:rPr>
                        <a:t>narrate.py</a:t>
                      </a:r>
                      <a:endParaRPr lang="en-US" sz="1150" dirty="0">
                        <a:latin typeface="Consolas" charset="0"/>
                        <a:ea typeface="Consolas" charset="0"/>
                        <a:cs typeface="Consolas"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3F4F0"/>
                    </a:solidFill>
                  </a:tcPr>
                </a:tc>
              </a:tr>
              <a:tr h="566928">
                <a:tc>
                  <a:txBody>
                    <a:bodyPr/>
                    <a:lstStyle/>
                    <a:p>
                      <a:pPr indent="0" marL="0">
                        <a:buNone/>
                      </a:pPr>
                      <a:r>
                        <a:rPr lang="en-US" sz="1150" b="1" dirty="0">
                          <a:solidFill>
                            <a:srgbClr val="1E5A4A"/>
                          </a:solidFill>
                          <a:latin typeface="Calibri" pitchFamily="34" charset="0"/>
                          <a:ea typeface="Calibri" pitchFamily="34" charset="-122"/>
                          <a:cs typeface="Calibri" pitchFamily="34" charset="-120"/>
                        </a:rPr>
                        <a:t>Day 3</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FFFFF"/>
                    </a:solidFill>
                  </a:tcPr>
                </a:tc>
                <a:tc>
                  <a:txBody>
                    <a:bodyPr/>
                    <a:lstStyle/>
                    <a:p>
                      <a:pPr indent="0" marL="0">
                        <a:buNone/>
                      </a:pPr>
                      <a:r>
                        <a:rPr lang="en-US" sz="1150" dirty="0">
                          <a:solidFill>
                            <a:srgbClr val="14201C"/>
                          </a:solidFill>
                          <a:latin typeface="Calibri" pitchFamily="34" charset="0"/>
                          <a:ea typeface="Calibri" pitchFamily="34" charset="-122"/>
                          <a:cs typeface="Calibri" pitchFamily="34" charset="-120"/>
                        </a:rPr>
                        <a:t>Python fundamentals and core libraries</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FFFFF"/>
                    </a:solidFill>
                  </a:tcPr>
                </a:tc>
                <a:tc>
                  <a:txBody>
                    <a:bodyPr/>
                    <a:lstStyle/>
                    <a:p>
                      <a:pPr indent="0" marL="0">
                        <a:buNone/>
                      </a:pPr>
                      <a:r>
                        <a:rPr lang="en-US" sz="1150" dirty="0">
                          <a:solidFill>
                            <a:srgbClr val="14201C"/>
                          </a:solidFill>
                          <a:latin typeface="Calibri" pitchFamily="34" charset="0"/>
                          <a:ea typeface="Calibri" pitchFamily="34" charset="-122"/>
                          <a:cs typeface="Calibri" pitchFamily="34" charset="-120"/>
                        </a:rPr>
                        <a:t>The whole engine — thirteen modules</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FFFFF"/>
                    </a:solidFill>
                  </a:tcPr>
                </a:tc>
                <a:tc>
                  <a:txBody>
                    <a:bodyPr/>
                    <a:lstStyle/>
                    <a:p>
                      <a:pPr indent="0" marL="0">
                        <a:buNone/>
                      </a:pPr>
                      <a:r>
                        <a:rPr lang="en-US" sz="1150" dirty="0">
                          <a:solidFill>
                            <a:srgbClr val="8A5710"/>
                          </a:solidFill>
                          <a:latin typeface="Consolas" pitchFamily="34" charset="0"/>
                          <a:ea typeface="Consolas" pitchFamily="34" charset="-122"/>
                          <a:cs typeface="Consolas" pitchFamily="34" charset="-120"/>
                        </a:rPr>
                        <a:t>src/auditlens/</a:t>
                      </a:r>
                      <a:endParaRPr lang="en-US" sz="1150" dirty="0">
                        <a:latin typeface="Consolas" charset="0"/>
                        <a:ea typeface="Consolas" charset="0"/>
                        <a:cs typeface="Consolas"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E5A4A"/>
                          </a:solidFill>
                          <a:latin typeface="Calibri" pitchFamily="34" charset="0"/>
                          <a:ea typeface="Calibri" pitchFamily="34" charset="-122"/>
                          <a:cs typeface="Calibri" pitchFamily="34" charset="-120"/>
                        </a:rPr>
                        <a:t>Day 4</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3F4F0"/>
                    </a:solidFill>
                  </a:tcPr>
                </a:tc>
                <a:tc>
                  <a:txBody>
                    <a:bodyPr/>
                    <a:lstStyle/>
                    <a:p>
                      <a:pPr indent="0" marL="0">
                        <a:buNone/>
                      </a:pPr>
                      <a:r>
                        <a:rPr lang="en-US" sz="1150" dirty="0">
                          <a:solidFill>
                            <a:srgbClr val="14201C"/>
                          </a:solidFill>
                          <a:latin typeface="Calibri" pitchFamily="34" charset="0"/>
                          <a:ea typeface="Calibri" pitchFamily="34" charset="-122"/>
                          <a:cs typeface="Calibri" pitchFamily="34" charset="-120"/>
                        </a:rPr>
                        <a:t>Full-stack build, PWA, deployment</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3F4F0"/>
                    </a:solidFill>
                  </a:tcPr>
                </a:tc>
                <a:tc>
                  <a:txBody>
                    <a:bodyPr/>
                    <a:lstStyle/>
                    <a:p>
                      <a:pPr indent="0" marL="0">
                        <a:buNone/>
                      </a:pPr>
                      <a:r>
                        <a:rPr lang="en-US" sz="1150" dirty="0">
                          <a:solidFill>
                            <a:srgbClr val="14201C"/>
                          </a:solidFill>
                          <a:latin typeface="Calibri" pitchFamily="34" charset="0"/>
                          <a:ea typeface="Calibri" pitchFamily="34" charset="-122"/>
                          <a:cs typeface="Calibri" pitchFamily="34" charset="-120"/>
                        </a:rPr>
                        <a:t>Installable dashboard and workpaper download</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3F4F0"/>
                    </a:solidFill>
                  </a:tcPr>
                </a:tc>
                <a:tc>
                  <a:txBody>
                    <a:bodyPr/>
                    <a:lstStyle/>
                    <a:p>
                      <a:pPr indent="0" marL="0">
                        <a:buNone/>
                      </a:pPr>
                      <a:r>
                        <a:rPr lang="en-US" sz="1150" dirty="0">
                          <a:solidFill>
                            <a:srgbClr val="8A5710"/>
                          </a:solidFill>
                          <a:latin typeface="Consolas" pitchFamily="34" charset="0"/>
                          <a:ea typeface="Consolas" pitchFamily="34" charset="-122"/>
                          <a:cs typeface="Consolas" pitchFamily="34" charset="-120"/>
                        </a:rPr>
                        <a:t>web/</a:t>
                      </a:r>
                      <a:endParaRPr lang="en-US" sz="1150" dirty="0">
                        <a:latin typeface="Consolas" charset="0"/>
                        <a:ea typeface="Consolas" charset="0"/>
                        <a:cs typeface="Consolas"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3F4F0"/>
                    </a:solidFill>
                  </a:tcPr>
                </a:tc>
              </a:tr>
              <a:tr h="566928">
                <a:tc>
                  <a:txBody>
                    <a:bodyPr/>
                    <a:lstStyle/>
                    <a:p>
                      <a:pPr indent="0" marL="0">
                        <a:buNone/>
                      </a:pPr>
                      <a:r>
                        <a:rPr lang="en-US" sz="1150" b="1" dirty="0">
                          <a:solidFill>
                            <a:srgbClr val="1E5A4A"/>
                          </a:solidFill>
                          <a:latin typeface="Calibri" pitchFamily="34" charset="0"/>
                          <a:ea typeface="Calibri" pitchFamily="34" charset="-122"/>
                          <a:cs typeface="Calibri" pitchFamily="34" charset="-120"/>
                        </a:rPr>
                        <a:t>Day 5</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FFFFF"/>
                    </a:solidFill>
                  </a:tcPr>
                </a:tc>
                <a:tc>
                  <a:txBody>
                    <a:bodyPr/>
                    <a:lstStyle/>
                    <a:p>
                      <a:pPr indent="0" marL="0">
                        <a:buNone/>
                      </a:pPr>
                      <a:r>
                        <a:rPr lang="en-US" sz="1150" dirty="0">
                          <a:solidFill>
                            <a:srgbClr val="14201C"/>
                          </a:solidFill>
                          <a:latin typeface="Calibri" pitchFamily="34" charset="0"/>
                          <a:ea typeface="Calibri" pitchFamily="34" charset="-122"/>
                          <a:cs typeface="Calibri" pitchFamily="34" charset="-120"/>
                        </a:rPr>
                        <a:t>n8n workflow automation</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FFFFF"/>
                    </a:solidFill>
                  </a:tcPr>
                </a:tc>
                <a:tc>
                  <a:txBody>
                    <a:bodyPr/>
                    <a:lstStyle/>
                    <a:p>
                      <a:pPr indent="0" marL="0">
                        <a:buNone/>
                      </a:pPr>
                      <a:r>
                        <a:rPr lang="en-US" sz="1150" dirty="0">
                          <a:solidFill>
                            <a:srgbClr val="14201C"/>
                          </a:solidFill>
                          <a:latin typeface="Calibri" pitchFamily="34" charset="0"/>
                          <a:ea typeface="Calibri" pitchFamily="34" charset="-122"/>
                          <a:cs typeface="Calibri" pitchFamily="34" charset="-120"/>
                        </a:rPr>
                        <a:t>Quarterly review and journal entry alert</a:t>
                      </a:r>
                      <a:endParaRPr lang="en-US" sz="1150" dirty="0">
                        <a:latin typeface="Calibri" charset="0"/>
                        <a:ea typeface="Calibri" charset="0"/>
                        <a:cs typeface="Calibri"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FFFFF"/>
                    </a:solidFill>
                  </a:tcPr>
                </a:tc>
                <a:tc>
                  <a:txBody>
                    <a:bodyPr/>
                    <a:lstStyle/>
                    <a:p>
                      <a:pPr indent="0" marL="0">
                        <a:buNone/>
                      </a:pPr>
                      <a:r>
                        <a:rPr lang="en-US" sz="1150" dirty="0">
                          <a:solidFill>
                            <a:srgbClr val="8A5710"/>
                          </a:solidFill>
                          <a:latin typeface="Consolas" pitchFamily="34" charset="0"/>
                          <a:ea typeface="Consolas" pitchFamily="34" charset="-122"/>
                          <a:cs typeface="Consolas" pitchFamily="34" charset="-120"/>
                        </a:rPr>
                        <a:t>automation/</a:t>
                      </a:r>
                      <a:endParaRPr lang="en-US" sz="1150" dirty="0">
                        <a:latin typeface="Consolas" charset="0"/>
                        <a:ea typeface="Consolas" charset="0"/>
                        <a:cs typeface="Consolas" charset="0"/>
                      </a:endParaRPr>
                    </a:p>
                  </a:txBody>
                  <a:tcPr marL="91440" marR="91440" marT="45720" marB="45720" anchor="ctr">
                    <a:lnL w="12700" cap="flat" cmpd="sng" algn="ctr">
                      <a:solidFill>
                        <a:srgbClr val="D7DCD5"/>
                      </a:solidFill>
                      <a:prstDash val="solid"/>
                      <a:round/>
                      <a:headEnd type="none" w="med" len="med"/>
                      <a:tailEnd type="none" w="med" len="med"/>
                    </a:lnL>
                    <a:lnR w="12700" cap="flat" cmpd="sng" algn="ctr">
                      <a:solidFill>
                        <a:srgbClr val="D7DCD5"/>
                      </a:solidFill>
                      <a:prstDash val="solid"/>
                      <a:round/>
                      <a:headEnd type="none" w="med" len="med"/>
                      <a:tailEnd type="none" w="med" len="med"/>
                    </a:lnR>
                    <a:lnT w="12700" cap="flat" cmpd="sng" algn="ctr">
                      <a:solidFill>
                        <a:srgbClr val="D7DCD5"/>
                      </a:solidFill>
                      <a:prstDash val="solid"/>
                      <a:round/>
                      <a:headEnd type="none" w="med" len="med"/>
                      <a:tailEnd type="none" w="med" len="med"/>
                    </a:lnT>
                    <a:lnB w="12700" cap="flat" cmpd="sng" algn="ctr">
                      <a:solidFill>
                        <a:srgbClr val="D7DCD5"/>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40080" y="5029200"/>
            <a:ext cx="10515600" cy="457200"/>
          </a:xfrm>
          <a:prstGeom prst="rect">
            <a:avLst/>
          </a:prstGeom>
          <a:noFill/>
          <a:ln/>
        </p:spPr>
        <p:txBody>
          <a:bodyPr wrap="square" lIns="0" tIns="0" rIns="0" bIns="0" rtlCol="0" anchor="ctr"/>
          <a:lstStyle/>
          <a:p>
            <a:pPr indent="0" marL="0">
              <a:buNone/>
            </a:pPr>
            <a:r>
              <a:rPr lang="en-US" sz="1500" i="1" dirty="0">
                <a:solidFill>
                  <a:srgbClr val="1E5A4A"/>
                </a:solidFill>
                <a:latin typeface="Cambria" pitchFamily="34" charset="0"/>
                <a:ea typeface="Cambria" pitchFamily="34" charset="-122"/>
                <a:cs typeface="Cambria" pitchFamily="34" charset="-120"/>
              </a:rPr>
              <a:t>This table is in the README as well, so the evaluator can find each day’s evidence without hunting for it.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4F0"/>
        </a:solidFill>
      </p:bgPr>
    </p:bg>
    <p:spTree>
      <p:nvGrpSpPr>
        <p:cNvPr id="1" name=""/>
        <p:cNvGrpSpPr/>
        <p:nvPr/>
      </p:nvGrpSpPr>
      <p:grpSpPr>
        <a:xfrm>
          <a:off x="0" y="0"/>
          <a:ext cx="0" cy="0"/>
          <a:chOff x="0" y="0"/>
          <a:chExt cx="0" cy="0"/>
        </a:xfrm>
      </p:grpSpPr>
      <p:sp>
        <p:nvSpPr>
          <p:cNvPr id="2" name="Text 0"/>
          <p:cNvSpPr txBox="1"/>
          <p:nvPr/>
        </p:nvSpPr>
        <p:spPr>
          <a:xfrm>
            <a:off x="640080" y="6199632"/>
            <a:ext cx="7315200" cy="274320"/>
          </a:xfrm>
          <a:prstGeom prst="rect">
            <a:avLst/>
          </a:prstGeom>
          <a:noFill/>
          <a:ln/>
        </p:spPr>
        <p:txBody>
          <a:bodyPr wrap="square" lIns="0" tIns="0" rIns="0" bIns="0" rtlCol="0" anchor="ctr"/>
          <a:lstStyle/>
          <a:p>
            <a:pPr indent="0" marL="0">
              <a:buNone/>
            </a:pPr>
            <a:r>
              <a:rPr lang="en-US" sz="900" dirty="0">
                <a:solidFill>
                  <a:srgbClr val="5D6A64"/>
                </a:solidFill>
                <a:latin typeface="Calibri" pitchFamily="34" charset="0"/>
                <a:ea typeface="Calibri" pitchFamily="34" charset="-122"/>
                <a:cs typeface="Calibri" pitchFamily="34" charset="-120"/>
              </a:rPr>
              <a:t>AuditLens  ·  AICA Level 2, Module C  ·  CA. Rajendra Bagade</a:t>
            </a:r>
            <a:endParaRPr lang="en-US" sz="900" dirty="0"/>
          </a:p>
        </p:txBody>
      </p:sp>
      <p:sp>
        <p:nvSpPr>
          <p:cNvPr id="3" name="Text 1"/>
          <p:cNvSpPr txBox="1"/>
          <p:nvPr/>
        </p:nvSpPr>
        <p:spPr>
          <a:xfrm>
            <a:off x="10972800" y="6199632"/>
            <a:ext cx="548640" cy="274320"/>
          </a:xfrm>
          <a:prstGeom prst="rect">
            <a:avLst/>
          </a:prstGeom>
          <a:noFill/>
          <a:ln/>
        </p:spPr>
        <p:txBody>
          <a:bodyPr wrap="square" lIns="0" tIns="0" rIns="0" bIns="0" rtlCol="0" anchor="ctr"/>
          <a:lstStyle/>
          <a:p>
            <a:pPr algn="r" indent="0" marL="0">
              <a:buNone/>
            </a:pPr>
            <a:r>
              <a:rPr lang="en-US" sz="900" dirty="0">
                <a:solidFill>
                  <a:srgbClr val="5D6A64"/>
                </a:solidFill>
                <a:latin typeface="Calibri" pitchFamily="34" charset="0"/>
                <a:ea typeface="Calibri" pitchFamily="34" charset="-122"/>
                <a:cs typeface="Calibri" pitchFamily="34" charset="-120"/>
              </a:rPr>
              <a:t>15</a:t>
            </a:r>
            <a:endParaRPr lang="en-US" sz="900" dirty="0"/>
          </a:p>
        </p:txBody>
      </p:sp>
      <p:sp>
        <p:nvSpPr>
          <p:cNvPr id="4" name="Text 2"/>
          <p:cNvSpPr txBox="1"/>
          <p:nvPr/>
        </p:nvSpPr>
        <p:spPr>
          <a:xfrm>
            <a:off x="640080" y="502920"/>
            <a:ext cx="10881360" cy="777240"/>
          </a:xfrm>
          <a:prstGeom prst="rect">
            <a:avLst/>
          </a:prstGeom>
          <a:noFill/>
          <a:ln/>
        </p:spPr>
        <p:txBody>
          <a:bodyPr wrap="square" lIns="0" tIns="0" rIns="0" bIns="0" rtlCol="0" anchor="ctr"/>
          <a:lstStyle/>
          <a:p>
            <a:pPr indent="0" marL="0">
              <a:buNone/>
            </a:pPr>
            <a:r>
              <a:rPr lang="en-US" sz="3400" b="1" dirty="0">
                <a:solidFill>
                  <a:srgbClr val="14201C"/>
                </a:solidFill>
                <a:latin typeface="Cambria" pitchFamily="34" charset="0"/>
                <a:ea typeface="Cambria" pitchFamily="34" charset="-122"/>
                <a:cs typeface="Cambria" pitchFamily="34" charset="-120"/>
              </a:rPr>
              <a:t>What it does not do</a:t>
            </a:r>
            <a:endParaRPr lang="en-US" sz="3400" dirty="0"/>
          </a:p>
        </p:txBody>
      </p:sp>
      <p:sp>
        <p:nvSpPr>
          <p:cNvPr id="5" name="Text 3"/>
          <p:cNvSpPr txBox="1"/>
          <p:nvPr/>
        </p:nvSpPr>
        <p:spPr>
          <a:xfrm>
            <a:off x="640080" y="1298448"/>
            <a:ext cx="7315200" cy="320040"/>
          </a:xfrm>
          <a:prstGeom prst="rect">
            <a:avLst/>
          </a:prstGeom>
          <a:noFill/>
          <a:ln/>
        </p:spPr>
        <p:txBody>
          <a:bodyPr wrap="square" lIns="0" tIns="0" rIns="0" bIns="0" rtlCol="0" anchor="ctr"/>
          <a:lstStyle/>
          <a:p>
            <a:pPr indent="0" marL="0">
              <a:buNone/>
            </a:pPr>
            <a:r>
              <a:rPr lang="en-US" sz="1350" dirty="0">
                <a:solidFill>
                  <a:srgbClr val="55635E"/>
                </a:solidFill>
                <a:latin typeface="Calibri" pitchFamily="34" charset="0"/>
                <a:ea typeface="Calibri" pitchFamily="34" charset="-122"/>
                <a:cs typeface="Calibri" pitchFamily="34" charset="-120"/>
              </a:rPr>
              <a:t>Stated here rather than left for a reviewer to find.</a:t>
            </a:r>
            <a:endParaRPr lang="en-US" sz="1350" dirty="0"/>
          </a:p>
        </p:txBody>
      </p:sp>
      <p:sp>
        <p:nvSpPr>
          <p:cNvPr id="6" name="Shape 4"/>
          <p:cNvSpPr/>
          <p:nvPr/>
        </p:nvSpPr>
        <p:spPr>
          <a:xfrm>
            <a:off x="640080" y="1783080"/>
            <a:ext cx="5257800" cy="1115568"/>
          </a:xfrm>
          <a:prstGeom prst="rect">
            <a:avLst/>
          </a:prstGeom>
          <a:solidFill>
            <a:srgbClr val="FFFFFF"/>
          </a:solidFill>
          <a:ln w="12700">
            <a:solidFill>
              <a:srgbClr val="D7DCD5"/>
            </a:solidFill>
            <a:prstDash val="solid"/>
          </a:ln>
        </p:spPr>
      </p:sp>
      <p:sp>
        <p:nvSpPr>
          <p:cNvPr id="7" name="Text 5"/>
          <p:cNvSpPr txBox="1"/>
          <p:nvPr/>
        </p:nvSpPr>
        <p:spPr>
          <a:xfrm>
            <a:off x="896112" y="1911096"/>
            <a:ext cx="4754880" cy="292608"/>
          </a:xfrm>
          <a:prstGeom prst="rect">
            <a:avLst/>
          </a:prstGeom>
          <a:noFill/>
          <a:ln/>
        </p:spPr>
        <p:txBody>
          <a:bodyPr wrap="square" lIns="0" tIns="0" rIns="0" bIns="0" rtlCol="0" anchor="ctr"/>
          <a:lstStyle/>
          <a:p>
            <a:pPr indent="0" marL="0">
              <a:buNone/>
            </a:pPr>
            <a:r>
              <a:rPr lang="en-US" sz="1300" b="1" dirty="0">
                <a:solidFill>
                  <a:srgbClr val="1E5A4A"/>
                </a:solidFill>
                <a:latin typeface="Calibri" pitchFamily="34" charset="0"/>
                <a:ea typeface="Calibri" pitchFamily="34" charset="-122"/>
                <a:cs typeface="Calibri" pitchFamily="34" charset="-120"/>
              </a:rPr>
              <a:t>Division I only</a:t>
            </a:r>
            <a:endParaRPr lang="en-US" sz="1300" dirty="0"/>
          </a:p>
        </p:txBody>
      </p:sp>
      <p:sp>
        <p:nvSpPr>
          <p:cNvPr id="8" name="Text 6"/>
          <p:cNvSpPr txBox="1"/>
          <p:nvPr/>
        </p:nvSpPr>
        <p:spPr>
          <a:xfrm>
            <a:off x="896112" y="2203704"/>
            <a:ext cx="4754880" cy="621792"/>
          </a:xfrm>
          <a:prstGeom prst="rect">
            <a:avLst/>
          </a:prstGeom>
          <a:noFill/>
          <a:ln/>
        </p:spPr>
        <p:txBody>
          <a:bodyPr wrap="square" lIns="0" tIns="0" rIns="0" bIns="0" rtlCol="0" anchor="ctr"/>
          <a:lstStyle/>
          <a:p>
            <a:pPr indent="0" marL="0">
              <a:lnSpc>
                <a:spcPts val="1400"/>
              </a:lnSpc>
              <a:buNone/>
            </a:pPr>
            <a:r>
              <a:rPr lang="en-US" sz="1050" dirty="0">
                <a:solidFill>
                  <a:srgbClr val="55635E"/>
                </a:solidFill>
                <a:latin typeface="Calibri" pitchFamily="34" charset="0"/>
                <a:ea typeface="Calibri" pitchFamily="34" charset="-122"/>
                <a:cs typeface="Calibri" pitchFamily="34" charset="-120"/>
              </a:rPr>
              <a:t>Ind AS (Division II) and NBFC presentation (Division III) are not implemented. The head list would be replaced; the engine around it would not.</a:t>
            </a:r>
            <a:endParaRPr lang="en-US" sz="1050" dirty="0"/>
          </a:p>
        </p:txBody>
      </p:sp>
      <p:sp>
        <p:nvSpPr>
          <p:cNvPr id="9" name="Shape 7"/>
          <p:cNvSpPr/>
          <p:nvPr/>
        </p:nvSpPr>
        <p:spPr>
          <a:xfrm>
            <a:off x="6263640" y="1783080"/>
            <a:ext cx="5257800" cy="1115568"/>
          </a:xfrm>
          <a:prstGeom prst="rect">
            <a:avLst/>
          </a:prstGeom>
          <a:solidFill>
            <a:srgbClr val="FFFFFF"/>
          </a:solidFill>
          <a:ln w="12700">
            <a:solidFill>
              <a:srgbClr val="D7DCD5"/>
            </a:solidFill>
            <a:prstDash val="solid"/>
          </a:ln>
        </p:spPr>
      </p:sp>
      <p:sp>
        <p:nvSpPr>
          <p:cNvPr id="10" name="Text 8"/>
          <p:cNvSpPr txBox="1"/>
          <p:nvPr/>
        </p:nvSpPr>
        <p:spPr>
          <a:xfrm>
            <a:off x="6519672" y="1911096"/>
            <a:ext cx="4754880" cy="292608"/>
          </a:xfrm>
          <a:prstGeom prst="rect">
            <a:avLst/>
          </a:prstGeom>
          <a:noFill/>
          <a:ln/>
        </p:spPr>
        <p:txBody>
          <a:bodyPr wrap="square" lIns="0" tIns="0" rIns="0" bIns="0" rtlCol="0" anchor="ctr"/>
          <a:lstStyle/>
          <a:p>
            <a:pPr indent="0" marL="0">
              <a:buNone/>
            </a:pPr>
            <a:r>
              <a:rPr lang="en-US" sz="1300" b="1" dirty="0">
                <a:solidFill>
                  <a:srgbClr val="1E5A4A"/>
                </a:solidFill>
                <a:latin typeface="Calibri" pitchFamily="34" charset="0"/>
                <a:ea typeface="Calibri" pitchFamily="34" charset="-122"/>
                <a:cs typeface="Calibri" pitchFamily="34" charset="-120"/>
              </a:rPr>
              <a:t>It forms no opinion</a:t>
            </a:r>
            <a:endParaRPr lang="en-US" sz="1300" dirty="0"/>
          </a:p>
        </p:txBody>
      </p:sp>
      <p:sp>
        <p:nvSpPr>
          <p:cNvPr id="11" name="Text 9"/>
          <p:cNvSpPr txBox="1"/>
          <p:nvPr/>
        </p:nvSpPr>
        <p:spPr>
          <a:xfrm>
            <a:off x="6519672" y="2203704"/>
            <a:ext cx="4754880" cy="621792"/>
          </a:xfrm>
          <a:prstGeom prst="rect">
            <a:avLst/>
          </a:prstGeom>
          <a:noFill/>
          <a:ln/>
        </p:spPr>
        <p:txBody>
          <a:bodyPr wrap="square" lIns="0" tIns="0" rIns="0" bIns="0" rtlCol="0" anchor="ctr"/>
          <a:lstStyle/>
          <a:p>
            <a:pPr indent="0" marL="0">
              <a:lnSpc>
                <a:spcPts val="1400"/>
              </a:lnSpc>
              <a:buNone/>
            </a:pPr>
            <a:r>
              <a:rPr lang="en-US" sz="1050" dirty="0">
                <a:solidFill>
                  <a:srgbClr val="55635E"/>
                </a:solidFill>
                <a:latin typeface="Calibri" pitchFamily="34" charset="0"/>
                <a:ea typeface="Calibri" pitchFamily="34" charset="-122"/>
                <a:cs typeface="Calibri" pitchFamily="34" charset="-120"/>
              </a:rPr>
              <a:t>And concludes on no CARO clause.</a:t>
            </a:r>
            <a:endParaRPr lang="en-US" sz="1050" dirty="0"/>
          </a:p>
        </p:txBody>
      </p:sp>
      <p:sp>
        <p:nvSpPr>
          <p:cNvPr id="12" name="Shape 10"/>
          <p:cNvSpPr/>
          <p:nvPr/>
        </p:nvSpPr>
        <p:spPr>
          <a:xfrm>
            <a:off x="640080" y="3081528"/>
            <a:ext cx="5257800" cy="1115568"/>
          </a:xfrm>
          <a:prstGeom prst="rect">
            <a:avLst/>
          </a:prstGeom>
          <a:solidFill>
            <a:srgbClr val="FFFFFF"/>
          </a:solidFill>
          <a:ln w="12700">
            <a:solidFill>
              <a:srgbClr val="D7DCD5"/>
            </a:solidFill>
            <a:prstDash val="solid"/>
          </a:ln>
        </p:spPr>
      </p:sp>
      <p:sp>
        <p:nvSpPr>
          <p:cNvPr id="13" name="Text 11"/>
          <p:cNvSpPr txBox="1"/>
          <p:nvPr/>
        </p:nvSpPr>
        <p:spPr>
          <a:xfrm>
            <a:off x="896112" y="3209544"/>
            <a:ext cx="4754880" cy="292608"/>
          </a:xfrm>
          <a:prstGeom prst="rect">
            <a:avLst/>
          </a:prstGeom>
          <a:noFill/>
          <a:ln/>
        </p:spPr>
        <p:txBody>
          <a:bodyPr wrap="square" lIns="0" tIns="0" rIns="0" bIns="0" rtlCol="0" anchor="ctr"/>
          <a:lstStyle/>
          <a:p>
            <a:pPr indent="0" marL="0">
              <a:buNone/>
            </a:pPr>
            <a:r>
              <a:rPr lang="en-US" sz="1300" b="1" dirty="0">
                <a:solidFill>
                  <a:srgbClr val="1E5A4A"/>
                </a:solidFill>
                <a:latin typeface="Calibri" pitchFamily="34" charset="0"/>
                <a:ea typeface="Calibri" pitchFamily="34" charset="-122"/>
                <a:cs typeface="Calibri" pitchFamily="34" charset="-120"/>
              </a:rPr>
              <a:t>It does not set materiality</a:t>
            </a:r>
            <a:endParaRPr lang="en-US" sz="1300" dirty="0"/>
          </a:p>
        </p:txBody>
      </p:sp>
      <p:sp>
        <p:nvSpPr>
          <p:cNvPr id="14" name="Text 12"/>
          <p:cNvSpPr txBox="1"/>
          <p:nvPr/>
        </p:nvSpPr>
        <p:spPr>
          <a:xfrm>
            <a:off x="896112" y="3502152"/>
            <a:ext cx="4754880" cy="621792"/>
          </a:xfrm>
          <a:prstGeom prst="rect">
            <a:avLst/>
          </a:prstGeom>
          <a:noFill/>
          <a:ln/>
        </p:spPr>
        <p:txBody>
          <a:bodyPr wrap="square" lIns="0" tIns="0" rIns="0" bIns="0" rtlCol="0" anchor="ctr"/>
          <a:lstStyle/>
          <a:p>
            <a:pPr indent="0" marL="0">
              <a:lnSpc>
                <a:spcPts val="1400"/>
              </a:lnSpc>
              <a:buNone/>
            </a:pPr>
            <a:r>
              <a:rPr lang="en-US" sz="1050" dirty="0">
                <a:solidFill>
                  <a:srgbClr val="55635E"/>
                </a:solidFill>
                <a:latin typeface="Calibri" pitchFamily="34" charset="0"/>
                <a:ea typeface="Calibri" pitchFamily="34" charset="-122"/>
                <a:cs typeface="Calibri" pitchFamily="34" charset="-120"/>
              </a:rPr>
              <a:t>It computes it from the benchmark and rate the auditor chooses, and flags a rate outside the customary range.</a:t>
            </a:r>
            <a:endParaRPr lang="en-US" sz="1050" dirty="0"/>
          </a:p>
        </p:txBody>
      </p:sp>
      <p:sp>
        <p:nvSpPr>
          <p:cNvPr id="15" name="Shape 13"/>
          <p:cNvSpPr/>
          <p:nvPr/>
        </p:nvSpPr>
        <p:spPr>
          <a:xfrm>
            <a:off x="6263640" y="3081528"/>
            <a:ext cx="5257800" cy="1115568"/>
          </a:xfrm>
          <a:prstGeom prst="rect">
            <a:avLst/>
          </a:prstGeom>
          <a:solidFill>
            <a:srgbClr val="FFFFFF"/>
          </a:solidFill>
          <a:ln w="12700">
            <a:solidFill>
              <a:srgbClr val="D7DCD5"/>
            </a:solidFill>
            <a:prstDash val="solid"/>
          </a:ln>
        </p:spPr>
      </p:sp>
      <p:sp>
        <p:nvSpPr>
          <p:cNvPr id="16" name="Text 14"/>
          <p:cNvSpPr txBox="1"/>
          <p:nvPr/>
        </p:nvSpPr>
        <p:spPr>
          <a:xfrm>
            <a:off x="6519672" y="3209544"/>
            <a:ext cx="4754880" cy="292608"/>
          </a:xfrm>
          <a:prstGeom prst="rect">
            <a:avLst/>
          </a:prstGeom>
          <a:noFill/>
          <a:ln/>
        </p:spPr>
        <p:txBody>
          <a:bodyPr wrap="square" lIns="0" tIns="0" rIns="0" bIns="0" rtlCol="0" anchor="ctr"/>
          <a:lstStyle/>
          <a:p>
            <a:pPr indent="0" marL="0">
              <a:buNone/>
            </a:pPr>
            <a:r>
              <a:rPr lang="en-US" sz="1300" b="1" dirty="0">
                <a:solidFill>
                  <a:srgbClr val="1E5A4A"/>
                </a:solidFill>
                <a:latin typeface="Calibri" pitchFamily="34" charset="0"/>
                <a:ea typeface="Calibri" pitchFamily="34" charset="-122"/>
                <a:cs typeface="Calibri" pitchFamily="34" charset="-120"/>
              </a:rPr>
              <a:t>It asserts no reason</a:t>
            </a:r>
            <a:endParaRPr lang="en-US" sz="1300" dirty="0"/>
          </a:p>
        </p:txBody>
      </p:sp>
      <p:sp>
        <p:nvSpPr>
          <p:cNvPr id="17" name="Text 15"/>
          <p:cNvSpPr txBox="1"/>
          <p:nvPr/>
        </p:nvSpPr>
        <p:spPr>
          <a:xfrm>
            <a:off x="6519672" y="3502152"/>
            <a:ext cx="4754880" cy="621792"/>
          </a:xfrm>
          <a:prstGeom prst="rect">
            <a:avLst/>
          </a:prstGeom>
          <a:noFill/>
          <a:ln/>
        </p:spPr>
        <p:txBody>
          <a:bodyPr wrap="square" lIns="0" tIns="0" rIns="0" bIns="0" rtlCol="0" anchor="ctr"/>
          <a:lstStyle/>
          <a:p>
            <a:pPr indent="0" marL="0">
              <a:lnSpc>
                <a:spcPts val="1400"/>
              </a:lnSpc>
              <a:buNone/>
            </a:pPr>
            <a:r>
              <a:rPr lang="en-US" sz="1050" dirty="0">
                <a:solidFill>
                  <a:srgbClr val="55635E"/>
                </a:solidFill>
                <a:latin typeface="Calibri" pitchFamily="34" charset="0"/>
                <a:ea typeface="Calibri" pitchFamily="34" charset="-122"/>
                <a:cs typeface="Calibri" pitchFamily="34" charset="-120"/>
              </a:rPr>
              <a:t>For any movement in a ratio. The draft carries a bracketed instruction to management instead.</a:t>
            </a:r>
            <a:endParaRPr lang="en-US" sz="1050" dirty="0"/>
          </a:p>
        </p:txBody>
      </p:sp>
      <p:sp>
        <p:nvSpPr>
          <p:cNvPr id="18" name="Shape 16"/>
          <p:cNvSpPr/>
          <p:nvPr/>
        </p:nvSpPr>
        <p:spPr>
          <a:xfrm>
            <a:off x="640080" y="4379976"/>
            <a:ext cx="5257800" cy="1115568"/>
          </a:xfrm>
          <a:prstGeom prst="rect">
            <a:avLst/>
          </a:prstGeom>
          <a:solidFill>
            <a:srgbClr val="FFFFFF"/>
          </a:solidFill>
          <a:ln w="12700">
            <a:solidFill>
              <a:srgbClr val="D7DCD5"/>
            </a:solidFill>
            <a:prstDash val="solid"/>
          </a:ln>
        </p:spPr>
      </p:sp>
      <p:sp>
        <p:nvSpPr>
          <p:cNvPr id="19" name="Text 17"/>
          <p:cNvSpPr txBox="1"/>
          <p:nvPr/>
        </p:nvSpPr>
        <p:spPr>
          <a:xfrm>
            <a:off x="896112" y="4507992"/>
            <a:ext cx="4754880" cy="292608"/>
          </a:xfrm>
          <a:prstGeom prst="rect">
            <a:avLst/>
          </a:prstGeom>
          <a:noFill/>
          <a:ln/>
        </p:spPr>
        <p:txBody>
          <a:bodyPr wrap="square" lIns="0" tIns="0" rIns="0" bIns="0" rtlCol="0" anchor="ctr"/>
          <a:lstStyle/>
          <a:p>
            <a:pPr indent="0" marL="0">
              <a:buNone/>
            </a:pPr>
            <a:r>
              <a:rPr lang="en-US" sz="1300" b="1" dirty="0">
                <a:solidFill>
                  <a:srgbClr val="1E5A4A"/>
                </a:solidFill>
                <a:latin typeface="Calibri" pitchFamily="34" charset="0"/>
                <a:ea typeface="Calibri" pitchFamily="34" charset="-122"/>
                <a:cs typeface="Calibri" pitchFamily="34" charset="-120"/>
              </a:rPr>
              <a:t>It verifies nothing</a:t>
            </a:r>
            <a:endParaRPr lang="en-US" sz="1300" dirty="0"/>
          </a:p>
        </p:txBody>
      </p:sp>
      <p:sp>
        <p:nvSpPr>
          <p:cNvPr id="20" name="Text 18"/>
          <p:cNvSpPr txBox="1"/>
          <p:nvPr/>
        </p:nvSpPr>
        <p:spPr>
          <a:xfrm>
            <a:off x="896112" y="4800600"/>
            <a:ext cx="4754880" cy="621792"/>
          </a:xfrm>
          <a:prstGeom prst="rect">
            <a:avLst/>
          </a:prstGeom>
          <a:noFill/>
          <a:ln/>
        </p:spPr>
        <p:txBody>
          <a:bodyPr wrap="square" lIns="0" tIns="0" rIns="0" bIns="0" rtlCol="0" anchor="ctr"/>
          <a:lstStyle/>
          <a:p>
            <a:pPr indent="0" marL="0">
              <a:lnSpc>
                <a:spcPts val="1400"/>
              </a:lnSpc>
              <a:buNone/>
            </a:pPr>
            <a:r>
              <a:rPr lang="en-US" sz="1050" dirty="0">
                <a:solidFill>
                  <a:srgbClr val="55635E"/>
                </a:solidFill>
                <a:latin typeface="Calibri" pitchFamily="34" charset="0"/>
                <a:ea typeface="Calibri" pitchFamily="34" charset="-122"/>
                <a:cs typeface="Calibri" pitchFamily="34" charset="-120"/>
              </a:rPr>
              <a:t>Existence, completeness and valuation remain the auditor’s to establish. It analyses what the books say.</a:t>
            </a:r>
            <a:endParaRPr lang="en-US" sz="1050" dirty="0"/>
          </a:p>
        </p:txBody>
      </p:sp>
      <p:sp>
        <p:nvSpPr>
          <p:cNvPr id="21" name="Shape 19"/>
          <p:cNvSpPr/>
          <p:nvPr/>
        </p:nvSpPr>
        <p:spPr>
          <a:xfrm>
            <a:off x="6263640" y="4379976"/>
            <a:ext cx="5257800" cy="1115568"/>
          </a:xfrm>
          <a:prstGeom prst="rect">
            <a:avLst/>
          </a:prstGeom>
          <a:solidFill>
            <a:srgbClr val="FFFFFF"/>
          </a:solidFill>
          <a:ln w="12700">
            <a:solidFill>
              <a:srgbClr val="D7DCD5"/>
            </a:solidFill>
            <a:prstDash val="solid"/>
          </a:ln>
        </p:spPr>
      </p:sp>
      <p:sp>
        <p:nvSpPr>
          <p:cNvPr id="22" name="Text 20"/>
          <p:cNvSpPr txBox="1"/>
          <p:nvPr/>
        </p:nvSpPr>
        <p:spPr>
          <a:xfrm>
            <a:off x="6519672" y="4507992"/>
            <a:ext cx="4754880" cy="292608"/>
          </a:xfrm>
          <a:prstGeom prst="rect">
            <a:avLst/>
          </a:prstGeom>
          <a:noFill/>
          <a:ln/>
        </p:spPr>
        <p:txBody>
          <a:bodyPr wrap="square" lIns="0" tIns="0" rIns="0" bIns="0" rtlCol="0" anchor="ctr"/>
          <a:lstStyle/>
          <a:p>
            <a:pPr indent="0" marL="0">
              <a:buNone/>
            </a:pPr>
            <a:r>
              <a:rPr lang="en-US" sz="1300" b="1" dirty="0">
                <a:solidFill>
                  <a:srgbClr val="1E5A4A"/>
                </a:solidFill>
                <a:latin typeface="Calibri" pitchFamily="34" charset="0"/>
                <a:ea typeface="Calibri" pitchFamily="34" charset="-122"/>
                <a:cs typeface="Calibri" pitchFamily="34" charset="-120"/>
              </a:rPr>
              <a:t>No client data</a:t>
            </a:r>
            <a:endParaRPr lang="en-US" sz="1300" dirty="0"/>
          </a:p>
        </p:txBody>
      </p:sp>
      <p:sp>
        <p:nvSpPr>
          <p:cNvPr id="23" name="Text 21"/>
          <p:cNvSpPr txBox="1"/>
          <p:nvPr/>
        </p:nvSpPr>
        <p:spPr>
          <a:xfrm>
            <a:off x="6519672" y="4800600"/>
            <a:ext cx="4754880" cy="621792"/>
          </a:xfrm>
          <a:prstGeom prst="rect">
            <a:avLst/>
          </a:prstGeom>
          <a:noFill/>
          <a:ln/>
        </p:spPr>
        <p:txBody>
          <a:bodyPr wrap="square" lIns="0" tIns="0" rIns="0" bIns="0" rtlCol="0" anchor="ctr"/>
          <a:lstStyle/>
          <a:p>
            <a:pPr indent="0" marL="0">
              <a:lnSpc>
                <a:spcPts val="1400"/>
              </a:lnSpc>
              <a:buNone/>
            </a:pPr>
            <a:r>
              <a:rPr lang="en-US" sz="1050" dirty="0">
                <a:solidFill>
                  <a:srgbClr val="55635E"/>
                </a:solidFill>
                <a:latin typeface="Calibri" pitchFamily="34" charset="0"/>
                <a:ea typeface="Calibri" pitchFamily="34" charset="-122"/>
                <a:cs typeface="Calibri" pitchFamily="34" charset="-120"/>
              </a:rPr>
              <a:t>Anywhere — not in the repository, the samples or this video. Everything is built on a synthetic company.</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352C"/>
        </a:solidFill>
      </p:bgPr>
    </p:bg>
    <p:spTree>
      <p:nvGrpSpPr>
        <p:cNvPr id="1" name=""/>
        <p:cNvGrpSpPr/>
        <p:nvPr/>
      </p:nvGrpSpPr>
      <p:grpSpPr>
        <a:xfrm>
          <a:off x="0" y="0"/>
          <a:ext cx="0" cy="0"/>
          <a:chOff x="0" y="0"/>
          <a:chExt cx="0" cy="0"/>
        </a:xfrm>
      </p:grpSpPr>
      <p:sp>
        <p:nvSpPr>
          <p:cNvPr id="2" name="Text 0"/>
          <p:cNvSpPr txBox="1"/>
          <p:nvPr/>
        </p:nvSpPr>
        <p:spPr>
          <a:xfrm>
            <a:off x="640080" y="2011680"/>
            <a:ext cx="82296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640080" y="3108960"/>
            <a:ext cx="8138160" cy="1280160"/>
          </a:xfrm>
          <a:prstGeom prst="rect">
            <a:avLst/>
          </a:prstGeom>
          <a:noFill/>
          <a:ln/>
        </p:spPr>
        <p:txBody>
          <a:bodyPr wrap="square" lIns="0" tIns="0" rIns="0" bIns="0" rtlCol="0" anchor="ctr"/>
          <a:lstStyle/>
          <a:p>
            <a:pPr indent="0" marL="0">
              <a:lnSpc>
                <a:spcPts val="2500"/>
              </a:lnSpc>
              <a:buNone/>
            </a:pPr>
            <a:r>
              <a:rPr lang="en-US" sz="1550" dirty="0">
                <a:solidFill>
                  <a:srgbClr val="C9DDD4"/>
                </a:solidFill>
                <a:latin typeface="Calibri" pitchFamily="34" charset="0"/>
                <a:ea typeface="Calibri" pitchFamily="34" charset="-122"/>
                <a:cs typeface="Calibri" pitchFamily="34" charset="-120"/>
              </a:rPr>
              <a:t>AuditLens turns the opening week of a statutory audit into a review the engagement team can start from — without ever putting a figure on the file that a Chartered Accountant cannot re-perform.</a:t>
            </a:r>
            <a:endParaRPr lang="en-US" sz="1550" dirty="0"/>
          </a:p>
        </p:txBody>
      </p:sp>
      <p:sp>
        <p:nvSpPr>
          <p:cNvPr id="4" name="Text 2"/>
          <p:cNvSpPr txBox="1"/>
          <p:nvPr/>
        </p:nvSpPr>
        <p:spPr>
          <a:xfrm>
            <a:off x="640080" y="4617720"/>
            <a:ext cx="1371600" cy="640080"/>
          </a:xfrm>
          <a:prstGeom prst="rect">
            <a:avLst/>
          </a:prstGeom>
          <a:noFill/>
          <a:ln/>
        </p:spPr>
        <p:txBody>
          <a:bodyPr wrap="square" lIns="0" tIns="0" rIns="0" bIns="0" rtlCol="0" anchor="ctr"/>
          <a:lstStyle/>
          <a:p>
            <a:pPr indent="0" marL="0">
              <a:buNone/>
            </a:pPr>
            <a:r>
              <a:rPr lang="en-US" sz="3600" b="1" dirty="0">
                <a:solidFill>
                  <a:srgbClr val="B77515"/>
                </a:solidFill>
                <a:latin typeface="Cambria" pitchFamily="34" charset="0"/>
                <a:ea typeface="Cambria" pitchFamily="34" charset="-122"/>
                <a:cs typeface="Cambria" pitchFamily="34" charset="-120"/>
              </a:rPr>
              <a:t>124</a:t>
            </a:r>
            <a:endParaRPr lang="en-US" sz="3600" dirty="0"/>
          </a:p>
        </p:txBody>
      </p:sp>
      <p:sp>
        <p:nvSpPr>
          <p:cNvPr id="5" name="Text 3"/>
          <p:cNvSpPr txBox="1"/>
          <p:nvPr/>
        </p:nvSpPr>
        <p:spPr>
          <a:xfrm>
            <a:off x="640080" y="5230368"/>
            <a:ext cx="3017520" cy="365760"/>
          </a:xfrm>
          <a:prstGeom prst="rect">
            <a:avLst/>
          </a:prstGeom>
          <a:noFill/>
          <a:ln/>
        </p:spPr>
        <p:txBody>
          <a:bodyPr wrap="square" lIns="0" tIns="0" rIns="0" bIns="0" rtlCol="0" anchor="ctr"/>
          <a:lstStyle/>
          <a:p>
            <a:pPr indent="0" marL="0">
              <a:buNone/>
            </a:pPr>
            <a:r>
              <a:rPr lang="en-US" sz="1200" dirty="0">
                <a:solidFill>
                  <a:srgbClr val="8FB8A9"/>
                </a:solidFill>
                <a:latin typeface="Calibri" pitchFamily="34" charset="0"/>
                <a:ea typeface="Calibri" pitchFamily="34" charset="-122"/>
                <a:cs typeface="Calibri" pitchFamily="34" charset="-120"/>
              </a:rPr>
              <a:t>tests</a:t>
            </a:r>
            <a:endParaRPr lang="en-US" sz="1200" dirty="0"/>
          </a:p>
        </p:txBody>
      </p:sp>
      <p:sp>
        <p:nvSpPr>
          <p:cNvPr id="6" name="Text 4"/>
          <p:cNvSpPr txBox="1"/>
          <p:nvPr/>
        </p:nvSpPr>
        <p:spPr>
          <a:xfrm>
            <a:off x="3931920" y="4617720"/>
            <a:ext cx="1371600" cy="640080"/>
          </a:xfrm>
          <a:prstGeom prst="rect">
            <a:avLst/>
          </a:prstGeom>
          <a:noFill/>
          <a:ln/>
        </p:spPr>
        <p:txBody>
          <a:bodyPr wrap="square" lIns="0" tIns="0" rIns="0" bIns="0" rtlCol="0" anchor="ctr"/>
          <a:lstStyle/>
          <a:p>
            <a:pPr indent="0" marL="0">
              <a:buNone/>
            </a:pPr>
            <a:r>
              <a:rPr lang="en-US" sz="3600" b="1" dirty="0">
                <a:solidFill>
                  <a:srgbClr val="B77515"/>
                </a:solidFill>
                <a:latin typeface="Cambria" pitchFamily="34" charset="0"/>
                <a:ea typeface="Cambria" pitchFamily="34" charset="-122"/>
                <a:cs typeface="Cambria" pitchFamily="34" charset="-120"/>
              </a:rPr>
              <a:t>11</a:t>
            </a:r>
            <a:endParaRPr lang="en-US" sz="3600" dirty="0"/>
          </a:p>
        </p:txBody>
      </p:sp>
      <p:sp>
        <p:nvSpPr>
          <p:cNvPr id="7" name="Text 5"/>
          <p:cNvSpPr txBox="1"/>
          <p:nvPr/>
        </p:nvSpPr>
        <p:spPr>
          <a:xfrm>
            <a:off x="3931920" y="5230368"/>
            <a:ext cx="3017520" cy="365760"/>
          </a:xfrm>
          <a:prstGeom prst="rect">
            <a:avLst/>
          </a:prstGeom>
          <a:noFill/>
          <a:ln/>
        </p:spPr>
        <p:txBody>
          <a:bodyPr wrap="square" lIns="0" tIns="0" rIns="0" bIns="0" rtlCol="0" anchor="ctr"/>
          <a:lstStyle/>
          <a:p>
            <a:pPr indent="0" marL="0">
              <a:buNone/>
            </a:pPr>
            <a:r>
              <a:rPr lang="en-US" sz="1200" dirty="0">
                <a:solidFill>
                  <a:srgbClr val="8FB8A9"/>
                </a:solidFill>
                <a:latin typeface="Calibri" pitchFamily="34" charset="0"/>
                <a:ea typeface="Calibri" pitchFamily="34" charset="-122"/>
                <a:cs typeface="Calibri" pitchFamily="34" charset="-120"/>
              </a:rPr>
              <a:t>sheets in the workpaper</a:t>
            </a:r>
            <a:endParaRPr lang="en-US" sz="1200" dirty="0"/>
          </a:p>
        </p:txBody>
      </p:sp>
      <p:sp>
        <p:nvSpPr>
          <p:cNvPr id="8" name="Text 6"/>
          <p:cNvSpPr txBox="1"/>
          <p:nvPr/>
        </p:nvSpPr>
        <p:spPr>
          <a:xfrm>
            <a:off x="7223760" y="4617720"/>
            <a:ext cx="1371600" cy="640080"/>
          </a:xfrm>
          <a:prstGeom prst="rect">
            <a:avLst/>
          </a:prstGeom>
          <a:noFill/>
          <a:ln/>
        </p:spPr>
        <p:txBody>
          <a:bodyPr wrap="square" lIns="0" tIns="0" rIns="0" bIns="0" rtlCol="0" anchor="ctr"/>
          <a:lstStyle/>
          <a:p>
            <a:pPr indent="0" marL="0">
              <a:buNone/>
            </a:pPr>
            <a:r>
              <a:rPr lang="en-US" sz="3600" b="1" dirty="0">
                <a:solidFill>
                  <a:srgbClr val="B77515"/>
                </a:solidFill>
                <a:latin typeface="Cambria" pitchFamily="34" charset="0"/>
                <a:ea typeface="Cambria" pitchFamily="34" charset="-122"/>
                <a:cs typeface="Cambria" pitchFamily="34" charset="-120"/>
              </a:rPr>
              <a:t>5</a:t>
            </a:r>
            <a:endParaRPr lang="en-US" sz="3600" dirty="0"/>
          </a:p>
        </p:txBody>
      </p:sp>
      <p:sp>
        <p:nvSpPr>
          <p:cNvPr id="9" name="Text 7"/>
          <p:cNvSpPr txBox="1"/>
          <p:nvPr/>
        </p:nvSpPr>
        <p:spPr>
          <a:xfrm>
            <a:off x="7223760" y="5230368"/>
            <a:ext cx="3017520" cy="365760"/>
          </a:xfrm>
          <a:prstGeom prst="rect">
            <a:avLst/>
          </a:prstGeom>
          <a:noFill/>
          <a:ln/>
        </p:spPr>
        <p:txBody>
          <a:bodyPr wrap="square" lIns="0" tIns="0" rIns="0" bIns="0" rtlCol="0" anchor="ctr"/>
          <a:lstStyle/>
          <a:p>
            <a:pPr indent="0" marL="0">
              <a:buNone/>
            </a:pPr>
            <a:r>
              <a:rPr lang="en-US" sz="1200" dirty="0">
                <a:solidFill>
                  <a:srgbClr val="8FB8A9"/>
                </a:solidFill>
                <a:latin typeface="Calibri" pitchFamily="34" charset="0"/>
                <a:ea typeface="Calibri" pitchFamily="34" charset="-122"/>
                <a:cs typeface="Calibri" pitchFamily="34" charset="-120"/>
              </a:rPr>
              <a:t>days of Level 2 used</a:t>
            </a:r>
            <a:endParaRPr lang="en-US" sz="1200" dirty="0"/>
          </a:p>
        </p:txBody>
      </p:sp>
      <p:sp>
        <p:nvSpPr>
          <p:cNvPr id="10" name="Text 8"/>
          <p:cNvSpPr txBox="1"/>
          <p:nvPr/>
        </p:nvSpPr>
        <p:spPr>
          <a:xfrm>
            <a:off x="640080" y="6080760"/>
            <a:ext cx="10515600" cy="320040"/>
          </a:xfrm>
          <a:prstGeom prst="rect">
            <a:avLst/>
          </a:prstGeom>
          <a:noFill/>
          <a:ln/>
        </p:spPr>
        <p:txBody>
          <a:bodyPr wrap="square" lIns="0" tIns="0" rIns="0" bIns="0" rtlCol="0" anchor="ctr"/>
          <a:lstStyle/>
          <a:p>
            <a:pPr indent="0" marL="0">
              <a:buNone/>
            </a:pPr>
            <a:r>
              <a:rPr lang="en-US" sz="1150" dirty="0">
                <a:solidFill>
                  <a:srgbClr val="8FB8A9"/>
                </a:solidFill>
                <a:latin typeface="Calibri" pitchFamily="34" charset="0"/>
                <a:ea typeface="Calibri" pitchFamily="34" charset="-122"/>
                <a:cs typeface="Calibri" pitchFamily="34" charset="-120"/>
              </a:rPr>
              <a:t>CA. Rajendra Bagade  ·  Senior Partner, SARC &amp; Associates  ·  AICA Level 2, Module C, Batch 104</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SARC and Associates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AuditLens — AICA Level 2 Capstone</dc:title>
  <dc:subject>PptxGenJS Presentation</dc:subject>
  <dc:creator>CA Rajendra Bagade</dc:creator>
  <cp:lastModifiedBy>CA Rajendra Bagade</cp:lastModifiedBy>
  <cp:revision>1</cp:revision>
  <dcterms:created xsi:type="dcterms:W3CDTF">2026-09-02T12:24:58Z</dcterms:created>
  <dcterms:modified xsi:type="dcterms:W3CDTF">2026-09-02T12:24:58Z</dcterms:modified>
</cp:coreProperties>
</file>