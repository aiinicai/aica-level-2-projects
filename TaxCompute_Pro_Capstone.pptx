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1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743200" cy="2743200"/>
          </a:xfrm>
          <a:prstGeom prst="ellipse">
            <a:avLst/>
          </a:prstGeom>
          <a:solidFill>
            <a:srgbClr val="C9A227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96012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/home/claude/tax_ppt/icons/fileIn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179576"/>
            <a:ext cx="475488" cy="4754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05740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TaxCompute Pro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632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Multi-Client Tax &amp; Advance Tax Computation Tool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" y="5074920"/>
            <a:ext cx="2377440" cy="0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5257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|  AI Level 2 — Batch 85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6235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CA Rupali Goyal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053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built using Antigravity  •  One-click local deployment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/home/claude/tax_ppt/icons/fileIn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35608" y="475488"/>
            <a:ext cx="1052748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6400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TaxCompute Pro is a locally-hosted, AI-assisted tax computation application built using Antigravity. It enables Chartered Accountants to manage multiple clients from a single interactive dashboard, computing income tax liability across salary, house property, capital gains, business/profession and other income sources.</a:t>
            </a:r>
            <a:endParaRPr lang="en-US" sz="1550" dirty="0"/>
          </a:p>
          <a:p>
            <a:pPr algn="l" indent="0" marL="0">
              <a:lnSpc>
                <a:spcPct val="132000"/>
              </a:lnSpc>
              <a:spcAft>
                <a:spcPts val="1000"/>
              </a:spcAft>
              <a:buNone/>
            </a:pPr>
            <a:endParaRPr lang="en-US" sz="1550" dirty="0"/>
          </a:p>
          <a:p>
            <a:pPr algn="l" indent="0" marL="0">
              <a:lnSpc>
                <a:spcPct val="132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26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also projects Advance Tax obligations for the upcoming assessment year, and launches instantly through a one-click batch file — removing installation overhead while keeping all client data on the local system.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7360920" y="1783080"/>
            <a:ext cx="4279392" cy="1298448"/>
          </a:xfrm>
          <a:prstGeom prst="roundRect">
            <a:avLst>
              <a:gd name="adj" fmla="val 845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61504" y="214884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" name="Image 1" descr="/home/claude/tax_ppt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3236" y="2290572"/>
            <a:ext cx="283464" cy="2834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138160" y="1947672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Multi-Client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138160" y="2350008"/>
            <a:ext cx="3364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several clients from one dashboard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360920" y="3264408"/>
            <a:ext cx="4279392" cy="1298448"/>
          </a:xfrm>
          <a:prstGeom prst="roundRect">
            <a:avLst>
              <a:gd name="adj" fmla="val 845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461504" y="363016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3" name="Image 2" descr="/home/claude/tax_ppt/icons/calcula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3236" y="3771900"/>
            <a:ext cx="283464" cy="2834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138160" y="342900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Income Heads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8138160" y="3831336"/>
            <a:ext cx="3364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to capital gains, fully covered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360920" y="4745736"/>
            <a:ext cx="4279392" cy="1298448"/>
          </a:xfrm>
          <a:prstGeom prst="roundRect">
            <a:avLst>
              <a:gd name="adj" fmla="val 845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61504" y="5111496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8" name="Image 3" descr="/home/claude/tax_ppt/icons/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3236" y="5253228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138160" y="4910328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One-Click Launch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8138160" y="5312664"/>
            <a:ext cx="3364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instantly via local .bat file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TaxCompute Pro  |  AI Level 2 – Batch 85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/home/claude/tax_ppt/icons/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35608" y="475488"/>
            <a:ext cx="1052748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166420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1" descr="/home/claude/tax_ppt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1805940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49808" y="2322576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Clients, Scattered Data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2688336"/>
            <a:ext cx="4946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juggle separate spreadsheets and files for every client's tax workings.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199632" y="146304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00800" y="166420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2" name="Image 2" descr="/home/claude/tax_ppt/icons/bal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532" y="1805940"/>
            <a:ext cx="283464" cy="28346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400800" y="2322576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Multi-Head Computation</a:t>
            </a:r>
            <a:endParaRPr lang="en-US" sz="1450" dirty="0"/>
          </a:p>
        </p:txBody>
      </p:sp>
      <p:sp>
        <p:nvSpPr>
          <p:cNvPr id="14" name="Text 9"/>
          <p:cNvSpPr txBox="1"/>
          <p:nvPr/>
        </p:nvSpPr>
        <p:spPr>
          <a:xfrm>
            <a:off x="6400800" y="2688336"/>
            <a:ext cx="4946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Slabs, surcharge, cess and old vs. new regime rules multiply manual effort.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355848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49808" y="3557016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7" name="Image 3" descr="/home/claude/tax_ppt/icons/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3698748"/>
            <a:ext cx="283464" cy="28346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49808" y="4215384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Tax Left Untracked</a:t>
            </a:r>
            <a:endParaRPr lang="en-US" sz="1450" dirty="0"/>
          </a:p>
        </p:txBody>
      </p:sp>
      <p:sp>
        <p:nvSpPr>
          <p:cNvPr id="19" name="Text 13"/>
          <p:cNvSpPr txBox="1"/>
          <p:nvPr/>
        </p:nvSpPr>
        <p:spPr>
          <a:xfrm>
            <a:off x="749808" y="4581144"/>
            <a:ext cx="4946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advance-tax liability for the next assessment year is rarely computed proactively.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199632" y="3355848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00800" y="3557016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2" name="Image 4" descr="/home/claude/tax_ppt/icons/deskt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2532" y="3698748"/>
            <a:ext cx="283464" cy="28346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400800" y="4215384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or Cloud-Dependent Tools</a:t>
            </a:r>
            <a:endParaRPr lang="en-US" sz="1450" dirty="0"/>
          </a:p>
        </p:txBody>
      </p:sp>
      <p:sp>
        <p:nvSpPr>
          <p:cNvPr id="24" name="Text 17"/>
          <p:cNvSpPr txBox="1"/>
          <p:nvPr/>
        </p:nvSpPr>
        <p:spPr>
          <a:xfrm>
            <a:off x="6400800" y="4581144"/>
            <a:ext cx="4946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software options are often expensive or require constant internet access.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548640" y="5349240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26" name="Shape 19"/>
          <p:cNvSpPr/>
          <p:nvPr/>
        </p:nvSpPr>
        <p:spPr>
          <a:xfrm>
            <a:off x="786384" y="5477256"/>
            <a:ext cx="475488" cy="47548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7" name="Image 5" descr="/home/claude/tax_ppt/icons/lightbul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501" y="5591373"/>
            <a:ext cx="247254" cy="24725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417320" y="5349240"/>
            <a:ext cx="9951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Need: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accurate and locally-hosted tool tailored to a CA's multi-client, multi-source tax practice.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TaxCompute Pro  |  AI Level 2 – Batch 85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/home/claude/tax_ppt/icons/chartP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35608" y="475488"/>
            <a:ext cx="1052748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349240" cy="1481328"/>
          </a:xfrm>
          <a:prstGeom prst="roundRect">
            <a:avLst>
              <a:gd name="adj" fmla="val 740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4672" y="188366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1" descr="/home/claude/tax_ppt/icons/calcula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93392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44752" y="18470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Tax Computation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1444752" y="2139696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income heads and applicable slab rates.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199632" y="1554480"/>
            <a:ext cx="5349240" cy="1481328"/>
          </a:xfrm>
          <a:prstGeom prst="roundRect">
            <a:avLst>
              <a:gd name="adj" fmla="val 740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55664" y="188366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2" name="Image 2" descr="/home/claude/tax_ppt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199339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95744" y="18470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Multiple Clients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7095744" y="2139696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single, unified interface.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3264408"/>
            <a:ext cx="5349240" cy="1481328"/>
          </a:xfrm>
          <a:prstGeom prst="roundRect">
            <a:avLst>
              <a:gd name="adj" fmla="val 740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04672" y="359359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7" name="Image 3" descr="/home/claude/tax_ppt/icons/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0332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44752" y="355701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Advance Tax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1444752" y="3849624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next assessment year, quarter by quarter.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199632" y="3264408"/>
            <a:ext cx="5349240" cy="1481328"/>
          </a:xfrm>
          <a:prstGeom prst="roundRect">
            <a:avLst>
              <a:gd name="adj" fmla="val 740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55664" y="359359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2" name="Image 4" descr="/home/claude/tax_ppt/icons/tab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370332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095744" y="355701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Interactive Sheet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7095744" y="3849624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familiar, spreadsheet-style data entry experience.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548640" y="4974336"/>
            <a:ext cx="5349240" cy="1481328"/>
          </a:xfrm>
          <a:prstGeom prst="roundRect">
            <a:avLst>
              <a:gd name="adj" fmla="val 740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04672" y="530352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7" name="Image 5" descr="/home/claude/tax_ppt/icons/bol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413248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444752" y="5266944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One-Click Deployment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1444752" y="5559552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local launch with zero installation setup.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6199632" y="4974336"/>
            <a:ext cx="5349240" cy="1481328"/>
          </a:xfrm>
          <a:prstGeom prst="roundRect">
            <a:avLst>
              <a:gd name="adj" fmla="val 740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455664" y="530352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2" name="Image 6" descr="/home/claude/tax_ppt/icons/shie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5392" y="54132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7095744" y="5266944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Errors, Protect Data</a:t>
            </a:r>
            <a:endParaRPr lang="en-US" sz="1400" dirty="0"/>
          </a:p>
        </p:txBody>
      </p:sp>
      <p:sp>
        <p:nvSpPr>
          <p:cNvPr id="34" name="Text 25"/>
          <p:cNvSpPr txBox="1"/>
          <p:nvPr/>
        </p:nvSpPr>
        <p:spPr>
          <a:xfrm>
            <a:off x="7095744" y="5559552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mistakes while data stays on-device.</a:t>
            </a:r>
            <a:endParaRPr lang="en-US" sz="1150" dirty="0"/>
          </a:p>
        </p:txBody>
      </p:sp>
      <p:sp>
        <p:nvSpPr>
          <p:cNvPr id="35" name="Text 2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TaxCompute Pro  |  AI Level 2 – Batch 85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/home/claude/tax_ppt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35608" y="475488"/>
            <a:ext cx="1052748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465576" cy="1965960"/>
          </a:xfrm>
          <a:prstGeom prst="roundRect">
            <a:avLst>
              <a:gd name="adj" fmla="val 558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557016" y="174650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557016" y="1746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1783080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9" name="Image 1" descr="/home/claude/tax_ppt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1915668"/>
            <a:ext cx="265176" cy="2651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" y="2386584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Planning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2734056"/>
            <a:ext cx="30998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CA workflows and finalized Antigravity as the AI development platform.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297680" y="1600200"/>
            <a:ext cx="3465576" cy="1965960"/>
          </a:xfrm>
          <a:prstGeom prst="roundRect">
            <a:avLst>
              <a:gd name="adj" fmla="val 558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306056" y="174650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306056" y="1746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480560" y="1783080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2" descr="/home/claude/tax_ppt/icons/palet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148" y="1915668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480560" y="2386584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UI Design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4480560" y="2734056"/>
            <a:ext cx="30998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spreadsheet-style income entry interface for a familiar feel.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046720" y="1600200"/>
            <a:ext cx="3465576" cy="1965960"/>
          </a:xfrm>
          <a:prstGeom prst="roundRect">
            <a:avLst>
              <a:gd name="adj" fmla="val 558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1055096" y="174650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11055096" y="1746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229600" y="1783080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3" name="Image 3" descr="/home/claude/tax_ppt/icons/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188" y="1915668"/>
            <a:ext cx="265176" cy="26517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229600" y="2386584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 Development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8229600" y="2734056"/>
            <a:ext cx="30998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Programmed slab-wise tax rules, surcharge, cess and regime logic.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48640" y="3840480"/>
            <a:ext cx="3465576" cy="1965960"/>
          </a:xfrm>
          <a:prstGeom prst="roundRect">
            <a:avLst>
              <a:gd name="adj" fmla="val 558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557016" y="398678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3557016" y="3986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731520" y="4023360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0" name="Image 4" descr="/home/claude/tax_ppt/icons/calend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" y="4155948"/>
            <a:ext cx="265176" cy="26517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31520" y="4626864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Tax Engine</a:t>
            </a:r>
            <a:endParaRPr lang="en-US" sz="1350" dirty="0"/>
          </a:p>
        </p:txBody>
      </p:sp>
      <p:sp>
        <p:nvSpPr>
          <p:cNvPr id="32" name="Text 25"/>
          <p:cNvSpPr txBox="1"/>
          <p:nvPr/>
        </p:nvSpPr>
        <p:spPr>
          <a:xfrm>
            <a:off x="731520" y="4974336"/>
            <a:ext cx="30998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quarter-wise advance tax computation for the next AY.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4297680" y="3840480"/>
            <a:ext cx="3465576" cy="1965960"/>
          </a:xfrm>
          <a:prstGeom prst="roundRect">
            <a:avLst>
              <a:gd name="adj" fmla="val 558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306056" y="398678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7306056" y="3986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4480560" y="4023360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7" name="Image 5" descr="/home/claude/tax_ppt/icons/rock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3148" y="4155948"/>
            <a:ext cx="265176" cy="265176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4480560" y="4626864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&amp; Local Hosting</a:t>
            </a:r>
            <a:endParaRPr lang="en-US" sz="1350" dirty="0"/>
          </a:p>
        </p:txBody>
      </p:sp>
      <p:sp>
        <p:nvSpPr>
          <p:cNvPr id="39" name="Text 31"/>
          <p:cNvSpPr txBox="1"/>
          <p:nvPr/>
        </p:nvSpPr>
        <p:spPr>
          <a:xfrm>
            <a:off x="4480560" y="4974336"/>
            <a:ext cx="30998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.bat launcher to auto-host the app on localhost.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8046720" y="3840480"/>
            <a:ext cx="3465576" cy="1965960"/>
          </a:xfrm>
          <a:prstGeom prst="roundRect">
            <a:avLst>
              <a:gd name="adj" fmla="val 558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11055096" y="398678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2" name="Text 34"/>
          <p:cNvSpPr txBox="1"/>
          <p:nvPr/>
        </p:nvSpPr>
        <p:spPr>
          <a:xfrm>
            <a:off x="11055096" y="3986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Shape 35"/>
          <p:cNvSpPr/>
          <p:nvPr/>
        </p:nvSpPr>
        <p:spPr>
          <a:xfrm>
            <a:off x="8229600" y="4023360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4" name="Image 6" descr="/home/claude/tax_ppt/icons/check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2188" y="4155948"/>
            <a:ext cx="265176" cy="265176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8229600" y="4626864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350" dirty="0"/>
          </a:p>
        </p:txBody>
      </p:sp>
      <p:sp>
        <p:nvSpPr>
          <p:cNvPr id="46" name="Text 37"/>
          <p:cNvSpPr txBox="1"/>
          <p:nvPr/>
        </p:nvSpPr>
        <p:spPr>
          <a:xfrm>
            <a:off x="8229600" y="4974336"/>
            <a:ext cx="30998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Cross-verified computed outputs against manual calculations.</a:t>
            </a:r>
            <a:endParaRPr lang="en-US" sz="1050" dirty="0"/>
          </a:p>
        </p:txBody>
      </p:sp>
      <p:sp>
        <p:nvSpPr>
          <p:cNvPr id="47" name="Text 38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TaxCompute Pro  |  AI Level 2 – Batch 85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/home/claude/tax_ppt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35608" y="475488"/>
            <a:ext cx="1052748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465576" cy="1965960"/>
          </a:xfrm>
          <a:prstGeom prst="roundRect">
            <a:avLst>
              <a:gd name="adj" fmla="val 558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180136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1" descr="/home/claude/tax_ppt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1943100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49808" y="245973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Multi-Client Management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2825496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switch and manage tax data for multiple clients from one dashboard.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297680" y="1600200"/>
            <a:ext cx="3465576" cy="1965960"/>
          </a:xfrm>
          <a:prstGeom prst="roundRect">
            <a:avLst>
              <a:gd name="adj" fmla="val 558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98848" y="180136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2" name="Image 2" descr="/home/claude/tax_ppt/icons/moneyBi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580" y="1943100"/>
            <a:ext cx="283464" cy="28346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498848" y="245973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Income Computation</a:t>
            </a:r>
            <a:endParaRPr lang="en-US" sz="1450" dirty="0"/>
          </a:p>
        </p:txBody>
      </p:sp>
      <p:sp>
        <p:nvSpPr>
          <p:cNvPr id="14" name="Text 9"/>
          <p:cNvSpPr txBox="1"/>
          <p:nvPr/>
        </p:nvSpPr>
        <p:spPr>
          <a:xfrm>
            <a:off x="4498848" y="2825496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salary, house property, capital gains, business/profession &amp; other sources.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046720" y="1600200"/>
            <a:ext cx="3465576" cy="1965960"/>
          </a:xfrm>
          <a:prstGeom prst="roundRect">
            <a:avLst>
              <a:gd name="adj" fmla="val 558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47888" y="180136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7" name="Image 3" descr="/home/claude/tax_ppt/icons/ta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9620" y="1943100"/>
            <a:ext cx="283464" cy="28346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247888" y="245973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Data Sheet</a:t>
            </a:r>
            <a:endParaRPr lang="en-US" sz="1450" dirty="0"/>
          </a:p>
        </p:txBody>
      </p:sp>
      <p:sp>
        <p:nvSpPr>
          <p:cNvPr id="19" name="Text 13"/>
          <p:cNvSpPr txBox="1"/>
          <p:nvPr/>
        </p:nvSpPr>
        <p:spPr>
          <a:xfrm>
            <a:off x="8247888" y="2825496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Spreadsheet-style entry with instant, automatic recalculation.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3840480"/>
            <a:ext cx="3465576" cy="1965960"/>
          </a:xfrm>
          <a:prstGeom prst="roundRect">
            <a:avLst>
              <a:gd name="adj" fmla="val 558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49808" y="40416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2" name="Image 4" descr="/home/claude/tax_ppt/icons/balan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4183380"/>
            <a:ext cx="283464" cy="28346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49808" y="470001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vs New Regime Support</a:t>
            </a:r>
            <a:endParaRPr lang="en-US" sz="1450" dirty="0"/>
          </a:p>
        </p:txBody>
      </p:sp>
      <p:sp>
        <p:nvSpPr>
          <p:cNvPr id="24" name="Text 17"/>
          <p:cNvSpPr txBox="1"/>
          <p:nvPr/>
        </p:nvSpPr>
        <p:spPr>
          <a:xfrm>
            <a:off x="749808" y="5065776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tax liability across regimes to identify the beneficial option.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297680" y="3840480"/>
            <a:ext cx="3465576" cy="1965960"/>
          </a:xfrm>
          <a:prstGeom prst="roundRect">
            <a:avLst>
              <a:gd name="adj" fmla="val 558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498848" y="40416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7" name="Image 5" descr="/home/claude/tax_ppt/icons/calend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0580" y="4183380"/>
            <a:ext cx="283464" cy="28346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498848" y="470001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Tax Calculator</a:t>
            </a:r>
            <a:endParaRPr lang="en-US" sz="1450" dirty="0"/>
          </a:p>
        </p:txBody>
      </p:sp>
      <p:sp>
        <p:nvSpPr>
          <p:cNvPr id="29" name="Text 21"/>
          <p:cNvSpPr txBox="1"/>
          <p:nvPr/>
        </p:nvSpPr>
        <p:spPr>
          <a:xfrm>
            <a:off x="4498848" y="5065776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Quarter-wise advance tax schedule generated for the next assessment year.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8046720" y="3840480"/>
            <a:ext cx="3465576" cy="1965960"/>
          </a:xfrm>
          <a:prstGeom prst="roundRect">
            <a:avLst>
              <a:gd name="adj" fmla="val 558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247888" y="40416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2" name="Image 6" descr="/home/claude/tax_ppt/icons/bol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9620" y="4183380"/>
            <a:ext cx="283464" cy="283464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247888" y="470001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Local Launch</a:t>
            </a:r>
            <a:endParaRPr lang="en-US" sz="1450" dirty="0"/>
          </a:p>
        </p:txBody>
      </p:sp>
      <p:sp>
        <p:nvSpPr>
          <p:cNvPr id="34" name="Text 25"/>
          <p:cNvSpPr txBox="1"/>
          <p:nvPr/>
        </p:nvSpPr>
        <p:spPr>
          <a:xfrm>
            <a:off x="8247888" y="5065776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.bat file auto-opens the app on localhost — no installation.</a:t>
            </a:r>
            <a:endParaRPr lang="en-US" sz="1100" dirty="0"/>
          </a:p>
        </p:txBody>
      </p:sp>
      <p:sp>
        <p:nvSpPr>
          <p:cNvPr id="35" name="Text 2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TaxCompute Pro  |  AI Level 2 – Batch 85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/home/claude/tax_ppt/icons/excla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35608" y="475488"/>
            <a:ext cx="1052748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465576" cy="1965960"/>
          </a:xfrm>
          <a:prstGeom prst="roundRect">
            <a:avLst>
              <a:gd name="adj" fmla="val 558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1801368"/>
            <a:ext cx="566928" cy="566928"/>
          </a:xfrm>
          <a:prstGeom prst="ellipse">
            <a:avLst/>
          </a:prstGeom>
          <a:solidFill>
            <a:srgbClr val="5B6584"/>
          </a:solidFill>
          <a:ln/>
        </p:spPr>
      </p:sp>
      <p:pic>
        <p:nvPicPr>
          <p:cNvPr id="7" name="Image 1" descr="/home/claude/tax_ppt/icons/desk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1943100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49808" y="245973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Local-System Only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2825496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sync — accessible only on the machine it is installed on.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297680" y="1600200"/>
            <a:ext cx="3465576" cy="1965960"/>
          </a:xfrm>
          <a:prstGeom prst="roundRect">
            <a:avLst>
              <a:gd name="adj" fmla="val 558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98848" y="1801368"/>
            <a:ext cx="566928" cy="566928"/>
          </a:xfrm>
          <a:prstGeom prst="ellipse">
            <a:avLst/>
          </a:prstGeom>
          <a:solidFill>
            <a:srgbClr val="5B6584"/>
          </a:solidFill>
          <a:ln/>
        </p:spPr>
      </p:sp>
      <p:pic>
        <p:nvPicPr>
          <p:cNvPr id="12" name="Image 2" descr="/home/claude/tax_ppt/icons/sy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580" y="1943100"/>
            <a:ext cx="283464" cy="28346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498848" y="245973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Slab Updates</a:t>
            </a:r>
            <a:endParaRPr lang="en-US" sz="1450" dirty="0"/>
          </a:p>
        </p:txBody>
      </p:sp>
      <p:sp>
        <p:nvSpPr>
          <p:cNvPr id="14" name="Text 9"/>
          <p:cNvSpPr txBox="1"/>
          <p:nvPr/>
        </p:nvSpPr>
        <p:spPr>
          <a:xfrm>
            <a:off x="4498848" y="2825496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rates and slabs must be updated by hand each financial year.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046720" y="1600200"/>
            <a:ext cx="3465576" cy="1965960"/>
          </a:xfrm>
          <a:prstGeom prst="roundRect">
            <a:avLst>
              <a:gd name="adj" fmla="val 558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47888" y="1801368"/>
            <a:ext cx="566928" cy="566928"/>
          </a:xfrm>
          <a:prstGeom prst="ellipse">
            <a:avLst/>
          </a:prstGeom>
          <a:solidFill>
            <a:srgbClr val="5B6584"/>
          </a:solidFill>
          <a:ln/>
        </p:spPr>
      </p:sp>
      <p:pic>
        <p:nvPicPr>
          <p:cNvPr id="17" name="Image 3" descr="/home/claude/tax_ppt/icons/file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9620" y="1943100"/>
            <a:ext cx="283464" cy="28346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247888" y="245973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Scenarios Only</a:t>
            </a:r>
            <a:endParaRPr lang="en-US" sz="1450" dirty="0"/>
          </a:p>
        </p:txBody>
      </p:sp>
      <p:sp>
        <p:nvSpPr>
          <p:cNvPr id="19" name="Text 13"/>
          <p:cNvSpPr txBox="1"/>
          <p:nvPr/>
        </p:nvSpPr>
        <p:spPr>
          <a:xfrm>
            <a:off x="8247888" y="2825496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cases (foreign income, special exemptions) still need CA judgment.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3840480"/>
            <a:ext cx="3465576" cy="1965960"/>
          </a:xfrm>
          <a:prstGeom prst="roundRect">
            <a:avLst>
              <a:gd name="adj" fmla="val 558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49808" y="4041648"/>
            <a:ext cx="566928" cy="566928"/>
          </a:xfrm>
          <a:prstGeom prst="ellipse">
            <a:avLst/>
          </a:prstGeom>
          <a:solidFill>
            <a:srgbClr val="5B6584"/>
          </a:solidFill>
          <a:ln/>
        </p:spPr>
      </p:sp>
      <p:pic>
        <p:nvPicPr>
          <p:cNvPr id="22" name="Image 4" descr="/home/claude/tax_ppt/icons/glo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4183380"/>
            <a:ext cx="283464" cy="28346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49808" y="470001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E-Filing Integration</a:t>
            </a:r>
            <a:endParaRPr lang="en-US" sz="1450" dirty="0"/>
          </a:p>
        </p:txBody>
      </p:sp>
      <p:sp>
        <p:nvSpPr>
          <p:cNvPr id="24" name="Text 17"/>
          <p:cNvSpPr txBox="1"/>
          <p:nvPr/>
        </p:nvSpPr>
        <p:spPr>
          <a:xfrm>
            <a:off x="749808" y="5065776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figures must be filed separately on the Income Tax portal.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297680" y="3840480"/>
            <a:ext cx="3465576" cy="1965960"/>
          </a:xfrm>
          <a:prstGeom prst="roundRect">
            <a:avLst>
              <a:gd name="adj" fmla="val 558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498848" y="4041648"/>
            <a:ext cx="566928" cy="566928"/>
          </a:xfrm>
          <a:prstGeom prst="ellipse">
            <a:avLst/>
          </a:prstGeom>
          <a:solidFill>
            <a:srgbClr val="5B6584"/>
          </a:solidFill>
          <a:ln/>
        </p:spPr>
      </p:sp>
      <p:pic>
        <p:nvPicPr>
          <p:cNvPr id="27" name="Image 5" descr="/home/claude/tax_ppt/icons/co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0580" y="4183380"/>
            <a:ext cx="283464" cy="28346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498848" y="470001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Windows-Based Launcher</a:t>
            </a:r>
            <a:endParaRPr lang="en-US" sz="1450" dirty="0"/>
          </a:p>
        </p:txBody>
      </p:sp>
      <p:sp>
        <p:nvSpPr>
          <p:cNvPr id="29" name="Text 21"/>
          <p:cNvSpPr txBox="1"/>
          <p:nvPr/>
        </p:nvSpPr>
        <p:spPr>
          <a:xfrm>
            <a:off x="4498848" y="5065776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.bat launcher requires a Windows environment to run.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8046720" y="3840480"/>
            <a:ext cx="3465576" cy="1965960"/>
          </a:xfrm>
          <a:prstGeom prst="roundRect">
            <a:avLst>
              <a:gd name="adj" fmla="val 558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247888" y="4041648"/>
            <a:ext cx="566928" cy="566928"/>
          </a:xfrm>
          <a:prstGeom prst="ellipse">
            <a:avLst/>
          </a:prstGeom>
          <a:solidFill>
            <a:srgbClr val="5B6584"/>
          </a:solidFill>
          <a:ln/>
        </p:spPr>
      </p:sp>
      <p:pic>
        <p:nvPicPr>
          <p:cNvPr id="32" name="Image 6" descr="/home/claude/tax_ppt/icons/databa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9620" y="4183380"/>
            <a:ext cx="283464" cy="283464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247888" y="470001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Auto-Backup</a:t>
            </a:r>
            <a:endParaRPr lang="en-US" sz="1450" dirty="0"/>
          </a:p>
        </p:txBody>
      </p:sp>
      <p:sp>
        <p:nvSpPr>
          <p:cNvPr id="34" name="Text 25"/>
          <p:cNvSpPr txBox="1"/>
          <p:nvPr/>
        </p:nvSpPr>
        <p:spPr>
          <a:xfrm>
            <a:off x="8247888" y="5065776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data has no built-in backup or version history.</a:t>
            </a:r>
            <a:endParaRPr lang="en-US" sz="1100" dirty="0"/>
          </a:p>
        </p:txBody>
      </p:sp>
      <p:sp>
        <p:nvSpPr>
          <p:cNvPr id="35" name="Text 2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TaxCompute Pro  |  AI Level 2 – Batch 85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/home/claude/tax_ppt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35608" y="475488"/>
            <a:ext cx="1052748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Manual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465576" cy="1965960"/>
          </a:xfrm>
          <a:prstGeom prst="roundRect">
            <a:avLst>
              <a:gd name="adj" fmla="val 558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180136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1" descr="/home/claude/tax_ppt/icons/down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1943100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49808" y="245973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Extract &amp; Save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2825496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TaxCompute Pro folder to your local system.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297680" y="1600200"/>
            <a:ext cx="3465576" cy="1965960"/>
          </a:xfrm>
          <a:prstGeom prst="roundRect">
            <a:avLst>
              <a:gd name="adj" fmla="val 558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98848" y="180136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2" name="Image 2" descr="/home/claude/tax_ppt/icons/mou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580" y="1943100"/>
            <a:ext cx="283464" cy="28346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498848" y="245973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Double-Click to Launch</a:t>
            </a:r>
            <a:endParaRPr lang="en-US" sz="1450" dirty="0"/>
          </a:p>
        </p:txBody>
      </p:sp>
      <p:sp>
        <p:nvSpPr>
          <p:cNvPr id="14" name="Text 9"/>
          <p:cNvSpPr txBox="1"/>
          <p:nvPr/>
        </p:nvSpPr>
        <p:spPr>
          <a:xfrm>
            <a:off x="4498848" y="2825496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the TaxComputePro.bat file.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046720" y="1600200"/>
            <a:ext cx="3465576" cy="1965960"/>
          </a:xfrm>
          <a:prstGeom prst="roundRect">
            <a:avLst>
              <a:gd name="adj" fmla="val 558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47888" y="180136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7" name="Image 3" descr="/home/claude/tax_ppt/icons/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9620" y="1943100"/>
            <a:ext cx="283464" cy="28346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247888" y="245973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Auto-Opens in Browser</a:t>
            </a:r>
            <a:endParaRPr lang="en-US" sz="1450" dirty="0"/>
          </a:p>
        </p:txBody>
      </p:sp>
      <p:sp>
        <p:nvSpPr>
          <p:cNvPr id="19" name="Text 13"/>
          <p:cNvSpPr txBox="1"/>
          <p:nvPr/>
        </p:nvSpPr>
        <p:spPr>
          <a:xfrm>
            <a:off x="8247888" y="2825496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launches instantly on localhost in your default browser.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3840480"/>
            <a:ext cx="3465576" cy="1965960"/>
          </a:xfrm>
          <a:prstGeom prst="roundRect">
            <a:avLst>
              <a:gd name="adj" fmla="val 558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49808" y="40416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2" name="Image 4" descr="/home/claude/tax_ppt/icons/userPlu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4183380"/>
            <a:ext cx="283464" cy="28346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49808" y="470001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Add / Select Client</a:t>
            </a:r>
            <a:endParaRPr lang="en-US" sz="1450" dirty="0"/>
          </a:p>
        </p:txBody>
      </p:sp>
      <p:sp>
        <p:nvSpPr>
          <p:cNvPr id="24" name="Text 17"/>
          <p:cNvSpPr txBox="1"/>
          <p:nvPr/>
        </p:nvSpPr>
        <p:spPr>
          <a:xfrm>
            <a:off x="749808" y="5065776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client profile or choose an existing one.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297680" y="3840480"/>
            <a:ext cx="3465576" cy="1965960"/>
          </a:xfrm>
          <a:prstGeom prst="roundRect">
            <a:avLst>
              <a:gd name="adj" fmla="val 558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498848" y="40416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7" name="Image 5" descr="/home/claude/tax_ppt/icons/edi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0580" y="4183380"/>
            <a:ext cx="283464" cy="28346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498848" y="470001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Enter Income Details</a:t>
            </a:r>
            <a:endParaRPr lang="en-US" sz="1450" dirty="0"/>
          </a:p>
        </p:txBody>
      </p:sp>
      <p:sp>
        <p:nvSpPr>
          <p:cNvPr id="29" name="Text 21"/>
          <p:cNvSpPr txBox="1"/>
          <p:nvPr/>
        </p:nvSpPr>
        <p:spPr>
          <a:xfrm>
            <a:off x="4498848" y="5065776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income figures across sources in the interactive sheet.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8046720" y="3840480"/>
            <a:ext cx="3465576" cy="1965960"/>
          </a:xfrm>
          <a:prstGeom prst="roundRect">
            <a:avLst>
              <a:gd name="adj" fmla="val 558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247888" y="40416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2" name="Image 6" descr="/home/claude/tax_ppt/icons/chartPi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9620" y="4183380"/>
            <a:ext cx="283464" cy="283464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247888" y="470001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View Tax &amp; Advance Tax</a:t>
            </a:r>
            <a:endParaRPr lang="en-US" sz="1450" dirty="0"/>
          </a:p>
        </p:txBody>
      </p:sp>
      <p:sp>
        <p:nvSpPr>
          <p:cNvPr id="34" name="Text 25"/>
          <p:cNvSpPr txBox="1"/>
          <p:nvPr/>
        </p:nvSpPr>
        <p:spPr>
          <a:xfrm>
            <a:off x="8247888" y="5065776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Calculate to see tax liability and next-year advance tax.</a:t>
            </a:r>
            <a:endParaRPr lang="en-US" sz="1100" dirty="0"/>
          </a:p>
        </p:txBody>
      </p:sp>
      <p:sp>
        <p:nvSpPr>
          <p:cNvPr id="35" name="Text 2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TaxCompute Pro  |  AI Level 2 – Batch 85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CADCF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" name="Image 0" descr="/home/claude/tax_ppt/icons/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329184" cy="3291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47548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TaxCompute Pro brings speed, accuracy and structure to multi-client, multi-source tax computation — turning a traditionally manual, error-prone process into a few clicks. Built rapidly using the Antigravity AI development platform and deployable with a single local launch, it shows how AI-assisted development can produce practical, profession-ready tools for everyday CA practice.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4069080"/>
            <a:ext cx="438912" cy="438912"/>
          </a:xfrm>
          <a:prstGeom prst="ellipse">
            <a:avLst/>
          </a:prstGeom>
          <a:solidFill>
            <a:srgbClr val="2A3570"/>
          </a:solidFill>
          <a:ln/>
        </p:spPr>
      </p:sp>
      <p:pic>
        <p:nvPicPr>
          <p:cNvPr id="9" name="Image 1" descr="/home/claude/tax_ppt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178808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15568" y="406908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 &amp; multi-device access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4636008"/>
            <a:ext cx="438912" cy="438912"/>
          </a:xfrm>
          <a:prstGeom prst="ellipse">
            <a:avLst/>
          </a:prstGeom>
          <a:solidFill>
            <a:srgbClr val="2A3570"/>
          </a:solidFill>
          <a:ln/>
        </p:spPr>
      </p:sp>
      <p:pic>
        <p:nvPicPr>
          <p:cNvPr id="12" name="Image 2" descr="/home/claude/tax_ppt/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745736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15568" y="463600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e-filing integration with the IT portal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48640" y="5202936"/>
            <a:ext cx="438912" cy="438912"/>
          </a:xfrm>
          <a:prstGeom prst="ellipse">
            <a:avLst/>
          </a:prstGeom>
          <a:solidFill>
            <a:srgbClr val="2A3570"/>
          </a:solidFill>
          <a:ln/>
        </p:spPr>
      </p:sp>
      <p:pic>
        <p:nvPicPr>
          <p:cNvPr id="15" name="Image 3" descr="/home/claude/tax_ppt/icons/syn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312664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15568" y="5202936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annual tax-slab updates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548640" y="608076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548640" y="6217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CA Rupali Goyal  —  AI Level 2, Batch 85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2026-09-03T06:51:55Z</dcterms:created>
  <dcterms:modified xsi:type="dcterms:W3CDTF">2026-09-03T06:51:55Z</dcterms:modified>
</cp:coreProperties>
</file>