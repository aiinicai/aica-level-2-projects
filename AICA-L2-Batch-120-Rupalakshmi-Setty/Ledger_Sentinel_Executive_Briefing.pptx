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mnath TR" userId="6afd5ebed13df2a7" providerId="LiveId" clId="{A281FC71-77F3-4967-A6D0-CB81AA966AA2}"/>
    <pc:docChg chg="modSld">
      <pc:chgData name="Premnath TR" userId="6afd5ebed13df2a7" providerId="LiveId" clId="{A281FC71-77F3-4967-A6D0-CB81AA966AA2}" dt="2026-10-16T20:25:42.168" v="7" actId="20577"/>
      <pc:docMkLst>
        <pc:docMk/>
      </pc:docMkLst>
      <pc:sldChg chg="modSp mod">
        <pc:chgData name="Premnath TR" userId="6afd5ebed13df2a7" providerId="LiveId" clId="{A281FC71-77F3-4967-A6D0-CB81AA966AA2}" dt="2026-10-16T20:25:42.168" v="7" actId="20577"/>
        <pc:sldMkLst>
          <pc:docMk/>
          <pc:sldMk cId="0" sldId="256"/>
        </pc:sldMkLst>
        <pc:spChg chg="mod">
          <ac:chgData name="Premnath TR" userId="6afd5ebed13df2a7" providerId="LiveId" clId="{A281FC71-77F3-4967-A6D0-CB81AA966AA2}" dt="2026-10-16T20:25:42.168" v="7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+mn-lt"/>
              </a:rPr>
              <a:t>% of planted fraud caught (278 entries)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caught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Tier 1
(unambiguous)</c:v>
                </c:pt>
                <c:pt idx="1">
                  <c:v>Tier 2
(incl. borderline)</c:v>
                </c:pt>
                <c:pt idx="2">
                  <c:v>Tier 1 + Rule 11</c:v>
                </c:pt>
                <c:pt idx="3">
                  <c:v>Tier 2 + Rule 11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57.9</c:v>
                </c:pt>
                <c:pt idx="1">
                  <c:v>72.3</c:v>
                </c:pt>
                <c:pt idx="2">
                  <c:v>61.5</c:v>
                </c:pt>
                <c:pt idx="3">
                  <c:v>75.900000000000006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DA-4126-8776-261D24E5AC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465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5146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Shape 0"/>
          <p:cNvSpPr/>
          <p:nvPr/>
        </p:nvSpPr>
        <p:spPr>
          <a:xfrm>
            <a:off x="640080" y="1170432"/>
            <a:ext cx="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SENTINEL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5146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Validation Run</a:t>
            </a: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|  AICA Level 2 Capstone Project  -  AI-Assisted Fraud Detection for TallyPrime Journal Entries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 txBox="1"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</a:t>
            </a: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 Rupalakshmi Setty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16 October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under SA 240  -  The Auditor's Responsibilities Relating to Fraud in an Audit of Financial Statements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16 October 2026, the full Ledger Sentinel pipeline was independently rebuilt and re-run end to end on a separate machine, against the original 7,778-voucher synthetic dataset and its hidden answer key. Every previously documented result reproduced exactly.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 txBox="1"/>
          <p:nvPr/>
        </p:nvSpPr>
        <p:spPr>
          <a:xfrm>
            <a:off x="640080" y="2258568"/>
            <a:ext cx="25420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7,778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 screened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21488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 txBox="1"/>
          <p:nvPr/>
        </p:nvSpPr>
        <p:spPr>
          <a:xfrm>
            <a:off x="3383280" y="2258568"/>
            <a:ext cx="25420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57.9%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1089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caught unambiguously (Tier 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21488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 txBox="1"/>
          <p:nvPr/>
        </p:nvSpPr>
        <p:spPr>
          <a:xfrm>
            <a:off x="6126480" y="2258568"/>
            <a:ext cx="25420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75.9%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1089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caught incl. Rule 11 (Tier 2)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69680" y="214884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  <a:effectLst>
            <a:outerShdw blurRad="762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 txBox="1"/>
          <p:nvPr/>
        </p:nvSpPr>
        <p:spPr>
          <a:xfrm>
            <a:off x="8869680" y="2258568"/>
            <a:ext cx="25420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31089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from Rule 11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881360" cy="178308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 txBox="1"/>
          <p:nvPr/>
        </p:nvSpPr>
        <p:spPr>
          <a:xfrm>
            <a:off x="914400" y="4069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 for the audit committee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4348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logic, the rule weights, and the random seed were never touched during this run. 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genuine, machine-independent reproducibility proof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not a restated number - giving the committee direct evidence that these figures describe the model's behaviour, not one lucky environment.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465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verified live against the dataset's hidden 278-entry answer key; see Slide 8 for the full cross-check.</a:t>
            </a:r>
            <a:endParaRPr lang="en-US" sz="900" dirty="0"/>
          </a:p>
        </p:txBody>
      </p:sp>
      <p:sp>
        <p:nvSpPr>
          <p:cNvPr id="20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 gap this project addresses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29000" cy="2834640"/>
          </a:xfrm>
          <a:prstGeom prst="roundRect">
            <a:avLst>
              <a:gd name="adj" fmla="val 193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 txBox="1"/>
          <p:nvPr/>
        </p:nvSpPr>
        <p:spPr>
          <a:xfrm>
            <a:off x="868680" y="1572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47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 240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59152"/>
            <a:ext cx="2971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auditors to assess the risk of management override of controls and fraud in journal entries - not just transaction testing on a sample.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429000" cy="2834640"/>
          </a:xfrm>
          <a:prstGeom prst="roundRect">
            <a:avLst>
              <a:gd name="adj" fmla="val 193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 txBox="1"/>
          <p:nvPr/>
        </p:nvSpPr>
        <p:spPr>
          <a:xfrm>
            <a:off x="4480560" y="1572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LIMIT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47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leaves gaps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359152"/>
            <a:ext cx="2971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or judgmental sampling, by design, examines only a fraction of entries. A journal entry built specifically to look routine can sit comfortably outside any sample drawn.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1371600"/>
            <a:ext cx="3429000" cy="2834640"/>
          </a:xfrm>
          <a:prstGeom prst="roundRect">
            <a:avLst>
              <a:gd name="adj" fmla="val 193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 txBox="1"/>
          <p:nvPr/>
        </p:nvSpPr>
        <p:spPr>
          <a:xfrm>
            <a:off x="8092440" y="1572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SHARPER RISK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1847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Designed-to-evade fraud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359152"/>
            <a:ext cx="29718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schemes - structured vendor payouts kept just under a threshold, for example - are deliberately shaped to beat any single-entry rule, not just to escape a sample.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brief: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journal entry, every time, with deterministic rules an auditor can defend - and add a second layer that watches vendor behaviour over time, not just one entry in isolation.</a:t>
            </a:r>
            <a:endParaRPr lang="en-US" sz="1400" dirty="0"/>
          </a:p>
        </p:txBody>
      </p:sp>
      <p:sp>
        <p:nvSpPr>
          <p:cNvPr id="17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approach: three layers, kept deliberately separate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29000" cy="4023360"/>
          </a:xfrm>
          <a:prstGeom prst="roundRect">
            <a:avLst>
              <a:gd name="adj" fmla="val 16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 txBox="1"/>
          <p:nvPr/>
        </p:nvSpPr>
        <p:spPr>
          <a:xfrm>
            <a:off x="868680" y="1572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47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weighted rules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59152"/>
            <a:ext cx="29718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 tests on every single entry - timing, amount patterns, user behaviour, narration quality - combined into one ranked risk_score (0-100).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429000" cy="4023360"/>
          </a:xfrm>
          <a:prstGeom prst="roundRect">
            <a:avLst>
              <a:gd name="adj" fmla="val 16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 txBox="1"/>
          <p:nvPr/>
        </p:nvSpPr>
        <p:spPr>
          <a:xfrm>
            <a:off x="4480560" y="1572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-  RULE 11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47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structuring screen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359152"/>
            <a:ext cx="29718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each vendor's trailing 270-day payment total against that same vendor's own first-60-day baseline. Flags only when the pattern, not any single entry, looks structured. Kept as a separate flag - never blended into risk_score.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1371600"/>
            <a:ext cx="3429000" cy="4023360"/>
          </a:xfrm>
          <a:prstGeom prst="roundRect">
            <a:avLst>
              <a:gd name="adj" fmla="val 16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 txBox="1"/>
          <p:nvPr/>
        </p:nvSpPr>
        <p:spPr>
          <a:xfrm>
            <a:off x="8092440" y="1572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1847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explanation, not detection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359152"/>
            <a:ext cx="29718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 entry is already flagged by Layers 1-2, an AI layer writes the plain-English working-paper narrative for the human reviewer. It never decides what gets flagged, and it never sees entries that were not already selected by the rules.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465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Rule 11 stays separate: an earlier prototype blended it into risk_score and it ranked 414th of 7,778 - the aggregate signal buried it. Kept separate, it catches 10 of 278 with zero false positives.</a:t>
            </a:r>
            <a:endParaRPr lang="en-US" sz="900" dirty="0"/>
          </a:p>
        </p:txBody>
      </p:sp>
      <p:sp>
        <p:nvSpPr>
          <p:cNvPr id="16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eleven controls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/ after-hours posting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timestamp falls outside normal business 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period 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Posted in the final days of a reporting period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Suspiciously round transaction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approval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sits just under a known approval 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account pair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Debit/credit combination rarely seen historically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narration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Narration text lacks specific, checkable detail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pattern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Closely matches another recent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user create/alter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user both created and later altered the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voucher, late edit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long-settled voucher edited well after the 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bank-detail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Vendor's bank details changed shortly before payment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structured disbursement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flag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Vendor's rolling 270-day total runs &gt;2x its own 60-day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1280160"/>
            <a:ext cx="10881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5029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50" dirty="0"/>
          </a:p>
        </p:txBody>
      </p:sp>
      <p:sp>
        <p:nvSpPr>
          <p:cNvPr id="3" name="Text 3"/>
          <p:cNvSpPr txBox="1"/>
          <p:nvPr/>
        </p:nvSpPr>
        <p:spPr>
          <a:xfrm>
            <a:off x="1143000" y="12801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349240" y="1280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1280160"/>
            <a:ext cx="4709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tests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5504688"/>
            <a:ext cx="10881360" cy="384048"/>
          </a:xfrm>
          <a:prstGeom prst="rect">
            <a:avLst/>
          </a:prstGeom>
          <a:solidFill>
            <a:srgbClr val="EEF3FC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7"/>
          <p:cNvSpPr txBox="1"/>
          <p:nvPr/>
        </p:nvSpPr>
        <p:spPr>
          <a:xfrm>
            <a:off x="640080" y="5504688"/>
            <a:ext cx="5029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55046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structured disbursement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5504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flag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5504688"/>
            <a:ext cx="4709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Vendor's rolling 270-day total runs &gt;2x its own 60-day baseline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465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11 is reported separately throughout this project - in the SOP, the dashboard, and every results table - never folded into the weighted risk_score.</a:t>
            </a:r>
            <a:endParaRPr lang="en-US" sz="900" dirty="0"/>
          </a:p>
        </p:txBody>
      </p:sp>
      <p:sp>
        <p:nvSpPr>
          <p:cNvPr id="15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run was validated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258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rebuilt independently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7335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conflicting Python installs were found and removed; a clean install was verified before any code ran - documented openly, not smoothed over.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91540" y="1892808"/>
            <a:ext cx="0" cy="603504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 txBox="1"/>
          <p:nvPr/>
        </p:nvSpPr>
        <p:spPr>
          <a:xfrm>
            <a:off x="64008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9631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re-run untouched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4378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rules_engine.py was executed exactly as shipped, against the original 7,778-voucher file and its hidden 278-entry answer key - no logic, weights, or data changed.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1540" y="3063240"/>
            <a:ext cx="0" cy="603504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 txBox="1"/>
          <p:nvPr/>
        </p:nvSpPr>
        <p:spPr>
          <a:xfrm>
            <a:off x="64008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6674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proven, not assumed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014216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random.seed(42) and deterministic tie-breaking (risk_score, then voucher_id) were confirmed to produce byte-identical output across runs.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1540" y="4233672"/>
            <a:ext cx="0" cy="603504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AE"/>
          </a:p>
        </p:txBody>
      </p:sp>
      <p:sp>
        <p:nvSpPr>
          <p:cNvPr id="18" name="Shape 16"/>
          <p:cNvSpPr/>
          <p:nvPr/>
        </p:nvSpPr>
        <p:spPr>
          <a:xfrm>
            <a:off x="640080" y="488289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 txBox="1"/>
          <p:nvPr/>
        </p:nvSpPr>
        <p:spPr>
          <a:xfrm>
            <a:off x="640080" y="4882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3717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Two-tier reporting discipline kept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18464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vouchers tied on the exact cutoff score, so results are reported as Tier 1 (unambiguous) and Tier 2 (incl. the tied/borderline band) - never collapsed into one flattering number.</a:t>
            </a:r>
            <a:endParaRPr lang="en-US" sz="1250" dirty="0"/>
          </a:p>
        </p:txBody>
      </p:sp>
      <p:sp>
        <p:nvSpPr>
          <p:cNvPr id="22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reported honestly, by tier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325880"/>
          <a:ext cx="64008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269480" y="1325880"/>
            <a:ext cx="4251960" cy="2103120"/>
          </a:xfrm>
          <a:prstGeom prst="roundRect">
            <a:avLst>
              <a:gd name="adj" fmla="val 260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2"/>
          <p:cNvSpPr txBox="1"/>
          <p:nvPr/>
        </p:nvSpPr>
        <p:spPr>
          <a:xfrm>
            <a:off x="749808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1 - unambiguous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17373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of 278 caught  (4 false positives, 2.4% of flagged)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286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2 - incl. borderline band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560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of 278 caught  (328 flagged; 163 tied on one exact score)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269480" y="3611880"/>
            <a:ext cx="4251960" cy="214884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7"/>
          <p:cNvSpPr txBox="1"/>
          <p:nvPr/>
        </p:nvSpPr>
        <p:spPr>
          <a:xfrm>
            <a:off x="7498080" y="3749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11 adds pure upside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4041648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additional structuring catches, zero overlap with the 10 single-entry rules, zero false positives - lifting the combined result to 61.5% / 75.9%.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4465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9 fraud types are caught at a perfect 100% once the borderline band is included.</a:t>
            </a:r>
            <a:endParaRPr lang="en-US" sz="900" dirty="0"/>
          </a:p>
        </p:txBody>
      </p:sp>
      <p:sp>
        <p:nvSpPr>
          <p:cNvPr id="1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Cross-check: documented figures vs. this live run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below was produced live on 16 October 2026, on a freshly rebuilt environment, and checked against the figures already recorded in the project's README, SOP, and presentation deck.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9202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9202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run's live output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241280" y="19202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95728"/>
            <a:ext cx="10881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 txBox="1"/>
          <p:nvPr/>
        </p:nvSpPr>
        <p:spPr>
          <a:xfrm>
            <a:off x="640080" y="23957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vouchers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3957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7,778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395728"/>
            <a:ext cx="3566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7,778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0" y="23957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871216"/>
            <a:ext cx="10881360" cy="475488"/>
          </a:xfrm>
          <a:prstGeom prst="rect">
            <a:avLst/>
          </a:prstGeom>
          <a:solidFill>
            <a:srgbClr val="EEF3FC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 txBox="1"/>
          <p:nvPr/>
        </p:nvSpPr>
        <p:spPr>
          <a:xfrm>
            <a:off x="640080" y="2871216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fraud entries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871216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(9 types)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871216"/>
            <a:ext cx="3566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(9 types)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0" y="28712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346704"/>
            <a:ext cx="10881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 txBox="1"/>
          <p:nvPr/>
        </p:nvSpPr>
        <p:spPr>
          <a:xfrm>
            <a:off x="640080" y="33467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1 - unambiguous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33467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 (161/278), 4 FP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346704"/>
            <a:ext cx="3566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 (161/278), 4 FP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0" y="33467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822192"/>
            <a:ext cx="10881360" cy="475488"/>
          </a:xfrm>
          <a:prstGeom prst="rect">
            <a:avLst/>
          </a:prstGeom>
          <a:solidFill>
            <a:srgbClr val="EEF3FC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 txBox="1"/>
          <p:nvPr/>
        </p:nvSpPr>
        <p:spPr>
          <a:xfrm>
            <a:off x="640080" y="38221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2 - incl. borderline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38221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72.3% (201/278)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8221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72.3% (201/278)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0" y="38221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297680"/>
            <a:ext cx="10881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 txBox="1"/>
          <p:nvPr/>
        </p:nvSpPr>
        <p:spPr>
          <a:xfrm>
            <a:off x="640080" y="42976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0" y="42976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10/278, 0 false positives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2976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10/278, 0 false positives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0" y="42976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773168"/>
            <a:ext cx="10881360" cy="475488"/>
          </a:xfrm>
          <a:prstGeom prst="rect">
            <a:avLst/>
          </a:prstGeom>
          <a:solidFill>
            <a:srgbClr val="EEF3FC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 txBox="1"/>
          <p:nvPr/>
        </p:nvSpPr>
        <p:spPr>
          <a:xfrm>
            <a:off x="640080" y="47731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Tier 1 + Rule 11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0" y="47731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61.5%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47731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61.5% (171/278)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0" y="47731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" y="5248656"/>
            <a:ext cx="10881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Text 38"/>
          <p:cNvSpPr txBox="1"/>
          <p:nvPr/>
        </p:nvSpPr>
        <p:spPr>
          <a:xfrm>
            <a:off x="640080" y="52486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Tier 2 + Rule 11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657600" y="52486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75.9%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675120" y="5248656"/>
            <a:ext cx="3566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75.9% (211/278)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0" y="5248656"/>
            <a:ext cx="1280160" cy="47548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8613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seeded random data. Same deterministic rule logic. Same tie-breaking rule. Byte-identical results on a separate machine, on a separate day, after a full environment reinstall.</a:t>
            </a:r>
            <a:endParaRPr lang="en-US" sz="1300" dirty="0"/>
          </a:p>
        </p:txBody>
      </p:sp>
      <p:sp>
        <p:nvSpPr>
          <p:cNvPr id="45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- stated plainly, not smoothed 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type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325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remains 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/ after-hours entries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783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operations (month-end close, year-end cutoff work) also post outside business hours - the pattern genuinely overlaps with normal activity.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914400"/>
          </a:xfrm>
          <a:prstGeom prst="rect">
            <a:avLst/>
          </a:prstGeom>
          <a:solidFill>
            <a:srgbClr val="EEF3FC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 txBox="1"/>
          <p:nvPr/>
        </p:nvSpPr>
        <p:spPr>
          <a:xfrm>
            <a:off x="640080" y="2743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Duplicate-invoice fraud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7432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well-disguised duplicate can differ just enough in reference or narration to sit outside a simple pattern match.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08813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 txBox="1"/>
          <p:nvPr/>
        </p:nvSpPr>
        <p:spPr>
          <a:xfrm>
            <a:off x="640080" y="365760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13 structuring payments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65760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11 catches 10 of 13 structured vendor payouts; the remaining 3 stayed below the 2x baseline multiplier that triggers a flag - a deliberately conservative threshold chosen to keep false positives at zero.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principle: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prioritise entries for human review - they do not, on their own, prove fraud. Every flagged entry still requires a reviewer's sign-off.</a:t>
            </a:r>
            <a:endParaRPr lang="en-US" sz="1300" dirty="0"/>
          </a:p>
        </p:txBody>
      </p:sp>
      <p:sp>
        <p:nvSpPr>
          <p:cNvPr id="16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an audit trail, not just a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29000" cy="3931920"/>
          </a:xfrm>
          <a:prstGeom prst="roundRect">
            <a:avLst>
              <a:gd name="adj" fmla="val 16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 txBox="1"/>
          <p:nvPr/>
        </p:nvSpPr>
        <p:spPr>
          <a:xfrm>
            <a:off x="868680" y="1572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47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privacy tiers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59152"/>
            <a:ext cx="297180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explanation can run as template fallback (no external call), a local LM Studio model (on-premise), or the live Claude API (highest capability) - in increasing order of data exposure, chosen deliberately per engagement.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429000" cy="3931920"/>
          </a:xfrm>
          <a:prstGeom prst="roundRect">
            <a:avLst>
              <a:gd name="adj" fmla="val 16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 txBox="1"/>
          <p:nvPr/>
        </p:nvSpPr>
        <p:spPr>
          <a:xfrm>
            <a:off x="4480560" y="1572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DISCIPLINE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47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run logged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359152"/>
            <a:ext cx="297180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scripts, a dated run log (seed, date, headline numbers) for every execution, frozen and dated milestones, and every threshold and assumption written down - including this validation run itself.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1371600"/>
            <a:ext cx="3429000" cy="3931920"/>
          </a:xfrm>
          <a:prstGeom prst="roundRect">
            <a:avLst>
              <a:gd name="adj" fmla="val 16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 txBox="1"/>
          <p:nvPr/>
        </p:nvSpPr>
        <p:spPr>
          <a:xfrm>
            <a:off x="8092440" y="1572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1847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sign-off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359152"/>
            <a:ext cx="297180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entries and their AI-written explanations are compiled into an Auditor Working Paper with blank sign-off columns - the model ranks and explains; a qualified reviewer decides.</a:t>
            </a:r>
            <a:endParaRPr lang="en-US" sz="1250" dirty="0"/>
          </a:p>
        </p:txBody>
      </p:sp>
      <p:sp>
        <p:nvSpPr>
          <p:cNvPr id="15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24028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822960" y="2852928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 txBox="1"/>
          <p:nvPr/>
        </p:nvSpPr>
        <p:spPr>
          <a:xfrm>
            <a:off x="1143000" y="27889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this synthetic proof to a live TallyPrime daybook, via the existing MCP connection, with the same 11 rules unchanged.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721608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 txBox="1"/>
          <p:nvPr/>
        </p:nvSpPr>
        <p:spPr>
          <a:xfrm>
            <a:off x="1143000" y="36576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Tier-1 and Rule-11 flags into the reviewer sign-off workflow for a live pilot period.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 txBox="1"/>
          <p:nvPr/>
        </p:nvSpPr>
        <p:spPr>
          <a:xfrm>
            <a:off x="1143000" y="45262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Rule 11 threshold with the audit committee once live vendor data is available, informed by this run's zero-false-positive result.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Rupalakshmi  |  AICA Level 2 Capstone  |  Ledger Sentinel Independent Validation Run, 16 October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Executive">
  <a:themeElements>
    <a:clrScheme name="Midnight Executive">
      <a:dk1>
        <a:srgbClr val="1A1A1A"/>
      </a:dk1>
      <a:lt1>
        <a:srgbClr val="FFFFFF"/>
      </a:lt1>
      <a:dk2>
        <a:srgbClr val="1E2761"/>
      </a:dk2>
      <a:lt2>
        <a:srgbClr val="CADCFC"/>
      </a:lt2>
      <a:accent1>
        <a:srgbClr val="1E2761"/>
      </a:accent1>
      <a:accent2>
        <a:srgbClr val="2E5EAA"/>
      </a:accent2>
      <a:accent3>
        <a:srgbClr val="CADCFC"/>
      </a:accent3>
      <a:accent4>
        <a:srgbClr val="C9A227"/>
      </a:accent4>
      <a:accent5>
        <a:srgbClr val="6B7A99"/>
      </a:accent5>
      <a:accent6>
        <a:srgbClr val="8FA6D6"/>
      </a:accent6>
      <a:hlink>
        <a:srgbClr val="2E5EAA"/>
      </a:hlink>
      <a:folHlink>
        <a:srgbClr val="6B7A99"/>
      </a:folHlink>
    </a:clrScheme>
    <a:fontScheme name="Midnight Executiv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1544</Words>
  <Application>Microsoft Office PowerPoint</Application>
  <PresentationFormat>Widescreen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Midnight Executive</vt:lpstr>
      <vt:lpstr>Independent Validation Run</vt:lpstr>
      <vt:lpstr>Executive summary</vt:lpstr>
      <vt:lpstr>The control gap this project addresses</vt:lpstr>
      <vt:lpstr>The approach: three layers, kept deliberately separate</vt:lpstr>
      <vt:lpstr>The eleven controls</vt:lpstr>
      <vt:lpstr>How this run was validated</vt:lpstr>
      <vt:lpstr>Results: reported honestly, by tier</vt:lpstr>
      <vt:lpstr>Cross-check: documented figures vs. this live run</vt:lpstr>
      <vt:lpstr>Known limitations - stated plainly, not smoothed over</vt:lpstr>
      <vt:lpstr>Built for an audit trail, not just a demo</vt:lpstr>
      <vt:lpstr>Next steps</vt:lpstr>
    </vt:vector>
  </TitlesOfParts>
  <Company>AICA Level 2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 Sentinel - Independent Validation Run</dc:title>
  <dc:subject>PptxGenJS Presentation</dc:subject>
  <dc:creator>Rupalakshmi</dc:creator>
  <cp:lastModifiedBy>Premnath TR</cp:lastModifiedBy>
  <cp:revision>1</cp:revision>
  <dcterms:created xsi:type="dcterms:W3CDTF">2026-10-16T19:29:01Z</dcterms:created>
  <dcterms:modified xsi:type="dcterms:W3CDTF">2026-10-16T20:25:43Z</dcterms:modified>
</cp:coreProperties>
</file>