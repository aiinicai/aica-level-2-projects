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LEDGER SENTINEL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0"/>
                </a:solidFill>
              </a:rPr>
              <a:t>AI-Assisted Fraud Detection for Tally Prime Journal Entries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128016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ICAI AICA Level 2 Capstone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53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4F0"/>
                </a:solidFill>
              </a:rPr>
              <a:t>Prepared by Rupalakshmi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A99"/>
                </a:solidFill>
              </a:rPr>
              <a:t>Including a live, verified integration with a real TallyPrime instance via MCP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858000" cy="4480560"/>
          </a:xfrm>
          <a:prstGeom prst="rect">
            <a:avLst/>
          </a:prstGeom>
          <a:solidFill>
            <a:srgbClr val="ECF3FA"/>
          </a:solidFill>
          <a:ln w="12700">
            <a:solidFill>
              <a:srgbClr val="ECF3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Journal-entry testing under SA 240 requires auditors to identify unusual entries that may indicate fraud — but with </a:t>
            </a:r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thousands of entries per period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 and limited time, manual sampling systematically misses the small, deliberately-disguised entries that matter most.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37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Our objective: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033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Build an AI-assisted tool that screens 100% of journal entries exported from Tally Prime, ranks them by a transparent, rule-based risk score, and gives the auditor a plain-language explanation for every entry flagged — turning a sampling exercise into a full-population screen, without ever letting the AI decide what counts as fraud.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80960" y="137160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0" y="148132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7,778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9509760" y="1508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</a:rPr>
              <a:t>journal entries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</a:rPr>
              <a:t>screened per run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80960" y="288036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299008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30175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</a:rPr>
              <a:t>fraud patterns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</a:rPr>
              <a:t>planted for testing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438912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63840" y="4498848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240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45262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</a:rPr>
              <a:t>the audit standard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</a:rPr>
              <a:t>this tool supports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 — Input · Process · Output (IPO)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916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F4E7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Tally Day Book Export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089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Journal vouchers exported from Tally Prime (or pulled live via MCP): date, accounts, amount, narration, user and edit-log fields.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3246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B"/>
                </a:solidFill>
              </a:rPr>
              <a:t>➝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916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331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+ AI Explanation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1089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10 weighted red-flag rules score every entry, plus a separate Rule 11 vendor-level screen for structured/“little-by-little” payments; an AI layer explains only the entries already flagged — it never decides what's suspicious.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32461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B"/>
                </a:solidFill>
              </a:rPr>
              <a:t>➝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275320" y="1417320"/>
            <a:ext cx="3520440" cy="42976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5400000">
              <a:srgbClr val="BFBFBF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49640" y="169164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49640" y="1691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23317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Working Paper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310896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A risk-ranked list, plain-language explanations, follow-up questions, and a live dashboard — ready for auditor review and sign-off.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Solution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— What the Tool Reads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</a:rPr>
              <a:t>Every voucher is read with the same 12 fields, whether it comes from a file export or a live MCP pull: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voucher_id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0428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2311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/ time / day_of_week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977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70662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created_by / created_by_name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182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altered_by / altered_date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657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debit_account / credit_account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1330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60857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80960" y="1188720"/>
            <a:ext cx="3977640" cy="5029200"/>
          </a:xfrm>
          <a:prstGeom prst="roundRect">
            <a:avLst>
              <a:gd name="adj" fmla="val 2299"/>
            </a:avLst>
          </a:prstGeom>
          <a:solidFill>
            <a:srgbClr val="ECF3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9095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Synthetic test dataset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7,778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190195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total vouchers (1 year, UAE trading company)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2468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278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915400" y="24963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planted fraud entries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3063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15400" y="3090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distinct fraud patterns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909560" y="3657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915400" y="36850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ledger accounts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4251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15400" y="42793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</a:rPr>
              <a:t>simulated user accounts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937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</a:rPr>
              <a:t>9 fraud patterns planted: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909560" y="5257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</a:rPr>
              <a:t>Weekend/after-hours · post year-end backdating · near approval limit · round amounts to suspense · same-user create/alter · duplicate invoices · vendor bank-detail changes · old-voucher late edits · structured disbursement to a vendor (caught separately by Rule 11)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Input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— Rules Engine + AI Explanation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1 — Rules engine (deterministic, auditable)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10 independently-weighted rules each test one red flag (timing, amounts, narration, accounts, user behaviour) and return a score. Every fired rule is combined into a single weighted-average risk score — never a simple sum — so even a heavily-flagged entry is scored honestly rather than maxed out. A separate Rule 11 watches cumulative payments per vendor over time, to catch structuring that no single-entry rule can see — reported on its own, never folded into that weighted average.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949440" cy="777240"/>
          </a:xfrm>
          <a:prstGeom prst="roundRect">
            <a:avLst>
              <a:gd name="adj" fmla="val 7059"/>
            </a:avLst>
          </a:prstGeom>
          <a:solidFill>
            <a:srgbClr val="ECF3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880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 = ( Σ score × weight for fired rules ) / ( Σ 100 × weight for all rules ) × 100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2 — AI explanation layer (explains, never decides)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79392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For only the highest-ranked entries, an AI layer writes a plain-language explanation, two follow-up questions for management, and a draft working-paper note — strictly from the rule reasons already captured. Like a metal detector and a tour guide: the rules decide what's flagged, the AI only explains why.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18120" y="1234440"/>
            <a:ext cx="3840480" cy="4892040"/>
          </a:xfrm>
          <a:prstGeom prst="roundRect">
            <a:avLst>
              <a:gd name="adj" fmla="val 2381"/>
            </a:avLst>
          </a:prstGeom>
          <a:solidFill>
            <a:srgbClr val="1329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Three AI backend modes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4F0"/>
                </a:solidFill>
              </a:rPr>
              <a:t>Template (default)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3591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6"/>
                </a:solidFill>
              </a:rPr>
              <a:t>zero-config, deterministic, always works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4F0"/>
                </a:solidFill>
              </a:rPr>
              <a:t>Local — LM Studio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31927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6"/>
                </a:solidFill>
              </a:rPr>
              <a:t>private, nothing leaves the machine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E4F0"/>
                </a:solidFill>
              </a:rPr>
              <a:t>Cloud — Claude API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427939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6"/>
                </a:solidFill>
              </a:rPr>
              <a:t>richer natural-language explanations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Process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— Results on the Synthetic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13294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57.9%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860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fraud caught unambiguously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(161 of 278, 4 false calls —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up to 72.3% if a tied/borderline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band is also reviewed)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023360" y="128016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23360" y="1417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fraud types caught at 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perfect 100% catch 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0" y="1280160"/>
            <a:ext cx="4160520" cy="1737360"/>
          </a:xfrm>
          <a:prstGeom prst="roundRect">
            <a:avLst>
              <a:gd name="adj" fmla="val 5263"/>
            </a:avLst>
          </a:prstGeom>
          <a:solidFill>
            <a:srgbClr val="ECF3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Honest about ties, not just gaps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178308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</a:rPr>
              <a:t>163 vouchers tie on one exact score at the cutoff — a single "top 278" number would hide that. We report both tiers honestly. A separate Rule 11 screen adds 10 more catches (0 false positives) on top, for a combined 61.5%–75.9%.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Deliverables produced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221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749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Risk-scored voucher list (all 7,778, ranked 0–100, plus a separate Rule 11 vendor flag)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793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06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Auditor Working Paper (top 50, explained, sign-off ready)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4663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Interactive Streamlit risk dashboard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937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5120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</a:rPr>
              <a:t>One-click live Tally → MCP → Excel pipeline</a:t>
            </a:r>
            <a:endParaRPr lang="en-US" sz="1250" dirty="0"/>
          </a:p>
        </p:txBody>
      </p:sp>
      <p:pic>
        <p:nvPicPr>
          <p:cNvPr id="21" name="Image 0" descr="/tmp/ledger_sentinel/build/screenshot_benf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3291840"/>
            <a:ext cx="4709160" cy="213969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949440" y="546811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B7B"/>
                </a:solidFill>
              </a:rPr>
              <a:t>Benford's-Law and Rule 11 vendor screens (separate dashboard views, never blended into the ranked list)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Output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Process Flow</a:t>
            </a:r>
            <a:endParaRPr lang="en-US" sz="3000" dirty="0"/>
          </a:p>
        </p:txBody>
      </p:sp>
      <p:pic>
        <p:nvPicPr>
          <p:cNvPr id="3" name="Image 0" descr="/tmp/ledger_sentinel/build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11274552" cy="5349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Stretch Goal — Live Tally ↔ MCP Integration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0392B"/>
                </a:solidFill>
              </a:rPr>
              <a:t>Verified live against a real, running TallyPrime instance on 15 October 2026 — not a simulation.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1329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Chart of accounts pushed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27 ledger masters created in Tally — 0 errors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1F4E7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Synthetic vouchers written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Real "Journal" vouchers created via Tally's XML/HTTP gateway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1329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Day Book pulled back — live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Read-only MCP tool call recovers real rows from Tally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1F4E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514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Scored by the rules engine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063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F0"/>
                </a:solidFill>
              </a:rPr>
              <a:t>Genuine live data, never seen by the rules before</a:t>
            </a:r>
            <a:endParaRPr lang="en-US" sz="950" dirty="0"/>
          </a:p>
        </p:txBody>
      </p:sp>
      <p:pic>
        <p:nvPicPr>
          <p:cNvPr id="20" name="Image 0" descr="/tmp/ledger_sentinel/build/screenshot_terminal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94760"/>
            <a:ext cx="6675120" cy="75895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48640" y="4572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B"/>
                </a:solidFill>
              </a:rPr>
              <a:t>Real terminal output: live pull succeeded, real rows recovered into live_daybook_export.xlsx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498080" y="3794760"/>
            <a:ext cx="4160520" cy="2423160"/>
          </a:xfrm>
          <a:prstGeom prst="roundRect">
            <a:avLst>
              <a:gd name="adj" fmla="val 3774"/>
            </a:avLst>
          </a:prstGeom>
          <a:solidFill>
            <a:srgbClr val="ECF3F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80960" y="39319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</a:rPr>
              <a:t>Strictly read-only by design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29768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tally_mcp_server.py only ever sends "Export Data" requests. Writing synthetic data into Tally for this demo was done by separate, clearly-labelled seed scripts — the MCP tool itself never needs write access.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Live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Result — Real Tally Data in the Dashboard</a:t>
            </a:r>
            <a:endParaRPr lang="en-US" sz="3000" dirty="0"/>
          </a:p>
        </p:txBody>
      </p:sp>
      <p:pic>
        <p:nvPicPr>
          <p:cNvPr id="3" name="Image 0" descr="/tmp/ledger_sentinel/build/screen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1064240" cy="41879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CF3F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</a:rPr>
              <a:t>72 real vouchers, pulled live from Tally — 2 genuinely flagged for sitting just under the AED 25,000 approval limit, scored by rules that had never seen this data before.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Live Result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Ethical Guardrails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ECF3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</a:rPr>
              <a:t>What this tool 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0208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8928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Rules prioritise entries for human review — they never conclude that fraud occurred.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1638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30358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The AI only explains already-flagged entries; it never decides what counts as suspicious.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43068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F4E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1788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</a:rPr>
              <a:t>Tally's standard Day Book export omits altered_by / altered_date / exact time, so rules needing those fields under-fire on live-pulled data — stated openly, not hidden. Rule 11 needs a genuine quiet baseline period per vendor before it can flag anything — a real engagement would need a full prior year of vendor history for it to 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5440680" cy="4937760"/>
          </a:xfrm>
          <a:prstGeom prst="roundRect">
            <a:avLst>
              <a:gd name="adj" fmla="val 1852"/>
            </a:avLst>
          </a:prstGeom>
          <a:solidFill>
            <a:srgbClr val="1329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Known constraints (stated openly)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20208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18928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</a:rPr>
              <a:t>TallyPrime's Educational edition caps vouchers created and rows exported per call — a licence-tier limit, not a defect in the integration.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1638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30358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</a:rPr>
              <a:t>Benford's-Law screening is explicitly framed as "a screen, not proof," and only recommended for 5,000+ records.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430682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417880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0"/>
                </a:solidFill>
              </a:rPr>
              <a:t>Every explanation traces back to the specific rule(s) that fired — the system stays fully auditable.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Ledger Sentinel  ·  AICA Level 2 Capstone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6537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</a:rPr>
              <a:t>Limitations &amp; Ethics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</a:rPr>
              <a:t>Ledger Sentinel turns journal-entry testing from a sample into a full-population screen — transparent, auditable, and now proven against a real, live TallyPrime instance.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5786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Expand the rule set and tune thresholds against a real client's actual approval limits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33558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Extend live Tally coverage to include edit-log / audit-trail fields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13308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Pilot the tool on one real engagement's journal-entry testing, under full auditor supervision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4F0"/>
                </a:solidFill>
              </a:rPr>
              <a:t>Thank you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A99"/>
                </a:solidFill>
              </a:rPr>
              <a:t>Rupalakshmi  ·  Ledger Sentinel  ·  AICA Level 2 Capstone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ger Sentinel">
  <a:themeElements>
    <a:clrScheme name="Ledger Sentinel">
      <a:dk1>
        <a:srgbClr val="13294B"/>
      </a:dk1>
      <a:lt1>
        <a:srgbClr val="FFFFFF"/>
      </a:lt1>
      <a:dk2>
        <a:srgbClr val="1F4E78"/>
      </a:dk2>
      <a:lt2>
        <a:srgbClr val="D6E4F0"/>
      </a:lt2>
      <a:accent1>
        <a:srgbClr val="C0392B"/>
      </a:accent1>
      <a:accent2>
        <a:srgbClr val="1F4E78"/>
      </a:accent2>
      <a:accent3>
        <a:srgbClr val="5A6B7B"/>
      </a:accent3>
      <a:accent4>
        <a:srgbClr val="ECF3FA"/>
      </a:accent4>
      <a:accent5>
        <a:srgbClr val="97BFE0"/>
      </a:accent5>
      <a:accent6>
        <a:srgbClr val="7A8A99"/>
      </a:accent6>
      <a:hlink>
        <a:srgbClr val="C0392B"/>
      </a:hlink>
      <a:folHlink>
        <a:srgbClr val="7A8A99"/>
      </a:folHlink>
    </a:clrScheme>
    <a:fontScheme name="Ledger Sentin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ICAI AICA Level 2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2026-10-15T09:14:16Z</dcterms:created>
  <dcterms:modified xsi:type="dcterms:W3CDTF">2026-10-15T09:14:16Z</dcterms:modified>
</cp:coreProperties>
</file>