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Members</c:v>
                </c:pt>
              </c:strCache>
            </c:strRef>
          </c:tx>
          <c:dPt>
            <c:idx val="0"/>
            <c:spPr>
              <a:solidFill>
                <a:srgbClr val="0F8B8D"/>
              </a:solidFill>
            </c:spPr>
          </c:dPt>
          <c:dPt>
            <c:idx val="1"/>
            <c:spPr>
              <a:solidFill>
                <a:srgbClr val="6C8EAD"/>
              </a:solidFill>
            </c:spPr>
          </c:dPt>
          <c:dPt>
            <c:idx val="2"/>
            <c:spPr>
              <a:solidFill>
                <a:srgbClr val="D08C1E"/>
              </a:solidFill>
            </c:spPr>
          </c:dPt>
          <c:dPt>
            <c:idx val="3"/>
            <c:spPr>
              <a:solidFill>
                <a:srgbClr val="B6433A"/>
              </a:solidFill>
            </c:spPr>
          </c:dPt>
          <c:cat>
            <c:strRef>
              <c:f>Sheet1!$A$2:$A$5</c:f>
              <c:strCache>
                <c:ptCount val="4"/>
                <c:pt idx="0">
                  <c:v>Regular</c:v>
                </c:pt>
                <c:pt idx="1">
                  <c:v>Arrears 1-3 months</c:v>
                </c:pt>
                <c:pt idx="2">
                  <c:v>Defaulter (&gt;3 months)</c:v>
                </c:pt>
                <c:pt idx="3">
                  <c:v>Chronic defaulter (&gt;6 months)</c:v>
                </c:pt>
              </c:strCache>
            </c:strRef>
          </c:cat>
          <c:val>
            <c:numRef>
              <c:f>Sheet1!$B$2:$B$5</c:f>
              <c:numCache>
                <c:formatCode>General</c:formatCode>
                <c:ptCount val="4"/>
                <c:pt idx="0">
                  <c:v>51</c:v>
                </c:pt>
                <c:pt idx="1">
                  <c:v>3</c:v>
                </c:pt>
                <c:pt idx="2">
                  <c:v>2</c:v>
                </c:pt>
                <c:pt idx="3">
                  <c:v>8</c:v>
                </c:pt>
              </c:numCache>
            </c:numRef>
          </c:val>
        </c:ser>
        <c:dLbls>
          <c:txPr>
            <a:bodyPr/>
            <a:lstStyle/>
            <a:p>
              <a:pPr>
                <a:defRPr sz="1200" b="1">
                  <a:solidFill>
                    <a:srgbClr val="1B2A4A"/>
                  </a:solidFill>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axMin"/>
        </c:scaling>
        <c:delete val="0"/>
        <c:axPos val="l"/>
        <c:majorTickMark val="out"/>
        <c:minorTickMark val="none"/>
        <c:tickLblPos val="nextTo"/>
        <c:spPr>
          <a:ln>
            <a:solidFill>
              <a:srgbClr val="D9E0E8"/>
            </a:solidFill>
          </a:ln>
        </c:spPr>
        <c:txPr>
          <a:bodyPr/>
          <a:lstStyle/>
          <a:p>
            <a:pPr>
              <a:defRPr sz="1150"/>
            </a:pPr>
          </a:p>
        </c:txPr>
        <c:crossAx val="-2113994440"/>
        <c:crosses val="autoZero"/>
        <c:auto val="1"/>
        <c:lblAlgn val="ctr"/>
        <c:lblOffset val="100"/>
        <c:noMultiLvlLbl val="0"/>
      </c:catAx>
      <c:valAx>
        <c:axId val="-2113994440"/>
        <c:scaling>
          <c:max val="60.0"/>
        </c:scaling>
        <c:delete val="0"/>
        <c:axPos val="b"/>
        <c:majorGridlines>
          <c:spPr>
            <a:ln>
              <a:solidFill>
                <a:srgbClr val="D9E0E8"/>
              </a:solidFill>
            </a:ln>
          </c:spPr>
        </c:majorGridlines>
        <c:majorTickMark val="out"/>
        <c:minorTickMark val="none"/>
        <c:tickLblPos val="nextTo"/>
        <c:spPr>
          <a:ln>
            <a:noFill/>
          </a:ln>
        </c:spPr>
        <c:txPr>
          <a:bodyPr/>
          <a:lstStyle/>
          <a:p>
            <a:pPr>
              <a:defRPr sz="1000">
                <a:solidFill>
                  <a:srgbClr val="5F6B7A"/>
                </a:solidFill>
              </a:defRPr>
            </a:pPr>
          </a:p>
        </c:txPr>
        <c:crossAx val="-2068027336"/>
        <c:crosses val="autoZero"/>
      </c:valAx>
    </c:plotArea>
    <c:dispBlanksAs val="gap"/>
  </c:chart>
  <c:txPr>
    <a:bodyPr/>
    <a:lstStyle/>
    <a:p>
      <a:pPr>
        <a:defRPr sz="1100">
          <a:solidFill>
            <a:srgbClr val="2B3445"/>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stacked"/>
        <c:ser>
          <c:idx val="0"/>
          <c:order val="0"/>
          <c:tx>
            <c:strRef>
              <c:f>Sheet1!$B$1</c:f>
              <c:strCache>
                <c:ptCount val="1"/>
                <c:pt idx="0">
                  <c:v>High</c:v>
                </c:pt>
              </c:strCache>
            </c:strRef>
          </c:tx>
          <c:spPr>
            <a:solidFill>
              <a:srgbClr val="B6433A"/>
            </a:solidFill>
          </c:spPr>
          <c:cat>
            <c:strRef>
              <c:f>Sheet1!$A$2:$A$10</c:f>
              <c:strCache>
                <c:ptCount val="9"/>
                <c:pt idx="0">
                  <c:v>Expenses</c:v>
                </c:pt>
                <c:pt idx="1">
                  <c:v>Bank</c:v>
                </c:pt>
                <c:pt idx="2">
                  <c:v>Funds</c:v>
                </c:pt>
                <c:pt idx="3">
                  <c:v>Governance</c:v>
                </c:pt>
                <c:pt idx="4">
                  <c:v>GST</c:v>
                </c:pt>
                <c:pt idx="5">
                  <c:v>Member Ledger</c:v>
                </c:pt>
                <c:pt idx="6">
                  <c:v>Tax - Income tax</c:v>
                </c:pt>
                <c:pt idx="7">
                  <c:v>Compliance</c:v>
                </c:pt>
                <c:pt idx="8">
                  <c:v>Tax - TDS</c:v>
                </c:pt>
              </c:strCache>
            </c:strRef>
          </c:cat>
          <c:val>
            <c:numRef>
              <c:f>Sheet1!$B$2:$B$10</c:f>
              <c:numCache>
                <c:formatCode>General</c:formatCode>
                <c:ptCount val="9"/>
                <c:pt idx="0">
                  <c:v>3</c:v>
                </c:pt>
                <c:pt idx="1">
                  <c:v>1</c:v>
                </c:pt>
                <c:pt idx="2">
                  <c:v>2</c:v>
                </c:pt>
                <c:pt idx="3">
                  <c:v>2</c:v>
                </c:pt>
                <c:pt idx="4">
                  <c:v>1</c:v>
                </c:pt>
                <c:pt idx="5">
                  <c:v>2</c:v>
                </c:pt>
                <c:pt idx="6">
                  <c:v>0</c:v>
                </c:pt>
                <c:pt idx="7">
                  <c:v>1</c:v>
                </c:pt>
                <c:pt idx="8">
                  <c:v>1</c:v>
                </c:pt>
              </c:numCache>
            </c:numRef>
          </c:val>
        </c:ser>
        <c:ser>
          <c:idx val="1"/>
          <c:order val="1"/>
          <c:tx>
            <c:strRef>
              <c:f>Sheet1!$C$1</c:f>
              <c:strCache>
                <c:ptCount val="1"/>
                <c:pt idx="0">
                  <c:v>Medium</c:v>
                </c:pt>
              </c:strCache>
            </c:strRef>
          </c:tx>
          <c:spPr>
            <a:solidFill>
              <a:srgbClr val="D08C1E"/>
            </a:solidFill>
          </c:spPr>
          <c:cat>
            <c:strRef>
              <c:f>Sheet1!$A$2:$A$10</c:f>
              <c:strCache>
                <c:ptCount val="9"/>
                <c:pt idx="0">
                  <c:v>Expenses</c:v>
                </c:pt>
                <c:pt idx="1">
                  <c:v>Bank</c:v>
                </c:pt>
                <c:pt idx="2">
                  <c:v>Funds</c:v>
                </c:pt>
                <c:pt idx="3">
                  <c:v>Governance</c:v>
                </c:pt>
                <c:pt idx="4">
                  <c:v>GST</c:v>
                </c:pt>
                <c:pt idx="5">
                  <c:v>Member Ledger</c:v>
                </c:pt>
                <c:pt idx="6">
                  <c:v>Tax - Income tax</c:v>
                </c:pt>
                <c:pt idx="7">
                  <c:v>Compliance</c:v>
                </c:pt>
                <c:pt idx="8">
                  <c:v>Tax - TDS</c:v>
                </c:pt>
              </c:strCache>
            </c:strRef>
          </c:cat>
          <c:val>
            <c:numRef>
              <c:f>Sheet1!$C$2:$C$10</c:f>
              <c:numCache>
                <c:formatCode>General</c:formatCode>
                <c:ptCount val="9"/>
                <c:pt idx="0">
                  <c:v>1</c:v>
                </c:pt>
                <c:pt idx="1">
                  <c:v>2</c:v>
                </c:pt>
                <c:pt idx="2">
                  <c:v>1</c:v>
                </c:pt>
                <c:pt idx="3">
                  <c:v>1</c:v>
                </c:pt>
                <c:pt idx="4">
                  <c:v>0</c:v>
                </c:pt>
                <c:pt idx="5">
                  <c:v>0</c:v>
                </c:pt>
                <c:pt idx="6">
                  <c:v>1</c:v>
                </c:pt>
                <c:pt idx="7">
                  <c:v>0</c:v>
                </c:pt>
                <c:pt idx="8">
                  <c:v>0</c:v>
                </c:pt>
              </c:numCache>
            </c:numRef>
          </c:val>
        </c:ser>
        <c:ser>
          <c:idx val="2"/>
          <c:order val="2"/>
          <c:tx>
            <c:strRef>
              <c:f>Sheet1!$D$1</c:f>
              <c:strCache>
                <c:ptCount val="1"/>
                <c:pt idx="0">
                  <c:v>Low</c:v>
                </c:pt>
              </c:strCache>
            </c:strRef>
          </c:tx>
          <c:spPr>
            <a:solidFill>
              <a:srgbClr val="6C8EAD"/>
            </a:solidFill>
          </c:spPr>
          <c:cat>
            <c:strRef>
              <c:f>Sheet1!$A$2:$A$10</c:f>
              <c:strCache>
                <c:ptCount val="9"/>
                <c:pt idx="0">
                  <c:v>Expenses</c:v>
                </c:pt>
                <c:pt idx="1">
                  <c:v>Bank</c:v>
                </c:pt>
                <c:pt idx="2">
                  <c:v>Funds</c:v>
                </c:pt>
                <c:pt idx="3">
                  <c:v>Governance</c:v>
                </c:pt>
                <c:pt idx="4">
                  <c:v>GST</c:v>
                </c:pt>
                <c:pt idx="5">
                  <c:v>Member Ledger</c:v>
                </c:pt>
                <c:pt idx="6">
                  <c:v>Tax - Income tax</c:v>
                </c:pt>
                <c:pt idx="7">
                  <c:v>Compliance</c:v>
                </c:pt>
                <c:pt idx="8">
                  <c:v>Tax - TDS</c:v>
                </c:pt>
              </c:strCache>
            </c:strRef>
          </c:cat>
          <c:val>
            <c:numRef>
              <c:f>Sheet1!$D$2:$D$10</c:f>
              <c:numCache>
                <c:formatCode>General</c:formatCode>
                <c:ptCount val="9"/>
                <c:pt idx="0">
                  <c:v>1</c:v>
                </c:pt>
                <c:pt idx="1">
                  <c:v>0</c:v>
                </c:pt>
                <c:pt idx="2">
                  <c:v>0</c:v>
                </c:pt>
                <c:pt idx="3">
                  <c:v>0</c:v>
                </c:pt>
                <c:pt idx="4">
                  <c:v>1</c:v>
                </c:pt>
                <c:pt idx="5">
                  <c:v>0</c:v>
                </c:pt>
                <c:pt idx="6">
                  <c:v>1</c:v>
                </c:pt>
                <c:pt idx="7">
                  <c:v>0</c:v>
                </c:pt>
                <c:pt idx="8">
                  <c:v>0</c:v>
                </c:pt>
              </c:numCache>
            </c:numRef>
          </c:val>
        </c:ser>
        <c:dLbls>
          <c:numFmt formatCode="0;;;" sourceLinked="0"/>
          <c:txPr>
            <a:bodyPr/>
            <a:lstStyle/>
            <a:p>
              <a:pPr>
                <a:defRPr sz="1000" b="1">
                  <a:solidFill>
                    <a:srgbClr val="FFFFFF"/>
                  </a:solidFill>
                </a:defRPr>
              </a:pPr>
            </a:p>
          </c:txPr>
          <c:dLblPos val="ctr"/>
          <c:showLegendKey val="0"/>
          <c:showVal val="1"/>
          <c:showCatName val="0"/>
          <c:showSerName val="0"/>
          <c:showPercent val="0"/>
          <c:showBubbleSize val="0"/>
          <c:showLeaderLines val="1"/>
        </c:dLbls>
        <c:gapWidth val="45"/>
        <c:overlap val="100"/>
        <c:axId val="-2068027336"/>
        <c:axId val="-2113994440"/>
      </c:barChart>
      <c:catAx>
        <c:axId val="-2068027336"/>
        <c:scaling>
          <c:orientation val="maxMin"/>
        </c:scaling>
        <c:delete val="0"/>
        <c:axPos val="l"/>
        <c:majorTickMark val="out"/>
        <c:minorTickMark val="none"/>
        <c:tickLblPos val="nextTo"/>
        <c:spPr>
          <a:ln>
            <a:solidFill>
              <a:srgbClr val="D9E0E8"/>
            </a:solidFill>
          </a:ln>
        </c:spPr>
        <c:txPr>
          <a:bodyPr/>
          <a:lstStyle/>
          <a:p>
            <a:pPr>
              <a:defRPr sz="1000"/>
            </a:pPr>
          </a:p>
        </c:txPr>
        <c:crossAx val="-2113994440"/>
        <c:crosses val="autoZero"/>
        <c:auto val="1"/>
        <c:lblAlgn val="ctr"/>
        <c:lblOffset val="100"/>
        <c:noMultiLvlLbl val="0"/>
      </c:catAx>
      <c:valAx>
        <c:axId val="-2113994440"/>
        <c:scaling>
          <c:max val="5.0"/>
        </c:scaling>
        <c:delete val="0"/>
        <c:axPos val="b"/>
        <c:majorGridlines>
          <c:spPr>
            <a:ln>
              <a:solidFill>
                <a:srgbClr val="D9E0E8"/>
              </a:solidFill>
            </a:ln>
          </c:spPr>
        </c:majorGridlines>
        <c:majorTickMark val="out"/>
        <c:minorTickMark val="none"/>
        <c:tickLblPos val="nextTo"/>
        <c:spPr>
          <a:ln>
            <a:noFill/>
          </a:ln>
        </c:spPr>
        <c:txPr>
          <a:bodyPr/>
          <a:lstStyle/>
          <a:p>
            <a:pPr>
              <a:defRPr sz="900">
                <a:solidFill>
                  <a:srgbClr val="5F6B7A"/>
                </a:solidFill>
              </a:defRPr>
            </a:pPr>
          </a:p>
        </c:txPr>
        <c:crossAx val="-2068027336"/>
        <c:crosses val="autoZero"/>
        <c:majorUnit val="1.0"/>
      </c:valAx>
    </c:plotArea>
    <c:legend>
      <c:legendPos val="b"/>
      <c:overlay val="0"/>
      <c:txPr>
        <a:bodyPr/>
        <a:lstStyle/>
        <a:p>
          <a:pPr>
            <a:defRPr sz="1000"/>
          </a:pPr>
        </a:p>
      </c:txPr>
    </c:legend>
    <c:dispBlanksAs val="gap"/>
  </c:chart>
  <c:txPr>
    <a:bodyPr/>
    <a:lstStyle/>
    <a:p>
      <a:pPr>
        <a:defRPr sz="1000">
          <a:solidFill>
            <a:srgbClr val="2B3445"/>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I am presenting my Module C capstone: an AI-powered statutory audit assistant for co-operative housing societies, built in Python with Claude as the drafting layer. The case study is a fictitious 64-flat society in Thane, Sunrise Heights, audited for FY 2025-26 with fieldwork dated 15 July 2026. Everything you will see today was produced by the tool from fully synthetic data, so no real member information is involved.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this problem? Even a mid-sized society produces hundreds of bills, a hundred-odd vouchers, a dozen meetings and twenty statutory deadlines a year. The panel auditor cannot re-test everything by hand, so sampling is used and systematic errors such as GST on property tax survive. Evidence sits in silos, four statutes apply, and the writing of observations and letters consumes most of the time. That is the gap the tool addresses.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objective is a single pipeline from the society's books to drafted deliverables. Four modules were built: the statutory audit tests, defaulter management, a compliance calendar with a minutes analyser, and the income-tax computation. The module numbers follow the project brief. The scope is deliberately bounded to Excel books and text minutes, and the model is confined to drafting.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architecture is a straight pipeline. Loaders read the Excel books and the minutes into pandas frames. Three rule modules produce the audit schedules and a list of typed findings, each with severity, legal reference, amount and the sheet that evidences it. Only then does the AI layer see the data, as JSON, to write the documents. The same facts feed the Excel workbook and the dashboard, so the model can never introduce a number that the schedules do not contain.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data is generated, not real. A generator builds a 64-flat society with two wings, a year of bills, receipts, a bank statement, vouchers, fund balances and thirteen sets of minutes, and deliberately plants 19 control failures that are recorded in an answer-key sheet. This gives an objective test of detection. On privacy, the AI layer sees only flat numbers and amounts; names, mobiles and PANs never leave the machine, which is the data-minimisation principle of the DPDP Act.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1 runs seven tests over the whole population, not a sample. Two of the findings illustrate the depth. The GST test applied the Rs 7,500 rule to all 768 bills and found GST charged on the property-tax component for 3BHK flats and on one flat below the limit, a net error of about Rs 86,000 that needs credit and debit notes under section 34. The fund test found the sinking fund under-invested by Rs 11.82 lakh against the earmarked FDs required by bye-law 15 and section 70.</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2 reconstructs each member's ledger and ages the balance. Fifty-one members are regular, three are one to three months late and ten are beyond three months, eight of them chronic. Total dues are about Rs 10.4 lakh, 15 per cent of the year's billing. The module lists the section 101 recovery candidates and drafts a reminder letter for each of the 10 defaulters, using only the flat number so that no personal data reaches the model.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3 has two parts. The compliance calendar holds 20 obligations with their legal basis and recomputes status for the audit date: 5 are overdue, including the Form O rectification report and the section 101 applications. The minutes analyser parses 13 meetings and extracts notice, attendance, resolutions and action items. It found three notice shortfalls and one meeting without quorum, and cross-checked resolutions against the books, which is how the single-quotation waterproofing contract and the sinking-fund diversion were linked to committee decisions.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7 computes the society's income tax. Member receipts are mutual and excluded; tower rent, HDFC interest and scrap are taxable, giving a gross total income of Rs 5.97 lakh. Interest from the co-operative bank is deducted under section 80P(2)(d), leaving total income of Rs 3.52 lakh. The module compares the normal slabs with section 115BAD, which would forfeit 80P and cost Rs 43,549 more, credits TDS of Rs 45,200 and arrives at Rs 61,504 payable plus about Rs 7,400 of interest because no advance tax was paid.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AI layer is deliberately narrow. The rule modules assemble a JSON context; a system prompt casts the model as an audit manager who may use only that context and must write 'reference to be confirmed' when something is missing. After each response a regular expression pulls out every statutory citation and checks it exists in the context; anything unverified is appended as a reviewer note. I should be transparent that the run in the output folder was produced with the template fallback because no API credentials were available in that environment; the model path uses the same prompts and is logged identically.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run produced 22 observations: 13 high, 6 medium and 3 low, with about Rs 28.5 lakh of quantified exposure. Every one of the 19 planted control failures was surfaced, which is the detection test for the rules. Expenses, bank, funds and governance account for most of the findings. All of this lands in a 22-sheet workbook, a dashboard and five draft documents, so the auditor's file is complete rather than a list of exceptions.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topic area of the programme shows up in the build. Prompt engineering gave the role-task-constraints-format structure and the discipline of iterating after observing hallucinated citations. The analytics sessions are the pandas and openpyxl core. The audit, tax and compliance sessions shaped which tests to automate, and the ethics and DPDP material drove the data-minimisation and logging design. I will align these headings with the course handout.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Limitations first: the prototype has run only on synthetic data, its thresholds follow the model bye-laws, the minutes parser needs structured text, and the included run used templates rather than the model, so the drafting quality still needs a scored evaluation. Next steps are loaders for real exports, OCR, a multi-society view for panel auditors, an evaluation set for the drafts, and agentic cross-checks where the model proposes tests but the code still owns every number.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For the demo I will open the dashboard first, then the workbook starting with the Audit_Observations sheet, and finally the prompt log to show the guardrail trail. The quick-start commands rebuild everything from scratch in under a minute, and the answer-key sheet lets the examiners check detection against the planted failures. I am happy to take questions. For the live demo, run the Streamlit application, enter the API key under Data &amp; settings, and show the AI drafting studio and the chat panel.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892040"/>
            <a:ext cx="12191695" cy="1965960"/>
          </a:xfrm>
          <a:prstGeom prst="rect">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85800"/>
            <a:ext cx="7315200" cy="274320"/>
          </a:xfrm>
          <a:prstGeom prst="rect">
            <a:avLst/>
          </a:prstGeom>
          <a:noFill/>
        </p:spPr>
        <p:txBody>
          <a:bodyPr wrap="square" lIns="0" rIns="0" tIns="0" bIns="0" anchor="t">
            <a:spAutoFit/>
          </a:bodyPr>
          <a:lstStyle/>
          <a:p>
            <a:pPr algn="l">
              <a:spcAft>
                <a:spcPts val="0"/>
              </a:spcAft>
            </a:pPr>
            <a:r>
              <a:rPr sz="1200" b="1" i="0">
                <a:solidFill>
                  <a:srgbClr val="C7DAE8"/>
                </a:solidFill>
                <a:latin typeface="Calibri"/>
              </a:rPr>
              <a:t>ICAI  |  AI CERTIFICATION COURSE (AICA) LEVEL 2  |  MODULE C CAPSTONE PROJECT</a:t>
            </a:r>
          </a:p>
        </p:txBody>
      </p:sp>
      <p:sp>
        <p:nvSpPr>
          <p:cNvPr id="5" name="TextBox 4"/>
          <p:cNvSpPr txBox="1"/>
          <p:nvPr/>
        </p:nvSpPr>
        <p:spPr>
          <a:xfrm>
            <a:off x="548640" y="1600200"/>
            <a:ext cx="10515600" cy="1737360"/>
          </a:xfrm>
          <a:prstGeom prst="rect">
            <a:avLst/>
          </a:prstGeom>
          <a:noFill/>
        </p:spPr>
        <p:txBody>
          <a:bodyPr wrap="square" lIns="0" rIns="0" tIns="0" bIns="0" anchor="t">
            <a:spAutoFit/>
          </a:bodyPr>
          <a:lstStyle/>
          <a:p>
            <a:pPr algn="l">
              <a:lnSpc>
                <a:spcPct val="105000"/>
              </a:lnSpc>
              <a:spcAft>
                <a:spcPts val="0"/>
              </a:spcAft>
            </a:pPr>
            <a:r>
              <a:rPr sz="4000" b="1" i="0">
                <a:solidFill>
                  <a:srgbClr val="FFFFFF"/>
                </a:solidFill>
                <a:latin typeface="Calibri"/>
              </a:rPr>
              <a:t>AI-Powered Statutory Audit Assistant for Co-operative Housing Societies</a:t>
            </a:r>
          </a:p>
        </p:txBody>
      </p:sp>
      <p:sp>
        <p:nvSpPr>
          <p:cNvPr id="6" name="TextBox 5"/>
          <p:cNvSpPr txBox="1"/>
          <p:nvPr/>
        </p:nvSpPr>
        <p:spPr>
          <a:xfrm>
            <a:off x="548640" y="3429000"/>
            <a:ext cx="10515600" cy="822960"/>
          </a:xfrm>
          <a:prstGeom prst="rect">
            <a:avLst/>
          </a:prstGeom>
          <a:noFill/>
        </p:spPr>
        <p:txBody>
          <a:bodyPr wrap="square" lIns="0" rIns="0" tIns="0" bIns="0" anchor="t">
            <a:spAutoFit/>
          </a:bodyPr>
          <a:lstStyle/>
          <a:p>
            <a:pPr algn="l">
              <a:lnSpc>
                <a:spcPct val="115000"/>
              </a:lnSpc>
              <a:spcAft>
                <a:spcPts val="0"/>
              </a:spcAft>
            </a:pPr>
            <a:r>
              <a:rPr sz="1600" b="0" i="0">
                <a:solidFill>
                  <a:srgbClr val="C7DAE8"/>
                </a:solidFill>
                <a:latin typeface="Calibri"/>
              </a:rPr>
              <a:t>Rules compute, the model writes: statutory tests, defaulter management, compliance calendar, minutes analysis and tax computation for a 64-flat society, with Claude drafting the audit documents</a:t>
            </a:r>
          </a:p>
        </p:txBody>
      </p:sp>
      <p:sp>
        <p:nvSpPr>
          <p:cNvPr id="7" name="Rounded Rectangle 6"/>
          <p:cNvSpPr/>
          <p:nvPr/>
        </p:nvSpPr>
        <p:spPr>
          <a:xfrm>
            <a:off x="548640" y="5257800"/>
            <a:ext cx="548640" cy="548640"/>
          </a:xfrm>
          <a:prstGeom prst="roundRect">
            <a:avLst>
              <a:gd name="adj" fmla="val 22000"/>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CA</a:t>
            </a:r>
          </a:p>
        </p:txBody>
      </p:sp>
      <p:sp>
        <p:nvSpPr>
          <p:cNvPr id="8" name="TextBox 7"/>
          <p:cNvSpPr txBox="1"/>
          <p:nvPr/>
        </p:nvSpPr>
        <p:spPr>
          <a:xfrm>
            <a:off x="1280160" y="5230368"/>
            <a:ext cx="5486400" cy="365760"/>
          </a:xfrm>
          <a:prstGeom prst="rect">
            <a:avLst/>
          </a:prstGeom>
          <a:noFill/>
        </p:spPr>
        <p:txBody>
          <a:bodyPr wrap="square" lIns="0" rIns="0" tIns="0" bIns="0" anchor="t">
            <a:spAutoFit/>
          </a:bodyPr>
          <a:lstStyle/>
          <a:p>
            <a:pPr algn="l">
              <a:spcAft>
                <a:spcPts val="0"/>
              </a:spcAft>
            </a:pPr>
            <a:r>
              <a:rPr sz="1800" b="1" i="0">
                <a:solidFill>
                  <a:srgbClr val="FFFFFF"/>
                </a:solidFill>
                <a:latin typeface="Calibri"/>
              </a:rPr>
              <a:t>CA Madhusudan Jain, Chartered Accountant  |  Pune  |  jjaa.in</a:t>
            </a:r>
          </a:p>
        </p:txBody>
      </p:sp>
      <p:sp>
        <p:nvSpPr>
          <p:cNvPr id="9" name="TextBox 8"/>
          <p:cNvSpPr txBox="1"/>
          <p:nvPr/>
        </p:nvSpPr>
        <p:spPr>
          <a:xfrm>
            <a:off x="1280160" y="5596128"/>
            <a:ext cx="5486400" cy="274320"/>
          </a:xfrm>
          <a:prstGeom prst="rect">
            <a:avLst/>
          </a:prstGeom>
          <a:noFill/>
        </p:spPr>
        <p:txBody>
          <a:bodyPr wrap="square" lIns="0" rIns="0" tIns="0" bIns="0" anchor="t">
            <a:spAutoFit/>
          </a:bodyPr>
          <a:lstStyle/>
          <a:p>
            <a:pPr algn="l">
              <a:spcAft>
                <a:spcPts val="0"/>
              </a:spcAft>
            </a:pPr>
            <a:r>
              <a:rPr sz="1200" b="0" i="0">
                <a:solidFill>
                  <a:srgbClr val="C7DAE8"/>
                </a:solidFill>
                <a:latin typeface="Calibri"/>
              </a:rPr>
              <a:t>Capstone viva presentation  |  AICA Level 2 - Batch 100, Pune</a:t>
            </a:r>
          </a:p>
        </p:txBody>
      </p:sp>
      <p:sp>
        <p:nvSpPr>
          <p:cNvPr id="10" name="TextBox 9"/>
          <p:cNvSpPr txBox="1"/>
          <p:nvPr/>
        </p:nvSpPr>
        <p:spPr>
          <a:xfrm>
            <a:off x="6949440" y="5230368"/>
            <a:ext cx="4663440" cy="822960"/>
          </a:xfrm>
          <a:prstGeom prst="rect">
            <a:avLst/>
          </a:prstGeom>
          <a:noFill/>
        </p:spPr>
        <p:txBody>
          <a:bodyPr wrap="square" lIns="0" rIns="0" tIns="0" bIns="0" anchor="t">
            <a:spAutoFit/>
          </a:bodyPr>
          <a:lstStyle/>
          <a:p>
            <a:pPr algn="r">
              <a:spcAft>
                <a:spcPts val="400"/>
              </a:spcAft>
            </a:pPr>
            <a:r>
              <a:rPr sz="1200" b="0" i="0">
                <a:solidFill>
                  <a:srgbClr val="C7DAE8"/>
                </a:solidFill>
                <a:latin typeface="Calibri"/>
              </a:rPr>
              <a:t>Case study: Sunrise Heights Co-operative Housing Society Ltd., Thane (fictitious)</a:t>
            </a:r>
          </a:p>
          <a:p>
            <a:pPr algn="r">
              <a:spcAft>
                <a:spcPts val="400"/>
              </a:spcAft>
            </a:pPr>
            <a:r>
              <a:rPr sz="1200" b="0" i="0">
                <a:solidFill>
                  <a:srgbClr val="C7DAE8"/>
                </a:solidFill>
                <a:latin typeface="Calibri"/>
              </a:rPr>
              <a:t>FY 2025-26  |  audit as at 15-Jul-2026  |  64 flats  |  fully synthetic data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Kicker"/>
          <p:cNvSpPr txBox="1"/>
          <p:nvPr/>
        </p:nvSpPr>
        <p:spPr>
          <a:xfrm>
            <a:off x="548640" y="301752"/>
            <a:ext cx="11094415" cy="256032"/>
          </a:xfrm>
          <a:prstGeom prst="rect">
            <a:avLst/>
          </a:prstGeom>
          <a:noFill/>
        </p:spPr>
        <p:txBody>
          <a:bodyPr wrap="square" lIns="0" rIns="0" tIns="0" bIns="0" anchor="t">
            <a:spAutoFit/>
          </a:bodyPr>
          <a:lstStyle/>
          <a:p>
            <a:pPr algn="l">
              <a:spcAft>
                <a:spcPts val="0"/>
              </a:spcAft>
            </a:pPr>
            <a:r>
              <a:rPr sz="1100" b="1" i="0">
                <a:solidFill>
                  <a:srgbClr val="0F8B8D"/>
                </a:solidFill>
                <a:latin typeface="Calibri"/>
              </a:rPr>
              <a:t>THE PROBLEM</a:t>
            </a:r>
          </a:p>
        </p:txBody>
      </p:sp>
      <p:sp>
        <p:nvSpPr>
          <p:cNvPr id="3" name="Title"/>
          <p:cNvSpPr txBox="1"/>
          <p:nvPr/>
        </p:nvSpPr>
        <p:spPr>
          <a:xfrm>
            <a:off x="548640" y="566928"/>
            <a:ext cx="11094415" cy="640080"/>
          </a:xfrm>
          <a:prstGeom prst="rect">
            <a:avLst/>
          </a:prstGeom>
          <a:noFill/>
        </p:spPr>
        <p:txBody>
          <a:bodyPr wrap="square" lIns="0" rIns="0" tIns="0" bIns="0" anchor="t">
            <a:spAutoFit/>
          </a:bodyPr>
          <a:lstStyle/>
          <a:p>
            <a:pPr algn="l">
              <a:spcAft>
                <a:spcPts val="0"/>
              </a:spcAft>
            </a:pPr>
            <a:r>
              <a:rPr sz="2800" b="1" i="0">
                <a:solidFill>
                  <a:srgbClr val="1B2A4A"/>
                </a:solidFill>
                <a:latin typeface="Calibri"/>
              </a:rPr>
              <a:t>A manual CHS audit is high volume, scattered and repetitive</a:t>
            </a:r>
          </a:p>
        </p:txBody>
      </p:sp>
      <p:sp>
        <p:nvSpPr>
          <p:cNvPr id="4" name="Footer"/>
          <p:cNvSpPr txBox="1"/>
          <p:nvPr/>
        </p:nvSpPr>
        <p:spPr>
          <a:xfrm>
            <a:off x="548640" y="6419088"/>
            <a:ext cx="8229600" cy="228600"/>
          </a:xfrm>
          <a:prstGeom prst="rect">
            <a:avLst/>
          </a:prstGeom>
          <a:noFill/>
        </p:spPr>
        <p:txBody>
          <a:bodyPr wrap="square" lIns="0" rIns="0" tIns="0" bIns="0" anchor="t">
            <a:spAutoFit/>
          </a:bodyPr>
          <a:lstStyle/>
          <a:p>
            <a:pPr algn="l">
              <a:spcAft>
                <a:spcPts val="0"/>
              </a:spcAft>
            </a:pPr>
            <a:r>
              <a:rPr sz="900" b="0" i="0">
                <a:solidFill>
                  <a:srgbClr val="5F6B7A"/>
                </a:solidFill>
                <a:latin typeface="Calibri"/>
              </a:rPr>
              <a:t>AICA Level 2  |  Module C Capstone  |  AI-Powered Statutory Audit Assistant for CHS  |  synthetic data</a:t>
            </a:r>
          </a:p>
        </p:txBody>
      </p:sp>
      <p:sp>
        <p:nvSpPr>
          <p:cNvPr id="5" name="SlideNo"/>
          <p:cNvSpPr txBox="1"/>
          <p:nvPr/>
        </p:nvSpPr>
        <p:spPr>
          <a:xfrm>
            <a:off x="10725912" y="6419088"/>
            <a:ext cx="914400" cy="228600"/>
          </a:xfrm>
          <a:prstGeom prst="rect">
            <a:avLst/>
          </a:prstGeom>
          <a:noFill/>
        </p:spPr>
        <p:txBody>
          <a:bodyPr wrap="square" lIns="0" rIns="0" tIns="0" bIns="0" anchor="t">
            <a:spAutoFit/>
          </a:bodyPr>
          <a:lstStyle/>
          <a:p>
            <a:pPr algn="r">
              <a:spcAft>
                <a:spcPts val="0"/>
              </a:spcAft>
            </a:pPr>
            <a:r>
              <a:rPr sz="900" b="0" i="0">
                <a:solidFill>
                  <a:srgbClr val="5F6B7A"/>
                </a:solidFill>
                <a:latin typeface="Calibri"/>
              </a:rPr>
              <a:t>2 / 14</a:t>
            </a:r>
          </a:p>
        </p:txBody>
      </p:sp>
      <p:sp>
        <p:nvSpPr>
          <p:cNvPr id="6" name="Rounded Rectangle 5"/>
          <p:cNvSpPr/>
          <p:nvPr/>
        </p:nvSpPr>
        <p:spPr>
          <a:xfrm>
            <a:off x="548640" y="1417320"/>
            <a:ext cx="2606040" cy="1234440"/>
          </a:xfrm>
          <a:prstGeom prst="roundRect">
            <a:avLst>
              <a:gd name="adj" fmla="val 6000"/>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545336"/>
            <a:ext cx="2240280" cy="457200"/>
          </a:xfrm>
          <a:prstGeom prst="rect">
            <a:avLst/>
          </a:prstGeom>
          <a:noFill/>
        </p:spPr>
        <p:txBody>
          <a:bodyPr wrap="square" lIns="0" rIns="0" tIns="0" bIns="0" anchor="t">
            <a:spAutoFit/>
          </a:bodyPr>
          <a:lstStyle/>
          <a:p>
            <a:pPr algn="l">
              <a:spcAft>
                <a:spcPts val="0"/>
              </a:spcAft>
            </a:pPr>
            <a:r>
              <a:rPr sz="3000" b="1" i="0">
                <a:solidFill>
                  <a:srgbClr val="1B2A4A"/>
                </a:solidFill>
                <a:latin typeface="Calibri"/>
              </a:rPr>
              <a:t>768</a:t>
            </a:r>
          </a:p>
        </p:txBody>
      </p:sp>
      <p:sp>
        <p:nvSpPr>
          <p:cNvPr id="8" name="TextBox 7"/>
          <p:cNvSpPr txBox="1"/>
          <p:nvPr/>
        </p:nvSpPr>
        <p:spPr>
          <a:xfrm>
            <a:off x="731520" y="2084832"/>
            <a:ext cx="2240280" cy="457200"/>
          </a:xfrm>
          <a:prstGeom prst="rect">
            <a:avLst/>
          </a:prstGeom>
          <a:noFill/>
        </p:spPr>
        <p:txBody>
          <a:bodyPr wrap="square" lIns="0" rIns="0" tIns="0" bIns="0" anchor="t">
            <a:spAutoFit/>
          </a:bodyPr>
          <a:lstStyle/>
          <a:p>
            <a:pPr algn="l">
              <a:spcAft>
                <a:spcPts val="0"/>
              </a:spcAft>
            </a:pPr>
            <a:r>
              <a:rPr sz="1100" b="0" i="0">
                <a:solidFill>
                  <a:srgbClr val="5F6B7A"/>
                </a:solidFill>
                <a:latin typeface="Calibri"/>
              </a:rPr>
              <a:t>maintenance bills to re-test for interest and GST</a:t>
            </a:r>
          </a:p>
        </p:txBody>
      </p:sp>
      <p:sp>
        <p:nvSpPr>
          <p:cNvPr id="9" name="Rounded Rectangle 8"/>
          <p:cNvSpPr/>
          <p:nvPr/>
        </p:nvSpPr>
        <p:spPr>
          <a:xfrm>
            <a:off x="3374136" y="1417320"/>
            <a:ext cx="2606040" cy="1234440"/>
          </a:xfrm>
          <a:prstGeom prst="roundRect">
            <a:avLst>
              <a:gd name="adj" fmla="val 6000"/>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57016" y="1545336"/>
            <a:ext cx="2240280" cy="457200"/>
          </a:xfrm>
          <a:prstGeom prst="rect">
            <a:avLst/>
          </a:prstGeom>
          <a:noFill/>
        </p:spPr>
        <p:txBody>
          <a:bodyPr wrap="square" lIns="0" rIns="0" tIns="0" bIns="0" anchor="t">
            <a:spAutoFit/>
          </a:bodyPr>
          <a:lstStyle/>
          <a:p>
            <a:pPr algn="l">
              <a:spcAft>
                <a:spcPts val="0"/>
              </a:spcAft>
            </a:pPr>
            <a:r>
              <a:rPr sz="3000" b="1" i="0">
                <a:solidFill>
                  <a:srgbClr val="1B2A4A"/>
                </a:solidFill>
                <a:latin typeface="Calibri"/>
              </a:rPr>
              <a:t>105</a:t>
            </a:r>
          </a:p>
        </p:txBody>
      </p:sp>
      <p:sp>
        <p:nvSpPr>
          <p:cNvPr id="11" name="TextBox 10"/>
          <p:cNvSpPr txBox="1"/>
          <p:nvPr/>
        </p:nvSpPr>
        <p:spPr>
          <a:xfrm>
            <a:off x="3557016" y="2084832"/>
            <a:ext cx="2240280" cy="457200"/>
          </a:xfrm>
          <a:prstGeom prst="rect">
            <a:avLst/>
          </a:prstGeom>
          <a:noFill/>
        </p:spPr>
        <p:txBody>
          <a:bodyPr wrap="square" lIns="0" rIns="0" tIns="0" bIns="0" anchor="t">
            <a:spAutoFit/>
          </a:bodyPr>
          <a:lstStyle/>
          <a:p>
            <a:pPr algn="l">
              <a:spcAft>
                <a:spcPts val="0"/>
              </a:spcAft>
            </a:pPr>
            <a:r>
              <a:rPr sz="1100" b="0" i="0">
                <a:solidFill>
                  <a:srgbClr val="5F6B7A"/>
                </a:solidFill>
                <a:latin typeface="Calibri"/>
              </a:rPr>
              <a:t>expense vouchers to screen for duplicates, splits and cash</a:t>
            </a:r>
          </a:p>
        </p:txBody>
      </p:sp>
      <p:sp>
        <p:nvSpPr>
          <p:cNvPr id="12" name="Rounded Rectangle 11"/>
          <p:cNvSpPr/>
          <p:nvPr/>
        </p:nvSpPr>
        <p:spPr>
          <a:xfrm>
            <a:off x="6199632" y="1417320"/>
            <a:ext cx="2606040" cy="1234440"/>
          </a:xfrm>
          <a:prstGeom prst="roundRect">
            <a:avLst>
              <a:gd name="adj" fmla="val 6000"/>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82512" y="1545336"/>
            <a:ext cx="2240280" cy="457200"/>
          </a:xfrm>
          <a:prstGeom prst="rect">
            <a:avLst/>
          </a:prstGeom>
          <a:noFill/>
        </p:spPr>
        <p:txBody>
          <a:bodyPr wrap="square" lIns="0" rIns="0" tIns="0" bIns="0" anchor="t">
            <a:spAutoFit/>
          </a:bodyPr>
          <a:lstStyle/>
          <a:p>
            <a:pPr algn="l">
              <a:spcAft>
                <a:spcPts val="0"/>
              </a:spcAft>
            </a:pPr>
            <a:r>
              <a:rPr sz="3000" b="1" i="0">
                <a:solidFill>
                  <a:srgbClr val="1B2A4A"/>
                </a:solidFill>
                <a:latin typeface="Calibri"/>
              </a:rPr>
              <a:t>13</a:t>
            </a:r>
          </a:p>
        </p:txBody>
      </p:sp>
      <p:sp>
        <p:nvSpPr>
          <p:cNvPr id="14" name="TextBox 13"/>
          <p:cNvSpPr txBox="1"/>
          <p:nvPr/>
        </p:nvSpPr>
        <p:spPr>
          <a:xfrm>
            <a:off x="6382512" y="2084832"/>
            <a:ext cx="2240280" cy="457200"/>
          </a:xfrm>
          <a:prstGeom prst="rect">
            <a:avLst/>
          </a:prstGeom>
          <a:noFill/>
        </p:spPr>
        <p:txBody>
          <a:bodyPr wrap="square" lIns="0" rIns="0" tIns="0" bIns="0" anchor="t">
            <a:spAutoFit/>
          </a:bodyPr>
          <a:lstStyle/>
          <a:p>
            <a:pPr algn="l">
              <a:spcAft>
                <a:spcPts val="0"/>
              </a:spcAft>
            </a:pPr>
            <a:r>
              <a:rPr sz="1100" b="0" i="0">
                <a:solidFill>
                  <a:srgbClr val="5F6B7A"/>
                </a:solidFill>
                <a:latin typeface="Calibri"/>
              </a:rPr>
              <a:t>sets of minutes to read for notice, quorum and follow-up</a:t>
            </a:r>
          </a:p>
        </p:txBody>
      </p:sp>
      <p:sp>
        <p:nvSpPr>
          <p:cNvPr id="15" name="Rounded Rectangle 14"/>
          <p:cNvSpPr/>
          <p:nvPr/>
        </p:nvSpPr>
        <p:spPr>
          <a:xfrm>
            <a:off x="9025128" y="1417320"/>
            <a:ext cx="2606040" cy="1234440"/>
          </a:xfrm>
          <a:prstGeom prst="roundRect">
            <a:avLst>
              <a:gd name="adj" fmla="val 6000"/>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208008" y="1545336"/>
            <a:ext cx="2240280" cy="457200"/>
          </a:xfrm>
          <a:prstGeom prst="rect">
            <a:avLst/>
          </a:prstGeom>
          <a:noFill/>
        </p:spPr>
        <p:txBody>
          <a:bodyPr wrap="square" lIns="0" rIns="0" tIns="0" bIns="0" anchor="t">
            <a:spAutoFit/>
          </a:bodyPr>
          <a:lstStyle/>
          <a:p>
            <a:pPr algn="l">
              <a:spcAft>
                <a:spcPts val="0"/>
              </a:spcAft>
            </a:pPr>
            <a:r>
              <a:rPr sz="3000" b="1" i="0">
                <a:solidFill>
                  <a:srgbClr val="1B2A4A"/>
                </a:solidFill>
                <a:latin typeface="Calibri"/>
              </a:rPr>
              <a:t>20</a:t>
            </a:r>
          </a:p>
        </p:txBody>
      </p:sp>
      <p:sp>
        <p:nvSpPr>
          <p:cNvPr id="17" name="TextBox 16"/>
          <p:cNvSpPr txBox="1"/>
          <p:nvPr/>
        </p:nvSpPr>
        <p:spPr>
          <a:xfrm>
            <a:off x="9208008" y="2084832"/>
            <a:ext cx="2240280" cy="457200"/>
          </a:xfrm>
          <a:prstGeom prst="rect">
            <a:avLst/>
          </a:prstGeom>
          <a:noFill/>
        </p:spPr>
        <p:txBody>
          <a:bodyPr wrap="square" lIns="0" rIns="0" tIns="0" bIns="0" anchor="t">
            <a:spAutoFit/>
          </a:bodyPr>
          <a:lstStyle/>
          <a:p>
            <a:pPr algn="l">
              <a:spcAft>
                <a:spcPts val="0"/>
              </a:spcAft>
            </a:pPr>
            <a:r>
              <a:rPr sz="1100" b="0" i="0">
                <a:solidFill>
                  <a:srgbClr val="5F6B7A"/>
                </a:solidFill>
                <a:latin typeface="Calibri"/>
              </a:rPr>
              <a:t>statutory obligations with their own due dates</a:t>
            </a:r>
          </a:p>
        </p:txBody>
      </p:sp>
      <p:sp>
        <p:nvSpPr>
          <p:cNvPr id="18" name="Rounded Rectangle 17"/>
          <p:cNvSpPr/>
          <p:nvPr/>
        </p:nvSpPr>
        <p:spPr>
          <a:xfrm>
            <a:off x="548640" y="3099816"/>
            <a:ext cx="384048" cy="384048"/>
          </a:xfrm>
          <a:prstGeom prst="roundRect">
            <a:avLst>
              <a:gd name="adj" fmla="val 22000"/>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1</a:t>
            </a:r>
          </a:p>
        </p:txBody>
      </p:sp>
      <p:sp>
        <p:nvSpPr>
          <p:cNvPr id="19" name="TextBox 18"/>
          <p:cNvSpPr txBox="1"/>
          <p:nvPr/>
        </p:nvSpPr>
        <p:spPr>
          <a:xfrm>
            <a:off x="1097280" y="3063240"/>
            <a:ext cx="4937760" cy="320040"/>
          </a:xfrm>
          <a:prstGeom prst="rect">
            <a:avLst/>
          </a:prstGeom>
          <a:noFill/>
        </p:spPr>
        <p:txBody>
          <a:bodyPr wrap="square" lIns="0" rIns="0" tIns="0" bIns="0" anchor="t">
            <a:spAutoFit/>
          </a:bodyPr>
          <a:lstStyle/>
          <a:p>
            <a:pPr algn="l">
              <a:spcAft>
                <a:spcPts val="0"/>
              </a:spcAft>
            </a:pPr>
            <a:r>
              <a:rPr sz="1600" b="1" i="0">
                <a:solidFill>
                  <a:srgbClr val="1B2A4A"/>
                </a:solidFill>
                <a:latin typeface="Calibri"/>
              </a:rPr>
              <a:t>Sampling instead of testing</a:t>
            </a:r>
          </a:p>
        </p:txBody>
      </p:sp>
      <p:sp>
        <p:nvSpPr>
          <p:cNvPr id="20" name="TextBox 19"/>
          <p:cNvSpPr txBox="1"/>
          <p:nvPr/>
        </p:nvSpPr>
        <p:spPr>
          <a:xfrm>
            <a:off x="1097280" y="3429000"/>
            <a:ext cx="4937760" cy="1097280"/>
          </a:xfrm>
          <a:prstGeom prst="rect">
            <a:avLst/>
          </a:prstGeom>
          <a:noFill/>
        </p:spPr>
        <p:txBody>
          <a:bodyPr wrap="square" lIns="0" rIns="0" tIns="0" bIns="0" anchor="t">
            <a:spAutoFit/>
          </a:bodyPr>
          <a:lstStyle/>
          <a:p>
            <a:pPr algn="l">
              <a:lnSpc>
                <a:spcPct val="110000"/>
              </a:lnSpc>
              <a:spcAft>
                <a:spcPts val="0"/>
              </a:spcAft>
            </a:pPr>
            <a:r>
              <a:rPr sz="1300" b="0" i="0">
                <a:solidFill>
                  <a:srgbClr val="2B3445"/>
                </a:solidFill>
                <a:latin typeface="Calibri"/>
              </a:rPr>
              <a:t>Recomputing interest at 21% and the GST Rs 7,500 test on every bill for every member is impractical by hand, so auditors sample and systematic billing errors survive for years.</a:t>
            </a:r>
          </a:p>
        </p:txBody>
      </p:sp>
      <p:sp>
        <p:nvSpPr>
          <p:cNvPr id="21" name="Rounded Rectangle 20"/>
          <p:cNvSpPr/>
          <p:nvPr/>
        </p:nvSpPr>
        <p:spPr>
          <a:xfrm>
            <a:off x="6217920" y="3099816"/>
            <a:ext cx="384048" cy="384048"/>
          </a:xfrm>
          <a:prstGeom prst="roundRect">
            <a:avLst>
              <a:gd name="adj" fmla="val 22000"/>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2</a:t>
            </a:r>
          </a:p>
        </p:txBody>
      </p:sp>
      <p:sp>
        <p:nvSpPr>
          <p:cNvPr id="22" name="TextBox 21"/>
          <p:cNvSpPr txBox="1"/>
          <p:nvPr/>
        </p:nvSpPr>
        <p:spPr>
          <a:xfrm>
            <a:off x="6766560" y="3063240"/>
            <a:ext cx="4937760" cy="320040"/>
          </a:xfrm>
          <a:prstGeom prst="rect">
            <a:avLst/>
          </a:prstGeom>
          <a:noFill/>
        </p:spPr>
        <p:txBody>
          <a:bodyPr wrap="square" lIns="0" rIns="0" tIns="0" bIns="0" anchor="t">
            <a:spAutoFit/>
          </a:bodyPr>
          <a:lstStyle/>
          <a:p>
            <a:pPr algn="l">
              <a:spcAft>
                <a:spcPts val="0"/>
              </a:spcAft>
            </a:pPr>
            <a:r>
              <a:rPr sz="1600" b="1" i="0">
                <a:solidFill>
                  <a:srgbClr val="1B2A4A"/>
                </a:solidFill>
                <a:latin typeface="Calibri"/>
              </a:rPr>
              <a:t>Evidence read in silos</a:t>
            </a:r>
          </a:p>
        </p:txBody>
      </p:sp>
      <p:sp>
        <p:nvSpPr>
          <p:cNvPr id="23" name="TextBox 22"/>
          <p:cNvSpPr txBox="1"/>
          <p:nvPr/>
        </p:nvSpPr>
        <p:spPr>
          <a:xfrm>
            <a:off x="6766560" y="3429000"/>
            <a:ext cx="4937760" cy="1097280"/>
          </a:xfrm>
          <a:prstGeom prst="rect">
            <a:avLst/>
          </a:prstGeom>
          <a:noFill/>
        </p:spPr>
        <p:txBody>
          <a:bodyPr wrap="square" lIns="0" rIns="0" tIns="0" bIns="0" anchor="t">
            <a:spAutoFit/>
          </a:bodyPr>
          <a:lstStyle/>
          <a:p>
            <a:pPr algn="l">
              <a:lnSpc>
                <a:spcPct val="110000"/>
              </a:lnSpc>
              <a:spcAft>
                <a:spcPts val="0"/>
              </a:spcAft>
            </a:pPr>
            <a:r>
              <a:rPr sz="1300" b="0" i="0">
                <a:solidFill>
                  <a:srgbClr val="2B3445"/>
                </a:solidFill>
                <a:latin typeface="Calibri"/>
              </a:rPr>
              <a:t>Minutes, bank statements, vouchers and the member register are reviewed separately, so a resolution is rarely cross-checked against what the books actually show.</a:t>
            </a:r>
          </a:p>
        </p:txBody>
      </p:sp>
      <p:sp>
        <p:nvSpPr>
          <p:cNvPr id="24" name="Rounded Rectangle 23"/>
          <p:cNvSpPr/>
          <p:nvPr/>
        </p:nvSpPr>
        <p:spPr>
          <a:xfrm>
            <a:off x="548640" y="4791456"/>
            <a:ext cx="384048" cy="384048"/>
          </a:xfrm>
          <a:prstGeom prst="roundRect">
            <a:avLst>
              <a:gd name="adj" fmla="val 22000"/>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3</a:t>
            </a:r>
          </a:p>
        </p:txBody>
      </p:sp>
      <p:sp>
        <p:nvSpPr>
          <p:cNvPr id="25" name="TextBox 24"/>
          <p:cNvSpPr txBox="1"/>
          <p:nvPr/>
        </p:nvSpPr>
        <p:spPr>
          <a:xfrm>
            <a:off x="1097280" y="4754880"/>
            <a:ext cx="4937760" cy="320040"/>
          </a:xfrm>
          <a:prstGeom prst="rect">
            <a:avLst/>
          </a:prstGeom>
          <a:noFill/>
        </p:spPr>
        <p:txBody>
          <a:bodyPr wrap="square" lIns="0" rIns="0" tIns="0" bIns="0" anchor="t">
            <a:spAutoFit/>
          </a:bodyPr>
          <a:lstStyle/>
          <a:p>
            <a:pPr algn="l">
              <a:spcAft>
                <a:spcPts val="0"/>
              </a:spcAft>
            </a:pPr>
            <a:r>
              <a:rPr sz="1600" b="1" i="0">
                <a:solidFill>
                  <a:srgbClr val="1B2A4A"/>
                </a:solidFill>
                <a:latin typeface="Calibri"/>
              </a:rPr>
              <a:t>Four statutes, one small society</a:t>
            </a:r>
          </a:p>
        </p:txBody>
      </p:sp>
      <p:sp>
        <p:nvSpPr>
          <p:cNvPr id="26" name="TextBox 25"/>
          <p:cNvSpPr txBox="1"/>
          <p:nvPr/>
        </p:nvSpPr>
        <p:spPr>
          <a:xfrm>
            <a:off x="1097280" y="5120640"/>
            <a:ext cx="4937760" cy="1097280"/>
          </a:xfrm>
          <a:prstGeom prst="rect">
            <a:avLst/>
          </a:prstGeom>
          <a:noFill/>
        </p:spPr>
        <p:txBody>
          <a:bodyPr wrap="square" lIns="0" rIns="0" tIns="0" bIns="0" anchor="t">
            <a:spAutoFit/>
          </a:bodyPr>
          <a:lstStyle/>
          <a:p>
            <a:pPr algn="l">
              <a:lnSpc>
                <a:spcPct val="110000"/>
              </a:lnSpc>
              <a:spcAft>
                <a:spcPts val="0"/>
              </a:spcAft>
            </a:pPr>
            <a:r>
              <a:rPr sz="1300" b="0" i="0">
                <a:solidFill>
                  <a:srgbClr val="2B3445"/>
                </a:solidFill>
                <a:latin typeface="Calibri"/>
              </a:rPr>
              <a:t>MCS Act 1960, model bye-laws, CGST Act and the Income-tax Act all apply, and a panel auditor handles many societies on tight fees.</a:t>
            </a:r>
          </a:p>
        </p:txBody>
      </p:sp>
      <p:sp>
        <p:nvSpPr>
          <p:cNvPr id="27" name="Rounded Rectangle 26"/>
          <p:cNvSpPr/>
          <p:nvPr/>
        </p:nvSpPr>
        <p:spPr>
          <a:xfrm>
            <a:off x="6217920" y="4791456"/>
            <a:ext cx="384048" cy="384048"/>
          </a:xfrm>
          <a:prstGeom prst="roundRect">
            <a:avLst>
              <a:gd name="adj" fmla="val 22000"/>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4</a:t>
            </a:r>
          </a:p>
        </p:txBody>
      </p:sp>
      <p:sp>
        <p:nvSpPr>
          <p:cNvPr id="28" name="TextBox 27"/>
          <p:cNvSpPr txBox="1"/>
          <p:nvPr/>
        </p:nvSpPr>
        <p:spPr>
          <a:xfrm>
            <a:off x="6766560" y="4754880"/>
            <a:ext cx="4937760" cy="320040"/>
          </a:xfrm>
          <a:prstGeom prst="rect">
            <a:avLst/>
          </a:prstGeom>
          <a:noFill/>
        </p:spPr>
        <p:txBody>
          <a:bodyPr wrap="square" lIns="0" rIns="0" tIns="0" bIns="0" anchor="t">
            <a:spAutoFit/>
          </a:bodyPr>
          <a:lstStyle/>
          <a:p>
            <a:pPr algn="l">
              <a:spcAft>
                <a:spcPts val="0"/>
              </a:spcAft>
            </a:pPr>
            <a:r>
              <a:rPr sz="1600" b="1" i="0">
                <a:solidFill>
                  <a:srgbClr val="1B2A4A"/>
                </a:solidFill>
                <a:latin typeface="Calibri"/>
              </a:rPr>
              <a:t>Drafting eats the time saved</a:t>
            </a:r>
          </a:p>
        </p:txBody>
      </p:sp>
      <p:sp>
        <p:nvSpPr>
          <p:cNvPr id="29" name="TextBox 28"/>
          <p:cNvSpPr txBox="1"/>
          <p:nvPr/>
        </p:nvSpPr>
        <p:spPr>
          <a:xfrm>
            <a:off x="6766560" y="5120640"/>
            <a:ext cx="4937760" cy="1097280"/>
          </a:xfrm>
          <a:prstGeom prst="rect">
            <a:avLst/>
          </a:prstGeom>
          <a:noFill/>
        </p:spPr>
        <p:txBody>
          <a:bodyPr wrap="square" lIns="0" rIns="0" tIns="0" bIns="0" anchor="t">
            <a:spAutoFit/>
          </a:bodyPr>
          <a:lstStyle/>
          <a:p>
            <a:pPr algn="l">
              <a:lnSpc>
                <a:spcPct val="110000"/>
              </a:lnSpc>
              <a:spcAft>
                <a:spcPts val="0"/>
              </a:spcAft>
            </a:pPr>
            <a:r>
              <a:rPr sz="1300" b="0" i="0">
                <a:solidFill>
                  <a:srgbClr val="2B3445"/>
                </a:solidFill>
                <a:latin typeface="Calibri"/>
              </a:rPr>
              <a:t>Observations, management letter, reminder letters and tax notes are re-written from scratch every year, while s.101 recovery and Form O filings slip.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Kicker"/>
          <p:cNvSpPr txBox="1"/>
          <p:nvPr/>
        </p:nvSpPr>
        <p:spPr>
          <a:xfrm>
            <a:off x="548640" y="301752"/>
            <a:ext cx="11094415" cy="256032"/>
          </a:xfrm>
          <a:prstGeom prst="rect">
            <a:avLst/>
          </a:prstGeom>
          <a:noFill/>
        </p:spPr>
        <p:txBody>
          <a:bodyPr wrap="square" lIns="0" rIns="0" tIns="0" bIns="0" anchor="t">
            <a:spAutoFit/>
          </a:bodyPr>
          <a:lstStyle/>
          <a:p>
            <a:pPr algn="l">
              <a:spcAft>
                <a:spcPts val="0"/>
              </a:spcAft>
            </a:pPr>
            <a:r>
              <a:rPr sz="1100" b="1" i="0">
                <a:solidFill>
                  <a:srgbClr val="0F8B8D"/>
                </a:solidFill>
                <a:latin typeface="Calibri"/>
              </a:rPr>
              <a:t>OBJECTIVE AND SCOPE</a:t>
            </a:r>
          </a:p>
        </p:txBody>
      </p:sp>
      <p:sp>
        <p:nvSpPr>
          <p:cNvPr id="3" name="Title"/>
          <p:cNvSpPr txBox="1"/>
          <p:nvPr/>
        </p:nvSpPr>
        <p:spPr>
          <a:xfrm>
            <a:off x="548640" y="566928"/>
            <a:ext cx="11094415" cy="640080"/>
          </a:xfrm>
          <a:prstGeom prst="rect">
            <a:avLst/>
          </a:prstGeom>
          <a:noFill/>
        </p:spPr>
        <p:txBody>
          <a:bodyPr wrap="square" lIns="0" rIns="0" tIns="0" bIns="0" anchor="t">
            <a:spAutoFit/>
          </a:bodyPr>
          <a:lstStyle/>
          <a:p>
            <a:pPr algn="l">
              <a:spcAft>
                <a:spcPts val="0"/>
              </a:spcAft>
            </a:pPr>
            <a:r>
              <a:rPr sz="2800" b="1" i="0">
                <a:solidFill>
                  <a:srgbClr val="1B2A4A"/>
                </a:solidFill>
                <a:latin typeface="Calibri"/>
              </a:rPr>
              <a:t>One pipeline from society data to drafted audit deliverables</a:t>
            </a:r>
          </a:p>
        </p:txBody>
      </p:sp>
      <p:sp>
        <p:nvSpPr>
          <p:cNvPr id="4" name="Footer"/>
          <p:cNvSpPr txBox="1"/>
          <p:nvPr/>
        </p:nvSpPr>
        <p:spPr>
          <a:xfrm>
            <a:off x="548640" y="6419088"/>
            <a:ext cx="8229600" cy="228600"/>
          </a:xfrm>
          <a:prstGeom prst="rect">
            <a:avLst/>
          </a:prstGeom>
          <a:noFill/>
        </p:spPr>
        <p:txBody>
          <a:bodyPr wrap="square" lIns="0" rIns="0" tIns="0" bIns="0" anchor="t">
            <a:spAutoFit/>
          </a:bodyPr>
          <a:lstStyle/>
          <a:p>
            <a:pPr algn="l">
              <a:spcAft>
                <a:spcPts val="0"/>
              </a:spcAft>
            </a:pPr>
            <a:r>
              <a:rPr sz="900" b="0" i="0">
                <a:solidFill>
                  <a:srgbClr val="5F6B7A"/>
                </a:solidFill>
                <a:latin typeface="Calibri"/>
              </a:rPr>
              <a:t>AICA Level 2  |  Module C Capstone  |  AI-Powered Statutory Audit Assistant for CHS  |  synthetic data</a:t>
            </a:r>
          </a:p>
        </p:txBody>
      </p:sp>
      <p:sp>
        <p:nvSpPr>
          <p:cNvPr id="5" name="SlideNo"/>
          <p:cNvSpPr txBox="1"/>
          <p:nvPr/>
        </p:nvSpPr>
        <p:spPr>
          <a:xfrm>
            <a:off x="10725912" y="6419088"/>
            <a:ext cx="914400" cy="228600"/>
          </a:xfrm>
          <a:prstGeom prst="rect">
            <a:avLst/>
          </a:prstGeom>
          <a:noFill/>
        </p:spPr>
        <p:txBody>
          <a:bodyPr wrap="square" lIns="0" rIns="0" tIns="0" bIns="0" anchor="t">
            <a:spAutoFit/>
          </a:bodyPr>
          <a:lstStyle/>
          <a:p>
            <a:pPr algn="r">
              <a:spcAft>
                <a:spcPts val="0"/>
              </a:spcAft>
            </a:pPr>
            <a:r>
              <a:rPr sz="900" b="0" i="0">
                <a:solidFill>
                  <a:srgbClr val="5F6B7A"/>
                </a:solidFill>
                <a:latin typeface="Calibri"/>
              </a:rPr>
              <a:t>3 / 14</a:t>
            </a:r>
          </a:p>
        </p:txBody>
      </p:sp>
      <p:sp>
        <p:nvSpPr>
          <p:cNvPr id="6" name="Rounded Rectangle 5"/>
          <p:cNvSpPr/>
          <p:nvPr/>
        </p:nvSpPr>
        <p:spPr>
          <a:xfrm>
            <a:off x="548640" y="1417320"/>
            <a:ext cx="11094415" cy="960120"/>
          </a:xfrm>
          <a:prstGeom prst="roundRect">
            <a:avLst>
              <a:gd name="adj" fmla="val 6000"/>
            </a:avLst>
          </a:prstGeom>
          <a:solidFill>
            <a:srgbClr val="DF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563624"/>
            <a:ext cx="10545775" cy="731520"/>
          </a:xfrm>
          <a:prstGeom prst="rect">
            <a:avLst/>
          </a:prstGeom>
          <a:noFill/>
        </p:spPr>
        <p:txBody>
          <a:bodyPr wrap="square" lIns="0" rIns="0" tIns="0" bIns="0" anchor="t">
            <a:spAutoFit/>
          </a:bodyPr>
          <a:lstStyle/>
          <a:p>
            <a:pPr algn="l">
              <a:lnSpc>
                <a:spcPct val="110000"/>
              </a:lnSpc>
              <a:spcAft>
                <a:spcPts val="0"/>
              </a:spcAft>
            </a:pPr>
            <a:r>
              <a:rPr sz="1400" b="1" i="0">
                <a:solidFill>
                  <a:srgbClr val="1B2A4A"/>
                </a:solidFill>
                <a:latin typeface="Calibri"/>
              </a:rPr>
              <a:t>Objective: </a:t>
            </a:r>
            <a:r>
              <a:rPr sz="1400" b="0" i="0">
                <a:solidFill>
                  <a:srgbClr val="2B3445"/>
                </a:solidFill>
                <a:latin typeface="Calibri"/>
              </a:rPr>
              <a:t>build a tool that performs the statutory audit tests a panel auditor runs under the Maharashtra Co-operative Societies Act, 1960 on a society's accounting data, quantifies every exception with its legal reference, and uses a language model only to draft the documents - never to decide or compute.</a:t>
            </a:r>
          </a:p>
        </p:txBody>
      </p:sp>
      <p:sp>
        <p:nvSpPr>
          <p:cNvPr id="8" name="Rounded Rectangle 7"/>
          <p:cNvSpPr/>
          <p:nvPr/>
        </p:nvSpPr>
        <p:spPr>
          <a:xfrm>
            <a:off x="548640" y="2651760"/>
            <a:ext cx="2651760" cy="2514600"/>
          </a:xfrm>
          <a:prstGeom prst="roundRect">
            <a:avLst>
              <a:gd name="adj" fmla="val 6000"/>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77240" y="2852928"/>
            <a:ext cx="384048" cy="384048"/>
          </a:xfrm>
          <a:prstGeom prst="roundRect">
            <a:avLst>
              <a:gd name="adj" fmla="val 22000"/>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1</a:t>
            </a:r>
          </a:p>
        </p:txBody>
      </p:sp>
      <p:sp>
        <p:nvSpPr>
          <p:cNvPr id="10" name="TextBox 9"/>
          <p:cNvSpPr txBox="1"/>
          <p:nvPr/>
        </p:nvSpPr>
        <p:spPr>
          <a:xfrm>
            <a:off x="777240" y="3337560"/>
            <a:ext cx="2194560" cy="548640"/>
          </a:xfrm>
          <a:prstGeom prst="rect">
            <a:avLst/>
          </a:prstGeom>
          <a:noFill/>
        </p:spPr>
        <p:txBody>
          <a:bodyPr wrap="square" lIns="0" rIns="0" tIns="0" bIns="0" anchor="t">
            <a:spAutoFit/>
          </a:bodyPr>
          <a:lstStyle/>
          <a:p>
            <a:pPr algn="l">
              <a:spcAft>
                <a:spcPts val="0"/>
              </a:spcAft>
            </a:pPr>
            <a:r>
              <a:rPr sz="1100" b="1" i="0">
                <a:solidFill>
                  <a:srgbClr val="0F8B8D"/>
                </a:solidFill>
                <a:latin typeface="Calibri"/>
              </a:rPr>
              <a:t>Module 1</a:t>
            </a:r>
          </a:p>
        </p:txBody>
      </p:sp>
      <p:sp>
        <p:nvSpPr>
          <p:cNvPr id="11" name="TextBox 10"/>
          <p:cNvSpPr txBox="1"/>
          <p:nvPr/>
        </p:nvSpPr>
        <p:spPr>
          <a:xfrm>
            <a:off x="777240" y="3566160"/>
            <a:ext cx="2240280" cy="548640"/>
          </a:xfrm>
          <a:prstGeom prst="rect">
            <a:avLst/>
          </a:prstGeom>
          <a:noFill/>
        </p:spPr>
        <p:txBody>
          <a:bodyPr wrap="square" lIns="0" rIns="0" tIns="0" bIns="0" anchor="t">
            <a:spAutoFit/>
          </a:bodyPr>
          <a:lstStyle/>
          <a:p>
            <a:pPr algn="l">
              <a:lnSpc>
                <a:spcPct val="105000"/>
              </a:lnSpc>
              <a:spcAft>
                <a:spcPts val="0"/>
              </a:spcAft>
            </a:pPr>
            <a:r>
              <a:rPr sz="1500" b="1" i="0">
                <a:solidFill>
                  <a:srgbClr val="1B2A4A"/>
                </a:solidFill>
                <a:latin typeface="Calibri"/>
              </a:rPr>
              <a:t>Statutory audit tests</a:t>
            </a:r>
          </a:p>
        </p:txBody>
      </p:sp>
      <p:sp>
        <p:nvSpPr>
          <p:cNvPr id="12" name="TextBox 11"/>
          <p:cNvSpPr txBox="1"/>
          <p:nvPr/>
        </p:nvSpPr>
        <p:spPr>
          <a:xfrm>
            <a:off x="777240" y="4069080"/>
            <a:ext cx="2240280" cy="1051560"/>
          </a:xfrm>
          <a:prstGeom prst="rect">
            <a:avLst/>
          </a:prstGeom>
          <a:noFill/>
        </p:spPr>
        <p:txBody>
          <a:bodyPr wrap="square" lIns="0" rIns="0" tIns="0" bIns="0" anchor="t">
            <a:spAutoFit/>
          </a:bodyPr>
          <a:lstStyle/>
          <a:p>
            <a:pPr algn="l">
              <a:lnSpc>
                <a:spcPct val="110000"/>
              </a:lnSpc>
              <a:spcAft>
                <a:spcPts val="0"/>
              </a:spcAft>
            </a:pPr>
            <a:r>
              <a:rPr sz="1150" b="0" i="0">
                <a:solidFill>
                  <a:srgbClr val="2B3445"/>
                </a:solidFill>
                <a:latin typeface="Calibri"/>
              </a:rPr>
              <a:t>Member ledger, interest recompute (bye-law 72), GST Rs 7,500 test, sinking and repair funds, bank reconciliation, expense anomalies, TDS</a:t>
            </a:r>
          </a:p>
        </p:txBody>
      </p:sp>
      <p:sp>
        <p:nvSpPr>
          <p:cNvPr id="13" name="Rounded Rectangle 12"/>
          <p:cNvSpPr/>
          <p:nvPr/>
        </p:nvSpPr>
        <p:spPr>
          <a:xfrm>
            <a:off x="3363163" y="2651760"/>
            <a:ext cx="2651760" cy="2514600"/>
          </a:xfrm>
          <a:prstGeom prst="roundRect">
            <a:avLst>
              <a:gd name="adj" fmla="val 6000"/>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591763" y="2852928"/>
            <a:ext cx="384048" cy="384048"/>
          </a:xfrm>
          <a:prstGeom prst="roundRect">
            <a:avLst>
              <a:gd name="adj" fmla="val 22000"/>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2</a:t>
            </a:r>
          </a:p>
        </p:txBody>
      </p:sp>
      <p:sp>
        <p:nvSpPr>
          <p:cNvPr id="15" name="TextBox 14"/>
          <p:cNvSpPr txBox="1"/>
          <p:nvPr/>
        </p:nvSpPr>
        <p:spPr>
          <a:xfrm>
            <a:off x="3591763" y="3337560"/>
            <a:ext cx="2194560" cy="548640"/>
          </a:xfrm>
          <a:prstGeom prst="rect">
            <a:avLst/>
          </a:prstGeom>
          <a:noFill/>
        </p:spPr>
        <p:txBody>
          <a:bodyPr wrap="square" lIns="0" rIns="0" tIns="0" bIns="0" anchor="t">
            <a:spAutoFit/>
          </a:bodyPr>
          <a:lstStyle/>
          <a:p>
            <a:pPr algn="l">
              <a:spcAft>
                <a:spcPts val="0"/>
              </a:spcAft>
            </a:pPr>
            <a:r>
              <a:rPr sz="1100" b="1" i="0">
                <a:solidFill>
                  <a:srgbClr val="0F8B8D"/>
                </a:solidFill>
                <a:latin typeface="Calibri"/>
              </a:rPr>
              <a:t>Module 2</a:t>
            </a:r>
          </a:p>
        </p:txBody>
      </p:sp>
      <p:sp>
        <p:nvSpPr>
          <p:cNvPr id="16" name="TextBox 15"/>
          <p:cNvSpPr txBox="1"/>
          <p:nvPr/>
        </p:nvSpPr>
        <p:spPr>
          <a:xfrm>
            <a:off x="3591763" y="3566160"/>
            <a:ext cx="2240280" cy="548640"/>
          </a:xfrm>
          <a:prstGeom prst="rect">
            <a:avLst/>
          </a:prstGeom>
          <a:noFill/>
        </p:spPr>
        <p:txBody>
          <a:bodyPr wrap="square" lIns="0" rIns="0" tIns="0" bIns="0" anchor="t">
            <a:spAutoFit/>
          </a:bodyPr>
          <a:lstStyle/>
          <a:p>
            <a:pPr algn="l">
              <a:lnSpc>
                <a:spcPct val="105000"/>
              </a:lnSpc>
              <a:spcAft>
                <a:spcPts val="0"/>
              </a:spcAft>
            </a:pPr>
            <a:r>
              <a:rPr sz="1500" b="1" i="0">
                <a:solidFill>
                  <a:srgbClr val="1B2A4A"/>
                </a:solidFill>
                <a:latin typeface="Calibri"/>
              </a:rPr>
              <a:t>Defaulter management</a:t>
            </a:r>
          </a:p>
        </p:txBody>
      </p:sp>
      <p:sp>
        <p:nvSpPr>
          <p:cNvPr id="17" name="TextBox 16"/>
          <p:cNvSpPr txBox="1"/>
          <p:nvPr/>
        </p:nvSpPr>
        <p:spPr>
          <a:xfrm>
            <a:off x="3591763" y="4069080"/>
            <a:ext cx="2240280" cy="1051560"/>
          </a:xfrm>
          <a:prstGeom prst="rect">
            <a:avLst/>
          </a:prstGeom>
          <a:noFill/>
        </p:spPr>
        <p:txBody>
          <a:bodyPr wrap="square" lIns="0" rIns="0" tIns="0" bIns="0" anchor="t">
            <a:spAutoFit/>
          </a:bodyPr>
          <a:lstStyle/>
          <a:p>
            <a:pPr algn="l">
              <a:lnSpc>
                <a:spcPct val="110000"/>
              </a:lnSpc>
              <a:spcAft>
                <a:spcPts val="0"/>
              </a:spcAft>
            </a:pPr>
            <a:r>
              <a:rPr sz="1150" b="0" i="0">
                <a:solidFill>
                  <a:srgbClr val="2B3445"/>
                </a:solidFill>
                <a:latin typeface="Calibri"/>
              </a:rPr>
              <a:t>Ageing, defaulter classification, s.101 recovery candidates, AI-drafted reminder letters</a:t>
            </a:r>
          </a:p>
        </p:txBody>
      </p:sp>
      <p:sp>
        <p:nvSpPr>
          <p:cNvPr id="18" name="Rounded Rectangle 17"/>
          <p:cNvSpPr/>
          <p:nvPr/>
        </p:nvSpPr>
        <p:spPr>
          <a:xfrm>
            <a:off x="6177686" y="2651760"/>
            <a:ext cx="2651760" cy="2514600"/>
          </a:xfrm>
          <a:prstGeom prst="roundRect">
            <a:avLst>
              <a:gd name="adj" fmla="val 6000"/>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406286" y="2852928"/>
            <a:ext cx="384048" cy="384048"/>
          </a:xfrm>
          <a:prstGeom prst="roundRect">
            <a:avLst>
              <a:gd name="adj" fmla="val 22000"/>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3</a:t>
            </a:r>
          </a:p>
        </p:txBody>
      </p:sp>
      <p:sp>
        <p:nvSpPr>
          <p:cNvPr id="20" name="TextBox 19"/>
          <p:cNvSpPr txBox="1"/>
          <p:nvPr/>
        </p:nvSpPr>
        <p:spPr>
          <a:xfrm>
            <a:off x="6406286" y="3337560"/>
            <a:ext cx="2194560" cy="548640"/>
          </a:xfrm>
          <a:prstGeom prst="rect">
            <a:avLst/>
          </a:prstGeom>
          <a:noFill/>
        </p:spPr>
        <p:txBody>
          <a:bodyPr wrap="square" lIns="0" rIns="0" tIns="0" bIns="0" anchor="t">
            <a:spAutoFit/>
          </a:bodyPr>
          <a:lstStyle/>
          <a:p>
            <a:pPr algn="l">
              <a:spcAft>
                <a:spcPts val="0"/>
              </a:spcAft>
            </a:pPr>
            <a:r>
              <a:rPr sz="1100" b="1" i="0">
                <a:solidFill>
                  <a:srgbClr val="0F8B8D"/>
                </a:solidFill>
                <a:latin typeface="Calibri"/>
              </a:rPr>
              <a:t>Module 3</a:t>
            </a:r>
          </a:p>
        </p:txBody>
      </p:sp>
      <p:sp>
        <p:nvSpPr>
          <p:cNvPr id="21" name="TextBox 20"/>
          <p:cNvSpPr txBox="1"/>
          <p:nvPr/>
        </p:nvSpPr>
        <p:spPr>
          <a:xfrm>
            <a:off x="6406286" y="3566160"/>
            <a:ext cx="2240280" cy="548640"/>
          </a:xfrm>
          <a:prstGeom prst="rect">
            <a:avLst/>
          </a:prstGeom>
          <a:noFill/>
        </p:spPr>
        <p:txBody>
          <a:bodyPr wrap="square" lIns="0" rIns="0" tIns="0" bIns="0" anchor="t">
            <a:spAutoFit/>
          </a:bodyPr>
          <a:lstStyle/>
          <a:p>
            <a:pPr algn="l">
              <a:lnSpc>
                <a:spcPct val="105000"/>
              </a:lnSpc>
              <a:spcAft>
                <a:spcPts val="0"/>
              </a:spcAft>
            </a:pPr>
            <a:r>
              <a:rPr sz="1500" b="1" i="0">
                <a:solidFill>
                  <a:srgbClr val="1B2A4A"/>
                </a:solidFill>
                <a:latin typeface="Calibri"/>
              </a:rPr>
              <a:t>Compliance calendar and minutes</a:t>
            </a:r>
          </a:p>
        </p:txBody>
      </p:sp>
      <p:sp>
        <p:nvSpPr>
          <p:cNvPr id="22" name="TextBox 21"/>
          <p:cNvSpPr txBox="1"/>
          <p:nvPr/>
        </p:nvSpPr>
        <p:spPr>
          <a:xfrm>
            <a:off x="6406286" y="4069080"/>
            <a:ext cx="2240280" cy="1051560"/>
          </a:xfrm>
          <a:prstGeom prst="rect">
            <a:avLst/>
          </a:prstGeom>
          <a:noFill/>
        </p:spPr>
        <p:txBody>
          <a:bodyPr wrap="square" lIns="0" rIns="0" tIns="0" bIns="0" anchor="t">
            <a:spAutoFit/>
          </a:bodyPr>
          <a:lstStyle/>
          <a:p>
            <a:pPr algn="l">
              <a:lnSpc>
                <a:spcPct val="110000"/>
              </a:lnSpc>
              <a:spcAft>
                <a:spcPts val="0"/>
              </a:spcAft>
            </a:pPr>
            <a:r>
              <a:rPr sz="1150" b="0" i="0">
                <a:solidFill>
                  <a:srgbClr val="2B3445"/>
                </a:solidFill>
                <a:latin typeface="Calibri"/>
              </a:rPr>
              <a:t>Statutory calendar as at the audit date; minutes parsed for notice, quorum, resolutions and action items, cross-checked with the books</a:t>
            </a:r>
          </a:p>
        </p:txBody>
      </p:sp>
      <p:sp>
        <p:nvSpPr>
          <p:cNvPr id="23" name="Rounded Rectangle 22"/>
          <p:cNvSpPr/>
          <p:nvPr/>
        </p:nvSpPr>
        <p:spPr>
          <a:xfrm>
            <a:off x="8992209" y="2651760"/>
            <a:ext cx="2651760" cy="2514600"/>
          </a:xfrm>
          <a:prstGeom prst="roundRect">
            <a:avLst>
              <a:gd name="adj" fmla="val 6000"/>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220809" y="2852928"/>
            <a:ext cx="384048" cy="384048"/>
          </a:xfrm>
          <a:prstGeom prst="roundRect">
            <a:avLst>
              <a:gd name="adj" fmla="val 22000"/>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7</a:t>
            </a:r>
          </a:p>
        </p:txBody>
      </p:sp>
      <p:sp>
        <p:nvSpPr>
          <p:cNvPr id="25" name="TextBox 24"/>
          <p:cNvSpPr txBox="1"/>
          <p:nvPr/>
        </p:nvSpPr>
        <p:spPr>
          <a:xfrm>
            <a:off x="9220809" y="3337560"/>
            <a:ext cx="2194560" cy="548640"/>
          </a:xfrm>
          <a:prstGeom prst="rect">
            <a:avLst/>
          </a:prstGeom>
          <a:noFill/>
        </p:spPr>
        <p:txBody>
          <a:bodyPr wrap="square" lIns="0" rIns="0" tIns="0" bIns="0" anchor="t">
            <a:spAutoFit/>
          </a:bodyPr>
          <a:lstStyle/>
          <a:p>
            <a:pPr algn="l">
              <a:spcAft>
                <a:spcPts val="0"/>
              </a:spcAft>
            </a:pPr>
            <a:r>
              <a:rPr sz="1100" b="1" i="0">
                <a:solidFill>
                  <a:srgbClr val="0F8B8D"/>
                </a:solidFill>
                <a:latin typeface="Calibri"/>
              </a:rPr>
              <a:t>Module 7</a:t>
            </a:r>
          </a:p>
        </p:txBody>
      </p:sp>
      <p:sp>
        <p:nvSpPr>
          <p:cNvPr id="26" name="TextBox 25"/>
          <p:cNvSpPr txBox="1"/>
          <p:nvPr/>
        </p:nvSpPr>
        <p:spPr>
          <a:xfrm>
            <a:off x="9220809" y="3566160"/>
            <a:ext cx="2240280" cy="548640"/>
          </a:xfrm>
          <a:prstGeom prst="rect">
            <a:avLst/>
          </a:prstGeom>
          <a:noFill/>
        </p:spPr>
        <p:txBody>
          <a:bodyPr wrap="square" lIns="0" rIns="0" tIns="0" bIns="0" anchor="t">
            <a:spAutoFit/>
          </a:bodyPr>
          <a:lstStyle/>
          <a:p>
            <a:pPr algn="l">
              <a:lnSpc>
                <a:spcPct val="105000"/>
              </a:lnSpc>
              <a:spcAft>
                <a:spcPts val="0"/>
              </a:spcAft>
            </a:pPr>
            <a:r>
              <a:rPr sz="1500" b="1" i="0">
                <a:solidFill>
                  <a:srgbClr val="1B2A4A"/>
                </a:solidFill>
                <a:latin typeface="Calibri"/>
              </a:rPr>
              <a:t>Income-tax computation</a:t>
            </a:r>
          </a:p>
        </p:txBody>
      </p:sp>
      <p:sp>
        <p:nvSpPr>
          <p:cNvPr id="27" name="TextBox 26"/>
          <p:cNvSpPr txBox="1"/>
          <p:nvPr/>
        </p:nvSpPr>
        <p:spPr>
          <a:xfrm>
            <a:off x="9220809" y="4069080"/>
            <a:ext cx="2240280" cy="1051560"/>
          </a:xfrm>
          <a:prstGeom prst="rect">
            <a:avLst/>
          </a:prstGeom>
          <a:noFill/>
        </p:spPr>
        <p:txBody>
          <a:bodyPr wrap="square" lIns="0" rIns="0" tIns="0" bIns="0" anchor="t">
            <a:spAutoFit/>
          </a:bodyPr>
          <a:lstStyle/>
          <a:p>
            <a:pPr algn="l">
              <a:lnSpc>
                <a:spcPct val="110000"/>
              </a:lnSpc>
              <a:spcAft>
                <a:spcPts val="0"/>
              </a:spcAft>
            </a:pPr>
            <a:r>
              <a:rPr sz="1150" b="0" i="0">
                <a:solidFill>
                  <a:srgbClr val="2B3445"/>
                </a:solidFill>
                <a:latin typeface="Calibri"/>
              </a:rPr>
              <a:t>Mutuality, s.80P(2)(d), normal slabs vs s.115BAD, TDS credit, interest u/s 234B and 234C</a:t>
            </a:r>
          </a:p>
        </p:txBody>
      </p:sp>
      <p:sp>
        <p:nvSpPr>
          <p:cNvPr id="28" name="TextBox 27"/>
          <p:cNvSpPr txBox="1"/>
          <p:nvPr/>
        </p:nvSpPr>
        <p:spPr>
          <a:xfrm>
            <a:off x="548640" y="5376672"/>
            <a:ext cx="11094415" cy="914400"/>
          </a:xfrm>
          <a:prstGeom prst="rect">
            <a:avLst/>
          </a:prstGeom>
          <a:noFill/>
        </p:spPr>
        <p:txBody>
          <a:bodyPr wrap="square" lIns="0" rIns="0" tIns="0" bIns="0" anchor="t">
            <a:spAutoFit/>
          </a:bodyPr>
          <a:lstStyle/>
          <a:p>
            <a:pPr algn="l">
              <a:lnSpc>
                <a:spcPct val="110000"/>
              </a:lnSpc>
              <a:spcAft>
                <a:spcPts val="400"/>
              </a:spcAft>
            </a:pPr>
            <a:r>
              <a:rPr sz="1250" b="1" i="0">
                <a:solidFill>
                  <a:srgbClr val="1B2A4A"/>
                </a:solidFill>
                <a:latin typeface="Calibri"/>
              </a:rPr>
              <a:t>In scope: </a:t>
            </a:r>
            <a:r>
              <a:rPr sz="1250" b="0" i="0">
                <a:solidFill>
                  <a:srgbClr val="2B3445"/>
                </a:solidFill>
                <a:latin typeface="Calibri"/>
              </a:rPr>
              <a:t>64-flat society, FY 2025-26, Excel books and text minutes, Python + pandas, Anthropic SDK, Excel workbook and HTML dashboard outputs.</a:t>
            </a:r>
          </a:p>
          <a:p>
            <a:pPr algn="l">
              <a:lnSpc>
                <a:spcPct val="110000"/>
              </a:lnSpc>
              <a:spcAft>
                <a:spcPts val="0"/>
              </a:spcAft>
            </a:pPr>
            <a:r>
              <a:rPr sz="1250" b="1" i="0">
                <a:solidFill>
                  <a:srgbClr val="1B2A4A"/>
                </a:solidFill>
                <a:latin typeface="Calibri"/>
              </a:rPr>
              <a:t>Out of scope: </a:t>
            </a:r>
            <a:r>
              <a:rPr sz="1250" b="0" i="0">
                <a:solidFill>
                  <a:srgbClr val="2B3445"/>
                </a:solidFill>
                <a:latin typeface="Calibri"/>
              </a:rPr>
              <a:t>live accounting-software connectors, scanned documents (OCR), filing on Government portals, and any legal opinion - the drafts are reviewed and signed by the auditor.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Kicker"/>
          <p:cNvSpPr txBox="1"/>
          <p:nvPr/>
        </p:nvSpPr>
        <p:spPr>
          <a:xfrm>
            <a:off x="548640" y="301752"/>
            <a:ext cx="11094415" cy="256032"/>
          </a:xfrm>
          <a:prstGeom prst="rect">
            <a:avLst/>
          </a:prstGeom>
          <a:noFill/>
        </p:spPr>
        <p:txBody>
          <a:bodyPr wrap="square" lIns="0" rIns="0" tIns="0" bIns="0" anchor="t">
            <a:spAutoFit/>
          </a:bodyPr>
          <a:lstStyle/>
          <a:p>
            <a:pPr algn="l">
              <a:spcAft>
                <a:spcPts val="0"/>
              </a:spcAft>
            </a:pPr>
            <a:r>
              <a:rPr sz="1100" b="1" i="0">
                <a:solidFill>
                  <a:srgbClr val="0F8B8D"/>
                </a:solidFill>
                <a:latin typeface="Calibri"/>
              </a:rPr>
              <a:t>SOLUTION ARCHITECTURE</a:t>
            </a:r>
          </a:p>
        </p:txBody>
      </p:sp>
      <p:sp>
        <p:nvSpPr>
          <p:cNvPr id="3" name="Title"/>
          <p:cNvSpPr txBox="1"/>
          <p:nvPr/>
        </p:nvSpPr>
        <p:spPr>
          <a:xfrm>
            <a:off x="548640" y="566928"/>
            <a:ext cx="11094415" cy="640080"/>
          </a:xfrm>
          <a:prstGeom prst="rect">
            <a:avLst/>
          </a:prstGeom>
          <a:noFill/>
        </p:spPr>
        <p:txBody>
          <a:bodyPr wrap="square" lIns="0" rIns="0" tIns="0" bIns="0" anchor="t">
            <a:spAutoFit/>
          </a:bodyPr>
          <a:lstStyle/>
          <a:p>
            <a:pPr algn="l">
              <a:spcAft>
                <a:spcPts val="0"/>
              </a:spcAft>
            </a:pPr>
            <a:r>
              <a:rPr sz="2800" b="1" i="0">
                <a:solidFill>
                  <a:srgbClr val="1B2A4A"/>
                </a:solidFill>
                <a:latin typeface="Calibri"/>
              </a:rPr>
              <a:t>Deterministic rules in the middle, the model at the end</a:t>
            </a:r>
          </a:p>
        </p:txBody>
      </p:sp>
      <p:sp>
        <p:nvSpPr>
          <p:cNvPr id="4" name="Footer"/>
          <p:cNvSpPr txBox="1"/>
          <p:nvPr/>
        </p:nvSpPr>
        <p:spPr>
          <a:xfrm>
            <a:off x="548640" y="6419088"/>
            <a:ext cx="8229600" cy="228600"/>
          </a:xfrm>
          <a:prstGeom prst="rect">
            <a:avLst/>
          </a:prstGeom>
          <a:noFill/>
        </p:spPr>
        <p:txBody>
          <a:bodyPr wrap="square" lIns="0" rIns="0" tIns="0" bIns="0" anchor="t">
            <a:spAutoFit/>
          </a:bodyPr>
          <a:lstStyle/>
          <a:p>
            <a:pPr algn="l">
              <a:spcAft>
                <a:spcPts val="0"/>
              </a:spcAft>
            </a:pPr>
            <a:r>
              <a:rPr sz="900" b="0" i="0">
                <a:solidFill>
                  <a:srgbClr val="5F6B7A"/>
                </a:solidFill>
                <a:latin typeface="Calibri"/>
              </a:rPr>
              <a:t>AICA Level 2  |  Module C Capstone  |  AI-Powered Statutory Audit Assistant for CHS  |  synthetic data</a:t>
            </a:r>
          </a:p>
        </p:txBody>
      </p:sp>
      <p:sp>
        <p:nvSpPr>
          <p:cNvPr id="5" name="SlideNo"/>
          <p:cNvSpPr txBox="1"/>
          <p:nvPr/>
        </p:nvSpPr>
        <p:spPr>
          <a:xfrm>
            <a:off x="10725912" y="6419088"/>
            <a:ext cx="914400" cy="228600"/>
          </a:xfrm>
          <a:prstGeom prst="rect">
            <a:avLst/>
          </a:prstGeom>
          <a:noFill/>
        </p:spPr>
        <p:txBody>
          <a:bodyPr wrap="square" lIns="0" rIns="0" tIns="0" bIns="0" anchor="t">
            <a:spAutoFit/>
          </a:bodyPr>
          <a:lstStyle/>
          <a:p>
            <a:pPr algn="r">
              <a:spcAft>
                <a:spcPts val="0"/>
              </a:spcAft>
            </a:pPr>
            <a:r>
              <a:rPr sz="900" b="0" i="0">
                <a:solidFill>
                  <a:srgbClr val="5F6B7A"/>
                </a:solidFill>
                <a:latin typeface="Calibri"/>
              </a:rPr>
              <a:t>4 / 14</a:t>
            </a:r>
          </a:p>
        </p:txBody>
      </p:sp>
      <p:sp>
        <p:nvSpPr>
          <p:cNvPr id="6" name="Rounded Rectangle 5"/>
          <p:cNvSpPr/>
          <p:nvPr/>
        </p:nvSpPr>
        <p:spPr>
          <a:xfrm>
            <a:off x="548640" y="1783080"/>
            <a:ext cx="1627632" cy="685800"/>
          </a:xfrm>
          <a:prstGeom prst="roundRect">
            <a:avLst>
              <a:gd name="adj" fmla="val 12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783080"/>
            <a:ext cx="1627632" cy="685800"/>
          </a:xfrm>
          <a:prstGeom prst="rect">
            <a:avLst/>
          </a:prstGeom>
          <a:noFill/>
        </p:spPr>
        <p:txBody>
          <a:bodyPr wrap="square" lIns="0" rIns="0" tIns="0" bIns="0" anchor="ctr">
            <a:spAutoFit/>
          </a:bodyPr>
          <a:lstStyle/>
          <a:p>
            <a:pPr algn="ctr">
              <a:spcAft>
                <a:spcPts val="0"/>
              </a:spcAft>
            </a:pPr>
            <a:r>
              <a:rPr sz="1500" b="1" i="0">
                <a:solidFill>
                  <a:srgbClr val="FFFFFF"/>
                </a:solidFill>
                <a:latin typeface="Calibri"/>
              </a:rPr>
              <a:t>Data</a:t>
            </a:r>
          </a:p>
        </p:txBody>
      </p:sp>
      <p:sp>
        <p:nvSpPr>
          <p:cNvPr id="8" name="TextBox 7"/>
          <p:cNvSpPr txBox="1"/>
          <p:nvPr/>
        </p:nvSpPr>
        <p:spPr>
          <a:xfrm>
            <a:off x="548640" y="2606040"/>
            <a:ext cx="1627632" cy="1188720"/>
          </a:xfrm>
          <a:prstGeom prst="rect">
            <a:avLst/>
          </a:prstGeom>
          <a:noFill/>
        </p:spPr>
        <p:txBody>
          <a:bodyPr wrap="square" lIns="0" rIns="0" tIns="0" bIns="0" anchor="t">
            <a:spAutoFit/>
          </a:bodyPr>
          <a:lstStyle/>
          <a:p>
            <a:pPr algn="ctr">
              <a:lnSpc>
                <a:spcPct val="110000"/>
              </a:lnSpc>
              <a:spcAft>
                <a:spcPts val="0"/>
              </a:spcAft>
            </a:pPr>
            <a:r>
              <a:rPr sz="1150" b="0" i="0">
                <a:solidFill>
                  <a:srgbClr val="2B3445"/>
                </a:solidFill>
                <a:latin typeface="Calibri"/>
              </a:rPr>
              <a:t>society_data.xlsx (9 sheets) and 13 minutes files</a:t>
            </a:r>
          </a:p>
        </p:txBody>
      </p:sp>
      <p:sp>
        <p:nvSpPr>
          <p:cNvPr id="9" name="TextBox 8"/>
          <p:cNvSpPr txBox="1"/>
          <p:nvPr/>
        </p:nvSpPr>
        <p:spPr>
          <a:xfrm>
            <a:off x="548640" y="3840480"/>
            <a:ext cx="1627632" cy="457200"/>
          </a:xfrm>
          <a:prstGeom prst="rect">
            <a:avLst/>
          </a:prstGeom>
          <a:noFill/>
        </p:spPr>
        <p:txBody>
          <a:bodyPr wrap="square" lIns="0" rIns="0" tIns="0" bIns="0" anchor="t">
            <a:spAutoFit/>
          </a:bodyPr>
          <a:lstStyle/>
          <a:p>
            <a:pPr algn="ctr">
              <a:spcAft>
                <a:spcPts val="0"/>
              </a:spcAft>
            </a:pPr>
            <a:r>
              <a:rPr sz="950" b="0" i="0">
                <a:solidFill>
                  <a:srgbClr val="0F8B8D"/>
                </a:solidFill>
                <a:latin typeface="Consolas"/>
              </a:rPr>
              <a:t>data/raw/</a:t>
            </a:r>
          </a:p>
        </p:txBody>
      </p:sp>
      <p:sp>
        <p:nvSpPr>
          <p:cNvPr id="10" name="Right Arrow 9"/>
          <p:cNvSpPr/>
          <p:nvPr/>
        </p:nvSpPr>
        <p:spPr>
          <a:xfrm>
            <a:off x="2212848" y="2011680"/>
            <a:ext cx="192024" cy="237744"/>
          </a:xfrm>
          <a:prstGeom prst="rightArrow">
            <a:avLst/>
          </a:prstGeom>
          <a:solidFill>
            <a:srgbClr val="C7DA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441448" y="1783080"/>
            <a:ext cx="1627632" cy="685800"/>
          </a:xfrm>
          <a:prstGeom prst="roundRect">
            <a:avLst>
              <a:gd name="adj" fmla="val 12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441448" y="1783080"/>
            <a:ext cx="1627632" cy="685800"/>
          </a:xfrm>
          <a:prstGeom prst="rect">
            <a:avLst/>
          </a:prstGeom>
          <a:noFill/>
        </p:spPr>
        <p:txBody>
          <a:bodyPr wrap="square" lIns="0" rIns="0" tIns="0" bIns="0" anchor="ctr">
            <a:spAutoFit/>
          </a:bodyPr>
          <a:lstStyle/>
          <a:p>
            <a:pPr algn="ctr">
              <a:spcAft>
                <a:spcPts val="0"/>
              </a:spcAft>
            </a:pPr>
            <a:r>
              <a:rPr sz="1500" b="1" i="0">
                <a:solidFill>
                  <a:srgbClr val="FFFFFF"/>
                </a:solidFill>
                <a:latin typeface="Calibri"/>
              </a:rPr>
              <a:t>Loaders</a:t>
            </a:r>
          </a:p>
        </p:txBody>
      </p:sp>
      <p:sp>
        <p:nvSpPr>
          <p:cNvPr id="13" name="TextBox 12"/>
          <p:cNvSpPr txBox="1"/>
          <p:nvPr/>
        </p:nvSpPr>
        <p:spPr>
          <a:xfrm>
            <a:off x="2441448" y="2606040"/>
            <a:ext cx="1627632" cy="1188720"/>
          </a:xfrm>
          <a:prstGeom prst="rect">
            <a:avLst/>
          </a:prstGeom>
          <a:noFill/>
        </p:spPr>
        <p:txBody>
          <a:bodyPr wrap="square" lIns="0" rIns="0" tIns="0" bIns="0" anchor="t">
            <a:spAutoFit/>
          </a:bodyPr>
          <a:lstStyle/>
          <a:p>
            <a:pPr algn="ctr">
              <a:lnSpc>
                <a:spcPct val="110000"/>
              </a:lnSpc>
              <a:spcAft>
                <a:spcPts val="0"/>
              </a:spcAft>
            </a:pPr>
            <a:r>
              <a:rPr sz="1150" b="0" i="0">
                <a:solidFill>
                  <a:srgbClr val="2B3445"/>
                </a:solidFill>
                <a:latin typeface="Calibri"/>
              </a:rPr>
              <a:t>pandas frames: members, bills, receipts, bank, vendors, expenses, funds, minutes</a:t>
            </a:r>
          </a:p>
        </p:txBody>
      </p:sp>
      <p:sp>
        <p:nvSpPr>
          <p:cNvPr id="14" name="TextBox 13"/>
          <p:cNvSpPr txBox="1"/>
          <p:nvPr/>
        </p:nvSpPr>
        <p:spPr>
          <a:xfrm>
            <a:off x="2441448" y="3840480"/>
            <a:ext cx="1627632" cy="457200"/>
          </a:xfrm>
          <a:prstGeom prst="rect">
            <a:avLst/>
          </a:prstGeom>
          <a:noFill/>
        </p:spPr>
        <p:txBody>
          <a:bodyPr wrap="square" lIns="0" rIns="0" tIns="0" bIns="0" anchor="t">
            <a:spAutoFit/>
          </a:bodyPr>
          <a:lstStyle/>
          <a:p>
            <a:pPr algn="ctr">
              <a:spcAft>
                <a:spcPts val="0"/>
              </a:spcAft>
            </a:pPr>
            <a:r>
              <a:rPr sz="950" b="0" i="0">
                <a:solidFill>
                  <a:srgbClr val="0F8B8D"/>
                </a:solidFill>
                <a:latin typeface="Consolas"/>
              </a:rPr>
              <a:t>loaders.py</a:t>
            </a:r>
          </a:p>
        </p:txBody>
      </p:sp>
      <p:sp>
        <p:nvSpPr>
          <p:cNvPr id="15" name="Right Arrow 14"/>
          <p:cNvSpPr/>
          <p:nvPr/>
        </p:nvSpPr>
        <p:spPr>
          <a:xfrm>
            <a:off x="4105656" y="2011680"/>
            <a:ext cx="192024" cy="237744"/>
          </a:xfrm>
          <a:prstGeom prst="rightArrow">
            <a:avLst/>
          </a:prstGeom>
          <a:solidFill>
            <a:srgbClr val="C7DA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334256" y="1783080"/>
            <a:ext cx="1627632" cy="685800"/>
          </a:xfrm>
          <a:prstGeom prst="roundRect">
            <a:avLst>
              <a:gd name="adj" fmla="val 12000"/>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34256" y="1783080"/>
            <a:ext cx="1627632" cy="685800"/>
          </a:xfrm>
          <a:prstGeom prst="rect">
            <a:avLst/>
          </a:prstGeom>
          <a:noFill/>
        </p:spPr>
        <p:txBody>
          <a:bodyPr wrap="square" lIns="0" rIns="0" tIns="0" bIns="0" anchor="ctr">
            <a:spAutoFit/>
          </a:bodyPr>
          <a:lstStyle/>
          <a:p>
            <a:pPr algn="ctr">
              <a:spcAft>
                <a:spcPts val="0"/>
              </a:spcAft>
            </a:pPr>
            <a:r>
              <a:rPr sz="1500" b="1" i="0">
                <a:solidFill>
                  <a:srgbClr val="FFFFFF"/>
                </a:solidFill>
                <a:latin typeface="Calibri"/>
              </a:rPr>
              <a:t>Rule modules</a:t>
            </a:r>
          </a:p>
        </p:txBody>
      </p:sp>
      <p:sp>
        <p:nvSpPr>
          <p:cNvPr id="18" name="TextBox 17"/>
          <p:cNvSpPr txBox="1"/>
          <p:nvPr/>
        </p:nvSpPr>
        <p:spPr>
          <a:xfrm>
            <a:off x="4334256" y="2606040"/>
            <a:ext cx="1627632" cy="1188720"/>
          </a:xfrm>
          <a:prstGeom prst="rect">
            <a:avLst/>
          </a:prstGeom>
          <a:noFill/>
        </p:spPr>
        <p:txBody>
          <a:bodyPr wrap="square" lIns="0" rIns="0" tIns="0" bIns="0" anchor="t">
            <a:spAutoFit/>
          </a:bodyPr>
          <a:lstStyle/>
          <a:p>
            <a:pPr algn="ctr">
              <a:lnSpc>
                <a:spcPct val="110000"/>
              </a:lnSpc>
              <a:spcAft>
                <a:spcPts val="0"/>
              </a:spcAft>
            </a:pPr>
            <a:r>
              <a:rPr sz="1150" b="0" i="0">
                <a:solidFill>
                  <a:srgbClr val="2B3445"/>
                </a:solidFill>
                <a:latin typeface="Calibri"/>
              </a:rPr>
              <a:t>ledger, interest, GST, funds, bank, expenses, TDS; calendar and minutes; tax</a:t>
            </a:r>
          </a:p>
        </p:txBody>
      </p:sp>
      <p:sp>
        <p:nvSpPr>
          <p:cNvPr id="19" name="TextBox 18"/>
          <p:cNvSpPr txBox="1"/>
          <p:nvPr/>
        </p:nvSpPr>
        <p:spPr>
          <a:xfrm>
            <a:off x="4334256" y="3840480"/>
            <a:ext cx="1627632" cy="457200"/>
          </a:xfrm>
          <a:prstGeom prst="rect">
            <a:avLst/>
          </a:prstGeom>
          <a:noFill/>
        </p:spPr>
        <p:txBody>
          <a:bodyPr wrap="square" lIns="0" rIns="0" tIns="0" bIns="0" anchor="t">
            <a:spAutoFit/>
          </a:bodyPr>
          <a:lstStyle/>
          <a:p>
            <a:pPr algn="ctr">
              <a:spcAft>
                <a:spcPts val="0"/>
              </a:spcAft>
            </a:pPr>
            <a:r>
              <a:rPr sz="950" b="0" i="0">
                <a:solidFill>
                  <a:srgbClr val="0F8B8D"/>
                </a:solidFill>
                <a:latin typeface="Consolas"/>
              </a:rPr>
              <a:t>audit_checks.py  compliance.py  tax.py</a:t>
            </a:r>
          </a:p>
        </p:txBody>
      </p:sp>
      <p:sp>
        <p:nvSpPr>
          <p:cNvPr id="20" name="Right Arrow 19"/>
          <p:cNvSpPr/>
          <p:nvPr/>
        </p:nvSpPr>
        <p:spPr>
          <a:xfrm>
            <a:off x="5998464" y="2011680"/>
            <a:ext cx="192024" cy="237744"/>
          </a:xfrm>
          <a:prstGeom prst="rightArrow">
            <a:avLst/>
          </a:prstGeom>
          <a:solidFill>
            <a:srgbClr val="C7DA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227064" y="1783080"/>
            <a:ext cx="1627632" cy="685800"/>
          </a:xfrm>
          <a:prstGeom prst="roundRect">
            <a:avLst>
              <a:gd name="adj" fmla="val 12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27064" y="1783080"/>
            <a:ext cx="1627632" cy="685800"/>
          </a:xfrm>
          <a:prstGeom prst="rect">
            <a:avLst/>
          </a:prstGeom>
          <a:noFill/>
        </p:spPr>
        <p:txBody>
          <a:bodyPr wrap="square" lIns="0" rIns="0" tIns="0" bIns="0" anchor="ctr">
            <a:spAutoFit/>
          </a:bodyPr>
          <a:lstStyle/>
          <a:p>
            <a:pPr algn="ctr">
              <a:spcAft>
                <a:spcPts val="0"/>
              </a:spcAft>
            </a:pPr>
            <a:r>
              <a:rPr sz="1500" b="1" i="0">
                <a:solidFill>
                  <a:srgbClr val="FFFFFF"/>
                </a:solidFill>
                <a:latin typeface="Calibri"/>
              </a:rPr>
              <a:t>Findings</a:t>
            </a:r>
          </a:p>
        </p:txBody>
      </p:sp>
      <p:sp>
        <p:nvSpPr>
          <p:cNvPr id="23" name="TextBox 22"/>
          <p:cNvSpPr txBox="1"/>
          <p:nvPr/>
        </p:nvSpPr>
        <p:spPr>
          <a:xfrm>
            <a:off x="6227064" y="2606040"/>
            <a:ext cx="1627632" cy="1188720"/>
          </a:xfrm>
          <a:prstGeom prst="rect">
            <a:avLst/>
          </a:prstGeom>
          <a:noFill/>
        </p:spPr>
        <p:txBody>
          <a:bodyPr wrap="square" lIns="0" rIns="0" tIns="0" bIns="0" anchor="t">
            <a:spAutoFit/>
          </a:bodyPr>
          <a:lstStyle/>
          <a:p>
            <a:pPr algn="ctr">
              <a:lnSpc>
                <a:spcPct val="110000"/>
              </a:lnSpc>
              <a:spcAft>
                <a:spcPts val="0"/>
              </a:spcAft>
            </a:pPr>
            <a:r>
              <a:rPr sz="1150" b="0" i="0">
                <a:solidFill>
                  <a:srgbClr val="2B3445"/>
                </a:solidFill>
                <a:latin typeface="Calibri"/>
              </a:rPr>
              <a:t>22 observations: severity, legal reference, amount, evidence sheet</a:t>
            </a:r>
          </a:p>
        </p:txBody>
      </p:sp>
      <p:sp>
        <p:nvSpPr>
          <p:cNvPr id="24" name="TextBox 23"/>
          <p:cNvSpPr txBox="1"/>
          <p:nvPr/>
        </p:nvSpPr>
        <p:spPr>
          <a:xfrm>
            <a:off x="6227064" y="3840480"/>
            <a:ext cx="1627632" cy="457200"/>
          </a:xfrm>
          <a:prstGeom prst="rect">
            <a:avLst/>
          </a:prstGeom>
          <a:noFill/>
        </p:spPr>
        <p:txBody>
          <a:bodyPr wrap="square" lIns="0" rIns="0" tIns="0" bIns="0" anchor="t">
            <a:spAutoFit/>
          </a:bodyPr>
          <a:lstStyle/>
          <a:p>
            <a:pPr algn="ctr">
              <a:spcAft>
                <a:spcPts val="0"/>
              </a:spcAft>
            </a:pPr>
            <a:r>
              <a:rPr sz="950" b="0" i="0">
                <a:solidFill>
                  <a:srgbClr val="0F8B8D"/>
                </a:solidFill>
                <a:latin typeface="Consolas"/>
              </a:rPr>
              <a:t>findings.py</a:t>
            </a:r>
          </a:p>
        </p:txBody>
      </p:sp>
      <p:sp>
        <p:nvSpPr>
          <p:cNvPr id="25" name="Right Arrow 24"/>
          <p:cNvSpPr/>
          <p:nvPr/>
        </p:nvSpPr>
        <p:spPr>
          <a:xfrm>
            <a:off x="7891272" y="2011680"/>
            <a:ext cx="192024" cy="237744"/>
          </a:xfrm>
          <a:prstGeom prst="rightArrow">
            <a:avLst/>
          </a:prstGeom>
          <a:solidFill>
            <a:srgbClr val="C7DA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8119872" y="1783080"/>
            <a:ext cx="1627632" cy="685800"/>
          </a:xfrm>
          <a:prstGeom prst="roundRect">
            <a:avLst>
              <a:gd name="adj" fmla="val 12000"/>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119872" y="1783080"/>
            <a:ext cx="1627632" cy="685800"/>
          </a:xfrm>
          <a:prstGeom prst="rect">
            <a:avLst/>
          </a:prstGeom>
          <a:noFill/>
        </p:spPr>
        <p:txBody>
          <a:bodyPr wrap="square" lIns="0" rIns="0" tIns="0" bIns="0" anchor="ctr">
            <a:spAutoFit/>
          </a:bodyPr>
          <a:lstStyle/>
          <a:p>
            <a:pPr algn="ctr">
              <a:spcAft>
                <a:spcPts val="0"/>
              </a:spcAft>
            </a:pPr>
            <a:r>
              <a:rPr sz="1500" b="1" i="0">
                <a:solidFill>
                  <a:srgbClr val="FFFFFF"/>
                </a:solidFill>
                <a:latin typeface="Calibri"/>
              </a:rPr>
              <a:t>AI drafting</a:t>
            </a:r>
          </a:p>
        </p:txBody>
      </p:sp>
      <p:sp>
        <p:nvSpPr>
          <p:cNvPr id="28" name="TextBox 27"/>
          <p:cNvSpPr txBox="1"/>
          <p:nvPr/>
        </p:nvSpPr>
        <p:spPr>
          <a:xfrm>
            <a:off x="8119872" y="2606040"/>
            <a:ext cx="1627632" cy="1188720"/>
          </a:xfrm>
          <a:prstGeom prst="rect">
            <a:avLst/>
          </a:prstGeom>
          <a:noFill/>
        </p:spPr>
        <p:txBody>
          <a:bodyPr wrap="square" lIns="0" rIns="0" tIns="0" bIns="0" anchor="t">
            <a:spAutoFit/>
          </a:bodyPr>
          <a:lstStyle/>
          <a:p>
            <a:pPr algn="ctr">
              <a:lnSpc>
                <a:spcPct val="110000"/>
              </a:lnSpc>
              <a:spcAft>
                <a:spcPts val="0"/>
              </a:spcAft>
            </a:pPr>
            <a:r>
              <a:rPr sz="1150" b="0" i="0">
                <a:solidFill>
                  <a:srgbClr val="2B3445"/>
                </a:solidFill>
                <a:latin typeface="Calibri"/>
              </a:rPr>
              <a:t>closed-world prompt, citation verifier, template fallback, prompt log</a:t>
            </a:r>
          </a:p>
        </p:txBody>
      </p:sp>
      <p:sp>
        <p:nvSpPr>
          <p:cNvPr id="29" name="TextBox 28"/>
          <p:cNvSpPr txBox="1"/>
          <p:nvPr/>
        </p:nvSpPr>
        <p:spPr>
          <a:xfrm>
            <a:off x="8119872" y="3840480"/>
            <a:ext cx="1627632" cy="457200"/>
          </a:xfrm>
          <a:prstGeom prst="rect">
            <a:avLst/>
          </a:prstGeom>
          <a:noFill/>
        </p:spPr>
        <p:txBody>
          <a:bodyPr wrap="square" lIns="0" rIns="0" tIns="0" bIns="0" anchor="t">
            <a:spAutoFit/>
          </a:bodyPr>
          <a:lstStyle/>
          <a:p>
            <a:pPr algn="ctr">
              <a:spcAft>
                <a:spcPts val="0"/>
              </a:spcAft>
            </a:pPr>
            <a:r>
              <a:rPr sz="950" b="0" i="0">
                <a:solidFill>
                  <a:srgbClr val="0F8B8D"/>
                </a:solidFill>
                <a:latin typeface="Consolas"/>
              </a:rPr>
              <a:t>ai_writer.py</a:t>
            </a:r>
          </a:p>
        </p:txBody>
      </p:sp>
      <p:sp>
        <p:nvSpPr>
          <p:cNvPr id="30" name="Right Arrow 29"/>
          <p:cNvSpPr/>
          <p:nvPr/>
        </p:nvSpPr>
        <p:spPr>
          <a:xfrm>
            <a:off x="9784080" y="2011680"/>
            <a:ext cx="192024" cy="237744"/>
          </a:xfrm>
          <a:prstGeom prst="rightArrow">
            <a:avLst/>
          </a:prstGeom>
          <a:solidFill>
            <a:srgbClr val="C7DA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10012680" y="1783080"/>
            <a:ext cx="1627632" cy="685800"/>
          </a:xfrm>
          <a:prstGeom prst="roundRect">
            <a:avLst>
              <a:gd name="adj" fmla="val 12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012680" y="1783080"/>
            <a:ext cx="1627632" cy="685800"/>
          </a:xfrm>
          <a:prstGeom prst="rect">
            <a:avLst/>
          </a:prstGeom>
          <a:noFill/>
        </p:spPr>
        <p:txBody>
          <a:bodyPr wrap="square" lIns="0" rIns="0" tIns="0" bIns="0" anchor="ctr">
            <a:spAutoFit/>
          </a:bodyPr>
          <a:lstStyle/>
          <a:p>
            <a:pPr algn="ctr">
              <a:spcAft>
                <a:spcPts val="0"/>
              </a:spcAft>
            </a:pPr>
            <a:r>
              <a:rPr sz="1500" b="1" i="0">
                <a:solidFill>
                  <a:srgbClr val="FFFFFF"/>
                </a:solidFill>
                <a:latin typeface="Calibri"/>
              </a:rPr>
              <a:t>Deliverables</a:t>
            </a:r>
          </a:p>
        </p:txBody>
      </p:sp>
      <p:sp>
        <p:nvSpPr>
          <p:cNvPr id="33" name="TextBox 32"/>
          <p:cNvSpPr txBox="1"/>
          <p:nvPr/>
        </p:nvSpPr>
        <p:spPr>
          <a:xfrm>
            <a:off x="10012680" y="2606040"/>
            <a:ext cx="1627632" cy="1188720"/>
          </a:xfrm>
          <a:prstGeom prst="rect">
            <a:avLst/>
          </a:prstGeom>
          <a:noFill/>
        </p:spPr>
        <p:txBody>
          <a:bodyPr wrap="square" lIns="0" rIns="0" tIns="0" bIns="0" anchor="t">
            <a:spAutoFit/>
          </a:bodyPr>
          <a:lstStyle/>
          <a:p>
            <a:pPr algn="ctr">
              <a:lnSpc>
                <a:spcPct val="110000"/>
              </a:lnSpc>
              <a:spcAft>
                <a:spcPts val="0"/>
              </a:spcAft>
            </a:pPr>
            <a:r>
              <a:rPr sz="1150" b="0" i="0">
                <a:solidFill>
                  <a:srgbClr val="2B3445"/>
                </a:solidFill>
                <a:latin typeface="Calibri"/>
              </a:rPr>
              <a:t>22-sheet workbook, HTML dashboard, 5 draft documents</a:t>
            </a:r>
          </a:p>
        </p:txBody>
      </p:sp>
      <p:sp>
        <p:nvSpPr>
          <p:cNvPr id="34" name="TextBox 33"/>
          <p:cNvSpPr txBox="1"/>
          <p:nvPr/>
        </p:nvSpPr>
        <p:spPr>
          <a:xfrm>
            <a:off x="10012680" y="3840480"/>
            <a:ext cx="1627632" cy="457200"/>
          </a:xfrm>
          <a:prstGeom prst="rect">
            <a:avLst/>
          </a:prstGeom>
          <a:noFill/>
        </p:spPr>
        <p:txBody>
          <a:bodyPr wrap="square" lIns="0" rIns="0" tIns="0" bIns="0" anchor="t">
            <a:spAutoFit/>
          </a:bodyPr>
          <a:lstStyle/>
          <a:p>
            <a:pPr algn="ctr">
              <a:spcAft>
                <a:spcPts val="0"/>
              </a:spcAft>
            </a:pPr>
            <a:r>
              <a:rPr sz="950" b="0" i="0">
                <a:solidFill>
                  <a:srgbClr val="0F8B8D"/>
                </a:solidFill>
                <a:latin typeface="Consolas"/>
              </a:rPr>
              <a:t>report_excel.py  dashboard.py</a:t>
            </a:r>
          </a:p>
        </p:txBody>
      </p:sp>
      <p:sp>
        <p:nvSpPr>
          <p:cNvPr id="35" name="Rounded Rectangle 34"/>
          <p:cNvSpPr/>
          <p:nvPr/>
        </p:nvSpPr>
        <p:spPr>
          <a:xfrm>
            <a:off x="548640" y="4526280"/>
            <a:ext cx="11094415" cy="1691640"/>
          </a:xfrm>
          <a:prstGeom prst="roundRect">
            <a:avLst>
              <a:gd name="adj" fmla="val 6000"/>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822960" y="4754880"/>
            <a:ext cx="384048" cy="384048"/>
          </a:xfrm>
          <a:prstGeom prst="roundRect">
            <a:avLst>
              <a:gd name="adj" fmla="val 22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a:t>
            </a:r>
          </a:p>
        </p:txBody>
      </p:sp>
      <p:sp>
        <p:nvSpPr>
          <p:cNvPr id="37" name="TextBox 36"/>
          <p:cNvSpPr txBox="1"/>
          <p:nvPr/>
        </p:nvSpPr>
        <p:spPr>
          <a:xfrm>
            <a:off x="1371600" y="4709160"/>
            <a:ext cx="4389120" cy="457200"/>
          </a:xfrm>
          <a:prstGeom prst="rect">
            <a:avLst/>
          </a:prstGeom>
          <a:noFill/>
        </p:spPr>
        <p:txBody>
          <a:bodyPr wrap="square" lIns="0" rIns="0" tIns="0" bIns="0" anchor="t">
            <a:spAutoFit/>
          </a:bodyPr>
          <a:lstStyle/>
          <a:p>
            <a:pPr algn="l">
              <a:spcAft>
                <a:spcPts val="0"/>
              </a:spcAft>
            </a:pPr>
            <a:r>
              <a:rPr sz="1500" b="1" i="0">
                <a:solidFill>
                  <a:srgbClr val="1B2A4A"/>
                </a:solidFill>
                <a:latin typeface="Calibri"/>
              </a:rPr>
              <a:t>Principle: rules compute, the model writes</a:t>
            </a:r>
          </a:p>
        </p:txBody>
      </p:sp>
      <p:sp>
        <p:nvSpPr>
          <p:cNvPr id="38" name="TextBox 37"/>
          <p:cNvSpPr txBox="1"/>
          <p:nvPr/>
        </p:nvSpPr>
        <p:spPr>
          <a:xfrm>
            <a:off x="1371600" y="5120640"/>
            <a:ext cx="4206240" cy="1005840"/>
          </a:xfrm>
          <a:prstGeom prst="rect">
            <a:avLst/>
          </a:prstGeom>
          <a:noFill/>
        </p:spPr>
        <p:txBody>
          <a:bodyPr wrap="square" lIns="0" rIns="0" tIns="0" bIns="0" anchor="t">
            <a:spAutoFit/>
          </a:bodyPr>
          <a:lstStyle/>
          <a:p>
            <a:pPr algn="l">
              <a:lnSpc>
                <a:spcPct val="110000"/>
              </a:lnSpc>
              <a:spcAft>
                <a:spcPts val="0"/>
              </a:spcAft>
            </a:pPr>
            <a:r>
              <a:rPr sz="1200" b="0" i="0">
                <a:solidFill>
                  <a:srgbClr val="2B3445"/>
                </a:solidFill>
                <a:latin typeface="Calibri"/>
              </a:rPr>
              <a:t>Every number, date and legal reference is produced by pandas rules. The model receives those facts as JSON and only writes prose, so each sentence traces back to a schedule in the workbook.</a:t>
            </a:r>
          </a:p>
        </p:txBody>
      </p:sp>
      <p:sp>
        <p:nvSpPr>
          <p:cNvPr id="39" name="TextBox 38"/>
          <p:cNvSpPr txBox="1"/>
          <p:nvPr/>
        </p:nvSpPr>
        <p:spPr>
          <a:xfrm>
            <a:off x="5852160" y="4681728"/>
            <a:ext cx="914400" cy="274320"/>
          </a:xfrm>
          <a:prstGeom prst="rect">
            <a:avLst/>
          </a:prstGeom>
          <a:noFill/>
        </p:spPr>
        <p:txBody>
          <a:bodyPr wrap="square" lIns="0" rIns="0" tIns="0" bIns="0" anchor="t">
            <a:spAutoFit/>
          </a:bodyPr>
          <a:lstStyle/>
          <a:p>
            <a:pPr algn="l">
              <a:spcAft>
                <a:spcPts val="0"/>
              </a:spcAft>
            </a:pPr>
            <a:r>
              <a:rPr sz="1200" b="1" i="0">
                <a:solidFill>
                  <a:srgbClr val="0F8B8D"/>
                </a:solidFill>
                <a:latin typeface="Calibri"/>
              </a:rPr>
              <a:t>CLI</a:t>
            </a:r>
          </a:p>
        </p:txBody>
      </p:sp>
      <p:sp>
        <p:nvSpPr>
          <p:cNvPr id="40" name="TextBox 39"/>
          <p:cNvSpPr txBox="1"/>
          <p:nvPr/>
        </p:nvSpPr>
        <p:spPr>
          <a:xfrm>
            <a:off x="6766560" y="4681728"/>
            <a:ext cx="4663440" cy="457200"/>
          </a:xfrm>
          <a:prstGeom prst="rect">
            <a:avLst/>
          </a:prstGeom>
          <a:noFill/>
        </p:spPr>
        <p:txBody>
          <a:bodyPr wrap="square" lIns="0" rIns="0" tIns="0" bIns="0" anchor="t">
            <a:spAutoFit/>
          </a:bodyPr>
          <a:lstStyle/>
          <a:p>
            <a:pPr algn="l">
              <a:spcAft>
                <a:spcPts val="0"/>
              </a:spcAft>
            </a:pPr>
            <a:r>
              <a:rPr sz="1200" b="0" i="0">
                <a:solidFill>
                  <a:srgbClr val="2B3445"/>
                </a:solidFill>
                <a:latin typeface="Calibri"/>
              </a:rPr>
              <a:t>python -m chs_audit.run_audit --data --out --as-of [--ai]</a:t>
            </a:r>
          </a:p>
        </p:txBody>
      </p:sp>
      <p:sp>
        <p:nvSpPr>
          <p:cNvPr id="41" name="TextBox 40"/>
          <p:cNvSpPr txBox="1"/>
          <p:nvPr/>
        </p:nvSpPr>
        <p:spPr>
          <a:xfrm>
            <a:off x="5852160" y="5157216"/>
            <a:ext cx="914400" cy="274320"/>
          </a:xfrm>
          <a:prstGeom prst="rect">
            <a:avLst/>
          </a:prstGeom>
          <a:noFill/>
        </p:spPr>
        <p:txBody>
          <a:bodyPr wrap="square" lIns="0" rIns="0" tIns="0" bIns="0" anchor="t">
            <a:spAutoFit/>
          </a:bodyPr>
          <a:lstStyle/>
          <a:p>
            <a:pPr algn="l">
              <a:spcAft>
                <a:spcPts val="0"/>
              </a:spcAft>
            </a:pPr>
            <a:r>
              <a:rPr sz="1200" b="1" i="0">
                <a:solidFill>
                  <a:srgbClr val="0F8B8D"/>
                </a:solidFill>
                <a:latin typeface="Calibri"/>
              </a:rPr>
              <a:t>Config</a:t>
            </a:r>
          </a:p>
        </p:txBody>
      </p:sp>
      <p:sp>
        <p:nvSpPr>
          <p:cNvPr id="42" name="TextBox 41"/>
          <p:cNvSpPr txBox="1"/>
          <p:nvPr/>
        </p:nvSpPr>
        <p:spPr>
          <a:xfrm>
            <a:off x="6766560" y="5157216"/>
            <a:ext cx="4663440" cy="457200"/>
          </a:xfrm>
          <a:prstGeom prst="rect">
            <a:avLst/>
          </a:prstGeom>
          <a:noFill/>
        </p:spPr>
        <p:txBody>
          <a:bodyPr wrap="square" lIns="0" rIns="0" tIns="0" bIns="0" anchor="t">
            <a:spAutoFit/>
          </a:bodyPr>
          <a:lstStyle/>
          <a:p>
            <a:pPr algn="l">
              <a:spcAft>
                <a:spcPts val="0"/>
              </a:spcAft>
            </a:pPr>
            <a:r>
              <a:rPr sz="1200" b="0" i="0">
                <a:solidFill>
                  <a:srgbClr val="2B3445"/>
                </a:solidFill>
                <a:latin typeface="Calibri"/>
              </a:rPr>
              <a:t>rates, thresholds, due dates and office-bearer flats in one config.py</a:t>
            </a:r>
          </a:p>
        </p:txBody>
      </p:sp>
      <p:sp>
        <p:nvSpPr>
          <p:cNvPr id="43" name="TextBox 42"/>
          <p:cNvSpPr txBox="1"/>
          <p:nvPr/>
        </p:nvSpPr>
        <p:spPr>
          <a:xfrm>
            <a:off x="5852160" y="5632704"/>
            <a:ext cx="914400" cy="274320"/>
          </a:xfrm>
          <a:prstGeom prst="rect">
            <a:avLst/>
          </a:prstGeom>
          <a:noFill/>
        </p:spPr>
        <p:txBody>
          <a:bodyPr wrap="square" lIns="0" rIns="0" tIns="0" bIns="0" anchor="t">
            <a:spAutoFit/>
          </a:bodyPr>
          <a:lstStyle/>
          <a:p>
            <a:pPr algn="l">
              <a:spcAft>
                <a:spcPts val="0"/>
              </a:spcAft>
            </a:pPr>
            <a:r>
              <a:rPr sz="1200" b="1" i="0">
                <a:solidFill>
                  <a:srgbClr val="0F8B8D"/>
                </a:solidFill>
                <a:latin typeface="Calibri"/>
              </a:rPr>
              <a:t>Offline</a:t>
            </a:r>
          </a:p>
        </p:txBody>
      </p:sp>
      <p:sp>
        <p:nvSpPr>
          <p:cNvPr id="44" name="TextBox 43"/>
          <p:cNvSpPr txBox="1"/>
          <p:nvPr/>
        </p:nvSpPr>
        <p:spPr>
          <a:xfrm>
            <a:off x="6766560" y="5632704"/>
            <a:ext cx="4663440" cy="457200"/>
          </a:xfrm>
          <a:prstGeom prst="rect">
            <a:avLst/>
          </a:prstGeom>
          <a:noFill/>
        </p:spPr>
        <p:txBody>
          <a:bodyPr wrap="square" lIns="0" rIns="0" tIns="0" bIns="0" anchor="t">
            <a:spAutoFit/>
          </a:bodyPr>
          <a:lstStyle/>
          <a:p>
            <a:pPr algn="l">
              <a:spcAft>
                <a:spcPts val="0"/>
              </a:spcAft>
            </a:pPr>
            <a:r>
              <a:rPr sz="1200" b="0" i="0">
                <a:solidFill>
                  <a:srgbClr val="2B3445"/>
                </a:solidFill>
                <a:latin typeface="Calibri"/>
              </a:rPr>
              <a:t>the whole pipeline runs without an API key; --ai switches on Claude drafting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Kicker"/>
          <p:cNvSpPr txBox="1"/>
          <p:nvPr/>
        </p:nvSpPr>
        <p:spPr>
          <a:xfrm>
            <a:off x="548640" y="301752"/>
            <a:ext cx="11094415" cy="256032"/>
          </a:xfrm>
          <a:prstGeom prst="rect">
            <a:avLst/>
          </a:prstGeom>
          <a:noFill/>
        </p:spPr>
        <p:txBody>
          <a:bodyPr wrap="square" lIns="0" rIns="0" tIns="0" bIns="0" anchor="t">
            <a:spAutoFit/>
          </a:bodyPr>
          <a:lstStyle/>
          <a:p>
            <a:pPr algn="l">
              <a:spcAft>
                <a:spcPts val="0"/>
              </a:spcAft>
            </a:pPr>
            <a:r>
              <a:rPr sz="1100" b="1" i="0">
                <a:solidFill>
                  <a:srgbClr val="0F8B8D"/>
                </a:solidFill>
                <a:latin typeface="Calibri"/>
              </a:rPr>
              <a:t>SYNTHETIC DATA AND PRIVACY</a:t>
            </a:r>
          </a:p>
        </p:txBody>
      </p:sp>
      <p:sp>
        <p:nvSpPr>
          <p:cNvPr id="3" name="Title"/>
          <p:cNvSpPr txBox="1"/>
          <p:nvPr/>
        </p:nvSpPr>
        <p:spPr>
          <a:xfrm>
            <a:off x="548640" y="566928"/>
            <a:ext cx="11094415" cy="640080"/>
          </a:xfrm>
          <a:prstGeom prst="rect">
            <a:avLst/>
          </a:prstGeom>
          <a:noFill/>
        </p:spPr>
        <p:txBody>
          <a:bodyPr wrap="square" lIns="0" rIns="0" tIns="0" bIns="0" anchor="t">
            <a:spAutoFit/>
          </a:bodyPr>
          <a:lstStyle/>
          <a:p>
            <a:pPr algn="l">
              <a:spcAft>
                <a:spcPts val="0"/>
              </a:spcAft>
            </a:pPr>
            <a:r>
              <a:rPr sz="2800" b="1" i="0">
                <a:solidFill>
                  <a:srgbClr val="1B2A4A"/>
                </a:solidFill>
                <a:latin typeface="Calibri"/>
              </a:rPr>
              <a:t>A realistic society, 19 planted failures, no personal data</a:t>
            </a:r>
          </a:p>
        </p:txBody>
      </p:sp>
      <p:sp>
        <p:nvSpPr>
          <p:cNvPr id="4" name="Footer"/>
          <p:cNvSpPr txBox="1"/>
          <p:nvPr/>
        </p:nvSpPr>
        <p:spPr>
          <a:xfrm>
            <a:off x="548640" y="6419088"/>
            <a:ext cx="8229600" cy="228600"/>
          </a:xfrm>
          <a:prstGeom prst="rect">
            <a:avLst/>
          </a:prstGeom>
          <a:noFill/>
        </p:spPr>
        <p:txBody>
          <a:bodyPr wrap="square" lIns="0" rIns="0" tIns="0" bIns="0" anchor="t">
            <a:spAutoFit/>
          </a:bodyPr>
          <a:lstStyle/>
          <a:p>
            <a:pPr algn="l">
              <a:spcAft>
                <a:spcPts val="0"/>
              </a:spcAft>
            </a:pPr>
            <a:r>
              <a:rPr sz="900" b="0" i="0">
                <a:solidFill>
                  <a:srgbClr val="5F6B7A"/>
                </a:solidFill>
                <a:latin typeface="Calibri"/>
              </a:rPr>
              <a:t>AICA Level 2  |  Module C Capstone  |  AI-Powered Statutory Audit Assistant for CHS  |  synthetic data</a:t>
            </a:r>
          </a:p>
        </p:txBody>
      </p:sp>
      <p:sp>
        <p:nvSpPr>
          <p:cNvPr id="5" name="SlideNo"/>
          <p:cNvSpPr txBox="1"/>
          <p:nvPr/>
        </p:nvSpPr>
        <p:spPr>
          <a:xfrm>
            <a:off x="10725912" y="6419088"/>
            <a:ext cx="914400" cy="228600"/>
          </a:xfrm>
          <a:prstGeom prst="rect">
            <a:avLst/>
          </a:prstGeom>
          <a:noFill/>
        </p:spPr>
        <p:txBody>
          <a:bodyPr wrap="square" lIns="0" rIns="0" tIns="0" bIns="0" anchor="t">
            <a:spAutoFit/>
          </a:bodyPr>
          <a:lstStyle/>
          <a:p>
            <a:pPr algn="r">
              <a:spcAft>
                <a:spcPts val="0"/>
              </a:spcAft>
            </a:pPr>
            <a:r>
              <a:rPr sz="900" b="0" i="0">
                <a:solidFill>
                  <a:srgbClr val="5F6B7A"/>
                </a:solidFill>
                <a:latin typeface="Calibri"/>
              </a:rPr>
              <a:t>5 / 14</a:t>
            </a:r>
          </a:p>
        </p:txBody>
      </p:sp>
      <p:sp>
        <p:nvSpPr>
          <p:cNvPr id="6" name="Rounded Rectangle 5"/>
          <p:cNvSpPr/>
          <p:nvPr/>
        </p:nvSpPr>
        <p:spPr>
          <a:xfrm>
            <a:off x="548640" y="1417320"/>
            <a:ext cx="5394960" cy="4754880"/>
          </a:xfrm>
          <a:prstGeom prst="roundRect">
            <a:avLst>
              <a:gd name="adj" fmla="val 6000"/>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45920"/>
            <a:ext cx="4846320" cy="365760"/>
          </a:xfrm>
          <a:prstGeom prst="rect">
            <a:avLst/>
          </a:prstGeom>
          <a:noFill/>
        </p:spPr>
        <p:txBody>
          <a:bodyPr wrap="square" lIns="0" rIns="0" tIns="0" bIns="0" anchor="t">
            <a:spAutoFit/>
          </a:bodyPr>
          <a:lstStyle/>
          <a:p>
            <a:pPr algn="l">
              <a:spcAft>
                <a:spcPts val="0"/>
              </a:spcAft>
            </a:pPr>
            <a:r>
              <a:rPr sz="1600" b="1" i="0">
                <a:solidFill>
                  <a:srgbClr val="1B2A4A"/>
                </a:solidFill>
                <a:latin typeface="Calibri"/>
              </a:rPr>
              <a:t>What generate_data.py builds</a:t>
            </a:r>
          </a:p>
        </p:txBody>
      </p:sp>
      <p:sp>
        <p:nvSpPr>
          <p:cNvPr id="8" name="TextBox 7"/>
          <p:cNvSpPr txBox="1"/>
          <p:nvPr/>
        </p:nvSpPr>
        <p:spPr>
          <a:xfrm>
            <a:off x="822960" y="2148840"/>
            <a:ext cx="4846320" cy="3840480"/>
          </a:xfrm>
          <a:prstGeom prst="rect">
            <a:avLst/>
          </a:prstGeom>
          <a:noFill/>
        </p:spPr>
        <p:txBody>
          <a:bodyPr wrap="square" lIns="0" rIns="0" tIns="0" bIns="0" anchor="t">
            <a:spAutoFit/>
          </a:bodyPr>
          <a:lstStyle/>
          <a:p>
            <a:pPr algn="l" marL="201168" indent="-201168">
              <a:lnSpc>
                <a:spcPct val="110000"/>
              </a:lnSpc>
              <a:spcAft>
                <a:spcPts val="700"/>
              </a:spcAft>
              <a:buClr>
                <a:srgbClr val="0F8B8D"/>
              </a:buClr>
              <a:buFont typeface="Arial"/>
              <a:buChar char="▪"/>
            </a:pPr>
            <a:r>
              <a:rPr sz="1250" b="0" i="0">
                <a:solidFill>
                  <a:srgbClr val="2B3445"/>
                </a:solidFill>
                <a:latin typeface="Calibri"/>
              </a:rPr>
              <a:t>64 flats in two wings (A and B), 8 floors x 4 flats, 1BHK to 3BHK, 11 committee members</a:t>
            </a:r>
          </a:p>
          <a:p>
            <a:pPr algn="l" marL="201168" indent="-201168">
              <a:lnSpc>
                <a:spcPct val="110000"/>
              </a:lnSpc>
              <a:spcAft>
                <a:spcPts val="700"/>
              </a:spcAft>
              <a:buClr>
                <a:srgbClr val="0F8B8D"/>
              </a:buClr>
              <a:buFont typeface="Arial"/>
              <a:buChar char="▪"/>
            </a:pPr>
            <a:r>
              <a:rPr sz="1250" b="0" i="0">
                <a:solidFill>
                  <a:srgbClr val="2B3445"/>
                </a:solidFill>
                <a:latin typeface="Calibri"/>
              </a:rPr>
              <a:t>768 monthly maintenance bills with sinking fund, repair fund, GST and interest lines; receipts and a bank statement</a:t>
            </a:r>
          </a:p>
          <a:p>
            <a:pPr algn="l" marL="201168" indent="-201168">
              <a:lnSpc>
                <a:spcPct val="110000"/>
              </a:lnSpc>
              <a:spcAft>
                <a:spcPts val="700"/>
              </a:spcAft>
              <a:buClr>
                <a:srgbClr val="0F8B8D"/>
              </a:buClr>
              <a:buFont typeface="Arial"/>
              <a:buChar char="▪"/>
            </a:pPr>
            <a:r>
              <a:rPr sz="1250" b="0" i="0">
                <a:solidFill>
                  <a:srgbClr val="2B3445"/>
                </a:solidFill>
                <a:latin typeface="Calibri"/>
              </a:rPr>
              <a:t>Vendor master, 105 expense vouchers, fund balances, other income, compliance master</a:t>
            </a:r>
          </a:p>
          <a:p>
            <a:pPr algn="l" marL="201168" indent="-201168">
              <a:lnSpc>
                <a:spcPct val="110000"/>
              </a:lnSpc>
              <a:spcAft>
                <a:spcPts val="700"/>
              </a:spcAft>
              <a:buClr>
                <a:srgbClr val="0F8B8D"/>
              </a:buClr>
              <a:buFont typeface="Arial"/>
              <a:buChar char="▪"/>
            </a:pPr>
            <a:r>
              <a:rPr sz="1250" b="0" i="0">
                <a:solidFill>
                  <a:srgbClr val="2B3445"/>
                </a:solidFill>
                <a:latin typeface="Calibri"/>
              </a:rPr>
              <a:t>13 minutes files: 12 managing-committee meetings and one AGM, in free text</a:t>
            </a:r>
          </a:p>
          <a:p>
            <a:pPr algn="l" marL="201168" indent="-201168">
              <a:lnSpc>
                <a:spcPct val="110000"/>
              </a:lnSpc>
              <a:spcAft>
                <a:spcPts val="700"/>
              </a:spcAft>
              <a:buClr>
                <a:srgbClr val="0F8B8D"/>
              </a:buClr>
              <a:buFont typeface="Arial"/>
              <a:buChar char="▪"/>
            </a:pPr>
            <a:r>
              <a:rPr sz="1250" b="0" i="0">
                <a:solidFill>
                  <a:srgbClr val="2B3445"/>
                </a:solidFill>
                <a:latin typeface="Calibri"/>
              </a:rPr>
              <a:t>19 seeded control failures recorded in the sheet Seeded_Issues_(answer_key), e.g. duplicate invoice, split waterproofing bills, related-party plumber, bounced cheque, GST on property tax, no advance tax</a:t>
            </a:r>
          </a:p>
        </p:txBody>
      </p:sp>
      <p:sp>
        <p:nvSpPr>
          <p:cNvPr id="9" name="Rounded Rectangle 8"/>
          <p:cNvSpPr/>
          <p:nvPr/>
        </p:nvSpPr>
        <p:spPr>
          <a:xfrm>
            <a:off x="6245352" y="1417320"/>
            <a:ext cx="5394960" cy="4754880"/>
          </a:xfrm>
          <a:prstGeom prst="roundRect">
            <a:avLst>
              <a:gd name="adj" fmla="val 6000"/>
            </a:avLst>
          </a:prstGeom>
          <a:solidFill>
            <a:srgbClr val="DF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19672" y="1645920"/>
            <a:ext cx="4846320" cy="365760"/>
          </a:xfrm>
          <a:prstGeom prst="rect">
            <a:avLst/>
          </a:prstGeom>
          <a:noFill/>
        </p:spPr>
        <p:txBody>
          <a:bodyPr wrap="square" lIns="0" rIns="0" tIns="0" bIns="0" anchor="t">
            <a:spAutoFit/>
          </a:bodyPr>
          <a:lstStyle/>
          <a:p>
            <a:pPr algn="l">
              <a:spcAft>
                <a:spcPts val="0"/>
              </a:spcAft>
            </a:pPr>
            <a:r>
              <a:rPr sz="1600" b="1" i="0">
                <a:solidFill>
                  <a:srgbClr val="1B2A4A"/>
                </a:solidFill>
                <a:latin typeface="Calibri"/>
              </a:rPr>
              <a:t>Privacy by design (DPDP Act, 2023)</a:t>
            </a:r>
          </a:p>
        </p:txBody>
      </p:sp>
      <p:sp>
        <p:nvSpPr>
          <p:cNvPr id="11" name="TextBox 10"/>
          <p:cNvSpPr txBox="1"/>
          <p:nvPr/>
        </p:nvSpPr>
        <p:spPr>
          <a:xfrm>
            <a:off x="6519672" y="2148840"/>
            <a:ext cx="2331720" cy="274320"/>
          </a:xfrm>
          <a:prstGeom prst="rect">
            <a:avLst/>
          </a:prstGeom>
          <a:noFill/>
        </p:spPr>
        <p:txBody>
          <a:bodyPr wrap="square" lIns="0" rIns="0" tIns="0" bIns="0" anchor="t">
            <a:spAutoFit/>
          </a:bodyPr>
          <a:lstStyle/>
          <a:p>
            <a:pPr algn="l">
              <a:spcAft>
                <a:spcPts val="0"/>
              </a:spcAft>
            </a:pPr>
            <a:r>
              <a:rPr sz="1200" b="1" i="0">
                <a:solidFill>
                  <a:srgbClr val="0F8B8D"/>
                </a:solidFill>
                <a:latin typeface="Calibri"/>
              </a:rPr>
              <a:t>The model receives</a:t>
            </a:r>
          </a:p>
        </p:txBody>
      </p:sp>
      <p:sp>
        <p:nvSpPr>
          <p:cNvPr id="12" name="TextBox 11"/>
          <p:cNvSpPr txBox="1"/>
          <p:nvPr/>
        </p:nvSpPr>
        <p:spPr>
          <a:xfrm>
            <a:off x="6519672" y="2423160"/>
            <a:ext cx="2331720" cy="1645920"/>
          </a:xfrm>
          <a:prstGeom prst="rect">
            <a:avLst/>
          </a:prstGeom>
          <a:noFill/>
        </p:spPr>
        <p:txBody>
          <a:bodyPr wrap="square" lIns="0" rIns="0" tIns="0" bIns="0" anchor="t">
            <a:spAutoFit/>
          </a:bodyPr>
          <a:lstStyle/>
          <a:p>
            <a:pPr algn="l" marL="201168" indent="-201168">
              <a:spcAft>
                <a:spcPts val="500"/>
              </a:spcAft>
              <a:buClr>
                <a:srgbClr val="0F8B8D"/>
              </a:buClr>
              <a:buFont typeface="Arial"/>
              <a:buChar char="▪"/>
            </a:pPr>
            <a:r>
              <a:rPr sz="1200" b="0" i="0">
                <a:solidFill>
                  <a:srgbClr val="2B3445"/>
                </a:solidFill>
                <a:latin typeface="Calibri"/>
              </a:rPr>
              <a:t>flat numbers</a:t>
            </a:r>
          </a:p>
          <a:p>
            <a:pPr algn="l" marL="201168" indent="-201168">
              <a:spcAft>
                <a:spcPts val="500"/>
              </a:spcAft>
              <a:buClr>
                <a:srgbClr val="0F8B8D"/>
              </a:buClr>
              <a:buFont typeface="Arial"/>
              <a:buChar char="▪"/>
            </a:pPr>
            <a:r>
              <a:rPr sz="1200" b="0" i="0">
                <a:solidFill>
                  <a:srgbClr val="2B3445"/>
                </a:solidFill>
                <a:latin typeface="Calibri"/>
              </a:rPr>
              <a:t>amounts, dates, months of arrears</a:t>
            </a:r>
          </a:p>
          <a:p>
            <a:pPr algn="l" marL="201168" indent="-201168">
              <a:spcAft>
                <a:spcPts val="500"/>
              </a:spcAft>
              <a:buClr>
                <a:srgbClr val="0F8B8D"/>
              </a:buClr>
              <a:buFont typeface="Arial"/>
              <a:buChar char="▪"/>
            </a:pPr>
            <a:r>
              <a:rPr sz="1200" b="0" i="0">
                <a:solidFill>
                  <a:srgbClr val="2B3445"/>
                </a:solidFill>
                <a:latin typeface="Calibri"/>
              </a:rPr>
              <a:t>legal references found by the rules</a:t>
            </a:r>
          </a:p>
          <a:p>
            <a:pPr algn="l" marL="201168" indent="-201168">
              <a:spcAft>
                <a:spcPts val="500"/>
              </a:spcAft>
              <a:buClr>
                <a:srgbClr val="0F8B8D"/>
              </a:buClr>
              <a:buFont typeface="Arial"/>
              <a:buChar char="▪"/>
            </a:pPr>
            <a:r>
              <a:rPr sz="1200" b="0" i="0">
                <a:solidFill>
                  <a:srgbClr val="2B3445"/>
                </a:solidFill>
                <a:latin typeface="Calibri"/>
              </a:rPr>
              <a:t>severity and recommendation text</a:t>
            </a:r>
          </a:p>
        </p:txBody>
      </p:sp>
      <p:sp>
        <p:nvSpPr>
          <p:cNvPr id="13" name="TextBox 12"/>
          <p:cNvSpPr txBox="1"/>
          <p:nvPr/>
        </p:nvSpPr>
        <p:spPr>
          <a:xfrm>
            <a:off x="9034272" y="2148840"/>
            <a:ext cx="2331720" cy="274320"/>
          </a:xfrm>
          <a:prstGeom prst="rect">
            <a:avLst/>
          </a:prstGeom>
          <a:noFill/>
        </p:spPr>
        <p:txBody>
          <a:bodyPr wrap="square" lIns="0" rIns="0" tIns="0" bIns="0" anchor="t">
            <a:spAutoFit/>
          </a:bodyPr>
          <a:lstStyle/>
          <a:p>
            <a:pPr algn="l">
              <a:spcAft>
                <a:spcPts val="0"/>
              </a:spcAft>
            </a:pPr>
            <a:r>
              <a:rPr sz="1200" b="1" i="0">
                <a:solidFill>
                  <a:srgbClr val="B6433A"/>
                </a:solidFill>
                <a:latin typeface="Calibri"/>
              </a:rPr>
              <a:t>The model never receives</a:t>
            </a:r>
          </a:p>
        </p:txBody>
      </p:sp>
      <p:sp>
        <p:nvSpPr>
          <p:cNvPr id="14" name="TextBox 13"/>
          <p:cNvSpPr txBox="1"/>
          <p:nvPr/>
        </p:nvSpPr>
        <p:spPr>
          <a:xfrm>
            <a:off x="9034272" y="2423160"/>
            <a:ext cx="2331720" cy="1463040"/>
          </a:xfrm>
          <a:prstGeom prst="rect">
            <a:avLst/>
          </a:prstGeom>
          <a:noFill/>
        </p:spPr>
        <p:txBody>
          <a:bodyPr wrap="square" lIns="0" rIns="0" tIns="0" bIns="0" anchor="t">
            <a:spAutoFit/>
          </a:bodyPr>
          <a:lstStyle/>
          <a:p>
            <a:pPr algn="l" marL="201168" indent="-201168">
              <a:spcAft>
                <a:spcPts val="500"/>
              </a:spcAft>
              <a:buClr>
                <a:srgbClr val="B6433A"/>
              </a:buClr>
              <a:buFont typeface="Arial"/>
              <a:buChar char="▪"/>
            </a:pPr>
            <a:r>
              <a:rPr sz="1200" b="0" i="0">
                <a:solidFill>
                  <a:srgbClr val="2B3445"/>
                </a:solidFill>
                <a:latin typeface="Calibri"/>
              </a:rPr>
              <a:t>member names</a:t>
            </a:r>
          </a:p>
          <a:p>
            <a:pPr algn="l" marL="201168" indent="-201168">
              <a:spcAft>
                <a:spcPts val="500"/>
              </a:spcAft>
              <a:buClr>
                <a:srgbClr val="B6433A"/>
              </a:buClr>
              <a:buFont typeface="Arial"/>
              <a:buChar char="▪"/>
            </a:pPr>
            <a:r>
              <a:rPr sz="1200" b="0" i="0">
                <a:solidFill>
                  <a:srgbClr val="2B3445"/>
                </a:solidFill>
                <a:latin typeface="Calibri"/>
              </a:rPr>
              <a:t>mobile numbers</a:t>
            </a:r>
          </a:p>
          <a:p>
            <a:pPr algn="l" marL="201168" indent="-201168">
              <a:spcAft>
                <a:spcPts val="500"/>
              </a:spcAft>
              <a:buClr>
                <a:srgbClr val="B6433A"/>
              </a:buClr>
              <a:buFont typeface="Arial"/>
              <a:buChar char="▪"/>
            </a:pPr>
            <a:r>
              <a:rPr sz="1200" b="0" i="0">
                <a:solidFill>
                  <a:srgbClr val="2B3445"/>
                </a:solidFill>
                <a:latin typeface="Calibri"/>
              </a:rPr>
              <a:t>PANs (stored masked in the data)</a:t>
            </a:r>
          </a:p>
          <a:p>
            <a:pPr algn="l" marL="201168" indent="-201168">
              <a:spcAft>
                <a:spcPts val="500"/>
              </a:spcAft>
              <a:buClr>
                <a:srgbClr val="B6433A"/>
              </a:buClr>
              <a:buFont typeface="Arial"/>
              <a:buChar char="▪"/>
            </a:pPr>
            <a:r>
              <a:rPr sz="1200" b="0" i="0">
                <a:solidFill>
                  <a:srgbClr val="2B3445"/>
                </a:solidFill>
                <a:latin typeface="Calibri"/>
              </a:rPr>
              <a:t>vendor bank details</a:t>
            </a:r>
          </a:p>
        </p:txBody>
      </p:sp>
      <p:cxnSp>
        <p:nvCxnSpPr>
          <p:cNvPr id="15" name="Connector 14"/>
          <p:cNvCxnSpPr/>
          <p:nvPr/>
        </p:nvCxnSpPr>
        <p:spPr>
          <a:xfrm>
            <a:off x="6519672" y="4114800"/>
            <a:ext cx="4846320" cy="0"/>
          </a:xfrm>
          <a:prstGeom prst="line">
            <a:avLst/>
          </a:prstGeom>
          <a:ln w="19050">
            <a:solidFill>
              <a:srgbClr val="FFFFFF"/>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519672" y="4297680"/>
            <a:ext cx="4846320" cy="1737360"/>
          </a:xfrm>
          <a:prstGeom prst="rect">
            <a:avLst/>
          </a:prstGeom>
          <a:noFill/>
        </p:spPr>
        <p:txBody>
          <a:bodyPr wrap="square" lIns="0" rIns="0" tIns="0" bIns="0" anchor="t">
            <a:spAutoFit/>
          </a:bodyPr>
          <a:lstStyle/>
          <a:p>
            <a:pPr algn="l" marL="201168" indent="-201168">
              <a:lnSpc>
                <a:spcPct val="110000"/>
              </a:lnSpc>
              <a:spcAft>
                <a:spcPts val="600"/>
              </a:spcAft>
              <a:buClr>
                <a:srgbClr val="0F8B8D"/>
              </a:buClr>
              <a:buFont typeface="Arial"/>
              <a:buChar char="▪"/>
            </a:pPr>
            <a:r>
              <a:rPr sz="1200" b="1" i="0">
                <a:solidFill>
                  <a:srgbClr val="1B2A4A"/>
                </a:solidFill>
                <a:latin typeface="Calibri"/>
              </a:rPr>
              <a:t>Data minimisation and purpose limitation: </a:t>
            </a:r>
            <a:r>
              <a:rPr sz="1200" b="0" i="0">
                <a:solidFill>
                  <a:srgbClr val="2B3445"/>
                </a:solidFill>
                <a:latin typeface="Calibri"/>
              </a:rPr>
              <a:t>only what the drafting task needs travels to the API.</a:t>
            </a:r>
          </a:p>
          <a:p>
            <a:pPr algn="l" marL="201168" indent="-201168">
              <a:lnSpc>
                <a:spcPct val="110000"/>
              </a:lnSpc>
              <a:spcAft>
                <a:spcPts val="600"/>
              </a:spcAft>
              <a:buClr>
                <a:srgbClr val="0F8B8D"/>
              </a:buClr>
              <a:buFont typeface="Arial"/>
              <a:buChar char="▪"/>
            </a:pPr>
            <a:r>
              <a:rPr sz="1200" b="1" i="0">
                <a:solidFill>
                  <a:srgbClr val="1B2A4A"/>
                </a:solidFill>
                <a:latin typeface="Calibri"/>
              </a:rPr>
              <a:t>Synthetic throughout: </a:t>
            </a:r>
            <a:r>
              <a:rPr sz="1200" b="0" i="0">
                <a:solidFill>
                  <a:srgbClr val="2B3445"/>
                </a:solidFill>
                <a:latin typeface="Calibri"/>
              </a:rPr>
              <a:t>invented names, masked PANs, fictitious society and vendors, so the capstone can be shared freely.</a:t>
            </a:r>
          </a:p>
          <a:p>
            <a:pPr algn="l" marL="201168" indent="-201168">
              <a:lnSpc>
                <a:spcPct val="110000"/>
              </a:lnSpc>
              <a:spcAft>
                <a:spcPts val="0"/>
              </a:spcAft>
              <a:buClr>
                <a:srgbClr val="0F8B8D"/>
              </a:buClr>
              <a:buFont typeface="Arial"/>
              <a:buChar char="▪"/>
            </a:pPr>
            <a:r>
              <a:rPr sz="1200" b="1" i="0">
                <a:solidFill>
                  <a:srgbClr val="1B2A4A"/>
                </a:solidFill>
                <a:latin typeface="Calibri"/>
              </a:rPr>
              <a:t>Full prompt log: </a:t>
            </a:r>
            <a:r>
              <a:rPr sz="1200" b="0" i="0">
                <a:solidFill>
                  <a:srgbClr val="2B3445"/>
                </a:solidFill>
                <a:latin typeface="Calibri"/>
              </a:rPr>
              <a:t>every prompt and response is written to output/ai_prompt_log.md for the engagement file.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Kicker"/>
          <p:cNvSpPr txBox="1"/>
          <p:nvPr/>
        </p:nvSpPr>
        <p:spPr>
          <a:xfrm>
            <a:off x="548640" y="301752"/>
            <a:ext cx="11094415" cy="256032"/>
          </a:xfrm>
          <a:prstGeom prst="rect">
            <a:avLst/>
          </a:prstGeom>
          <a:noFill/>
        </p:spPr>
        <p:txBody>
          <a:bodyPr wrap="square" lIns="0" rIns="0" tIns="0" bIns="0" anchor="t">
            <a:spAutoFit/>
          </a:bodyPr>
          <a:lstStyle/>
          <a:p>
            <a:pPr algn="l">
              <a:spcAft>
                <a:spcPts val="0"/>
              </a:spcAft>
            </a:pPr>
            <a:r>
              <a:rPr sz="1100" b="1" i="0">
                <a:solidFill>
                  <a:srgbClr val="0F8B8D"/>
                </a:solidFill>
                <a:latin typeface="Calibri"/>
              </a:rPr>
              <a:t>MODULE 1 - STATUTORY AUDIT TESTS</a:t>
            </a:r>
          </a:p>
        </p:txBody>
      </p:sp>
      <p:sp>
        <p:nvSpPr>
          <p:cNvPr id="3" name="Title"/>
          <p:cNvSpPr txBox="1"/>
          <p:nvPr/>
        </p:nvSpPr>
        <p:spPr>
          <a:xfrm>
            <a:off x="548640" y="566928"/>
            <a:ext cx="11094415" cy="640080"/>
          </a:xfrm>
          <a:prstGeom prst="rect">
            <a:avLst/>
          </a:prstGeom>
          <a:noFill/>
        </p:spPr>
        <p:txBody>
          <a:bodyPr wrap="square" lIns="0" rIns="0" tIns="0" bIns="0" anchor="t">
            <a:spAutoFit/>
          </a:bodyPr>
          <a:lstStyle/>
          <a:p>
            <a:pPr algn="l">
              <a:spcAft>
                <a:spcPts val="0"/>
              </a:spcAft>
            </a:pPr>
            <a:r>
              <a:rPr sz="2800" b="1" i="0">
                <a:solidFill>
                  <a:srgbClr val="1B2A4A"/>
                </a:solidFill>
                <a:latin typeface="Calibri"/>
              </a:rPr>
              <a:t>Seven rule-based tests across every bill, voucher and fund</a:t>
            </a:r>
          </a:p>
        </p:txBody>
      </p:sp>
      <p:sp>
        <p:nvSpPr>
          <p:cNvPr id="4" name="Footer"/>
          <p:cNvSpPr txBox="1"/>
          <p:nvPr/>
        </p:nvSpPr>
        <p:spPr>
          <a:xfrm>
            <a:off x="548640" y="6419088"/>
            <a:ext cx="8229600" cy="228600"/>
          </a:xfrm>
          <a:prstGeom prst="rect">
            <a:avLst/>
          </a:prstGeom>
          <a:noFill/>
        </p:spPr>
        <p:txBody>
          <a:bodyPr wrap="square" lIns="0" rIns="0" tIns="0" bIns="0" anchor="t">
            <a:spAutoFit/>
          </a:bodyPr>
          <a:lstStyle/>
          <a:p>
            <a:pPr algn="l">
              <a:spcAft>
                <a:spcPts val="0"/>
              </a:spcAft>
            </a:pPr>
            <a:r>
              <a:rPr sz="900" b="0" i="0">
                <a:solidFill>
                  <a:srgbClr val="5F6B7A"/>
                </a:solidFill>
                <a:latin typeface="Calibri"/>
              </a:rPr>
              <a:t>AICA Level 2  |  Module C Capstone  |  AI-Powered Statutory Audit Assistant for CHS  |  synthetic data</a:t>
            </a:r>
          </a:p>
        </p:txBody>
      </p:sp>
      <p:sp>
        <p:nvSpPr>
          <p:cNvPr id="5" name="SlideNo"/>
          <p:cNvSpPr txBox="1"/>
          <p:nvPr/>
        </p:nvSpPr>
        <p:spPr>
          <a:xfrm>
            <a:off x="10725912" y="6419088"/>
            <a:ext cx="914400" cy="228600"/>
          </a:xfrm>
          <a:prstGeom prst="rect">
            <a:avLst/>
          </a:prstGeom>
          <a:noFill/>
        </p:spPr>
        <p:txBody>
          <a:bodyPr wrap="square" lIns="0" rIns="0" tIns="0" bIns="0" anchor="t">
            <a:spAutoFit/>
          </a:bodyPr>
          <a:lstStyle/>
          <a:p>
            <a:pPr algn="r">
              <a:spcAft>
                <a:spcPts val="0"/>
              </a:spcAft>
            </a:pPr>
            <a:r>
              <a:rPr sz="900" b="0" i="0">
                <a:solidFill>
                  <a:srgbClr val="5F6B7A"/>
                </a:solidFill>
                <a:latin typeface="Calibri"/>
              </a:rPr>
              <a:t>6 / 14</a:t>
            </a:r>
          </a:p>
        </p:txBody>
      </p:sp>
      <p:sp>
        <p:nvSpPr>
          <p:cNvPr id="6" name="Rounded Rectangle 5"/>
          <p:cNvSpPr/>
          <p:nvPr/>
        </p:nvSpPr>
        <p:spPr>
          <a:xfrm>
            <a:off x="548640" y="1444752"/>
            <a:ext cx="329184" cy="329184"/>
          </a:xfrm>
          <a:prstGeom prst="roundRect">
            <a:avLst>
              <a:gd name="adj" fmla="val 22000"/>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1</a:t>
            </a:r>
          </a:p>
        </p:txBody>
      </p:sp>
      <p:sp>
        <p:nvSpPr>
          <p:cNvPr id="7" name="TextBox 6"/>
          <p:cNvSpPr txBox="1"/>
          <p:nvPr/>
        </p:nvSpPr>
        <p:spPr>
          <a:xfrm>
            <a:off x="1005840" y="1417320"/>
            <a:ext cx="2103120" cy="320040"/>
          </a:xfrm>
          <a:prstGeom prst="rect">
            <a:avLst/>
          </a:prstGeom>
          <a:noFill/>
        </p:spPr>
        <p:txBody>
          <a:bodyPr wrap="square" lIns="0" rIns="0" tIns="0" bIns="0" anchor="t">
            <a:spAutoFit/>
          </a:bodyPr>
          <a:lstStyle/>
          <a:p>
            <a:pPr algn="l">
              <a:spcAft>
                <a:spcPts val="0"/>
              </a:spcAft>
            </a:pPr>
            <a:r>
              <a:rPr sz="1300" b="1" i="0">
                <a:solidFill>
                  <a:srgbClr val="1B2A4A"/>
                </a:solidFill>
                <a:latin typeface="Calibri"/>
              </a:rPr>
              <a:t>Member ledger</a:t>
            </a:r>
          </a:p>
        </p:txBody>
      </p:sp>
      <p:sp>
        <p:nvSpPr>
          <p:cNvPr id="8" name="TextBox 7"/>
          <p:cNvSpPr txBox="1"/>
          <p:nvPr/>
        </p:nvSpPr>
        <p:spPr>
          <a:xfrm>
            <a:off x="3063240" y="1417320"/>
            <a:ext cx="3108960" cy="640080"/>
          </a:xfrm>
          <a:prstGeom prst="rect">
            <a:avLst/>
          </a:prstGeom>
          <a:noFill/>
        </p:spPr>
        <p:txBody>
          <a:bodyPr wrap="square" lIns="0" rIns="0" tIns="0" bIns="0" anchor="t">
            <a:spAutoFit/>
          </a:bodyPr>
          <a:lstStyle/>
          <a:p>
            <a:pPr algn="l">
              <a:lnSpc>
                <a:spcPct val="105000"/>
              </a:lnSpc>
              <a:spcAft>
                <a:spcPts val="0"/>
              </a:spcAft>
            </a:pPr>
            <a:r>
              <a:rPr sz="1100" b="0" i="0">
                <a:solidFill>
                  <a:srgbClr val="2B3445"/>
                </a:solidFill>
                <a:latin typeface="Calibri"/>
              </a:rPr>
              <a:t>opening arrears + bills - receipts per flat; status and months of arrears</a:t>
            </a:r>
          </a:p>
        </p:txBody>
      </p:sp>
      <p:sp>
        <p:nvSpPr>
          <p:cNvPr id="9" name="Rounded Rectangle 8"/>
          <p:cNvSpPr/>
          <p:nvPr/>
        </p:nvSpPr>
        <p:spPr>
          <a:xfrm>
            <a:off x="548640" y="2121408"/>
            <a:ext cx="329184" cy="329184"/>
          </a:xfrm>
          <a:prstGeom prst="roundRect">
            <a:avLst>
              <a:gd name="adj" fmla="val 22000"/>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2</a:t>
            </a:r>
          </a:p>
        </p:txBody>
      </p:sp>
      <p:sp>
        <p:nvSpPr>
          <p:cNvPr id="10" name="TextBox 9"/>
          <p:cNvSpPr txBox="1"/>
          <p:nvPr/>
        </p:nvSpPr>
        <p:spPr>
          <a:xfrm>
            <a:off x="1005840" y="2093976"/>
            <a:ext cx="2103120" cy="320040"/>
          </a:xfrm>
          <a:prstGeom prst="rect">
            <a:avLst/>
          </a:prstGeom>
          <a:noFill/>
        </p:spPr>
        <p:txBody>
          <a:bodyPr wrap="square" lIns="0" rIns="0" tIns="0" bIns="0" anchor="t">
            <a:spAutoFit/>
          </a:bodyPr>
          <a:lstStyle/>
          <a:p>
            <a:pPr algn="l">
              <a:spcAft>
                <a:spcPts val="0"/>
              </a:spcAft>
            </a:pPr>
            <a:r>
              <a:rPr sz="1300" b="1" i="0">
                <a:solidFill>
                  <a:srgbClr val="1B2A4A"/>
                </a:solidFill>
                <a:latin typeface="Calibri"/>
              </a:rPr>
              <a:t>Interest recompute</a:t>
            </a:r>
          </a:p>
        </p:txBody>
      </p:sp>
      <p:sp>
        <p:nvSpPr>
          <p:cNvPr id="11" name="TextBox 10"/>
          <p:cNvSpPr txBox="1"/>
          <p:nvPr/>
        </p:nvSpPr>
        <p:spPr>
          <a:xfrm>
            <a:off x="3063240" y="2093976"/>
            <a:ext cx="3108960" cy="640080"/>
          </a:xfrm>
          <a:prstGeom prst="rect">
            <a:avLst/>
          </a:prstGeom>
          <a:noFill/>
        </p:spPr>
        <p:txBody>
          <a:bodyPr wrap="square" lIns="0" rIns="0" tIns="0" bIns="0" anchor="t">
            <a:spAutoFit/>
          </a:bodyPr>
          <a:lstStyle/>
          <a:p>
            <a:pPr algn="l">
              <a:lnSpc>
                <a:spcPct val="105000"/>
              </a:lnSpc>
              <a:spcAft>
                <a:spcPts val="0"/>
              </a:spcAft>
            </a:pPr>
            <a:r>
              <a:rPr sz="1100" b="0" i="0">
                <a:solidFill>
                  <a:srgbClr val="2B3445"/>
                </a:solidFill>
                <a:latin typeface="Calibri"/>
              </a:rPr>
              <a:t>simple interest at 21% p.a. (bye-law 72) on late receipts vs interest billed</a:t>
            </a:r>
          </a:p>
        </p:txBody>
      </p:sp>
      <p:sp>
        <p:nvSpPr>
          <p:cNvPr id="12" name="Rounded Rectangle 11"/>
          <p:cNvSpPr/>
          <p:nvPr/>
        </p:nvSpPr>
        <p:spPr>
          <a:xfrm>
            <a:off x="548640" y="2798064"/>
            <a:ext cx="329184" cy="329184"/>
          </a:xfrm>
          <a:prstGeom prst="roundRect">
            <a:avLst>
              <a:gd name="adj" fmla="val 22000"/>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3</a:t>
            </a:r>
          </a:p>
        </p:txBody>
      </p:sp>
      <p:sp>
        <p:nvSpPr>
          <p:cNvPr id="13" name="TextBox 12"/>
          <p:cNvSpPr txBox="1"/>
          <p:nvPr/>
        </p:nvSpPr>
        <p:spPr>
          <a:xfrm>
            <a:off x="1005840" y="2770632"/>
            <a:ext cx="2103120" cy="320040"/>
          </a:xfrm>
          <a:prstGeom prst="rect">
            <a:avLst/>
          </a:prstGeom>
          <a:noFill/>
        </p:spPr>
        <p:txBody>
          <a:bodyPr wrap="square" lIns="0" rIns="0" tIns="0" bIns="0" anchor="t">
            <a:spAutoFit/>
          </a:bodyPr>
          <a:lstStyle/>
          <a:p>
            <a:pPr algn="l">
              <a:spcAft>
                <a:spcPts val="0"/>
              </a:spcAft>
            </a:pPr>
            <a:r>
              <a:rPr sz="1300" b="1" i="0">
                <a:solidFill>
                  <a:srgbClr val="1B2A4A"/>
                </a:solidFill>
                <a:latin typeface="Calibri"/>
              </a:rPr>
              <a:t>GST Rs 7,500 test</a:t>
            </a:r>
          </a:p>
        </p:txBody>
      </p:sp>
      <p:sp>
        <p:nvSpPr>
          <p:cNvPr id="14" name="TextBox 13"/>
          <p:cNvSpPr txBox="1"/>
          <p:nvPr/>
        </p:nvSpPr>
        <p:spPr>
          <a:xfrm>
            <a:off x="3063240" y="2770632"/>
            <a:ext cx="3108960" cy="640080"/>
          </a:xfrm>
          <a:prstGeom prst="rect">
            <a:avLst/>
          </a:prstGeom>
          <a:noFill/>
        </p:spPr>
        <p:txBody>
          <a:bodyPr wrap="square" lIns="0" rIns="0" tIns="0" bIns="0" anchor="t">
            <a:spAutoFit/>
          </a:bodyPr>
          <a:lstStyle/>
          <a:p>
            <a:pPr algn="l">
              <a:lnSpc>
                <a:spcPct val="105000"/>
              </a:lnSpc>
              <a:spcAft>
                <a:spcPts val="0"/>
              </a:spcAft>
            </a:pPr>
            <a:r>
              <a:rPr sz="1100" b="0" i="0">
                <a:solidFill>
                  <a:srgbClr val="2B3445"/>
                </a:solidFill>
                <a:latin typeface="Calibri"/>
              </a:rPr>
              <a:t>per member per month, whole amount taxable above the limit (Circular 109/28/2019)</a:t>
            </a:r>
          </a:p>
        </p:txBody>
      </p:sp>
      <p:sp>
        <p:nvSpPr>
          <p:cNvPr id="15" name="Rounded Rectangle 14"/>
          <p:cNvSpPr/>
          <p:nvPr/>
        </p:nvSpPr>
        <p:spPr>
          <a:xfrm>
            <a:off x="548640" y="3474720"/>
            <a:ext cx="329184" cy="329184"/>
          </a:xfrm>
          <a:prstGeom prst="roundRect">
            <a:avLst>
              <a:gd name="adj" fmla="val 22000"/>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4</a:t>
            </a:r>
          </a:p>
        </p:txBody>
      </p:sp>
      <p:sp>
        <p:nvSpPr>
          <p:cNvPr id="16" name="TextBox 15"/>
          <p:cNvSpPr txBox="1"/>
          <p:nvPr/>
        </p:nvSpPr>
        <p:spPr>
          <a:xfrm>
            <a:off x="1005840" y="3447288"/>
            <a:ext cx="2103120" cy="320040"/>
          </a:xfrm>
          <a:prstGeom prst="rect">
            <a:avLst/>
          </a:prstGeom>
          <a:noFill/>
        </p:spPr>
        <p:txBody>
          <a:bodyPr wrap="square" lIns="0" rIns="0" tIns="0" bIns="0" anchor="t">
            <a:spAutoFit/>
          </a:bodyPr>
          <a:lstStyle/>
          <a:p>
            <a:pPr algn="l">
              <a:spcAft>
                <a:spcPts val="0"/>
              </a:spcAft>
            </a:pPr>
            <a:r>
              <a:rPr sz="1300" b="1" i="0">
                <a:solidFill>
                  <a:srgbClr val="1B2A4A"/>
                </a:solidFill>
                <a:latin typeface="Calibri"/>
              </a:rPr>
              <a:t>Fund compliance</a:t>
            </a:r>
          </a:p>
        </p:txBody>
      </p:sp>
      <p:sp>
        <p:nvSpPr>
          <p:cNvPr id="17" name="TextBox 16"/>
          <p:cNvSpPr txBox="1"/>
          <p:nvPr/>
        </p:nvSpPr>
        <p:spPr>
          <a:xfrm>
            <a:off x="3063240" y="3447288"/>
            <a:ext cx="3108960" cy="640080"/>
          </a:xfrm>
          <a:prstGeom prst="rect">
            <a:avLst/>
          </a:prstGeom>
          <a:noFill/>
        </p:spPr>
        <p:txBody>
          <a:bodyPr wrap="square" lIns="0" rIns="0" tIns="0" bIns="0" anchor="t">
            <a:spAutoFit/>
          </a:bodyPr>
          <a:lstStyle/>
          <a:p>
            <a:pPr algn="l">
              <a:lnSpc>
                <a:spcPct val="105000"/>
              </a:lnSpc>
              <a:spcAft>
                <a:spcPts val="0"/>
              </a:spcAft>
            </a:pPr>
            <a:r>
              <a:rPr sz="1100" b="0" i="0">
                <a:solidFill>
                  <a:srgbClr val="2B3445"/>
                </a:solidFill>
                <a:latin typeface="Calibri"/>
              </a:rPr>
              <a:t>sinking 0.25% / repair 0.75% rates, transfers to fund, earmarked FDs, reserve fund 25%</a:t>
            </a:r>
          </a:p>
        </p:txBody>
      </p:sp>
      <p:sp>
        <p:nvSpPr>
          <p:cNvPr id="18" name="Rounded Rectangle 17"/>
          <p:cNvSpPr/>
          <p:nvPr/>
        </p:nvSpPr>
        <p:spPr>
          <a:xfrm>
            <a:off x="548640" y="4151376"/>
            <a:ext cx="329184" cy="329184"/>
          </a:xfrm>
          <a:prstGeom prst="roundRect">
            <a:avLst>
              <a:gd name="adj" fmla="val 22000"/>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5</a:t>
            </a:r>
          </a:p>
        </p:txBody>
      </p:sp>
      <p:sp>
        <p:nvSpPr>
          <p:cNvPr id="19" name="TextBox 18"/>
          <p:cNvSpPr txBox="1"/>
          <p:nvPr/>
        </p:nvSpPr>
        <p:spPr>
          <a:xfrm>
            <a:off x="1005840" y="4123944"/>
            <a:ext cx="2103120" cy="320040"/>
          </a:xfrm>
          <a:prstGeom prst="rect">
            <a:avLst/>
          </a:prstGeom>
          <a:noFill/>
        </p:spPr>
        <p:txBody>
          <a:bodyPr wrap="square" lIns="0" rIns="0" tIns="0" bIns="0" anchor="t">
            <a:spAutoFit/>
          </a:bodyPr>
          <a:lstStyle/>
          <a:p>
            <a:pPr algn="l">
              <a:spcAft>
                <a:spcPts val="0"/>
              </a:spcAft>
            </a:pPr>
            <a:r>
              <a:rPr sz="1300" b="1" i="0">
                <a:solidFill>
                  <a:srgbClr val="1B2A4A"/>
                </a:solidFill>
                <a:latin typeface="Calibri"/>
              </a:rPr>
              <a:t>Bank reconciliation</a:t>
            </a:r>
          </a:p>
        </p:txBody>
      </p:sp>
      <p:sp>
        <p:nvSpPr>
          <p:cNvPr id="20" name="TextBox 19"/>
          <p:cNvSpPr txBox="1"/>
          <p:nvPr/>
        </p:nvSpPr>
        <p:spPr>
          <a:xfrm>
            <a:off x="3063240" y="4123944"/>
            <a:ext cx="3108960" cy="640080"/>
          </a:xfrm>
          <a:prstGeom prst="rect">
            <a:avLst/>
          </a:prstGeom>
          <a:noFill/>
        </p:spPr>
        <p:txBody>
          <a:bodyPr wrap="square" lIns="0" rIns="0" tIns="0" bIns="0" anchor="t">
            <a:spAutoFit/>
          </a:bodyPr>
          <a:lstStyle/>
          <a:p>
            <a:pPr algn="l">
              <a:lnSpc>
                <a:spcPct val="105000"/>
              </a:lnSpc>
              <a:spcAft>
                <a:spcPts val="0"/>
              </a:spcAft>
            </a:pPr>
            <a:r>
              <a:rPr sz="1100" b="0" i="0">
                <a:solidFill>
                  <a:srgbClr val="2B3445"/>
                </a:solidFill>
                <a:latin typeface="Calibri"/>
              </a:rPr>
              <a:t>receipts vs bank credits: dishonoured cheques, unidentified credits, bank charges</a:t>
            </a:r>
          </a:p>
        </p:txBody>
      </p:sp>
      <p:sp>
        <p:nvSpPr>
          <p:cNvPr id="21" name="Rounded Rectangle 20"/>
          <p:cNvSpPr/>
          <p:nvPr/>
        </p:nvSpPr>
        <p:spPr>
          <a:xfrm>
            <a:off x="548640" y="4828032"/>
            <a:ext cx="329184" cy="329184"/>
          </a:xfrm>
          <a:prstGeom prst="roundRect">
            <a:avLst>
              <a:gd name="adj" fmla="val 22000"/>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6</a:t>
            </a:r>
          </a:p>
        </p:txBody>
      </p:sp>
      <p:sp>
        <p:nvSpPr>
          <p:cNvPr id="22" name="TextBox 21"/>
          <p:cNvSpPr txBox="1"/>
          <p:nvPr/>
        </p:nvSpPr>
        <p:spPr>
          <a:xfrm>
            <a:off x="1005840" y="4800600"/>
            <a:ext cx="2103120" cy="320040"/>
          </a:xfrm>
          <a:prstGeom prst="rect">
            <a:avLst/>
          </a:prstGeom>
          <a:noFill/>
        </p:spPr>
        <p:txBody>
          <a:bodyPr wrap="square" lIns="0" rIns="0" tIns="0" bIns="0" anchor="t">
            <a:spAutoFit/>
          </a:bodyPr>
          <a:lstStyle/>
          <a:p>
            <a:pPr algn="l">
              <a:spcAft>
                <a:spcPts val="0"/>
              </a:spcAft>
            </a:pPr>
            <a:r>
              <a:rPr sz="1300" b="1" i="0">
                <a:solidFill>
                  <a:srgbClr val="1B2A4A"/>
                </a:solidFill>
                <a:latin typeface="Calibri"/>
              </a:rPr>
              <a:t>Expense anomalies</a:t>
            </a:r>
          </a:p>
        </p:txBody>
      </p:sp>
      <p:sp>
        <p:nvSpPr>
          <p:cNvPr id="23" name="TextBox 22"/>
          <p:cNvSpPr txBox="1"/>
          <p:nvPr/>
        </p:nvSpPr>
        <p:spPr>
          <a:xfrm>
            <a:off x="3063240" y="4800600"/>
            <a:ext cx="3108960" cy="640080"/>
          </a:xfrm>
          <a:prstGeom prst="rect">
            <a:avLst/>
          </a:prstGeom>
          <a:noFill/>
        </p:spPr>
        <p:txBody>
          <a:bodyPr wrap="square" lIns="0" rIns="0" tIns="0" bIns="0" anchor="t">
            <a:spAutoFit/>
          </a:bodyPr>
          <a:lstStyle/>
          <a:p>
            <a:pPr algn="l">
              <a:lnSpc>
                <a:spcPct val="105000"/>
              </a:lnSpc>
              <a:spcAft>
                <a:spcPts val="0"/>
              </a:spcAft>
            </a:pPr>
            <a:r>
              <a:rPr sz="1100" b="0" i="0">
                <a:solidFill>
                  <a:srgbClr val="2B3445"/>
                </a:solidFill>
                <a:latin typeface="Calibri"/>
              </a:rPr>
              <a:t>duplicate invoices, split invoices under Rs 50,000, related-party vendors, cash &gt; Rs 10,000, Benford</a:t>
            </a:r>
          </a:p>
        </p:txBody>
      </p:sp>
      <p:sp>
        <p:nvSpPr>
          <p:cNvPr id="24" name="Rounded Rectangle 23"/>
          <p:cNvSpPr/>
          <p:nvPr/>
        </p:nvSpPr>
        <p:spPr>
          <a:xfrm>
            <a:off x="548640" y="5504688"/>
            <a:ext cx="329184" cy="329184"/>
          </a:xfrm>
          <a:prstGeom prst="roundRect">
            <a:avLst>
              <a:gd name="adj" fmla="val 22000"/>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7</a:t>
            </a:r>
          </a:p>
        </p:txBody>
      </p:sp>
      <p:sp>
        <p:nvSpPr>
          <p:cNvPr id="25" name="TextBox 24"/>
          <p:cNvSpPr txBox="1"/>
          <p:nvPr/>
        </p:nvSpPr>
        <p:spPr>
          <a:xfrm>
            <a:off x="1005840" y="5477256"/>
            <a:ext cx="2103120" cy="320040"/>
          </a:xfrm>
          <a:prstGeom prst="rect">
            <a:avLst/>
          </a:prstGeom>
          <a:noFill/>
        </p:spPr>
        <p:txBody>
          <a:bodyPr wrap="square" lIns="0" rIns="0" tIns="0" bIns="0" anchor="t">
            <a:spAutoFit/>
          </a:bodyPr>
          <a:lstStyle/>
          <a:p>
            <a:pPr algn="l">
              <a:spcAft>
                <a:spcPts val="0"/>
              </a:spcAft>
            </a:pPr>
            <a:r>
              <a:rPr sz="1300" b="1" i="0">
                <a:solidFill>
                  <a:srgbClr val="1B2A4A"/>
                </a:solidFill>
                <a:latin typeface="Calibri"/>
              </a:rPr>
              <a:t>TDS check</a:t>
            </a:r>
          </a:p>
        </p:txBody>
      </p:sp>
      <p:sp>
        <p:nvSpPr>
          <p:cNvPr id="26" name="TextBox 25"/>
          <p:cNvSpPr txBox="1"/>
          <p:nvPr/>
        </p:nvSpPr>
        <p:spPr>
          <a:xfrm>
            <a:off x="3063240" y="5477256"/>
            <a:ext cx="3108960" cy="640080"/>
          </a:xfrm>
          <a:prstGeom prst="rect">
            <a:avLst/>
          </a:prstGeom>
          <a:noFill/>
        </p:spPr>
        <p:txBody>
          <a:bodyPr wrap="square" lIns="0" rIns="0" tIns="0" bIns="0" anchor="t">
            <a:spAutoFit/>
          </a:bodyPr>
          <a:lstStyle/>
          <a:p>
            <a:pPr algn="l">
              <a:lnSpc>
                <a:spcPct val="105000"/>
              </a:lnSpc>
              <a:spcAft>
                <a:spcPts val="0"/>
              </a:spcAft>
            </a:pPr>
            <a:r>
              <a:rPr sz="1100" b="0" i="0">
                <a:solidFill>
                  <a:srgbClr val="2B3445"/>
                </a:solidFill>
                <a:latin typeface="Calibri"/>
              </a:rPr>
              <a:t>s.194C / 194J rates and thresholds, s.206AA for no-PAN vendors, interest u/s 201(1A)</a:t>
            </a:r>
          </a:p>
        </p:txBody>
      </p:sp>
      <p:sp>
        <p:nvSpPr>
          <p:cNvPr id="27" name="Rounded Rectangle 26"/>
          <p:cNvSpPr/>
          <p:nvPr/>
        </p:nvSpPr>
        <p:spPr>
          <a:xfrm>
            <a:off x="6537960" y="1417320"/>
            <a:ext cx="5102352" cy="2240280"/>
          </a:xfrm>
          <a:prstGeom prst="roundRect">
            <a:avLst>
              <a:gd name="adj" fmla="val 6000"/>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6766560" y="1618488"/>
            <a:ext cx="566928" cy="237744"/>
          </a:xfrm>
          <a:prstGeom prst="roundRect">
            <a:avLst>
              <a:gd name="adj" fmla="val 50000"/>
            </a:avLst>
          </a:prstGeom>
          <a:solidFill>
            <a:srgbClr val="B64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766560" y="1618488"/>
            <a:ext cx="566928" cy="237744"/>
          </a:xfrm>
          <a:prstGeom prst="rect">
            <a:avLst/>
          </a:prstGeom>
          <a:noFill/>
        </p:spPr>
        <p:txBody>
          <a:bodyPr wrap="square" lIns="0" rIns="0" tIns="0" bIns="0" anchor="ctr">
            <a:spAutoFit/>
          </a:bodyPr>
          <a:lstStyle/>
          <a:p>
            <a:pPr algn="ctr">
              <a:spcAft>
                <a:spcPts val="0"/>
              </a:spcAft>
            </a:pPr>
            <a:r>
              <a:rPr sz="900" b="1" i="0">
                <a:solidFill>
                  <a:srgbClr val="FFFFFF"/>
                </a:solidFill>
                <a:latin typeface="Calibri"/>
              </a:rPr>
              <a:t>HIGH</a:t>
            </a:r>
          </a:p>
        </p:txBody>
      </p:sp>
      <p:sp>
        <p:nvSpPr>
          <p:cNvPr id="30" name="TextBox 29"/>
          <p:cNvSpPr txBox="1"/>
          <p:nvPr/>
        </p:nvSpPr>
        <p:spPr>
          <a:xfrm>
            <a:off x="7424928" y="1600200"/>
            <a:ext cx="2377440" cy="274320"/>
          </a:xfrm>
          <a:prstGeom prst="rect">
            <a:avLst/>
          </a:prstGeom>
          <a:noFill/>
        </p:spPr>
        <p:txBody>
          <a:bodyPr wrap="square" lIns="0" rIns="0" tIns="0" bIns="0" anchor="t">
            <a:spAutoFit/>
          </a:bodyPr>
          <a:lstStyle/>
          <a:p>
            <a:pPr algn="l">
              <a:spcAft>
                <a:spcPts val="0"/>
              </a:spcAft>
            </a:pPr>
            <a:r>
              <a:rPr sz="1100" b="1" i="0">
                <a:solidFill>
                  <a:srgbClr val="0F8B8D"/>
                </a:solidFill>
                <a:latin typeface="Calibri"/>
              </a:rPr>
              <a:t>OBS-08</a:t>
            </a:r>
          </a:p>
        </p:txBody>
      </p:sp>
      <p:sp>
        <p:nvSpPr>
          <p:cNvPr id="31" name="TextBox 30"/>
          <p:cNvSpPr txBox="1"/>
          <p:nvPr/>
        </p:nvSpPr>
        <p:spPr>
          <a:xfrm>
            <a:off x="9555480" y="1545336"/>
            <a:ext cx="1874519" cy="384048"/>
          </a:xfrm>
          <a:prstGeom prst="rect">
            <a:avLst/>
          </a:prstGeom>
          <a:noFill/>
        </p:spPr>
        <p:txBody>
          <a:bodyPr wrap="square" lIns="0" rIns="0" tIns="0" bIns="0" anchor="t">
            <a:spAutoFit/>
          </a:bodyPr>
          <a:lstStyle/>
          <a:p>
            <a:pPr algn="r">
              <a:spcAft>
                <a:spcPts val="0"/>
              </a:spcAft>
            </a:pPr>
            <a:r>
              <a:rPr sz="2000" b="1" i="0">
                <a:solidFill>
                  <a:srgbClr val="1B2A4A"/>
                </a:solidFill>
                <a:latin typeface="Calibri"/>
              </a:rPr>
              <a:t>Rs 86,483</a:t>
            </a:r>
          </a:p>
        </p:txBody>
      </p:sp>
      <p:sp>
        <p:nvSpPr>
          <p:cNvPr id="32" name="TextBox 31"/>
          <p:cNvSpPr txBox="1"/>
          <p:nvPr/>
        </p:nvSpPr>
        <p:spPr>
          <a:xfrm>
            <a:off x="6766560" y="1965960"/>
            <a:ext cx="4663440" cy="320040"/>
          </a:xfrm>
          <a:prstGeom prst="rect">
            <a:avLst/>
          </a:prstGeom>
          <a:noFill/>
        </p:spPr>
        <p:txBody>
          <a:bodyPr wrap="square" lIns="0" rIns="0" tIns="0" bIns="0" anchor="t">
            <a:spAutoFit/>
          </a:bodyPr>
          <a:lstStyle/>
          <a:p>
            <a:pPr algn="l">
              <a:spcAft>
                <a:spcPts val="0"/>
              </a:spcAft>
            </a:pPr>
            <a:r>
              <a:rPr sz="1400" b="1" i="0">
                <a:solidFill>
                  <a:srgbClr val="1B2A4A"/>
                </a:solidFill>
                <a:latin typeface="Calibri"/>
              </a:rPr>
              <a:t>GST over-charged on maintenance bills</a:t>
            </a:r>
          </a:p>
        </p:txBody>
      </p:sp>
      <p:sp>
        <p:nvSpPr>
          <p:cNvPr id="33" name="TextBox 32"/>
          <p:cNvSpPr txBox="1"/>
          <p:nvPr/>
        </p:nvSpPr>
        <p:spPr>
          <a:xfrm>
            <a:off x="6766560" y="2313432"/>
            <a:ext cx="4663440" cy="1005840"/>
          </a:xfrm>
          <a:prstGeom prst="rect">
            <a:avLst/>
          </a:prstGeom>
          <a:noFill/>
        </p:spPr>
        <p:txBody>
          <a:bodyPr wrap="square" lIns="0" rIns="0" tIns="0" bIns="0" anchor="t">
            <a:spAutoFit/>
          </a:bodyPr>
          <a:lstStyle/>
          <a:p>
            <a:pPr algn="l">
              <a:lnSpc>
                <a:spcPct val="108000"/>
              </a:lnSpc>
              <a:spcAft>
                <a:spcPts val="0"/>
              </a:spcAft>
            </a:pPr>
            <a:r>
              <a:rPr sz="1050" b="0" i="0">
                <a:solidFill>
                  <a:srgbClr val="2B3445"/>
                </a:solidFill>
                <a:latin typeface="Calibri"/>
              </a:rPr>
              <a:t>Collections of Rs 62,44,481 exceed the Rs 20 lakh threshold, so GST applies above Rs 7,500 per member per month. Testing all 768 bills: over-charged Rs 82,182 on 201 bills (17 flats, property tax included in taxable value, A-201 charged below the limit); under-charged Rs 4,302 on 3 bills (B-604).</a:t>
            </a:r>
          </a:p>
        </p:txBody>
      </p:sp>
      <p:sp>
        <p:nvSpPr>
          <p:cNvPr id="34" name="TextBox 33"/>
          <p:cNvSpPr txBox="1"/>
          <p:nvPr/>
        </p:nvSpPr>
        <p:spPr>
          <a:xfrm>
            <a:off x="6766560" y="3300984"/>
            <a:ext cx="4663440" cy="310896"/>
          </a:xfrm>
          <a:prstGeom prst="rect">
            <a:avLst/>
          </a:prstGeom>
          <a:noFill/>
        </p:spPr>
        <p:txBody>
          <a:bodyPr wrap="square" lIns="0" rIns="0" tIns="0" bIns="0" anchor="t">
            <a:spAutoFit/>
          </a:bodyPr>
          <a:lstStyle/>
          <a:p>
            <a:pPr algn="l">
              <a:spcAft>
                <a:spcPts val="0"/>
              </a:spcAft>
            </a:pPr>
            <a:r>
              <a:rPr sz="950" b="0" i="1">
                <a:solidFill>
                  <a:srgbClr val="5F6B7A"/>
                </a:solidFill>
                <a:latin typeface="Calibri"/>
              </a:rPr>
              <a:t>CGST Act s.15, s.22; Notification 12/2017-CT(R) entry 77(c); Circular 109/28/2019-GST</a:t>
            </a:r>
          </a:p>
        </p:txBody>
      </p:sp>
      <p:sp>
        <p:nvSpPr>
          <p:cNvPr id="35" name="Rounded Rectangle 34"/>
          <p:cNvSpPr/>
          <p:nvPr/>
        </p:nvSpPr>
        <p:spPr>
          <a:xfrm>
            <a:off x="6537960" y="3840480"/>
            <a:ext cx="5102352" cy="2240280"/>
          </a:xfrm>
          <a:prstGeom prst="roundRect">
            <a:avLst>
              <a:gd name="adj" fmla="val 6000"/>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6766560" y="4041648"/>
            <a:ext cx="566928" cy="237744"/>
          </a:xfrm>
          <a:prstGeom prst="roundRect">
            <a:avLst>
              <a:gd name="adj" fmla="val 50000"/>
            </a:avLst>
          </a:prstGeom>
          <a:solidFill>
            <a:srgbClr val="B64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766560" y="4041648"/>
            <a:ext cx="566928" cy="237744"/>
          </a:xfrm>
          <a:prstGeom prst="rect">
            <a:avLst/>
          </a:prstGeom>
          <a:noFill/>
        </p:spPr>
        <p:txBody>
          <a:bodyPr wrap="square" lIns="0" rIns="0" tIns="0" bIns="0" anchor="ctr">
            <a:spAutoFit/>
          </a:bodyPr>
          <a:lstStyle/>
          <a:p>
            <a:pPr algn="ctr">
              <a:spcAft>
                <a:spcPts val="0"/>
              </a:spcAft>
            </a:pPr>
            <a:r>
              <a:rPr sz="900" b="1" i="0">
                <a:solidFill>
                  <a:srgbClr val="FFFFFF"/>
                </a:solidFill>
                <a:latin typeface="Calibri"/>
              </a:rPr>
              <a:t>HIGH</a:t>
            </a:r>
          </a:p>
        </p:txBody>
      </p:sp>
      <p:sp>
        <p:nvSpPr>
          <p:cNvPr id="38" name="TextBox 37"/>
          <p:cNvSpPr txBox="1"/>
          <p:nvPr/>
        </p:nvSpPr>
        <p:spPr>
          <a:xfrm>
            <a:off x="7424928" y="4023360"/>
            <a:ext cx="2377440" cy="274320"/>
          </a:xfrm>
          <a:prstGeom prst="rect">
            <a:avLst/>
          </a:prstGeom>
          <a:noFill/>
        </p:spPr>
        <p:txBody>
          <a:bodyPr wrap="square" lIns="0" rIns="0" tIns="0" bIns="0" anchor="t">
            <a:spAutoFit/>
          </a:bodyPr>
          <a:lstStyle/>
          <a:p>
            <a:pPr algn="l">
              <a:spcAft>
                <a:spcPts val="0"/>
              </a:spcAft>
            </a:pPr>
            <a:r>
              <a:rPr sz="1100" b="1" i="0">
                <a:solidFill>
                  <a:srgbClr val="0F8B8D"/>
                </a:solidFill>
                <a:latin typeface="Calibri"/>
              </a:rPr>
              <a:t>OBS-07</a:t>
            </a:r>
          </a:p>
        </p:txBody>
      </p:sp>
      <p:sp>
        <p:nvSpPr>
          <p:cNvPr id="39" name="TextBox 38"/>
          <p:cNvSpPr txBox="1"/>
          <p:nvPr/>
        </p:nvSpPr>
        <p:spPr>
          <a:xfrm>
            <a:off x="9555480" y="3968496"/>
            <a:ext cx="1874519" cy="384048"/>
          </a:xfrm>
          <a:prstGeom prst="rect">
            <a:avLst/>
          </a:prstGeom>
          <a:noFill/>
        </p:spPr>
        <p:txBody>
          <a:bodyPr wrap="square" lIns="0" rIns="0" tIns="0" bIns="0" anchor="t">
            <a:spAutoFit/>
          </a:bodyPr>
          <a:lstStyle/>
          <a:p>
            <a:pPr algn="r">
              <a:spcAft>
                <a:spcPts val="0"/>
              </a:spcAft>
            </a:pPr>
            <a:r>
              <a:rPr sz="2000" b="1" i="0">
                <a:solidFill>
                  <a:srgbClr val="1B2A4A"/>
                </a:solidFill>
                <a:latin typeface="Calibri"/>
              </a:rPr>
              <a:t>Rs 11,82,001</a:t>
            </a:r>
          </a:p>
        </p:txBody>
      </p:sp>
      <p:sp>
        <p:nvSpPr>
          <p:cNvPr id="40" name="TextBox 39"/>
          <p:cNvSpPr txBox="1"/>
          <p:nvPr/>
        </p:nvSpPr>
        <p:spPr>
          <a:xfrm>
            <a:off x="6766560" y="4389120"/>
            <a:ext cx="4663440" cy="320040"/>
          </a:xfrm>
          <a:prstGeom prst="rect">
            <a:avLst/>
          </a:prstGeom>
          <a:noFill/>
        </p:spPr>
        <p:txBody>
          <a:bodyPr wrap="square" lIns="0" rIns="0" tIns="0" bIns="0" anchor="t">
            <a:spAutoFit/>
          </a:bodyPr>
          <a:lstStyle/>
          <a:p>
            <a:pPr algn="l">
              <a:spcAft>
                <a:spcPts val="0"/>
              </a:spcAft>
            </a:pPr>
            <a:r>
              <a:rPr sz="1400" b="1" i="0">
                <a:solidFill>
                  <a:srgbClr val="1B2A4A"/>
                </a:solidFill>
                <a:latin typeface="Calibri"/>
              </a:rPr>
              <a:t>Sinking fund not fully invested</a:t>
            </a:r>
          </a:p>
        </p:txBody>
      </p:sp>
      <p:sp>
        <p:nvSpPr>
          <p:cNvPr id="41" name="TextBox 40"/>
          <p:cNvSpPr txBox="1"/>
          <p:nvPr/>
        </p:nvSpPr>
        <p:spPr>
          <a:xfrm>
            <a:off x="6766560" y="4736592"/>
            <a:ext cx="4663440" cy="1005840"/>
          </a:xfrm>
          <a:prstGeom prst="rect">
            <a:avLst/>
          </a:prstGeom>
          <a:noFill/>
        </p:spPr>
        <p:txBody>
          <a:bodyPr wrap="square" lIns="0" rIns="0" tIns="0" bIns="0" anchor="t">
            <a:spAutoFit/>
          </a:bodyPr>
          <a:lstStyle/>
          <a:p>
            <a:pPr algn="l">
              <a:lnSpc>
                <a:spcPct val="108000"/>
              </a:lnSpc>
              <a:spcAft>
                <a:spcPts val="0"/>
              </a:spcAft>
            </a:pPr>
            <a:r>
              <a:rPr sz="1050" b="0" i="0">
                <a:solidFill>
                  <a:srgbClr val="2B3445"/>
                </a:solidFill>
                <a:latin typeface="Calibri"/>
              </a:rPr>
              <a:t>Sinking Fund balance of Rs 43,82,001 is backed by earmarked fixed deposits of only Rs 32,00,000. A further Rs 52,001 of the year's collections was used for revenue expenditure (OBS-06).</a:t>
            </a:r>
          </a:p>
        </p:txBody>
      </p:sp>
      <p:sp>
        <p:nvSpPr>
          <p:cNvPr id="42" name="TextBox 41"/>
          <p:cNvSpPr txBox="1"/>
          <p:nvPr/>
        </p:nvSpPr>
        <p:spPr>
          <a:xfrm>
            <a:off x="6766560" y="5724144"/>
            <a:ext cx="4663440" cy="310896"/>
          </a:xfrm>
          <a:prstGeom prst="rect">
            <a:avLst/>
          </a:prstGeom>
          <a:noFill/>
        </p:spPr>
        <p:txBody>
          <a:bodyPr wrap="square" lIns="0" rIns="0" tIns="0" bIns="0" anchor="t">
            <a:spAutoFit/>
          </a:bodyPr>
          <a:lstStyle/>
          <a:p>
            <a:pPr algn="l">
              <a:spcAft>
                <a:spcPts val="0"/>
              </a:spcAft>
            </a:pPr>
            <a:r>
              <a:rPr sz="950" b="0" i="1">
                <a:solidFill>
                  <a:srgbClr val="5F6B7A"/>
                </a:solidFill>
                <a:latin typeface="Calibri"/>
              </a:rPr>
              <a:t>Bye-law 15 read with MCS Act s.70 and Rule 54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Kicker"/>
          <p:cNvSpPr txBox="1"/>
          <p:nvPr/>
        </p:nvSpPr>
        <p:spPr>
          <a:xfrm>
            <a:off x="548640" y="301752"/>
            <a:ext cx="11094415" cy="256032"/>
          </a:xfrm>
          <a:prstGeom prst="rect">
            <a:avLst/>
          </a:prstGeom>
          <a:noFill/>
        </p:spPr>
        <p:txBody>
          <a:bodyPr wrap="square" lIns="0" rIns="0" tIns="0" bIns="0" anchor="t">
            <a:spAutoFit/>
          </a:bodyPr>
          <a:lstStyle/>
          <a:p>
            <a:pPr algn="l">
              <a:spcAft>
                <a:spcPts val="0"/>
              </a:spcAft>
            </a:pPr>
            <a:r>
              <a:rPr sz="1100" b="1" i="0">
                <a:solidFill>
                  <a:srgbClr val="0F8B8D"/>
                </a:solidFill>
                <a:latin typeface="Calibri"/>
              </a:rPr>
              <a:t>MODULE 2 - DEFAULTER MANAGEMENT</a:t>
            </a:r>
          </a:p>
        </p:txBody>
      </p:sp>
      <p:sp>
        <p:nvSpPr>
          <p:cNvPr id="3" name="Title"/>
          <p:cNvSpPr txBox="1"/>
          <p:nvPr/>
        </p:nvSpPr>
        <p:spPr>
          <a:xfrm>
            <a:off x="548640" y="566928"/>
            <a:ext cx="11094415" cy="640080"/>
          </a:xfrm>
          <a:prstGeom prst="rect">
            <a:avLst/>
          </a:prstGeom>
          <a:noFill/>
        </p:spPr>
        <p:txBody>
          <a:bodyPr wrap="square" lIns="0" rIns="0" tIns="0" bIns="0" anchor="t">
            <a:spAutoFit/>
          </a:bodyPr>
          <a:lstStyle/>
          <a:p>
            <a:pPr algn="l">
              <a:spcAft>
                <a:spcPts val="0"/>
              </a:spcAft>
            </a:pPr>
            <a:r>
              <a:rPr sz="2800" b="1" i="0">
                <a:solidFill>
                  <a:srgbClr val="1B2A4A"/>
                </a:solidFill>
                <a:latin typeface="Calibri"/>
              </a:rPr>
              <a:t>Rs 10,37,561 outstanding; 10 members beyond three months</a:t>
            </a:r>
          </a:p>
        </p:txBody>
      </p:sp>
      <p:sp>
        <p:nvSpPr>
          <p:cNvPr id="4" name="Footer"/>
          <p:cNvSpPr txBox="1"/>
          <p:nvPr/>
        </p:nvSpPr>
        <p:spPr>
          <a:xfrm>
            <a:off x="548640" y="6419088"/>
            <a:ext cx="8229600" cy="228600"/>
          </a:xfrm>
          <a:prstGeom prst="rect">
            <a:avLst/>
          </a:prstGeom>
          <a:noFill/>
        </p:spPr>
        <p:txBody>
          <a:bodyPr wrap="square" lIns="0" rIns="0" tIns="0" bIns="0" anchor="t">
            <a:spAutoFit/>
          </a:bodyPr>
          <a:lstStyle/>
          <a:p>
            <a:pPr algn="l">
              <a:spcAft>
                <a:spcPts val="0"/>
              </a:spcAft>
            </a:pPr>
            <a:r>
              <a:rPr sz="900" b="0" i="0">
                <a:solidFill>
                  <a:srgbClr val="5F6B7A"/>
                </a:solidFill>
                <a:latin typeface="Calibri"/>
              </a:rPr>
              <a:t>AICA Level 2  |  Module C Capstone  |  AI-Powered Statutory Audit Assistant for CHS  |  synthetic data</a:t>
            </a:r>
          </a:p>
        </p:txBody>
      </p:sp>
      <p:sp>
        <p:nvSpPr>
          <p:cNvPr id="5" name="SlideNo"/>
          <p:cNvSpPr txBox="1"/>
          <p:nvPr/>
        </p:nvSpPr>
        <p:spPr>
          <a:xfrm>
            <a:off x="10725912" y="6419088"/>
            <a:ext cx="914400" cy="228600"/>
          </a:xfrm>
          <a:prstGeom prst="rect">
            <a:avLst/>
          </a:prstGeom>
          <a:noFill/>
        </p:spPr>
        <p:txBody>
          <a:bodyPr wrap="square" lIns="0" rIns="0" tIns="0" bIns="0" anchor="t">
            <a:spAutoFit/>
          </a:bodyPr>
          <a:lstStyle/>
          <a:p>
            <a:pPr algn="r">
              <a:spcAft>
                <a:spcPts val="0"/>
              </a:spcAft>
            </a:pPr>
            <a:r>
              <a:rPr sz="900" b="0" i="0">
                <a:solidFill>
                  <a:srgbClr val="5F6B7A"/>
                </a:solidFill>
                <a:latin typeface="Calibri"/>
              </a:rPr>
              <a:t>7 / 14</a:t>
            </a:r>
          </a:p>
        </p:txBody>
      </p:sp>
      <p:graphicFrame>
        <p:nvGraphicFramePr>
          <p:cNvPr id="6" name="Chart 5"/>
          <p:cNvGraphicFramePr>
            <a:graphicFrameLocks noGrp="1"/>
          </p:cNvGraphicFramePr>
          <p:nvPr/>
        </p:nvGraphicFramePr>
        <p:xfrm>
          <a:off x="548640" y="1828800"/>
          <a:ext cx="6035040" cy="3566160"/>
        </p:xfrm>
        <a:graphic>
          <a:graphicData uri="http://schemas.openxmlformats.org/drawingml/2006/chart">
            <c:chart xmlns:c="http://schemas.openxmlformats.org/drawingml/2006/chart" r:id="rId2"/>
          </a:graphicData>
        </a:graphic>
      </p:graphicFrame>
      <p:sp>
        <p:nvSpPr>
          <p:cNvPr id="7" name="TextBox 6"/>
          <p:cNvSpPr txBox="1"/>
          <p:nvPr/>
        </p:nvSpPr>
        <p:spPr>
          <a:xfrm>
            <a:off x="548640" y="1417320"/>
            <a:ext cx="6035040" cy="320040"/>
          </a:xfrm>
          <a:prstGeom prst="rect">
            <a:avLst/>
          </a:prstGeom>
          <a:noFill/>
        </p:spPr>
        <p:txBody>
          <a:bodyPr wrap="square" lIns="0" rIns="0" tIns="0" bIns="0" anchor="t">
            <a:spAutoFit/>
          </a:bodyPr>
          <a:lstStyle/>
          <a:p>
            <a:pPr algn="l">
              <a:spcAft>
                <a:spcPts val="0"/>
              </a:spcAft>
            </a:pPr>
            <a:r>
              <a:rPr sz="1200" b="1" i="0">
                <a:solidFill>
                  <a:srgbClr val="1B2A4A"/>
                </a:solidFill>
                <a:latin typeface="Calibri"/>
              </a:rPr>
              <a:t>Member status at 31-Mar-2026 (all 64 flats, sheet Member_Ledger)</a:t>
            </a:r>
          </a:p>
        </p:txBody>
      </p:sp>
      <p:sp>
        <p:nvSpPr>
          <p:cNvPr id="8" name="TextBox 7"/>
          <p:cNvSpPr txBox="1"/>
          <p:nvPr/>
        </p:nvSpPr>
        <p:spPr>
          <a:xfrm>
            <a:off x="548640" y="5486400"/>
            <a:ext cx="6035040" cy="457200"/>
          </a:xfrm>
          <a:prstGeom prst="rect">
            <a:avLst/>
          </a:prstGeom>
          <a:noFill/>
        </p:spPr>
        <p:txBody>
          <a:bodyPr wrap="square" lIns="0" rIns="0" tIns="0" bIns="0" anchor="t">
            <a:spAutoFit/>
          </a:bodyPr>
          <a:lstStyle/>
          <a:p>
            <a:pPr algn="l">
              <a:lnSpc>
                <a:spcPct val="110000"/>
              </a:lnSpc>
              <a:spcAft>
                <a:spcPts val="0"/>
              </a:spcAft>
            </a:pPr>
            <a:r>
              <a:rPr sz="1100" b="0" i="0">
                <a:solidFill>
                  <a:srgbClr val="5F6B7A"/>
                </a:solidFill>
                <a:latin typeface="Calibri"/>
              </a:rPr>
              <a:t>Dues are Rs 10,37,561 against annual billing of Rs 67,23,780 (15.4%). 8 of the 10 defaulters exceed six months.</a:t>
            </a:r>
          </a:p>
        </p:txBody>
      </p:sp>
      <p:sp>
        <p:nvSpPr>
          <p:cNvPr id="9" name="Rounded Rectangle 8"/>
          <p:cNvSpPr/>
          <p:nvPr/>
        </p:nvSpPr>
        <p:spPr>
          <a:xfrm>
            <a:off x="6903720" y="1417320"/>
            <a:ext cx="4736592" cy="2377440"/>
          </a:xfrm>
          <a:prstGeom prst="roundRect">
            <a:avLst>
              <a:gd name="adj" fmla="val 6000"/>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0" y="1581912"/>
            <a:ext cx="4297680" cy="274320"/>
          </a:xfrm>
          <a:prstGeom prst="rect">
            <a:avLst/>
          </a:prstGeom>
          <a:noFill/>
        </p:spPr>
        <p:txBody>
          <a:bodyPr wrap="square" lIns="0" rIns="0" tIns="0" bIns="0" anchor="t">
            <a:spAutoFit/>
          </a:bodyPr>
          <a:lstStyle/>
          <a:p>
            <a:pPr algn="l">
              <a:spcAft>
                <a:spcPts val="0"/>
              </a:spcAft>
            </a:pPr>
            <a:r>
              <a:rPr sz="1300" b="1" i="0">
                <a:solidFill>
                  <a:srgbClr val="1B2A4A"/>
                </a:solidFill>
                <a:latin typeface="Calibri"/>
              </a:rPr>
              <a:t>Largest s.101 recovery candidates</a:t>
            </a:r>
          </a:p>
        </p:txBody>
      </p:sp>
      <p:sp>
        <p:nvSpPr>
          <p:cNvPr id="11" name="TextBox 10"/>
          <p:cNvSpPr txBox="1"/>
          <p:nvPr/>
        </p:nvSpPr>
        <p:spPr>
          <a:xfrm>
            <a:off x="7132320" y="1947672"/>
            <a:ext cx="914400" cy="274320"/>
          </a:xfrm>
          <a:prstGeom prst="rect">
            <a:avLst/>
          </a:prstGeom>
          <a:noFill/>
        </p:spPr>
        <p:txBody>
          <a:bodyPr wrap="square" lIns="0" rIns="0" tIns="0" bIns="0" anchor="t">
            <a:spAutoFit/>
          </a:bodyPr>
          <a:lstStyle/>
          <a:p>
            <a:pPr algn="l">
              <a:spcAft>
                <a:spcPts val="0"/>
              </a:spcAft>
            </a:pPr>
            <a:r>
              <a:rPr sz="1200" b="1" i="0">
                <a:solidFill>
                  <a:srgbClr val="0F8B8D"/>
                </a:solidFill>
                <a:latin typeface="Calibri"/>
              </a:rPr>
              <a:t>A-303</a:t>
            </a:r>
          </a:p>
        </p:txBody>
      </p:sp>
      <p:sp>
        <p:nvSpPr>
          <p:cNvPr id="12" name="TextBox 11"/>
          <p:cNvSpPr txBox="1"/>
          <p:nvPr/>
        </p:nvSpPr>
        <p:spPr>
          <a:xfrm>
            <a:off x="8001000" y="1947672"/>
            <a:ext cx="1737360" cy="274320"/>
          </a:xfrm>
          <a:prstGeom prst="rect">
            <a:avLst/>
          </a:prstGeom>
          <a:noFill/>
        </p:spPr>
        <p:txBody>
          <a:bodyPr wrap="square" lIns="0" rIns="0" tIns="0" bIns="0" anchor="t">
            <a:spAutoFit/>
          </a:bodyPr>
          <a:lstStyle/>
          <a:p>
            <a:pPr algn="l">
              <a:spcAft>
                <a:spcPts val="0"/>
              </a:spcAft>
            </a:pPr>
            <a:r>
              <a:rPr sz="1150" b="0" i="0">
                <a:solidFill>
                  <a:srgbClr val="2B3445"/>
                </a:solidFill>
                <a:latin typeface="Calibri"/>
              </a:rPr>
              <a:t>27.0 months of arrears</a:t>
            </a:r>
          </a:p>
        </p:txBody>
      </p:sp>
      <p:sp>
        <p:nvSpPr>
          <p:cNvPr id="13" name="TextBox 12"/>
          <p:cNvSpPr txBox="1"/>
          <p:nvPr/>
        </p:nvSpPr>
        <p:spPr>
          <a:xfrm>
            <a:off x="9738360" y="1947672"/>
            <a:ext cx="1691640" cy="274320"/>
          </a:xfrm>
          <a:prstGeom prst="rect">
            <a:avLst/>
          </a:prstGeom>
          <a:noFill/>
        </p:spPr>
        <p:txBody>
          <a:bodyPr wrap="square" lIns="0" rIns="0" tIns="0" bIns="0" anchor="t">
            <a:spAutoFit/>
          </a:bodyPr>
          <a:lstStyle/>
          <a:p>
            <a:pPr algn="r">
              <a:spcAft>
                <a:spcPts val="0"/>
              </a:spcAft>
            </a:pPr>
            <a:r>
              <a:rPr sz="1200" b="1" i="0">
                <a:solidFill>
                  <a:srgbClr val="1B2A4A"/>
                </a:solidFill>
                <a:latin typeface="Calibri"/>
              </a:rPr>
              <a:t>Rs 2,67,247</a:t>
            </a:r>
          </a:p>
        </p:txBody>
      </p:sp>
      <p:sp>
        <p:nvSpPr>
          <p:cNvPr id="14" name="TextBox 13"/>
          <p:cNvSpPr txBox="1"/>
          <p:nvPr/>
        </p:nvSpPr>
        <p:spPr>
          <a:xfrm>
            <a:off x="7132320" y="2313432"/>
            <a:ext cx="914400" cy="274320"/>
          </a:xfrm>
          <a:prstGeom prst="rect">
            <a:avLst/>
          </a:prstGeom>
          <a:noFill/>
        </p:spPr>
        <p:txBody>
          <a:bodyPr wrap="square" lIns="0" rIns="0" tIns="0" bIns="0" anchor="t">
            <a:spAutoFit/>
          </a:bodyPr>
          <a:lstStyle/>
          <a:p>
            <a:pPr algn="l">
              <a:spcAft>
                <a:spcPts val="0"/>
              </a:spcAft>
            </a:pPr>
            <a:r>
              <a:rPr sz="1200" b="1" i="0">
                <a:solidFill>
                  <a:srgbClr val="0F8B8D"/>
                </a:solidFill>
                <a:latin typeface="Calibri"/>
              </a:rPr>
              <a:t>B-703</a:t>
            </a:r>
          </a:p>
        </p:txBody>
      </p:sp>
      <p:sp>
        <p:nvSpPr>
          <p:cNvPr id="15" name="TextBox 14"/>
          <p:cNvSpPr txBox="1"/>
          <p:nvPr/>
        </p:nvSpPr>
        <p:spPr>
          <a:xfrm>
            <a:off x="8001000" y="2313432"/>
            <a:ext cx="1737360" cy="274320"/>
          </a:xfrm>
          <a:prstGeom prst="rect">
            <a:avLst/>
          </a:prstGeom>
          <a:noFill/>
        </p:spPr>
        <p:txBody>
          <a:bodyPr wrap="square" lIns="0" rIns="0" tIns="0" bIns="0" anchor="t">
            <a:spAutoFit/>
          </a:bodyPr>
          <a:lstStyle/>
          <a:p>
            <a:pPr algn="l">
              <a:spcAft>
                <a:spcPts val="0"/>
              </a:spcAft>
            </a:pPr>
            <a:r>
              <a:rPr sz="1150" b="0" i="0">
                <a:solidFill>
                  <a:srgbClr val="2B3445"/>
                </a:solidFill>
                <a:latin typeface="Calibri"/>
              </a:rPr>
              <a:t>22.9 months of arrears</a:t>
            </a:r>
          </a:p>
        </p:txBody>
      </p:sp>
      <p:sp>
        <p:nvSpPr>
          <p:cNvPr id="16" name="TextBox 15"/>
          <p:cNvSpPr txBox="1"/>
          <p:nvPr/>
        </p:nvSpPr>
        <p:spPr>
          <a:xfrm>
            <a:off x="9738360" y="2313432"/>
            <a:ext cx="1691640" cy="274320"/>
          </a:xfrm>
          <a:prstGeom prst="rect">
            <a:avLst/>
          </a:prstGeom>
          <a:noFill/>
        </p:spPr>
        <p:txBody>
          <a:bodyPr wrap="square" lIns="0" rIns="0" tIns="0" bIns="0" anchor="t">
            <a:spAutoFit/>
          </a:bodyPr>
          <a:lstStyle/>
          <a:p>
            <a:pPr algn="r">
              <a:spcAft>
                <a:spcPts val="0"/>
              </a:spcAft>
            </a:pPr>
            <a:r>
              <a:rPr sz="1200" b="1" i="0">
                <a:solidFill>
                  <a:srgbClr val="1B2A4A"/>
                </a:solidFill>
                <a:latin typeface="Calibri"/>
              </a:rPr>
              <a:t>Rs 2,02,966</a:t>
            </a:r>
          </a:p>
        </p:txBody>
      </p:sp>
      <p:sp>
        <p:nvSpPr>
          <p:cNvPr id="17" name="TextBox 16"/>
          <p:cNvSpPr txBox="1"/>
          <p:nvPr/>
        </p:nvSpPr>
        <p:spPr>
          <a:xfrm>
            <a:off x="7132320" y="2679192"/>
            <a:ext cx="914400" cy="274320"/>
          </a:xfrm>
          <a:prstGeom prst="rect">
            <a:avLst/>
          </a:prstGeom>
          <a:noFill/>
        </p:spPr>
        <p:txBody>
          <a:bodyPr wrap="square" lIns="0" rIns="0" tIns="0" bIns="0" anchor="t">
            <a:spAutoFit/>
          </a:bodyPr>
          <a:lstStyle/>
          <a:p>
            <a:pPr algn="l">
              <a:spcAft>
                <a:spcPts val="0"/>
              </a:spcAft>
            </a:pPr>
            <a:r>
              <a:rPr sz="1200" b="1" i="0">
                <a:solidFill>
                  <a:srgbClr val="0F8B8D"/>
                </a:solidFill>
                <a:latin typeface="Calibri"/>
              </a:rPr>
              <a:t>A-103</a:t>
            </a:r>
          </a:p>
        </p:txBody>
      </p:sp>
      <p:sp>
        <p:nvSpPr>
          <p:cNvPr id="18" name="TextBox 17"/>
          <p:cNvSpPr txBox="1"/>
          <p:nvPr/>
        </p:nvSpPr>
        <p:spPr>
          <a:xfrm>
            <a:off x="8001000" y="2679192"/>
            <a:ext cx="1737360" cy="274320"/>
          </a:xfrm>
          <a:prstGeom prst="rect">
            <a:avLst/>
          </a:prstGeom>
          <a:noFill/>
        </p:spPr>
        <p:txBody>
          <a:bodyPr wrap="square" lIns="0" rIns="0" tIns="0" bIns="0" anchor="t">
            <a:spAutoFit/>
          </a:bodyPr>
          <a:lstStyle/>
          <a:p>
            <a:pPr algn="l">
              <a:spcAft>
                <a:spcPts val="0"/>
              </a:spcAft>
            </a:pPr>
            <a:r>
              <a:rPr sz="1150" b="0" i="0">
                <a:solidFill>
                  <a:srgbClr val="2B3445"/>
                </a:solidFill>
                <a:latin typeface="Calibri"/>
              </a:rPr>
              <a:t>19.5 months of arrears</a:t>
            </a:r>
          </a:p>
        </p:txBody>
      </p:sp>
      <p:sp>
        <p:nvSpPr>
          <p:cNvPr id="19" name="TextBox 18"/>
          <p:cNvSpPr txBox="1"/>
          <p:nvPr/>
        </p:nvSpPr>
        <p:spPr>
          <a:xfrm>
            <a:off x="9738360" y="2679192"/>
            <a:ext cx="1691640" cy="274320"/>
          </a:xfrm>
          <a:prstGeom prst="rect">
            <a:avLst/>
          </a:prstGeom>
          <a:noFill/>
        </p:spPr>
        <p:txBody>
          <a:bodyPr wrap="square" lIns="0" rIns="0" tIns="0" bIns="0" anchor="t">
            <a:spAutoFit/>
          </a:bodyPr>
          <a:lstStyle/>
          <a:p>
            <a:pPr algn="r">
              <a:spcAft>
                <a:spcPts val="0"/>
              </a:spcAft>
            </a:pPr>
            <a:r>
              <a:rPr sz="1200" b="1" i="0">
                <a:solidFill>
                  <a:srgbClr val="1B2A4A"/>
                </a:solidFill>
                <a:latin typeface="Calibri"/>
              </a:rPr>
              <a:t>Rs 1,59,681</a:t>
            </a:r>
          </a:p>
        </p:txBody>
      </p:sp>
      <p:sp>
        <p:nvSpPr>
          <p:cNvPr id="20" name="TextBox 19"/>
          <p:cNvSpPr txBox="1"/>
          <p:nvPr/>
        </p:nvSpPr>
        <p:spPr>
          <a:xfrm>
            <a:off x="7132320" y="3044952"/>
            <a:ext cx="914400" cy="274320"/>
          </a:xfrm>
          <a:prstGeom prst="rect">
            <a:avLst/>
          </a:prstGeom>
          <a:noFill/>
        </p:spPr>
        <p:txBody>
          <a:bodyPr wrap="square" lIns="0" rIns="0" tIns="0" bIns="0" anchor="t">
            <a:spAutoFit/>
          </a:bodyPr>
          <a:lstStyle/>
          <a:p>
            <a:pPr algn="l">
              <a:spcAft>
                <a:spcPts val="0"/>
              </a:spcAft>
            </a:pPr>
            <a:r>
              <a:rPr sz="1200" b="1" i="0">
                <a:solidFill>
                  <a:srgbClr val="0F8B8D"/>
                </a:solidFill>
                <a:latin typeface="Calibri"/>
              </a:rPr>
              <a:t>A-504</a:t>
            </a:r>
          </a:p>
        </p:txBody>
      </p:sp>
      <p:sp>
        <p:nvSpPr>
          <p:cNvPr id="21" name="TextBox 20"/>
          <p:cNvSpPr txBox="1"/>
          <p:nvPr/>
        </p:nvSpPr>
        <p:spPr>
          <a:xfrm>
            <a:off x="8001000" y="3044952"/>
            <a:ext cx="1737360" cy="274320"/>
          </a:xfrm>
          <a:prstGeom prst="rect">
            <a:avLst/>
          </a:prstGeom>
          <a:noFill/>
        </p:spPr>
        <p:txBody>
          <a:bodyPr wrap="square" lIns="0" rIns="0" tIns="0" bIns="0" anchor="t">
            <a:spAutoFit/>
          </a:bodyPr>
          <a:lstStyle/>
          <a:p>
            <a:pPr algn="l">
              <a:spcAft>
                <a:spcPts val="0"/>
              </a:spcAft>
            </a:pPr>
            <a:r>
              <a:rPr sz="1150" b="0" i="0">
                <a:solidFill>
                  <a:srgbClr val="2B3445"/>
                </a:solidFill>
                <a:latin typeface="Calibri"/>
              </a:rPr>
              <a:t>6.1 months of arrears</a:t>
            </a:r>
          </a:p>
        </p:txBody>
      </p:sp>
      <p:sp>
        <p:nvSpPr>
          <p:cNvPr id="22" name="TextBox 21"/>
          <p:cNvSpPr txBox="1"/>
          <p:nvPr/>
        </p:nvSpPr>
        <p:spPr>
          <a:xfrm>
            <a:off x="9738360" y="3044952"/>
            <a:ext cx="1691640" cy="274320"/>
          </a:xfrm>
          <a:prstGeom prst="rect">
            <a:avLst/>
          </a:prstGeom>
          <a:noFill/>
        </p:spPr>
        <p:txBody>
          <a:bodyPr wrap="square" lIns="0" rIns="0" tIns="0" bIns="0" anchor="t">
            <a:spAutoFit/>
          </a:bodyPr>
          <a:lstStyle/>
          <a:p>
            <a:pPr algn="r">
              <a:spcAft>
                <a:spcPts val="0"/>
              </a:spcAft>
            </a:pPr>
            <a:r>
              <a:rPr sz="1200" b="1" i="0">
                <a:solidFill>
                  <a:srgbClr val="1B2A4A"/>
                </a:solidFill>
                <a:latin typeface="Calibri"/>
              </a:rPr>
              <a:t>Rs 72,793</a:t>
            </a:r>
          </a:p>
        </p:txBody>
      </p:sp>
      <p:sp>
        <p:nvSpPr>
          <p:cNvPr id="23" name="TextBox 22"/>
          <p:cNvSpPr txBox="1"/>
          <p:nvPr/>
        </p:nvSpPr>
        <p:spPr>
          <a:xfrm>
            <a:off x="7132320" y="3474720"/>
            <a:ext cx="4297680" cy="274320"/>
          </a:xfrm>
          <a:prstGeom prst="rect">
            <a:avLst/>
          </a:prstGeom>
          <a:noFill/>
        </p:spPr>
        <p:txBody>
          <a:bodyPr wrap="square" lIns="0" rIns="0" tIns="0" bIns="0" anchor="t">
            <a:spAutoFit/>
          </a:bodyPr>
          <a:lstStyle/>
          <a:p>
            <a:pPr algn="l">
              <a:spcAft>
                <a:spcPts val="0"/>
              </a:spcAft>
            </a:pPr>
            <a:r>
              <a:rPr sz="950" b="0" i="1">
                <a:solidFill>
                  <a:srgbClr val="5F6B7A"/>
                </a:solidFill>
                <a:latin typeface="Calibri"/>
              </a:rPr>
              <a:t>Sheets: Defaulters, Member_Ledger</a:t>
            </a:r>
          </a:p>
        </p:txBody>
      </p:sp>
      <p:sp>
        <p:nvSpPr>
          <p:cNvPr id="24" name="TextBox 23"/>
          <p:cNvSpPr txBox="1"/>
          <p:nvPr/>
        </p:nvSpPr>
        <p:spPr>
          <a:xfrm>
            <a:off x="6903720" y="4069080"/>
            <a:ext cx="4736592" cy="2103120"/>
          </a:xfrm>
          <a:prstGeom prst="rect">
            <a:avLst/>
          </a:prstGeom>
          <a:noFill/>
        </p:spPr>
        <p:txBody>
          <a:bodyPr wrap="square" lIns="0" rIns="0" tIns="0" bIns="0" anchor="t">
            <a:spAutoFit/>
          </a:bodyPr>
          <a:lstStyle/>
          <a:p>
            <a:pPr algn="l" marL="201168" indent="-201168">
              <a:lnSpc>
                <a:spcPct val="110000"/>
              </a:lnSpc>
              <a:spcAft>
                <a:spcPts val="700"/>
              </a:spcAft>
              <a:buClr>
                <a:srgbClr val="0F8B8D"/>
              </a:buClr>
              <a:buFont typeface="Arial"/>
              <a:buChar char="▪"/>
            </a:pPr>
            <a:r>
              <a:rPr sz="1200" b="1" i="0">
                <a:solidFill>
                  <a:srgbClr val="1B2A4A"/>
                </a:solidFill>
                <a:latin typeface="Calibri"/>
              </a:rPr>
              <a:t>Ageing and classification </a:t>
            </a:r>
            <a:r>
              <a:rPr sz="1200" b="0" i="0">
                <a:solidFill>
                  <a:srgbClr val="2B3445"/>
                </a:solidFill>
                <a:latin typeface="Calibri"/>
              </a:rPr>
              <a:t>from the reconstructed ledger: months of arrears = closing balance / average monthly bill.</a:t>
            </a:r>
          </a:p>
          <a:p>
            <a:pPr algn="l" marL="201168" indent="-201168">
              <a:lnSpc>
                <a:spcPct val="110000"/>
              </a:lnSpc>
              <a:spcAft>
                <a:spcPts val="700"/>
              </a:spcAft>
              <a:buClr>
                <a:srgbClr val="0F8B8D"/>
              </a:buClr>
              <a:buFont typeface="Arial"/>
              <a:buChar char="▪"/>
            </a:pPr>
            <a:r>
              <a:rPr sz="1200" b="1" i="0">
                <a:solidFill>
                  <a:srgbClr val="1B2A4A"/>
                </a:solidFill>
                <a:latin typeface="Calibri"/>
              </a:rPr>
              <a:t>Recovery route </a:t>
            </a:r>
            <a:r>
              <a:rPr sz="1200" b="0" i="0">
                <a:solidFill>
                  <a:srgbClr val="2B3445"/>
                </a:solidFill>
                <a:latin typeface="Calibri"/>
              </a:rPr>
              <a:t>flagged under MCS Act s.101 for every member beyond three months; disclosure in the AGM agenda.</a:t>
            </a:r>
          </a:p>
          <a:p>
            <a:pPr algn="l" marL="201168" indent="-201168">
              <a:lnSpc>
                <a:spcPct val="110000"/>
              </a:lnSpc>
              <a:spcAft>
                <a:spcPts val="0"/>
              </a:spcAft>
              <a:buClr>
                <a:srgbClr val="0F8B8D"/>
              </a:buClr>
              <a:buFont typeface="Arial"/>
              <a:buChar char="▪"/>
            </a:pPr>
            <a:r>
              <a:rPr sz="1200" b="1" i="0">
                <a:solidFill>
                  <a:srgbClr val="1B2A4A"/>
                </a:solidFill>
                <a:latin typeface="Calibri"/>
              </a:rPr>
              <a:t>10 reminder letters </a:t>
            </a:r>
            <a:r>
              <a:rPr sz="1200" b="0" i="0">
                <a:solidFill>
                  <a:srgbClr val="2B3445"/>
                </a:solidFill>
                <a:latin typeface="Calibri"/>
              </a:rPr>
              <a:t>drafted from the Hon. Secretary with amount, months, 21% interest and a 15-day deadline - flat numbers only, no names sent to the model.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Kicker"/>
          <p:cNvSpPr txBox="1"/>
          <p:nvPr/>
        </p:nvSpPr>
        <p:spPr>
          <a:xfrm>
            <a:off x="548640" y="301752"/>
            <a:ext cx="11094415" cy="256032"/>
          </a:xfrm>
          <a:prstGeom prst="rect">
            <a:avLst/>
          </a:prstGeom>
          <a:noFill/>
        </p:spPr>
        <p:txBody>
          <a:bodyPr wrap="square" lIns="0" rIns="0" tIns="0" bIns="0" anchor="t">
            <a:spAutoFit/>
          </a:bodyPr>
          <a:lstStyle/>
          <a:p>
            <a:pPr algn="l">
              <a:spcAft>
                <a:spcPts val="0"/>
              </a:spcAft>
            </a:pPr>
            <a:r>
              <a:rPr sz="1100" b="1" i="0">
                <a:solidFill>
                  <a:srgbClr val="0F8B8D"/>
                </a:solidFill>
                <a:latin typeface="Calibri"/>
              </a:rPr>
              <a:t>MODULE 3 - COMPLIANCE CALENDAR AND MINUTES ANALYSER</a:t>
            </a:r>
          </a:p>
        </p:txBody>
      </p:sp>
      <p:sp>
        <p:nvSpPr>
          <p:cNvPr id="3" name="Title"/>
          <p:cNvSpPr txBox="1"/>
          <p:nvPr/>
        </p:nvSpPr>
        <p:spPr>
          <a:xfrm>
            <a:off x="548640" y="566928"/>
            <a:ext cx="11094415" cy="640080"/>
          </a:xfrm>
          <a:prstGeom prst="rect">
            <a:avLst/>
          </a:prstGeom>
          <a:noFill/>
        </p:spPr>
        <p:txBody>
          <a:bodyPr wrap="square" lIns="0" rIns="0" tIns="0" bIns="0" anchor="t">
            <a:spAutoFit/>
          </a:bodyPr>
          <a:lstStyle/>
          <a:p>
            <a:pPr algn="l">
              <a:spcAft>
                <a:spcPts val="0"/>
              </a:spcAft>
            </a:pPr>
            <a:r>
              <a:rPr sz="2800" b="1" i="0">
                <a:solidFill>
                  <a:srgbClr val="1B2A4A"/>
                </a:solidFill>
                <a:latin typeface="Calibri"/>
              </a:rPr>
              <a:t>Deadlines and decisions tested against what the books show</a:t>
            </a:r>
          </a:p>
        </p:txBody>
      </p:sp>
      <p:sp>
        <p:nvSpPr>
          <p:cNvPr id="4" name="Footer"/>
          <p:cNvSpPr txBox="1"/>
          <p:nvPr/>
        </p:nvSpPr>
        <p:spPr>
          <a:xfrm>
            <a:off x="548640" y="6419088"/>
            <a:ext cx="8229600" cy="228600"/>
          </a:xfrm>
          <a:prstGeom prst="rect">
            <a:avLst/>
          </a:prstGeom>
          <a:noFill/>
        </p:spPr>
        <p:txBody>
          <a:bodyPr wrap="square" lIns="0" rIns="0" tIns="0" bIns="0" anchor="t">
            <a:spAutoFit/>
          </a:bodyPr>
          <a:lstStyle/>
          <a:p>
            <a:pPr algn="l">
              <a:spcAft>
                <a:spcPts val="0"/>
              </a:spcAft>
            </a:pPr>
            <a:r>
              <a:rPr sz="900" b="0" i="0">
                <a:solidFill>
                  <a:srgbClr val="5F6B7A"/>
                </a:solidFill>
                <a:latin typeface="Calibri"/>
              </a:rPr>
              <a:t>AICA Level 2  |  Module C Capstone  |  AI-Powered Statutory Audit Assistant for CHS  |  synthetic data</a:t>
            </a:r>
          </a:p>
        </p:txBody>
      </p:sp>
      <p:sp>
        <p:nvSpPr>
          <p:cNvPr id="5" name="SlideNo"/>
          <p:cNvSpPr txBox="1"/>
          <p:nvPr/>
        </p:nvSpPr>
        <p:spPr>
          <a:xfrm>
            <a:off x="10725912" y="6419088"/>
            <a:ext cx="914400" cy="228600"/>
          </a:xfrm>
          <a:prstGeom prst="rect">
            <a:avLst/>
          </a:prstGeom>
          <a:noFill/>
        </p:spPr>
        <p:txBody>
          <a:bodyPr wrap="square" lIns="0" rIns="0" tIns="0" bIns="0" anchor="t">
            <a:spAutoFit/>
          </a:bodyPr>
          <a:lstStyle/>
          <a:p>
            <a:pPr algn="r">
              <a:spcAft>
                <a:spcPts val="0"/>
              </a:spcAft>
            </a:pPr>
            <a:r>
              <a:rPr sz="900" b="0" i="0">
                <a:solidFill>
                  <a:srgbClr val="5F6B7A"/>
                </a:solidFill>
                <a:latin typeface="Calibri"/>
              </a:rPr>
              <a:t>8 / 14</a:t>
            </a:r>
          </a:p>
        </p:txBody>
      </p:sp>
      <p:sp>
        <p:nvSpPr>
          <p:cNvPr id="6" name="Rounded Rectangle 5"/>
          <p:cNvSpPr/>
          <p:nvPr/>
        </p:nvSpPr>
        <p:spPr>
          <a:xfrm>
            <a:off x="548640" y="1417320"/>
            <a:ext cx="5394960" cy="4754880"/>
          </a:xfrm>
          <a:prstGeom prst="roundRect">
            <a:avLst>
              <a:gd name="adj" fmla="val 6000"/>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18488"/>
            <a:ext cx="4846320" cy="320040"/>
          </a:xfrm>
          <a:prstGeom prst="rect">
            <a:avLst/>
          </a:prstGeom>
          <a:noFill/>
        </p:spPr>
        <p:txBody>
          <a:bodyPr wrap="square" lIns="0" rIns="0" tIns="0" bIns="0" anchor="t">
            <a:spAutoFit/>
          </a:bodyPr>
          <a:lstStyle/>
          <a:p>
            <a:pPr algn="l">
              <a:spcAft>
                <a:spcPts val="0"/>
              </a:spcAft>
            </a:pPr>
            <a:r>
              <a:rPr sz="1300" b="1" i="0">
                <a:solidFill>
                  <a:srgbClr val="1B2A4A"/>
                </a:solidFill>
                <a:latin typeface="Calibri"/>
              </a:rPr>
              <a:t>Compliance calendar as at 15-Jul-2026 (20 obligations)</a:t>
            </a:r>
          </a:p>
        </p:txBody>
      </p:sp>
      <p:sp>
        <p:nvSpPr>
          <p:cNvPr id="8" name="Rounded Rectangle 7"/>
          <p:cNvSpPr/>
          <p:nvPr/>
        </p:nvSpPr>
        <p:spPr>
          <a:xfrm>
            <a:off x="822960" y="2057400"/>
            <a:ext cx="1143000" cy="685800"/>
          </a:xfrm>
          <a:prstGeom prst="roundRect">
            <a:avLst>
              <a:gd name="adj" fmla="val 6000"/>
            </a:avLst>
          </a:prstGeom>
          <a:solidFill>
            <a:srgbClr val="FFFFFF"/>
          </a:solidFill>
          <a:ln w="9525">
            <a:solidFill>
              <a:srgbClr val="D9E0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093976"/>
            <a:ext cx="1143000" cy="365760"/>
          </a:xfrm>
          <a:prstGeom prst="rect">
            <a:avLst/>
          </a:prstGeom>
          <a:noFill/>
        </p:spPr>
        <p:txBody>
          <a:bodyPr wrap="square" lIns="0" rIns="0" tIns="0" bIns="0" anchor="t">
            <a:spAutoFit/>
          </a:bodyPr>
          <a:lstStyle/>
          <a:p>
            <a:pPr algn="ctr">
              <a:spcAft>
                <a:spcPts val="0"/>
              </a:spcAft>
            </a:pPr>
            <a:r>
              <a:rPr sz="2000" b="1" i="0">
                <a:solidFill>
                  <a:srgbClr val="B6433A"/>
                </a:solidFill>
                <a:latin typeface="Calibri"/>
              </a:rPr>
              <a:t>5</a:t>
            </a:r>
          </a:p>
        </p:txBody>
      </p:sp>
      <p:sp>
        <p:nvSpPr>
          <p:cNvPr id="10" name="TextBox 9"/>
          <p:cNvSpPr txBox="1"/>
          <p:nvPr/>
        </p:nvSpPr>
        <p:spPr>
          <a:xfrm>
            <a:off x="822960" y="2450591"/>
            <a:ext cx="1143000" cy="274320"/>
          </a:xfrm>
          <a:prstGeom prst="rect">
            <a:avLst/>
          </a:prstGeom>
          <a:noFill/>
        </p:spPr>
        <p:txBody>
          <a:bodyPr wrap="square" lIns="0" rIns="0" tIns="0" bIns="0" anchor="t">
            <a:spAutoFit/>
          </a:bodyPr>
          <a:lstStyle/>
          <a:p>
            <a:pPr algn="ctr">
              <a:spcAft>
                <a:spcPts val="0"/>
              </a:spcAft>
            </a:pPr>
            <a:r>
              <a:rPr sz="950" b="0" i="0">
                <a:solidFill>
                  <a:srgbClr val="5F6B7A"/>
                </a:solidFill>
                <a:latin typeface="Calibri"/>
              </a:rPr>
              <a:t>overdue</a:t>
            </a:r>
          </a:p>
        </p:txBody>
      </p:sp>
      <p:sp>
        <p:nvSpPr>
          <p:cNvPr id="11" name="Rounded Rectangle 10"/>
          <p:cNvSpPr/>
          <p:nvPr/>
        </p:nvSpPr>
        <p:spPr>
          <a:xfrm>
            <a:off x="2057400" y="2057400"/>
            <a:ext cx="1143000" cy="685800"/>
          </a:xfrm>
          <a:prstGeom prst="roundRect">
            <a:avLst>
              <a:gd name="adj" fmla="val 6000"/>
            </a:avLst>
          </a:prstGeom>
          <a:solidFill>
            <a:srgbClr val="FFFFFF"/>
          </a:solidFill>
          <a:ln w="9525">
            <a:solidFill>
              <a:srgbClr val="D9E0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057400" y="2093976"/>
            <a:ext cx="1143000" cy="365760"/>
          </a:xfrm>
          <a:prstGeom prst="rect">
            <a:avLst/>
          </a:prstGeom>
          <a:noFill/>
        </p:spPr>
        <p:txBody>
          <a:bodyPr wrap="square" lIns="0" rIns="0" tIns="0" bIns="0" anchor="t">
            <a:spAutoFit/>
          </a:bodyPr>
          <a:lstStyle/>
          <a:p>
            <a:pPr algn="ctr">
              <a:spcAft>
                <a:spcPts val="0"/>
              </a:spcAft>
            </a:pPr>
            <a:r>
              <a:rPr sz="2000" b="1" i="0">
                <a:solidFill>
                  <a:srgbClr val="D08C1E"/>
                </a:solidFill>
                <a:latin typeface="Calibri"/>
              </a:rPr>
              <a:t>3</a:t>
            </a:r>
          </a:p>
        </p:txBody>
      </p:sp>
      <p:sp>
        <p:nvSpPr>
          <p:cNvPr id="13" name="TextBox 12"/>
          <p:cNvSpPr txBox="1"/>
          <p:nvPr/>
        </p:nvSpPr>
        <p:spPr>
          <a:xfrm>
            <a:off x="2057400" y="2450591"/>
            <a:ext cx="1143000" cy="274320"/>
          </a:xfrm>
          <a:prstGeom prst="rect">
            <a:avLst/>
          </a:prstGeom>
          <a:noFill/>
        </p:spPr>
        <p:txBody>
          <a:bodyPr wrap="square" lIns="0" rIns="0" tIns="0" bIns="0" anchor="t">
            <a:spAutoFit/>
          </a:bodyPr>
          <a:lstStyle/>
          <a:p>
            <a:pPr algn="ctr">
              <a:spcAft>
                <a:spcPts val="0"/>
              </a:spcAft>
            </a:pPr>
            <a:r>
              <a:rPr sz="950" b="0" i="0">
                <a:solidFill>
                  <a:srgbClr val="5F6B7A"/>
                </a:solidFill>
                <a:latin typeface="Calibri"/>
              </a:rPr>
              <a:t>due in 45 days</a:t>
            </a:r>
          </a:p>
        </p:txBody>
      </p:sp>
      <p:sp>
        <p:nvSpPr>
          <p:cNvPr id="14" name="Rounded Rectangle 13"/>
          <p:cNvSpPr/>
          <p:nvPr/>
        </p:nvSpPr>
        <p:spPr>
          <a:xfrm>
            <a:off x="3291840" y="2057400"/>
            <a:ext cx="1143000" cy="685800"/>
          </a:xfrm>
          <a:prstGeom prst="roundRect">
            <a:avLst>
              <a:gd name="adj" fmla="val 6000"/>
            </a:avLst>
          </a:prstGeom>
          <a:solidFill>
            <a:srgbClr val="FFFFFF"/>
          </a:solidFill>
          <a:ln w="9525">
            <a:solidFill>
              <a:srgbClr val="D9E0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291840" y="2093976"/>
            <a:ext cx="1143000" cy="365760"/>
          </a:xfrm>
          <a:prstGeom prst="rect">
            <a:avLst/>
          </a:prstGeom>
          <a:noFill/>
        </p:spPr>
        <p:txBody>
          <a:bodyPr wrap="square" lIns="0" rIns="0" tIns="0" bIns="0" anchor="t">
            <a:spAutoFit/>
          </a:bodyPr>
          <a:lstStyle/>
          <a:p>
            <a:pPr algn="ctr">
              <a:spcAft>
                <a:spcPts val="0"/>
              </a:spcAft>
            </a:pPr>
            <a:r>
              <a:rPr sz="2000" b="1" i="0">
                <a:solidFill>
                  <a:srgbClr val="0F8B8D"/>
                </a:solidFill>
                <a:latin typeface="Calibri"/>
              </a:rPr>
              <a:t>2</a:t>
            </a:r>
          </a:p>
        </p:txBody>
      </p:sp>
      <p:sp>
        <p:nvSpPr>
          <p:cNvPr id="16" name="TextBox 15"/>
          <p:cNvSpPr txBox="1"/>
          <p:nvPr/>
        </p:nvSpPr>
        <p:spPr>
          <a:xfrm>
            <a:off x="3291840" y="2450591"/>
            <a:ext cx="1143000" cy="274320"/>
          </a:xfrm>
          <a:prstGeom prst="rect">
            <a:avLst/>
          </a:prstGeom>
          <a:noFill/>
        </p:spPr>
        <p:txBody>
          <a:bodyPr wrap="square" lIns="0" rIns="0" tIns="0" bIns="0" anchor="t">
            <a:spAutoFit/>
          </a:bodyPr>
          <a:lstStyle/>
          <a:p>
            <a:pPr algn="ctr">
              <a:spcAft>
                <a:spcPts val="0"/>
              </a:spcAft>
            </a:pPr>
            <a:r>
              <a:rPr sz="950" b="0" i="0">
                <a:solidFill>
                  <a:srgbClr val="5F6B7A"/>
                </a:solidFill>
                <a:latin typeface="Calibri"/>
              </a:rPr>
              <a:t>complied</a:t>
            </a:r>
          </a:p>
        </p:txBody>
      </p:sp>
      <p:sp>
        <p:nvSpPr>
          <p:cNvPr id="17" name="Rounded Rectangle 16"/>
          <p:cNvSpPr/>
          <p:nvPr/>
        </p:nvSpPr>
        <p:spPr>
          <a:xfrm>
            <a:off x="4526280" y="2057400"/>
            <a:ext cx="1143000" cy="685800"/>
          </a:xfrm>
          <a:prstGeom prst="roundRect">
            <a:avLst>
              <a:gd name="adj" fmla="val 6000"/>
            </a:avLst>
          </a:prstGeom>
          <a:solidFill>
            <a:srgbClr val="FFFFFF"/>
          </a:solidFill>
          <a:ln w="9525">
            <a:solidFill>
              <a:srgbClr val="D9E0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26280" y="2093976"/>
            <a:ext cx="1143000" cy="365760"/>
          </a:xfrm>
          <a:prstGeom prst="rect">
            <a:avLst/>
          </a:prstGeom>
          <a:noFill/>
        </p:spPr>
        <p:txBody>
          <a:bodyPr wrap="square" lIns="0" rIns="0" tIns="0" bIns="0" anchor="t">
            <a:spAutoFit/>
          </a:bodyPr>
          <a:lstStyle/>
          <a:p>
            <a:pPr algn="ctr">
              <a:spcAft>
                <a:spcPts val="0"/>
              </a:spcAft>
            </a:pPr>
            <a:r>
              <a:rPr sz="2000" b="1" i="0">
                <a:solidFill>
                  <a:srgbClr val="6C8EAD"/>
                </a:solidFill>
                <a:latin typeface="Calibri"/>
              </a:rPr>
              <a:t>10</a:t>
            </a:r>
          </a:p>
        </p:txBody>
      </p:sp>
      <p:sp>
        <p:nvSpPr>
          <p:cNvPr id="19" name="TextBox 18"/>
          <p:cNvSpPr txBox="1"/>
          <p:nvPr/>
        </p:nvSpPr>
        <p:spPr>
          <a:xfrm>
            <a:off x="4526280" y="2450591"/>
            <a:ext cx="1143000" cy="274320"/>
          </a:xfrm>
          <a:prstGeom prst="rect">
            <a:avLst/>
          </a:prstGeom>
          <a:noFill/>
        </p:spPr>
        <p:txBody>
          <a:bodyPr wrap="square" lIns="0" rIns="0" tIns="0" bIns="0" anchor="t">
            <a:spAutoFit/>
          </a:bodyPr>
          <a:lstStyle/>
          <a:p>
            <a:pPr algn="ctr">
              <a:spcAft>
                <a:spcPts val="0"/>
              </a:spcAft>
            </a:pPr>
            <a:r>
              <a:rPr sz="950" b="0" i="0">
                <a:solidFill>
                  <a:srgbClr val="5F6B7A"/>
                </a:solidFill>
                <a:latin typeface="Calibri"/>
              </a:rPr>
              <a:t>upcoming</a:t>
            </a:r>
          </a:p>
        </p:txBody>
      </p:sp>
      <p:sp>
        <p:nvSpPr>
          <p:cNvPr id="20" name="TextBox 19"/>
          <p:cNvSpPr txBox="1"/>
          <p:nvPr/>
        </p:nvSpPr>
        <p:spPr>
          <a:xfrm>
            <a:off x="822960" y="2926080"/>
            <a:ext cx="4846320" cy="274320"/>
          </a:xfrm>
          <a:prstGeom prst="rect">
            <a:avLst/>
          </a:prstGeom>
          <a:noFill/>
        </p:spPr>
        <p:txBody>
          <a:bodyPr wrap="square" lIns="0" rIns="0" tIns="0" bIns="0" anchor="t">
            <a:spAutoFit/>
          </a:bodyPr>
          <a:lstStyle/>
          <a:p>
            <a:pPr algn="l">
              <a:spcAft>
                <a:spcPts val="0"/>
              </a:spcAft>
            </a:pPr>
            <a:r>
              <a:rPr sz="1200" b="1" i="0">
                <a:solidFill>
                  <a:srgbClr val="B6433A"/>
                </a:solidFill>
                <a:latin typeface="Calibri"/>
              </a:rPr>
              <a:t>Overdue (OBS-02, High)</a:t>
            </a:r>
          </a:p>
        </p:txBody>
      </p:sp>
      <p:sp>
        <p:nvSpPr>
          <p:cNvPr id="21" name="TextBox 20"/>
          <p:cNvSpPr txBox="1"/>
          <p:nvPr/>
        </p:nvSpPr>
        <p:spPr>
          <a:xfrm>
            <a:off x="822960" y="3200400"/>
            <a:ext cx="4846320" cy="2011680"/>
          </a:xfrm>
          <a:prstGeom prst="rect">
            <a:avLst/>
          </a:prstGeom>
          <a:noFill/>
        </p:spPr>
        <p:txBody>
          <a:bodyPr wrap="square" lIns="0" rIns="0" tIns="0" bIns="0" anchor="t">
            <a:spAutoFit/>
          </a:bodyPr>
          <a:lstStyle/>
          <a:p>
            <a:pPr algn="l" marL="201168" indent="-201168">
              <a:lnSpc>
                <a:spcPct val="105000"/>
              </a:lnSpc>
              <a:spcAft>
                <a:spcPts val="400"/>
              </a:spcAft>
              <a:buClr>
                <a:srgbClr val="B6433A"/>
              </a:buClr>
              <a:buFont typeface="Arial"/>
              <a:buChar char="▪"/>
            </a:pPr>
            <a:r>
              <a:rPr sz="1150" b="0" i="0">
                <a:solidFill>
                  <a:srgbClr val="2B3445"/>
                </a:solidFill>
                <a:latin typeface="Calibri"/>
              </a:rPr>
              <a:t>Audit rectification report (Form O) for FY 2024-25</a:t>
            </a:r>
          </a:p>
          <a:p>
            <a:pPr algn="l" marL="201168" indent="-201168">
              <a:lnSpc>
                <a:spcPct val="105000"/>
              </a:lnSpc>
              <a:spcAft>
                <a:spcPts val="400"/>
              </a:spcAft>
              <a:buClr>
                <a:srgbClr val="B6433A"/>
              </a:buClr>
              <a:buFont typeface="Arial"/>
              <a:buChar char="▪"/>
            </a:pPr>
            <a:r>
              <a:rPr sz="1150" b="0" i="0">
                <a:solidFill>
                  <a:srgbClr val="2B3445"/>
                </a:solidFill>
                <a:latin typeface="Calibri"/>
              </a:rPr>
              <a:t>Section 101 recovery applications against chronic defaulters</a:t>
            </a:r>
          </a:p>
          <a:p>
            <a:pPr algn="l" marL="201168" indent="-201168">
              <a:lnSpc>
                <a:spcPct val="105000"/>
              </a:lnSpc>
              <a:spcAft>
                <a:spcPts val="400"/>
              </a:spcAft>
              <a:buClr>
                <a:srgbClr val="B6433A"/>
              </a:buClr>
              <a:buFont typeface="Arial"/>
              <a:buChar char="▪"/>
            </a:pPr>
            <a:r>
              <a:rPr sz="1150" b="0" i="0">
                <a:solidFill>
                  <a:srgbClr val="2B3445"/>
                </a:solidFill>
                <a:latin typeface="Calibri"/>
              </a:rPr>
              <a:t>Structural audit of building</a:t>
            </a:r>
          </a:p>
          <a:p>
            <a:pPr algn="l" marL="201168" indent="-201168">
              <a:lnSpc>
                <a:spcPct val="105000"/>
              </a:lnSpc>
              <a:spcAft>
                <a:spcPts val="400"/>
              </a:spcAft>
              <a:buClr>
                <a:srgbClr val="B6433A"/>
              </a:buClr>
              <a:buFont typeface="Arial"/>
              <a:buChar char="▪"/>
            </a:pPr>
            <a:r>
              <a:rPr sz="1150" b="0" i="0">
                <a:solidFill>
                  <a:srgbClr val="2B3445"/>
                </a:solidFill>
                <a:latin typeface="Calibri"/>
              </a:rPr>
              <a:t>Transfer sinking fund collections to earmarked FD</a:t>
            </a:r>
          </a:p>
          <a:p>
            <a:pPr algn="l" marL="201168" indent="-201168">
              <a:lnSpc>
                <a:spcPct val="105000"/>
              </a:lnSpc>
              <a:spcAft>
                <a:spcPts val="400"/>
              </a:spcAft>
              <a:buClr>
                <a:srgbClr val="B6433A"/>
              </a:buClr>
              <a:buFont typeface="Arial"/>
              <a:buChar char="▪"/>
            </a:pPr>
            <a:r>
              <a:rPr sz="1150" b="0" i="0">
                <a:solidFill>
                  <a:srgbClr val="2B3445"/>
                </a:solidFill>
                <a:latin typeface="Calibri"/>
              </a:rPr>
              <a:t>Deemed conveyance application</a:t>
            </a:r>
          </a:p>
        </p:txBody>
      </p:sp>
      <p:sp>
        <p:nvSpPr>
          <p:cNvPr id="22" name="TextBox 21"/>
          <p:cNvSpPr txBox="1"/>
          <p:nvPr/>
        </p:nvSpPr>
        <p:spPr>
          <a:xfrm>
            <a:off x="822960" y="5303520"/>
            <a:ext cx="4846320" cy="822960"/>
          </a:xfrm>
          <a:prstGeom prst="rect">
            <a:avLst/>
          </a:prstGeom>
          <a:noFill/>
        </p:spPr>
        <p:txBody>
          <a:bodyPr wrap="square" lIns="0" rIns="0" tIns="0" bIns="0" anchor="t">
            <a:spAutoFit/>
          </a:bodyPr>
          <a:lstStyle/>
          <a:p>
            <a:pPr algn="l">
              <a:lnSpc>
                <a:spcPct val="108000"/>
              </a:lnSpc>
              <a:spcAft>
                <a:spcPts val="0"/>
              </a:spcAft>
            </a:pPr>
            <a:r>
              <a:rPr sz="1050" b="0" i="0">
                <a:solidFill>
                  <a:srgbClr val="5F6B7A"/>
                </a:solidFill>
                <a:latin typeface="Calibri"/>
              </a:rPr>
              <a:t>Rule-driven from the compliance master and config dates (MCS Act ss.75, 79, 81, 101; bye-laws 15, 77, 97; Income-tax Act; GST; Lifts Act; fire safety). Status recomputes for any --as-of date.</a:t>
            </a:r>
          </a:p>
        </p:txBody>
      </p:sp>
      <p:sp>
        <p:nvSpPr>
          <p:cNvPr id="23" name="Rounded Rectangle 22"/>
          <p:cNvSpPr/>
          <p:nvPr/>
        </p:nvSpPr>
        <p:spPr>
          <a:xfrm>
            <a:off x="6245352" y="1417320"/>
            <a:ext cx="5394960" cy="4754880"/>
          </a:xfrm>
          <a:prstGeom prst="roundRect">
            <a:avLst>
              <a:gd name="adj" fmla="val 6000"/>
            </a:avLst>
          </a:prstGeom>
          <a:solidFill>
            <a:srgbClr val="DF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19672" y="1618488"/>
            <a:ext cx="4846320" cy="320040"/>
          </a:xfrm>
          <a:prstGeom prst="rect">
            <a:avLst/>
          </a:prstGeom>
          <a:noFill/>
        </p:spPr>
        <p:txBody>
          <a:bodyPr wrap="square" lIns="0" rIns="0" tIns="0" bIns="0" anchor="t">
            <a:spAutoFit/>
          </a:bodyPr>
          <a:lstStyle/>
          <a:p>
            <a:pPr algn="l">
              <a:spcAft>
                <a:spcPts val="0"/>
              </a:spcAft>
            </a:pPr>
            <a:r>
              <a:rPr sz="1300" b="1" i="0">
                <a:solidFill>
                  <a:srgbClr val="1B2A4A"/>
                </a:solidFill>
                <a:latin typeface="Calibri"/>
              </a:rPr>
              <a:t>Minutes: 13 meetings, 30 resolutions, 18 action items</a:t>
            </a:r>
          </a:p>
        </p:txBody>
      </p:sp>
      <p:sp>
        <p:nvSpPr>
          <p:cNvPr id="25" name="Rounded Rectangle 24"/>
          <p:cNvSpPr/>
          <p:nvPr/>
        </p:nvSpPr>
        <p:spPr>
          <a:xfrm>
            <a:off x="6519672" y="2121408"/>
            <a:ext cx="310896" cy="310896"/>
          </a:xfrm>
          <a:prstGeom prst="roundRect">
            <a:avLst>
              <a:gd name="adj" fmla="val 22000"/>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N</a:t>
            </a:r>
          </a:p>
        </p:txBody>
      </p:sp>
      <p:sp>
        <p:nvSpPr>
          <p:cNvPr id="26" name="TextBox 25"/>
          <p:cNvSpPr txBox="1"/>
          <p:nvPr/>
        </p:nvSpPr>
        <p:spPr>
          <a:xfrm>
            <a:off x="6958584" y="2103120"/>
            <a:ext cx="4434840" cy="274320"/>
          </a:xfrm>
          <a:prstGeom prst="rect">
            <a:avLst/>
          </a:prstGeom>
          <a:noFill/>
        </p:spPr>
        <p:txBody>
          <a:bodyPr wrap="square" lIns="0" rIns="0" tIns="0" bIns="0" anchor="t">
            <a:spAutoFit/>
          </a:bodyPr>
          <a:lstStyle/>
          <a:p>
            <a:pPr algn="l">
              <a:spcAft>
                <a:spcPts val="0"/>
              </a:spcAft>
            </a:pPr>
            <a:r>
              <a:rPr sz="1200" b="1" i="0">
                <a:solidFill>
                  <a:srgbClr val="1B2A4A"/>
                </a:solidFill>
                <a:latin typeface="Calibri"/>
              </a:rPr>
              <a:t>Notice</a:t>
            </a:r>
          </a:p>
        </p:txBody>
      </p:sp>
      <p:sp>
        <p:nvSpPr>
          <p:cNvPr id="27" name="TextBox 26"/>
          <p:cNvSpPr txBox="1"/>
          <p:nvPr/>
        </p:nvSpPr>
        <p:spPr>
          <a:xfrm>
            <a:off x="6958584" y="2377440"/>
            <a:ext cx="4434840" cy="731520"/>
          </a:xfrm>
          <a:prstGeom prst="rect">
            <a:avLst/>
          </a:prstGeom>
          <a:noFill/>
        </p:spPr>
        <p:txBody>
          <a:bodyPr wrap="square" lIns="0" rIns="0" tIns="0" bIns="0" anchor="t">
            <a:spAutoFit/>
          </a:bodyPr>
          <a:lstStyle/>
          <a:p>
            <a:pPr algn="l">
              <a:lnSpc>
                <a:spcPct val="108000"/>
              </a:lnSpc>
              <a:spcAft>
                <a:spcPts val="0"/>
              </a:spcAft>
            </a:pPr>
            <a:r>
              <a:rPr sz="1050" b="0" i="0">
                <a:solidFill>
                  <a:srgbClr val="2B3445"/>
                </a:solidFill>
                <a:latin typeface="Calibri"/>
              </a:rPr>
              <a:t>3 meetings short of the required notice (MC 08-Jun-2025: 6 days; AGM 28-Sep-2025: 9 days vs 14; MC 12-Oct-2025: 2 days)</a:t>
            </a:r>
          </a:p>
        </p:txBody>
      </p:sp>
      <p:sp>
        <p:nvSpPr>
          <p:cNvPr id="28" name="Rounded Rectangle 27"/>
          <p:cNvSpPr/>
          <p:nvPr/>
        </p:nvSpPr>
        <p:spPr>
          <a:xfrm>
            <a:off x="6519672" y="3127248"/>
            <a:ext cx="310896" cy="310896"/>
          </a:xfrm>
          <a:prstGeom prst="roundRect">
            <a:avLst>
              <a:gd name="adj" fmla="val 22000"/>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Q</a:t>
            </a:r>
          </a:p>
        </p:txBody>
      </p:sp>
      <p:sp>
        <p:nvSpPr>
          <p:cNvPr id="29" name="TextBox 28"/>
          <p:cNvSpPr txBox="1"/>
          <p:nvPr/>
        </p:nvSpPr>
        <p:spPr>
          <a:xfrm>
            <a:off x="6958584" y="3108960"/>
            <a:ext cx="4434840" cy="274320"/>
          </a:xfrm>
          <a:prstGeom prst="rect">
            <a:avLst/>
          </a:prstGeom>
          <a:noFill/>
        </p:spPr>
        <p:txBody>
          <a:bodyPr wrap="square" lIns="0" rIns="0" tIns="0" bIns="0" anchor="t">
            <a:spAutoFit/>
          </a:bodyPr>
          <a:lstStyle/>
          <a:p>
            <a:pPr algn="l">
              <a:spcAft>
                <a:spcPts val="0"/>
              </a:spcAft>
            </a:pPr>
            <a:r>
              <a:rPr sz="1200" b="1" i="0">
                <a:solidFill>
                  <a:srgbClr val="1B2A4A"/>
                </a:solidFill>
                <a:latin typeface="Calibri"/>
              </a:rPr>
              <a:t>Quorum</a:t>
            </a:r>
          </a:p>
        </p:txBody>
      </p:sp>
      <p:sp>
        <p:nvSpPr>
          <p:cNvPr id="30" name="TextBox 29"/>
          <p:cNvSpPr txBox="1"/>
          <p:nvPr/>
        </p:nvSpPr>
        <p:spPr>
          <a:xfrm>
            <a:off x="6958584" y="3383280"/>
            <a:ext cx="4434840" cy="731520"/>
          </a:xfrm>
          <a:prstGeom prst="rect">
            <a:avLst/>
          </a:prstGeom>
          <a:noFill/>
        </p:spPr>
        <p:txBody>
          <a:bodyPr wrap="square" lIns="0" rIns="0" tIns="0" bIns="0" anchor="t">
            <a:spAutoFit/>
          </a:bodyPr>
          <a:lstStyle/>
          <a:p>
            <a:pPr algn="l">
              <a:lnSpc>
                <a:spcPct val="108000"/>
              </a:lnSpc>
              <a:spcAft>
                <a:spcPts val="0"/>
              </a:spcAft>
            </a:pPr>
            <a:r>
              <a:rPr sz="1050" b="0" i="0">
                <a:solidFill>
                  <a:srgbClr val="2B3445"/>
                </a:solidFill>
                <a:latin typeface="Calibri"/>
              </a:rPr>
              <a:t>1 meeting without quorum - 12-Oct-2025, 4 of 11 present - yet expenditure approved; resolutions liable to be invalid (OBS-09)</a:t>
            </a:r>
          </a:p>
        </p:txBody>
      </p:sp>
      <p:sp>
        <p:nvSpPr>
          <p:cNvPr id="31" name="Rounded Rectangle 30"/>
          <p:cNvSpPr/>
          <p:nvPr/>
        </p:nvSpPr>
        <p:spPr>
          <a:xfrm>
            <a:off x="6519672" y="4133088"/>
            <a:ext cx="310896" cy="310896"/>
          </a:xfrm>
          <a:prstGeom prst="roundRect">
            <a:avLst>
              <a:gd name="adj" fmla="val 22000"/>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R</a:t>
            </a:r>
          </a:p>
        </p:txBody>
      </p:sp>
      <p:sp>
        <p:nvSpPr>
          <p:cNvPr id="32" name="TextBox 31"/>
          <p:cNvSpPr txBox="1"/>
          <p:nvPr/>
        </p:nvSpPr>
        <p:spPr>
          <a:xfrm>
            <a:off x="6958584" y="4114800"/>
            <a:ext cx="4434840" cy="274320"/>
          </a:xfrm>
          <a:prstGeom prst="rect">
            <a:avLst/>
          </a:prstGeom>
          <a:noFill/>
        </p:spPr>
        <p:txBody>
          <a:bodyPr wrap="square" lIns="0" rIns="0" tIns="0" bIns="0" anchor="t">
            <a:spAutoFit/>
          </a:bodyPr>
          <a:lstStyle/>
          <a:p>
            <a:pPr algn="l">
              <a:spcAft>
                <a:spcPts val="0"/>
              </a:spcAft>
            </a:pPr>
            <a:r>
              <a:rPr sz="1200" b="1" i="0">
                <a:solidFill>
                  <a:srgbClr val="1B2A4A"/>
                </a:solidFill>
                <a:latin typeface="Calibri"/>
              </a:rPr>
              <a:t>Resolutions vs books</a:t>
            </a:r>
          </a:p>
        </p:txBody>
      </p:sp>
      <p:sp>
        <p:nvSpPr>
          <p:cNvPr id="33" name="TextBox 32"/>
          <p:cNvSpPr txBox="1"/>
          <p:nvPr/>
        </p:nvSpPr>
        <p:spPr>
          <a:xfrm>
            <a:off x="6958584" y="4389120"/>
            <a:ext cx="4434840" cy="731520"/>
          </a:xfrm>
          <a:prstGeom prst="rect">
            <a:avLst/>
          </a:prstGeom>
          <a:noFill/>
        </p:spPr>
        <p:txBody>
          <a:bodyPr wrap="square" lIns="0" rIns="0" tIns="0" bIns="0" anchor="t">
            <a:spAutoFit/>
          </a:bodyPr>
          <a:lstStyle/>
          <a:p>
            <a:pPr algn="l">
              <a:lnSpc>
                <a:spcPct val="108000"/>
              </a:lnSpc>
              <a:spcAft>
                <a:spcPts val="0"/>
              </a:spcAft>
            </a:pPr>
            <a:r>
              <a:rPr sz="1050" b="0" i="0">
                <a:solidFill>
                  <a:srgbClr val="2B3445"/>
                </a:solidFill>
                <a:latin typeface="Calibri"/>
              </a:rPr>
              <a:t>3.1 awarded Rs 1,45,000 waterproofing on one quotation against AGM resolution A.4; 11.2 records sinking fund used for revenue expenses; 7.1 approved a Rs 28,000 cash payment (OBS-18)</a:t>
            </a:r>
          </a:p>
        </p:txBody>
      </p:sp>
      <p:sp>
        <p:nvSpPr>
          <p:cNvPr id="34" name="Rounded Rectangle 33"/>
          <p:cNvSpPr/>
          <p:nvPr/>
        </p:nvSpPr>
        <p:spPr>
          <a:xfrm>
            <a:off x="6519672" y="5138928"/>
            <a:ext cx="310896" cy="310896"/>
          </a:xfrm>
          <a:prstGeom prst="roundRect">
            <a:avLst>
              <a:gd name="adj" fmla="val 22000"/>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A</a:t>
            </a:r>
          </a:p>
        </p:txBody>
      </p:sp>
      <p:sp>
        <p:nvSpPr>
          <p:cNvPr id="35" name="TextBox 34"/>
          <p:cNvSpPr txBox="1"/>
          <p:nvPr/>
        </p:nvSpPr>
        <p:spPr>
          <a:xfrm>
            <a:off x="6958584" y="5120640"/>
            <a:ext cx="4434840" cy="274320"/>
          </a:xfrm>
          <a:prstGeom prst="rect">
            <a:avLst/>
          </a:prstGeom>
          <a:noFill/>
        </p:spPr>
        <p:txBody>
          <a:bodyPr wrap="square" lIns="0" rIns="0" tIns="0" bIns="0" anchor="t">
            <a:spAutoFit/>
          </a:bodyPr>
          <a:lstStyle/>
          <a:p>
            <a:pPr algn="l">
              <a:spcAft>
                <a:spcPts val="0"/>
              </a:spcAft>
            </a:pPr>
            <a:r>
              <a:rPr sz="1200" b="1" i="0">
                <a:solidFill>
                  <a:srgbClr val="1B2A4A"/>
                </a:solidFill>
                <a:latin typeface="Calibri"/>
              </a:rPr>
              <a:t>Action items</a:t>
            </a:r>
          </a:p>
        </p:txBody>
      </p:sp>
      <p:sp>
        <p:nvSpPr>
          <p:cNvPr id="36" name="TextBox 35"/>
          <p:cNvSpPr txBox="1"/>
          <p:nvPr/>
        </p:nvSpPr>
        <p:spPr>
          <a:xfrm>
            <a:off x="6958584" y="5394960"/>
            <a:ext cx="4434840" cy="731520"/>
          </a:xfrm>
          <a:prstGeom prst="rect">
            <a:avLst/>
          </a:prstGeom>
          <a:noFill/>
        </p:spPr>
        <p:txBody>
          <a:bodyPr wrap="square" lIns="0" rIns="0" tIns="0" bIns="0" anchor="t">
            <a:spAutoFit/>
          </a:bodyPr>
          <a:lstStyle/>
          <a:p>
            <a:pPr algn="l">
              <a:lnSpc>
                <a:spcPct val="108000"/>
              </a:lnSpc>
              <a:spcAft>
                <a:spcPts val="0"/>
              </a:spcAft>
            </a:pPr>
            <a:r>
              <a:rPr sz="1050" b="0" i="0">
                <a:solidFill>
                  <a:srgbClr val="2B3445"/>
                </a:solidFill>
                <a:latin typeface="Calibri"/>
              </a:rPr>
              <a:t>7 of 18 not complied at the audit date: Form O, s.101 applications, structural engineer, bank reconciliation, sinking fund transfer (OBS-10)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Kicker"/>
          <p:cNvSpPr txBox="1"/>
          <p:nvPr/>
        </p:nvSpPr>
        <p:spPr>
          <a:xfrm>
            <a:off x="548640" y="301752"/>
            <a:ext cx="11094415" cy="256032"/>
          </a:xfrm>
          <a:prstGeom prst="rect">
            <a:avLst/>
          </a:prstGeom>
          <a:noFill/>
        </p:spPr>
        <p:txBody>
          <a:bodyPr wrap="square" lIns="0" rIns="0" tIns="0" bIns="0" anchor="t">
            <a:spAutoFit/>
          </a:bodyPr>
          <a:lstStyle/>
          <a:p>
            <a:pPr algn="l">
              <a:spcAft>
                <a:spcPts val="0"/>
              </a:spcAft>
            </a:pPr>
            <a:r>
              <a:rPr sz="1100" b="1" i="0">
                <a:solidFill>
                  <a:srgbClr val="0F8B8D"/>
                </a:solidFill>
                <a:latin typeface="Calibri"/>
              </a:rPr>
              <a:t>MODULE 7 - INCOME-TAX COMPUTATION</a:t>
            </a:r>
          </a:p>
        </p:txBody>
      </p:sp>
      <p:sp>
        <p:nvSpPr>
          <p:cNvPr id="3" name="Title"/>
          <p:cNvSpPr txBox="1"/>
          <p:nvPr/>
        </p:nvSpPr>
        <p:spPr>
          <a:xfrm>
            <a:off x="548640" y="566928"/>
            <a:ext cx="11094415" cy="640080"/>
          </a:xfrm>
          <a:prstGeom prst="rect">
            <a:avLst/>
          </a:prstGeom>
          <a:noFill/>
        </p:spPr>
        <p:txBody>
          <a:bodyPr wrap="square" lIns="0" rIns="0" tIns="0" bIns="0" anchor="t">
            <a:spAutoFit/>
          </a:bodyPr>
          <a:lstStyle/>
          <a:p>
            <a:pPr algn="l">
              <a:spcAft>
                <a:spcPts val="0"/>
              </a:spcAft>
            </a:pPr>
            <a:r>
              <a:rPr sz="2800" b="1" i="0">
                <a:solidFill>
                  <a:srgbClr val="1B2A4A"/>
                </a:solidFill>
                <a:latin typeface="Calibri"/>
              </a:rPr>
              <a:t>Normal provisions with s.80P beat s.115BAD by Rs 43,549</a:t>
            </a:r>
          </a:p>
        </p:txBody>
      </p:sp>
      <p:sp>
        <p:nvSpPr>
          <p:cNvPr id="4" name="Footer"/>
          <p:cNvSpPr txBox="1"/>
          <p:nvPr/>
        </p:nvSpPr>
        <p:spPr>
          <a:xfrm>
            <a:off x="548640" y="6419088"/>
            <a:ext cx="8229600" cy="228600"/>
          </a:xfrm>
          <a:prstGeom prst="rect">
            <a:avLst/>
          </a:prstGeom>
          <a:noFill/>
        </p:spPr>
        <p:txBody>
          <a:bodyPr wrap="square" lIns="0" rIns="0" tIns="0" bIns="0" anchor="t">
            <a:spAutoFit/>
          </a:bodyPr>
          <a:lstStyle/>
          <a:p>
            <a:pPr algn="l">
              <a:spcAft>
                <a:spcPts val="0"/>
              </a:spcAft>
            </a:pPr>
            <a:r>
              <a:rPr sz="900" b="0" i="0">
                <a:solidFill>
                  <a:srgbClr val="5F6B7A"/>
                </a:solidFill>
                <a:latin typeface="Calibri"/>
              </a:rPr>
              <a:t>AICA Level 2  |  Module C Capstone  |  AI-Powered Statutory Audit Assistant for CHS  |  synthetic data</a:t>
            </a:r>
          </a:p>
        </p:txBody>
      </p:sp>
      <p:sp>
        <p:nvSpPr>
          <p:cNvPr id="5" name="SlideNo"/>
          <p:cNvSpPr txBox="1"/>
          <p:nvPr/>
        </p:nvSpPr>
        <p:spPr>
          <a:xfrm>
            <a:off x="10725912" y="6419088"/>
            <a:ext cx="914400" cy="228600"/>
          </a:xfrm>
          <a:prstGeom prst="rect">
            <a:avLst/>
          </a:prstGeom>
          <a:noFill/>
        </p:spPr>
        <p:txBody>
          <a:bodyPr wrap="square" lIns="0" rIns="0" tIns="0" bIns="0" anchor="t">
            <a:spAutoFit/>
          </a:bodyPr>
          <a:lstStyle/>
          <a:p>
            <a:pPr algn="r">
              <a:spcAft>
                <a:spcPts val="0"/>
              </a:spcAft>
            </a:pPr>
            <a:r>
              <a:rPr sz="900" b="0" i="0">
                <a:solidFill>
                  <a:srgbClr val="5F6B7A"/>
                </a:solidFill>
                <a:latin typeface="Calibri"/>
              </a:rPr>
              <a:t>9 / 14</a:t>
            </a:r>
          </a:p>
        </p:txBody>
      </p:sp>
      <p:graphicFrame>
        <p:nvGraphicFramePr>
          <p:cNvPr id="6" name="Table 5"/>
          <p:cNvGraphicFramePr>
            <a:graphicFrameLocks noGrp="1"/>
          </p:cNvGraphicFramePr>
          <p:nvPr/>
        </p:nvGraphicFramePr>
        <p:xfrm>
          <a:off x="548640" y="1417320"/>
          <a:ext cx="6949440" cy="4023360"/>
        </p:xfrm>
        <a:graphic>
          <a:graphicData uri="http://schemas.openxmlformats.org/drawingml/2006/table">
            <a:tbl>
              <a:tblPr>
                <a:tableStyleId>{5C22544A-7EE6-4342-B048-85BDC9FD1C3A}</a:tableStyleId>
              </a:tblPr>
              <a:tblGrid>
                <a:gridCol w="5394960"/>
                <a:gridCol w="1554480"/>
              </a:tblGrid>
              <a:tr h="402336">
                <a:tc>
                  <a:txBody>
                    <a:bodyPr/>
                    <a:lstStyle/>
                    <a:p>
                      <a:pPr algn="l"/>
                      <a:r>
                        <a:rPr sz="1150" b="0">
                          <a:solidFill>
                            <a:srgbClr val="2B3445"/>
                          </a:solidFill>
                          <a:latin typeface="Calibri"/>
                        </a:rPr>
                        <a:t>Gross total income (house property Rs 2,52,000 + other sources Rs 3,45,000)</a:t>
                      </a:r>
                    </a:p>
                  </a:txBody>
                  <a:tcPr marL="109728" marR="109728" marT="27432" marB="27432" anchor="ctr">
                    <a:solidFill>
                      <a:srgbClr val="F1F4F8"/>
                    </a:solidFill>
                  </a:tcPr>
                </a:tc>
                <a:tc>
                  <a:txBody>
                    <a:bodyPr/>
                    <a:lstStyle/>
                    <a:p>
                      <a:pPr algn="r"/>
                      <a:r>
                        <a:rPr sz="1150" b="0">
                          <a:solidFill>
                            <a:srgbClr val="2B3445"/>
                          </a:solidFill>
                          <a:latin typeface="Calibri"/>
                        </a:rPr>
                        <a:t>Rs 5,97,000</a:t>
                      </a:r>
                    </a:p>
                  </a:txBody>
                  <a:tcPr marL="109728" marR="109728" marT="27432" marB="27432" anchor="ctr">
                    <a:solidFill>
                      <a:srgbClr val="F1F4F8"/>
                    </a:solidFill>
                  </a:tcPr>
                </a:tc>
              </a:tr>
              <a:tr h="402336">
                <a:tc>
                  <a:txBody>
                    <a:bodyPr/>
                    <a:lstStyle/>
                    <a:p>
                      <a:pPr algn="l"/>
                      <a:r>
                        <a:rPr sz="1150" b="0">
                          <a:solidFill>
                            <a:srgbClr val="2B3445"/>
                          </a:solidFill>
                          <a:latin typeface="Calibri"/>
                        </a:rPr>
                        <a:t>Less: deduction u/s 80P(2)(d) - interest from co-operative bank</a:t>
                      </a:r>
                    </a:p>
                  </a:txBody>
                  <a:tcPr marL="109728" marR="109728" marT="27432" marB="27432" anchor="ctr">
                    <a:solidFill>
                      <a:srgbClr val="FFFFFF"/>
                    </a:solidFill>
                  </a:tcPr>
                </a:tc>
                <a:tc>
                  <a:txBody>
                    <a:bodyPr/>
                    <a:lstStyle/>
                    <a:p>
                      <a:pPr algn="r"/>
                      <a:r>
                        <a:rPr sz="1150" b="0">
                          <a:solidFill>
                            <a:srgbClr val="2B3445"/>
                          </a:solidFill>
                          <a:latin typeface="Calibri"/>
                        </a:rPr>
                        <a:t>(Rs 2,45,000)</a:t>
                      </a:r>
                    </a:p>
                  </a:txBody>
                  <a:tcPr marL="109728" marR="109728" marT="27432" marB="27432" anchor="ctr">
                    <a:solidFill>
                      <a:srgbClr val="FFFFFF"/>
                    </a:solidFill>
                  </a:tcPr>
                </a:tc>
              </a:tr>
              <a:tr h="402336">
                <a:tc>
                  <a:txBody>
                    <a:bodyPr/>
                    <a:lstStyle/>
                    <a:p>
                      <a:pPr algn="l"/>
                      <a:r>
                        <a:rPr sz="1150" b="1">
                          <a:solidFill>
                            <a:srgbClr val="1B2A4A"/>
                          </a:solidFill>
                          <a:latin typeface="Calibri"/>
                        </a:rPr>
                        <a:t>Total income (rounded u/s 288A)</a:t>
                      </a:r>
                    </a:p>
                  </a:txBody>
                  <a:tcPr marL="109728" marR="109728" marT="27432" marB="27432" anchor="ctr">
                    <a:solidFill>
                      <a:srgbClr val="DFF1F1"/>
                    </a:solidFill>
                  </a:tcPr>
                </a:tc>
                <a:tc>
                  <a:txBody>
                    <a:bodyPr/>
                    <a:lstStyle/>
                    <a:p>
                      <a:pPr algn="r"/>
                      <a:r>
                        <a:rPr sz="1150" b="1">
                          <a:solidFill>
                            <a:srgbClr val="1B2A4A"/>
                          </a:solidFill>
                          <a:latin typeface="Calibri"/>
                        </a:rPr>
                        <a:t>Rs 3,52,000</a:t>
                      </a:r>
                    </a:p>
                  </a:txBody>
                  <a:tcPr marL="109728" marR="109728" marT="27432" marB="27432" anchor="ctr">
                    <a:solidFill>
                      <a:srgbClr val="DFF1F1"/>
                    </a:solidFill>
                  </a:tcPr>
                </a:tc>
              </a:tr>
              <a:tr h="402336">
                <a:tc>
                  <a:txBody>
                    <a:bodyPr/>
                    <a:lstStyle/>
                    <a:p>
                      <a:pPr algn="l"/>
                      <a:r>
                        <a:rPr sz="1150" b="0">
                          <a:solidFill>
                            <a:srgbClr val="2B3445"/>
                          </a:solidFill>
                          <a:latin typeface="Calibri"/>
                        </a:rPr>
                        <a:t>Tax under normal provisions (slabs + 4% cess)</a:t>
                      </a:r>
                    </a:p>
                  </a:txBody>
                  <a:tcPr marL="109728" marR="109728" marT="27432" marB="27432" anchor="ctr">
                    <a:solidFill>
                      <a:srgbClr val="FFFFFF"/>
                    </a:solidFill>
                  </a:tcPr>
                </a:tc>
                <a:tc>
                  <a:txBody>
                    <a:bodyPr/>
                    <a:lstStyle/>
                    <a:p>
                      <a:pPr algn="r"/>
                      <a:r>
                        <a:rPr sz="1150" b="0">
                          <a:solidFill>
                            <a:srgbClr val="2B3445"/>
                          </a:solidFill>
                          <a:latin typeface="Calibri"/>
                        </a:rPr>
                        <a:t>Rs 1,06,704</a:t>
                      </a:r>
                    </a:p>
                  </a:txBody>
                  <a:tcPr marL="109728" marR="109728" marT="27432" marB="27432" anchor="ctr">
                    <a:solidFill>
                      <a:srgbClr val="FFFFFF"/>
                    </a:solidFill>
                  </a:tcPr>
                </a:tc>
              </a:tr>
              <a:tr h="402336">
                <a:tc>
                  <a:txBody>
                    <a:bodyPr/>
                    <a:lstStyle/>
                    <a:p>
                      <a:pPr algn="l"/>
                      <a:r>
                        <a:rPr sz="1150" b="0">
                          <a:solidFill>
                            <a:srgbClr val="2B3445"/>
                          </a:solidFill>
                          <a:latin typeface="Calibri"/>
                        </a:rPr>
                        <a:t>Tax under s.115BAD (22% + 10% surcharge + 4% cess, no s.80P)</a:t>
                      </a:r>
                    </a:p>
                  </a:txBody>
                  <a:tcPr marL="109728" marR="109728" marT="27432" marB="27432" anchor="ctr">
                    <a:solidFill>
                      <a:srgbClr val="F1F4F8"/>
                    </a:solidFill>
                  </a:tcPr>
                </a:tc>
                <a:tc>
                  <a:txBody>
                    <a:bodyPr/>
                    <a:lstStyle/>
                    <a:p>
                      <a:pPr algn="r"/>
                      <a:r>
                        <a:rPr sz="1150" b="0">
                          <a:solidFill>
                            <a:srgbClr val="2B3445"/>
                          </a:solidFill>
                          <a:latin typeface="Calibri"/>
                        </a:rPr>
                        <a:t>Rs 1,50,253</a:t>
                      </a:r>
                    </a:p>
                  </a:txBody>
                  <a:tcPr marL="109728" marR="109728" marT="27432" marB="27432" anchor="ctr">
                    <a:solidFill>
                      <a:srgbClr val="F1F4F8"/>
                    </a:solidFill>
                  </a:tcPr>
                </a:tc>
              </a:tr>
              <a:tr h="402336">
                <a:tc>
                  <a:txBody>
                    <a:bodyPr/>
                    <a:lstStyle/>
                    <a:p>
                      <a:pPr algn="l"/>
                      <a:r>
                        <a:rPr sz="1150" b="1">
                          <a:solidFill>
                            <a:srgbClr val="1B2A4A"/>
                          </a:solidFill>
                          <a:latin typeface="Calibri"/>
                        </a:rPr>
                        <a:t>Recommended regime: Normal provisions with s.80P</a:t>
                      </a:r>
                    </a:p>
                  </a:txBody>
                  <a:tcPr marL="109728" marR="109728" marT="27432" marB="27432" anchor="ctr">
                    <a:solidFill>
                      <a:srgbClr val="DFF1F1"/>
                    </a:solidFill>
                  </a:tcPr>
                </a:tc>
                <a:tc>
                  <a:txBody>
                    <a:bodyPr/>
                    <a:lstStyle/>
                    <a:p>
                      <a:pPr algn="r"/>
                      <a:r>
                        <a:rPr sz="1150" b="1">
                          <a:solidFill>
                            <a:srgbClr val="1B2A4A"/>
                          </a:solidFill>
                          <a:latin typeface="Calibri"/>
                        </a:rPr>
                        <a:t>Rs 1,06,704</a:t>
                      </a:r>
                    </a:p>
                  </a:txBody>
                  <a:tcPr marL="109728" marR="109728" marT="27432" marB="27432" anchor="ctr">
                    <a:solidFill>
                      <a:srgbClr val="DFF1F1"/>
                    </a:solidFill>
                  </a:tcPr>
                </a:tc>
              </a:tr>
              <a:tr h="402336">
                <a:tc>
                  <a:txBody>
                    <a:bodyPr/>
                    <a:lstStyle/>
                    <a:p>
                      <a:pPr algn="l"/>
                      <a:r>
                        <a:rPr sz="1150" b="0">
                          <a:solidFill>
                            <a:srgbClr val="2B3445"/>
                          </a:solidFill>
                          <a:latin typeface="Calibri"/>
                        </a:rPr>
                        <a:t>Less: TDS credit (tower rent s.194-I, bank interest s.194A)</a:t>
                      </a:r>
                    </a:p>
                  </a:txBody>
                  <a:tcPr marL="109728" marR="109728" marT="27432" marB="27432" anchor="ctr">
                    <a:solidFill>
                      <a:srgbClr val="F1F4F8"/>
                    </a:solidFill>
                  </a:tcPr>
                </a:tc>
                <a:tc>
                  <a:txBody>
                    <a:bodyPr/>
                    <a:lstStyle/>
                    <a:p>
                      <a:pPr algn="r"/>
                      <a:r>
                        <a:rPr sz="1150" b="0">
                          <a:solidFill>
                            <a:srgbClr val="2B3445"/>
                          </a:solidFill>
                          <a:latin typeface="Calibri"/>
                        </a:rPr>
                        <a:t>(Rs 45,200)</a:t>
                      </a:r>
                    </a:p>
                  </a:txBody>
                  <a:tcPr marL="109728" marR="109728" marT="27432" marB="27432" anchor="ctr">
                    <a:solidFill>
                      <a:srgbClr val="F1F4F8"/>
                    </a:solidFill>
                  </a:tcPr>
                </a:tc>
              </a:tr>
              <a:tr h="402336">
                <a:tc>
                  <a:txBody>
                    <a:bodyPr/>
                    <a:lstStyle/>
                    <a:p>
                      <a:pPr algn="l"/>
                      <a:r>
                        <a:rPr sz="1150" b="1">
                          <a:solidFill>
                            <a:srgbClr val="1B2A4A"/>
                          </a:solidFill>
                          <a:latin typeface="Calibri"/>
                        </a:rPr>
                        <a:t>Net tax payable</a:t>
                      </a:r>
                    </a:p>
                  </a:txBody>
                  <a:tcPr marL="109728" marR="109728" marT="27432" marB="27432" anchor="ctr">
                    <a:solidFill>
                      <a:srgbClr val="DFF1F1"/>
                    </a:solidFill>
                  </a:tcPr>
                </a:tc>
                <a:tc>
                  <a:txBody>
                    <a:bodyPr/>
                    <a:lstStyle/>
                    <a:p>
                      <a:pPr algn="r"/>
                      <a:r>
                        <a:rPr sz="1150" b="1">
                          <a:solidFill>
                            <a:srgbClr val="1B2A4A"/>
                          </a:solidFill>
                          <a:latin typeface="Calibri"/>
                        </a:rPr>
                        <a:t>Rs 61,504</a:t>
                      </a:r>
                    </a:p>
                  </a:txBody>
                  <a:tcPr marL="109728" marR="109728" marT="27432" marB="27432" anchor="ctr">
                    <a:solidFill>
                      <a:srgbClr val="DFF1F1"/>
                    </a:solidFill>
                  </a:tcPr>
                </a:tc>
              </a:tr>
              <a:tr h="402336">
                <a:tc>
                  <a:txBody>
                    <a:bodyPr/>
                    <a:lstStyle/>
                    <a:p>
                      <a:pPr algn="l"/>
                      <a:r>
                        <a:rPr sz="1150" b="0">
                          <a:solidFill>
                            <a:srgbClr val="2B3445"/>
                          </a:solidFill>
                          <a:latin typeface="Calibri"/>
                        </a:rPr>
                        <a:t>Add: interest u/s 234C and u/s 234B (no advance tax paid)</a:t>
                      </a:r>
                    </a:p>
                  </a:txBody>
                  <a:tcPr marL="109728" marR="109728" marT="27432" marB="27432" anchor="ctr">
                    <a:solidFill>
                      <a:srgbClr val="F1F4F8"/>
                    </a:solidFill>
                  </a:tcPr>
                </a:tc>
                <a:tc>
                  <a:txBody>
                    <a:bodyPr/>
                    <a:lstStyle/>
                    <a:p>
                      <a:pPr algn="r"/>
                      <a:r>
                        <a:rPr sz="1150" b="0">
                          <a:solidFill>
                            <a:srgbClr val="2B3445"/>
                          </a:solidFill>
                          <a:latin typeface="Calibri"/>
                        </a:rPr>
                        <a:t>Rs 7,411</a:t>
                      </a:r>
                    </a:p>
                  </a:txBody>
                  <a:tcPr marL="109728" marR="109728" marT="27432" marB="27432" anchor="ctr">
                    <a:solidFill>
                      <a:srgbClr val="F1F4F8"/>
                    </a:solidFill>
                  </a:tcPr>
                </a:tc>
              </a:tr>
              <a:tr h="402336">
                <a:tc>
                  <a:txBody>
                    <a:bodyPr/>
                    <a:lstStyle/>
                    <a:p>
                      <a:pPr algn="l"/>
                      <a:r>
                        <a:rPr sz="1150" b="1">
                          <a:solidFill>
                            <a:srgbClr val="1B2A4A"/>
                          </a:solidFill>
                          <a:latin typeface="Calibri"/>
                        </a:rPr>
                        <a:t>Total payable with return (ITR-5 due 31-Oct-2026)</a:t>
                      </a:r>
                    </a:p>
                  </a:txBody>
                  <a:tcPr marL="109728" marR="109728" marT="27432" marB="27432" anchor="ctr">
                    <a:solidFill>
                      <a:srgbClr val="DFF1F1"/>
                    </a:solidFill>
                  </a:tcPr>
                </a:tc>
                <a:tc>
                  <a:txBody>
                    <a:bodyPr/>
                    <a:lstStyle/>
                    <a:p>
                      <a:pPr algn="r"/>
                      <a:r>
                        <a:rPr sz="1150" b="1">
                          <a:solidFill>
                            <a:srgbClr val="1B2A4A"/>
                          </a:solidFill>
                          <a:latin typeface="Calibri"/>
                        </a:rPr>
                        <a:t>Rs 68,915</a:t>
                      </a:r>
                    </a:p>
                  </a:txBody>
                  <a:tcPr marL="109728" marR="109728" marT="27432" marB="27432" anchor="ctr">
                    <a:solidFill>
                      <a:srgbClr val="DFF1F1"/>
                    </a:solidFill>
                  </a:tcPr>
                </a:tc>
              </a:tr>
            </a:tbl>
          </a:graphicData>
        </a:graphic>
      </p:graphicFrame>
      <p:sp>
        <p:nvSpPr>
          <p:cNvPr id="7" name="TextBox 6"/>
          <p:cNvSpPr txBox="1"/>
          <p:nvPr/>
        </p:nvSpPr>
        <p:spPr>
          <a:xfrm>
            <a:off x="548640" y="5550408"/>
            <a:ext cx="6949440" cy="274320"/>
          </a:xfrm>
          <a:prstGeom prst="rect">
            <a:avLst/>
          </a:prstGeom>
          <a:noFill/>
        </p:spPr>
        <p:txBody>
          <a:bodyPr wrap="square" lIns="0" rIns="0" tIns="0" bIns="0" anchor="t">
            <a:spAutoFit/>
          </a:bodyPr>
          <a:lstStyle/>
          <a:p>
            <a:pPr algn="l">
              <a:spcAft>
                <a:spcPts val="0"/>
              </a:spcAft>
            </a:pPr>
            <a:r>
              <a:rPr sz="950" b="0" i="1">
                <a:solidFill>
                  <a:srgbClr val="5F6B7A"/>
                </a:solidFill>
                <a:latin typeface="Calibri"/>
              </a:rPr>
              <a:t>Sheet: Tax_Computation  |  AY 2026-27  |  OBS-19 (Medium), OBS-22 (Low)</a:t>
            </a:r>
          </a:p>
        </p:txBody>
      </p:sp>
      <p:sp>
        <p:nvSpPr>
          <p:cNvPr id="8" name="Rounded Rectangle 7"/>
          <p:cNvSpPr/>
          <p:nvPr/>
        </p:nvSpPr>
        <p:spPr>
          <a:xfrm>
            <a:off x="7818120" y="1417320"/>
            <a:ext cx="3822191" cy="4572000"/>
          </a:xfrm>
          <a:prstGeom prst="roundRect">
            <a:avLst>
              <a:gd name="adj" fmla="val 6000"/>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0" y="1600200"/>
            <a:ext cx="3383280" cy="320040"/>
          </a:xfrm>
          <a:prstGeom prst="rect">
            <a:avLst/>
          </a:prstGeom>
          <a:noFill/>
        </p:spPr>
        <p:txBody>
          <a:bodyPr wrap="square" lIns="0" rIns="0" tIns="0" bIns="0" anchor="t">
            <a:spAutoFit/>
          </a:bodyPr>
          <a:lstStyle/>
          <a:p>
            <a:pPr algn="l">
              <a:spcAft>
                <a:spcPts val="0"/>
              </a:spcAft>
            </a:pPr>
            <a:r>
              <a:rPr sz="1400" b="1" i="0">
                <a:solidFill>
                  <a:srgbClr val="1B2A4A"/>
                </a:solidFill>
                <a:latin typeface="Calibri"/>
              </a:rPr>
              <a:t>How the module reasons</a:t>
            </a:r>
          </a:p>
        </p:txBody>
      </p:sp>
      <p:sp>
        <p:nvSpPr>
          <p:cNvPr id="10" name="TextBox 9"/>
          <p:cNvSpPr txBox="1"/>
          <p:nvPr/>
        </p:nvSpPr>
        <p:spPr>
          <a:xfrm>
            <a:off x="8046720" y="2011680"/>
            <a:ext cx="3383280" cy="3931920"/>
          </a:xfrm>
          <a:prstGeom prst="rect">
            <a:avLst/>
          </a:prstGeom>
          <a:noFill/>
        </p:spPr>
        <p:txBody>
          <a:bodyPr wrap="square" lIns="0" rIns="0" tIns="0" bIns="0" anchor="t">
            <a:spAutoFit/>
          </a:bodyPr>
          <a:lstStyle/>
          <a:p>
            <a:pPr algn="l" marL="201168" indent="-201168">
              <a:lnSpc>
                <a:spcPct val="108000"/>
              </a:lnSpc>
              <a:spcAft>
                <a:spcPts val="700"/>
              </a:spcAft>
              <a:buClr>
                <a:srgbClr val="0F8B8D"/>
              </a:buClr>
              <a:buFont typeface="Arial"/>
              <a:buChar char="▪"/>
            </a:pPr>
            <a:r>
              <a:rPr sz="1150" b="1" i="0">
                <a:solidFill>
                  <a:srgbClr val="1B2A4A"/>
                </a:solidFill>
                <a:latin typeface="Calibri"/>
              </a:rPr>
              <a:t>Mutuality: </a:t>
            </a:r>
            <a:r>
              <a:rPr sz="1150" b="0" i="0">
                <a:solidFill>
                  <a:srgbClr val="2B3445"/>
                </a:solidFill>
                <a:latin typeface="Calibri"/>
              </a:rPr>
              <a:t>member receipts of Rs 63,78,203 and transfer premium of Rs 75,000 (within the Rs 25,000 per-transfer cap) are not income (Sind CHS, Mittal Court - Bombay HC).</a:t>
            </a:r>
          </a:p>
          <a:p>
            <a:pPr algn="l" marL="201168" indent="-201168">
              <a:lnSpc>
                <a:spcPct val="108000"/>
              </a:lnSpc>
              <a:spcAft>
                <a:spcPts val="700"/>
              </a:spcAft>
              <a:buClr>
                <a:srgbClr val="0F8B8D"/>
              </a:buClr>
              <a:buFont typeface="Arial"/>
              <a:buChar char="▪"/>
            </a:pPr>
            <a:r>
              <a:rPr sz="1150" b="1" i="0">
                <a:solidFill>
                  <a:srgbClr val="1B2A4A"/>
                </a:solidFill>
                <a:latin typeface="Calibri"/>
              </a:rPr>
              <a:t>Taxable: </a:t>
            </a:r>
            <a:r>
              <a:rPr sz="1150" b="0" i="0">
                <a:solidFill>
                  <a:srgbClr val="2B3445"/>
                </a:solidFill>
                <a:latin typeface="Calibri"/>
              </a:rPr>
              <a:t>tower rent Rs 3,60,000 less 30% u/s 24(a); HDFC Bank interest Rs 92,000; scrap Rs 8,000.</a:t>
            </a:r>
          </a:p>
          <a:p>
            <a:pPr algn="l" marL="201168" indent="-201168">
              <a:lnSpc>
                <a:spcPct val="108000"/>
              </a:lnSpc>
              <a:spcAft>
                <a:spcPts val="700"/>
              </a:spcAft>
              <a:buClr>
                <a:srgbClr val="0F8B8D"/>
              </a:buClr>
              <a:buFont typeface="Arial"/>
              <a:buChar char="▪"/>
            </a:pPr>
            <a:r>
              <a:rPr sz="1150" b="1" i="0">
                <a:solidFill>
                  <a:srgbClr val="1B2A4A"/>
                </a:solidFill>
                <a:latin typeface="Calibri"/>
              </a:rPr>
              <a:t>s.80P(2)(d): </a:t>
            </a:r>
            <a:r>
              <a:rPr sz="1150" b="0" i="0">
                <a:solidFill>
                  <a:srgbClr val="2B3445"/>
                </a:solidFill>
                <a:latin typeface="Calibri"/>
              </a:rPr>
              <a:t>interest of Rs 2,45,000 from the co-operative bank deducted; Totgars distinguished.</a:t>
            </a:r>
          </a:p>
          <a:p>
            <a:pPr algn="l" marL="201168" indent="-201168">
              <a:lnSpc>
                <a:spcPct val="108000"/>
              </a:lnSpc>
              <a:spcAft>
                <a:spcPts val="700"/>
              </a:spcAft>
              <a:buClr>
                <a:srgbClr val="0F8B8D"/>
              </a:buClr>
              <a:buFont typeface="Arial"/>
              <a:buChar char="▪"/>
            </a:pPr>
            <a:r>
              <a:rPr sz="1150" b="1" i="0">
                <a:solidFill>
                  <a:srgbClr val="1B2A4A"/>
                </a:solidFill>
                <a:latin typeface="Calibri"/>
              </a:rPr>
              <a:t>Regime choice: </a:t>
            </a:r>
            <a:r>
              <a:rPr sz="1150" b="0" i="0">
                <a:solidFill>
                  <a:srgbClr val="2B3445"/>
                </a:solidFill>
                <a:latin typeface="Calibri"/>
              </a:rPr>
              <a:t>s.115BAD forfeits s.80P, so the normal regime is recommended.</a:t>
            </a:r>
          </a:p>
          <a:p>
            <a:pPr algn="l" marL="201168" indent="-201168">
              <a:lnSpc>
                <a:spcPct val="108000"/>
              </a:lnSpc>
              <a:spcAft>
                <a:spcPts val="0"/>
              </a:spcAft>
              <a:buClr>
                <a:srgbClr val="0F8B8D"/>
              </a:buClr>
              <a:buFont typeface="Arial"/>
              <a:buChar char="▪"/>
            </a:pPr>
            <a:r>
              <a:rPr sz="1150" b="1" i="0">
                <a:solidFill>
                  <a:srgbClr val="1B2A4A"/>
                </a:solidFill>
                <a:latin typeface="Calibri"/>
              </a:rPr>
              <a:t>Advance tax: </a:t>
            </a:r>
            <a:r>
              <a:rPr sz="1150" b="0" i="0">
                <a:solidFill>
                  <a:srgbClr val="2B3445"/>
                </a:solidFill>
                <a:latin typeface="Calibri"/>
              </a:rPr>
              <a:t>liability above Rs 10,000 with nothing paid, so interest of Rs 7,411 u/s 234B/234C is computed and a June-September-December-March calendar recommended.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Kicker"/>
          <p:cNvSpPr txBox="1"/>
          <p:nvPr/>
        </p:nvSpPr>
        <p:spPr>
          <a:xfrm>
            <a:off x="548640" y="301752"/>
            <a:ext cx="11094415" cy="256032"/>
          </a:xfrm>
          <a:prstGeom prst="rect">
            <a:avLst/>
          </a:prstGeom>
          <a:noFill/>
        </p:spPr>
        <p:txBody>
          <a:bodyPr wrap="square" lIns="0" rIns="0" tIns="0" bIns="0" anchor="t">
            <a:spAutoFit/>
          </a:bodyPr>
          <a:lstStyle/>
          <a:p>
            <a:pPr algn="l">
              <a:spcAft>
                <a:spcPts val="0"/>
              </a:spcAft>
            </a:pPr>
            <a:r>
              <a:rPr sz="1100" b="1" i="0">
                <a:solidFill>
                  <a:srgbClr val="0F8B8D"/>
                </a:solidFill>
                <a:latin typeface="Calibri"/>
              </a:rPr>
              <a:t>AI LAYER AND GUARDRAILS</a:t>
            </a:r>
          </a:p>
        </p:txBody>
      </p:sp>
      <p:sp>
        <p:nvSpPr>
          <p:cNvPr id="3" name="Title"/>
          <p:cNvSpPr txBox="1"/>
          <p:nvPr/>
        </p:nvSpPr>
        <p:spPr>
          <a:xfrm>
            <a:off x="548640" y="566928"/>
            <a:ext cx="11094415" cy="640080"/>
          </a:xfrm>
          <a:prstGeom prst="rect">
            <a:avLst/>
          </a:prstGeom>
          <a:noFill/>
        </p:spPr>
        <p:txBody>
          <a:bodyPr wrap="square" lIns="0" rIns="0" tIns="0" bIns="0" anchor="t">
            <a:spAutoFit/>
          </a:bodyPr>
          <a:lstStyle/>
          <a:p>
            <a:pPr algn="l">
              <a:spcAft>
                <a:spcPts val="0"/>
              </a:spcAft>
            </a:pPr>
            <a:r>
              <a:rPr sz="2800" b="1" i="0">
                <a:solidFill>
                  <a:srgbClr val="1B2A4A"/>
                </a:solidFill>
                <a:latin typeface="Calibri"/>
              </a:rPr>
              <a:t>Closed-world drafting by Claude, citations verified by code</a:t>
            </a:r>
          </a:p>
        </p:txBody>
      </p:sp>
      <p:sp>
        <p:nvSpPr>
          <p:cNvPr id="4" name="Footer"/>
          <p:cNvSpPr txBox="1"/>
          <p:nvPr/>
        </p:nvSpPr>
        <p:spPr>
          <a:xfrm>
            <a:off x="548640" y="6419088"/>
            <a:ext cx="8229600" cy="228600"/>
          </a:xfrm>
          <a:prstGeom prst="rect">
            <a:avLst/>
          </a:prstGeom>
          <a:noFill/>
        </p:spPr>
        <p:txBody>
          <a:bodyPr wrap="square" lIns="0" rIns="0" tIns="0" bIns="0" anchor="t">
            <a:spAutoFit/>
          </a:bodyPr>
          <a:lstStyle/>
          <a:p>
            <a:pPr algn="l">
              <a:spcAft>
                <a:spcPts val="0"/>
              </a:spcAft>
            </a:pPr>
            <a:r>
              <a:rPr sz="900" b="0" i="0">
                <a:solidFill>
                  <a:srgbClr val="5F6B7A"/>
                </a:solidFill>
                <a:latin typeface="Calibri"/>
              </a:rPr>
              <a:t>AICA Level 2  |  Module C Capstone  |  AI-Powered Statutory Audit Assistant for CHS  |  synthetic data</a:t>
            </a:r>
          </a:p>
        </p:txBody>
      </p:sp>
      <p:sp>
        <p:nvSpPr>
          <p:cNvPr id="5" name="SlideNo"/>
          <p:cNvSpPr txBox="1"/>
          <p:nvPr/>
        </p:nvSpPr>
        <p:spPr>
          <a:xfrm>
            <a:off x="10725912" y="6419088"/>
            <a:ext cx="914400" cy="228600"/>
          </a:xfrm>
          <a:prstGeom prst="rect">
            <a:avLst/>
          </a:prstGeom>
          <a:noFill/>
        </p:spPr>
        <p:txBody>
          <a:bodyPr wrap="square" lIns="0" rIns="0" tIns="0" bIns="0" anchor="t">
            <a:spAutoFit/>
          </a:bodyPr>
          <a:lstStyle/>
          <a:p>
            <a:pPr algn="r">
              <a:spcAft>
                <a:spcPts val="0"/>
              </a:spcAft>
            </a:pPr>
            <a:r>
              <a:rPr sz="900" b="0" i="0">
                <a:solidFill>
                  <a:srgbClr val="5F6B7A"/>
                </a:solidFill>
                <a:latin typeface="Calibri"/>
              </a:rPr>
              <a:t>10 / 14</a:t>
            </a:r>
          </a:p>
        </p:txBody>
      </p:sp>
      <p:sp>
        <p:nvSpPr>
          <p:cNvPr id="6" name="Rounded Rectangle 5"/>
          <p:cNvSpPr/>
          <p:nvPr/>
        </p:nvSpPr>
        <p:spPr>
          <a:xfrm>
            <a:off x="548640" y="1508760"/>
            <a:ext cx="2011680" cy="640080"/>
          </a:xfrm>
          <a:prstGeom prst="roundRect">
            <a:avLst>
              <a:gd name="adj" fmla="val 12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508760"/>
            <a:ext cx="2011680" cy="640080"/>
          </a:xfrm>
          <a:prstGeom prst="rect">
            <a:avLst/>
          </a:prstGeom>
          <a:noFill/>
        </p:spPr>
        <p:txBody>
          <a:bodyPr wrap="square" lIns="0" rIns="0" tIns="0" bIns="0" anchor="ctr">
            <a:spAutoFit/>
          </a:bodyPr>
          <a:lstStyle/>
          <a:p>
            <a:pPr algn="ctr">
              <a:spcAft>
                <a:spcPts val="0"/>
              </a:spcAft>
            </a:pPr>
            <a:r>
              <a:rPr sz="1400" b="1" i="0">
                <a:solidFill>
                  <a:srgbClr val="FFFFFF"/>
                </a:solidFill>
                <a:latin typeface="Calibri"/>
              </a:rPr>
              <a:t>Facts as JSON</a:t>
            </a:r>
          </a:p>
        </p:txBody>
      </p:sp>
      <p:sp>
        <p:nvSpPr>
          <p:cNvPr id="8" name="TextBox 7"/>
          <p:cNvSpPr txBox="1"/>
          <p:nvPr/>
        </p:nvSpPr>
        <p:spPr>
          <a:xfrm>
            <a:off x="548640" y="2258568"/>
            <a:ext cx="2011680" cy="1097280"/>
          </a:xfrm>
          <a:prstGeom prst="rect">
            <a:avLst/>
          </a:prstGeom>
          <a:noFill/>
        </p:spPr>
        <p:txBody>
          <a:bodyPr wrap="square" lIns="0" rIns="0" tIns="0" bIns="0" anchor="t">
            <a:spAutoFit/>
          </a:bodyPr>
          <a:lstStyle/>
          <a:p>
            <a:pPr algn="ctr">
              <a:lnSpc>
                <a:spcPct val="108000"/>
              </a:lnSpc>
              <a:spcAft>
                <a:spcPts val="0"/>
              </a:spcAft>
            </a:pPr>
            <a:r>
              <a:rPr sz="1050" b="0" i="0">
                <a:solidFill>
                  <a:srgbClr val="2B3445"/>
                </a:solidFill>
                <a:latin typeface="Calibri"/>
              </a:rPr>
              <a:t>findings, ledger rows, calendar, tax summary - flat numbers and amounts only</a:t>
            </a:r>
          </a:p>
        </p:txBody>
      </p:sp>
      <p:sp>
        <p:nvSpPr>
          <p:cNvPr id="9" name="Right Arrow 8"/>
          <p:cNvSpPr/>
          <p:nvPr/>
        </p:nvSpPr>
        <p:spPr>
          <a:xfrm>
            <a:off x="2596896" y="1719072"/>
            <a:ext cx="182880" cy="219456"/>
          </a:xfrm>
          <a:prstGeom prst="rightArrow">
            <a:avLst/>
          </a:prstGeom>
          <a:solidFill>
            <a:srgbClr val="C7DA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816352" y="1508760"/>
            <a:ext cx="2011680" cy="640080"/>
          </a:xfrm>
          <a:prstGeom prst="roundRect">
            <a:avLst>
              <a:gd name="adj" fmla="val 12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816352" y="1508760"/>
            <a:ext cx="2011680" cy="640080"/>
          </a:xfrm>
          <a:prstGeom prst="rect">
            <a:avLst/>
          </a:prstGeom>
          <a:noFill/>
        </p:spPr>
        <p:txBody>
          <a:bodyPr wrap="square" lIns="0" rIns="0" tIns="0" bIns="0" anchor="ctr">
            <a:spAutoFit/>
          </a:bodyPr>
          <a:lstStyle/>
          <a:p>
            <a:pPr algn="ctr">
              <a:spcAft>
                <a:spcPts val="0"/>
              </a:spcAft>
            </a:pPr>
            <a:r>
              <a:rPr sz="1400" b="1" i="0">
                <a:solidFill>
                  <a:srgbClr val="FFFFFF"/>
                </a:solidFill>
                <a:latin typeface="Calibri"/>
              </a:rPr>
              <a:t>System prompt</a:t>
            </a:r>
          </a:p>
        </p:txBody>
      </p:sp>
      <p:sp>
        <p:nvSpPr>
          <p:cNvPr id="12" name="TextBox 11"/>
          <p:cNvSpPr txBox="1"/>
          <p:nvPr/>
        </p:nvSpPr>
        <p:spPr>
          <a:xfrm>
            <a:off x="2816352" y="2258568"/>
            <a:ext cx="2011680" cy="1097280"/>
          </a:xfrm>
          <a:prstGeom prst="rect">
            <a:avLst/>
          </a:prstGeom>
          <a:noFill/>
        </p:spPr>
        <p:txBody>
          <a:bodyPr wrap="square" lIns="0" rIns="0" tIns="0" bIns="0" anchor="t">
            <a:spAutoFit/>
          </a:bodyPr>
          <a:lstStyle/>
          <a:p>
            <a:pPr algn="ctr">
              <a:lnSpc>
                <a:spcPct val="108000"/>
              </a:lnSpc>
              <a:spcAft>
                <a:spcPts val="0"/>
              </a:spcAft>
            </a:pPr>
            <a:r>
              <a:rPr sz="1050" b="0" i="0">
                <a:solidFill>
                  <a:srgbClr val="2B3445"/>
                </a:solidFill>
                <a:latin typeface="Calibri"/>
              </a:rPr>
              <a:t>audit-manager role; use only the context; write "[reference to be confirmed]" if a reference is missing</a:t>
            </a:r>
          </a:p>
        </p:txBody>
      </p:sp>
      <p:sp>
        <p:nvSpPr>
          <p:cNvPr id="13" name="Right Arrow 12"/>
          <p:cNvSpPr/>
          <p:nvPr/>
        </p:nvSpPr>
        <p:spPr>
          <a:xfrm>
            <a:off x="4864608" y="1719072"/>
            <a:ext cx="182880" cy="219456"/>
          </a:xfrm>
          <a:prstGeom prst="rightArrow">
            <a:avLst/>
          </a:prstGeom>
          <a:solidFill>
            <a:srgbClr val="C7DA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084064" y="1508760"/>
            <a:ext cx="2011680" cy="640080"/>
          </a:xfrm>
          <a:prstGeom prst="roundRect">
            <a:avLst>
              <a:gd name="adj" fmla="val 12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84064" y="1508760"/>
            <a:ext cx="2011680" cy="640080"/>
          </a:xfrm>
          <a:prstGeom prst="rect">
            <a:avLst/>
          </a:prstGeom>
          <a:noFill/>
        </p:spPr>
        <p:txBody>
          <a:bodyPr wrap="square" lIns="0" rIns="0" tIns="0" bIns="0" anchor="ctr">
            <a:spAutoFit/>
          </a:bodyPr>
          <a:lstStyle/>
          <a:p>
            <a:pPr algn="ctr">
              <a:spcAft>
                <a:spcPts val="0"/>
              </a:spcAft>
            </a:pPr>
            <a:r>
              <a:rPr sz="1400" b="1" i="0">
                <a:solidFill>
                  <a:srgbClr val="FFFFFF"/>
                </a:solidFill>
                <a:latin typeface="Consolas"/>
              </a:rPr>
              <a:t>claude-opus-5-5</a:t>
            </a:r>
          </a:p>
        </p:txBody>
      </p:sp>
      <p:sp>
        <p:nvSpPr>
          <p:cNvPr id="16" name="TextBox 15"/>
          <p:cNvSpPr txBox="1"/>
          <p:nvPr/>
        </p:nvSpPr>
        <p:spPr>
          <a:xfrm>
            <a:off x="5084064" y="2258568"/>
            <a:ext cx="2011680" cy="1097280"/>
          </a:xfrm>
          <a:prstGeom prst="rect">
            <a:avLst/>
          </a:prstGeom>
          <a:noFill/>
        </p:spPr>
        <p:txBody>
          <a:bodyPr wrap="square" lIns="0" rIns="0" tIns="0" bIns="0" anchor="t">
            <a:spAutoFit/>
          </a:bodyPr>
          <a:lstStyle/>
          <a:p>
            <a:pPr algn="ctr">
              <a:lnSpc>
                <a:spcPct val="108000"/>
              </a:lnSpc>
              <a:spcAft>
                <a:spcPts val="0"/>
              </a:spcAft>
            </a:pPr>
            <a:r>
              <a:rPr sz="1050" b="0" i="0">
                <a:solidFill>
                  <a:srgbClr val="2B3445"/>
                </a:solidFill>
                <a:latin typeface="Calibri"/>
              </a:rPr>
              <a:t>Anthropic Python SDK, streaming, max_tokens sized per task (1,500 to 12,000)</a:t>
            </a:r>
          </a:p>
        </p:txBody>
      </p:sp>
      <p:sp>
        <p:nvSpPr>
          <p:cNvPr id="17" name="Right Arrow 16"/>
          <p:cNvSpPr/>
          <p:nvPr/>
        </p:nvSpPr>
        <p:spPr>
          <a:xfrm>
            <a:off x="7132320" y="1719072"/>
            <a:ext cx="182880" cy="219456"/>
          </a:xfrm>
          <a:prstGeom prst="rightArrow">
            <a:avLst/>
          </a:prstGeom>
          <a:solidFill>
            <a:srgbClr val="C7DA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351776" y="1508760"/>
            <a:ext cx="2011680" cy="640080"/>
          </a:xfrm>
          <a:prstGeom prst="roundRect">
            <a:avLst>
              <a:gd name="adj" fmla="val 12000"/>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51776" y="1508760"/>
            <a:ext cx="2011680" cy="640080"/>
          </a:xfrm>
          <a:prstGeom prst="rect">
            <a:avLst/>
          </a:prstGeom>
          <a:noFill/>
        </p:spPr>
        <p:txBody>
          <a:bodyPr wrap="square" lIns="0" rIns="0" tIns="0" bIns="0" anchor="ctr">
            <a:spAutoFit/>
          </a:bodyPr>
          <a:lstStyle/>
          <a:p>
            <a:pPr algn="ctr">
              <a:spcAft>
                <a:spcPts val="0"/>
              </a:spcAft>
            </a:pPr>
            <a:r>
              <a:rPr sz="1400" b="1" i="0">
                <a:solidFill>
                  <a:srgbClr val="FFFFFF"/>
                </a:solidFill>
                <a:latin typeface="Calibri"/>
              </a:rPr>
              <a:t>Citation verifier</a:t>
            </a:r>
          </a:p>
        </p:txBody>
      </p:sp>
      <p:sp>
        <p:nvSpPr>
          <p:cNvPr id="20" name="TextBox 19"/>
          <p:cNvSpPr txBox="1"/>
          <p:nvPr/>
        </p:nvSpPr>
        <p:spPr>
          <a:xfrm>
            <a:off x="7351776" y="2258568"/>
            <a:ext cx="2011680" cy="1097280"/>
          </a:xfrm>
          <a:prstGeom prst="rect">
            <a:avLst/>
          </a:prstGeom>
          <a:noFill/>
        </p:spPr>
        <p:txBody>
          <a:bodyPr wrap="square" lIns="0" rIns="0" tIns="0" bIns="0" anchor="t">
            <a:spAutoFit/>
          </a:bodyPr>
          <a:lstStyle/>
          <a:p>
            <a:pPr algn="ctr">
              <a:lnSpc>
                <a:spcPct val="108000"/>
              </a:lnSpc>
              <a:spcAft>
                <a:spcPts val="0"/>
              </a:spcAft>
            </a:pPr>
            <a:r>
              <a:rPr sz="1050" b="0" i="0">
                <a:solidFill>
                  <a:srgbClr val="2B3445"/>
                </a:solidFill>
                <a:latin typeface="Calibri"/>
              </a:rPr>
              <a:t>regex extracts s./bye-law/rule/circular refs; any not in the context is flagged in a reviewer note</a:t>
            </a:r>
          </a:p>
        </p:txBody>
      </p:sp>
      <p:sp>
        <p:nvSpPr>
          <p:cNvPr id="21" name="Right Arrow 20"/>
          <p:cNvSpPr/>
          <p:nvPr/>
        </p:nvSpPr>
        <p:spPr>
          <a:xfrm>
            <a:off x="9400032" y="1719072"/>
            <a:ext cx="182880" cy="219456"/>
          </a:xfrm>
          <a:prstGeom prst="rightArrow">
            <a:avLst/>
          </a:prstGeom>
          <a:solidFill>
            <a:srgbClr val="C7DA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619488" y="1508760"/>
            <a:ext cx="2011680" cy="640080"/>
          </a:xfrm>
          <a:prstGeom prst="roundRect">
            <a:avLst>
              <a:gd name="adj" fmla="val 12000"/>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619488" y="1508760"/>
            <a:ext cx="2011680" cy="640080"/>
          </a:xfrm>
          <a:prstGeom prst="rect">
            <a:avLst/>
          </a:prstGeom>
          <a:noFill/>
        </p:spPr>
        <p:txBody>
          <a:bodyPr wrap="square" lIns="0" rIns="0" tIns="0" bIns="0" anchor="ctr">
            <a:spAutoFit/>
          </a:bodyPr>
          <a:lstStyle/>
          <a:p>
            <a:pPr algn="ctr">
              <a:spcAft>
                <a:spcPts val="0"/>
              </a:spcAft>
            </a:pPr>
            <a:r>
              <a:rPr sz="1400" b="1" i="0">
                <a:solidFill>
                  <a:srgbClr val="FFFFFF"/>
                </a:solidFill>
                <a:latin typeface="Calibri"/>
              </a:rPr>
              <a:t>Drafts + log</a:t>
            </a:r>
          </a:p>
        </p:txBody>
      </p:sp>
      <p:sp>
        <p:nvSpPr>
          <p:cNvPr id="24" name="TextBox 23"/>
          <p:cNvSpPr txBox="1"/>
          <p:nvPr/>
        </p:nvSpPr>
        <p:spPr>
          <a:xfrm>
            <a:off x="9619488" y="2258568"/>
            <a:ext cx="2011680" cy="1097280"/>
          </a:xfrm>
          <a:prstGeom prst="rect">
            <a:avLst/>
          </a:prstGeom>
          <a:noFill/>
        </p:spPr>
        <p:txBody>
          <a:bodyPr wrap="square" lIns="0" rIns="0" tIns="0" bIns="0" anchor="t">
            <a:spAutoFit/>
          </a:bodyPr>
          <a:lstStyle/>
          <a:p>
            <a:pPr algn="ctr">
              <a:lnSpc>
                <a:spcPct val="108000"/>
              </a:lnSpc>
              <a:spcAft>
                <a:spcPts val="0"/>
              </a:spcAft>
            </a:pPr>
            <a:r>
              <a:rPr sz="1050" b="0" i="0">
                <a:solidFill>
                  <a:srgbClr val="2B3445"/>
                </a:solidFill>
                <a:latin typeface="Calibri"/>
              </a:rPr>
              <a:t>observations, management letter, governance summary, tax note, reminder letters; full prompt log</a:t>
            </a:r>
          </a:p>
        </p:txBody>
      </p:sp>
      <p:sp>
        <p:nvSpPr>
          <p:cNvPr id="25" name="Rounded Rectangle 24"/>
          <p:cNvSpPr/>
          <p:nvPr/>
        </p:nvSpPr>
        <p:spPr>
          <a:xfrm>
            <a:off x="548640" y="3538728"/>
            <a:ext cx="310896" cy="310896"/>
          </a:xfrm>
          <a:prstGeom prst="roundRect">
            <a:avLst>
              <a:gd name="adj" fmla="val 22000"/>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1</a:t>
            </a:r>
          </a:p>
        </p:txBody>
      </p:sp>
      <p:sp>
        <p:nvSpPr>
          <p:cNvPr id="26" name="TextBox 25"/>
          <p:cNvSpPr txBox="1"/>
          <p:nvPr/>
        </p:nvSpPr>
        <p:spPr>
          <a:xfrm>
            <a:off x="969264" y="3520440"/>
            <a:ext cx="3108960" cy="274320"/>
          </a:xfrm>
          <a:prstGeom prst="rect">
            <a:avLst/>
          </a:prstGeom>
          <a:noFill/>
        </p:spPr>
        <p:txBody>
          <a:bodyPr wrap="square" lIns="0" rIns="0" tIns="0" bIns="0" anchor="t">
            <a:spAutoFit/>
          </a:bodyPr>
          <a:lstStyle/>
          <a:p>
            <a:pPr algn="l">
              <a:spcAft>
                <a:spcPts val="0"/>
              </a:spcAft>
            </a:pPr>
            <a:r>
              <a:rPr sz="1250" b="1" i="0">
                <a:solidFill>
                  <a:srgbClr val="1B2A4A"/>
                </a:solidFill>
                <a:latin typeface="Calibri"/>
              </a:rPr>
              <a:t>Closed world</a:t>
            </a:r>
          </a:p>
        </p:txBody>
      </p:sp>
      <p:sp>
        <p:nvSpPr>
          <p:cNvPr id="27" name="TextBox 26"/>
          <p:cNvSpPr txBox="1"/>
          <p:nvPr/>
        </p:nvSpPr>
        <p:spPr>
          <a:xfrm>
            <a:off x="969264" y="3794760"/>
            <a:ext cx="3108960" cy="640080"/>
          </a:xfrm>
          <a:prstGeom prst="rect">
            <a:avLst/>
          </a:prstGeom>
          <a:noFill/>
        </p:spPr>
        <p:txBody>
          <a:bodyPr wrap="square" lIns="0" rIns="0" tIns="0" bIns="0" anchor="t">
            <a:spAutoFit/>
          </a:bodyPr>
          <a:lstStyle/>
          <a:p>
            <a:pPr algn="l">
              <a:lnSpc>
                <a:spcPct val="105000"/>
              </a:lnSpc>
              <a:spcAft>
                <a:spcPts val="0"/>
              </a:spcAft>
            </a:pPr>
            <a:r>
              <a:rPr sz="1050" b="0" i="0">
                <a:solidFill>
                  <a:srgbClr val="2B3445"/>
                </a:solidFill>
                <a:latin typeface="Calibri"/>
              </a:rPr>
              <a:t>no number, section or case law outside the JSON; missing references become "[reference to be confirmed]"</a:t>
            </a:r>
          </a:p>
        </p:txBody>
      </p:sp>
      <p:sp>
        <p:nvSpPr>
          <p:cNvPr id="28" name="Rounded Rectangle 27"/>
          <p:cNvSpPr/>
          <p:nvPr/>
        </p:nvSpPr>
        <p:spPr>
          <a:xfrm>
            <a:off x="4297679" y="3538728"/>
            <a:ext cx="310896" cy="310896"/>
          </a:xfrm>
          <a:prstGeom prst="roundRect">
            <a:avLst>
              <a:gd name="adj" fmla="val 22000"/>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2</a:t>
            </a:r>
          </a:p>
        </p:txBody>
      </p:sp>
      <p:sp>
        <p:nvSpPr>
          <p:cNvPr id="29" name="TextBox 28"/>
          <p:cNvSpPr txBox="1"/>
          <p:nvPr/>
        </p:nvSpPr>
        <p:spPr>
          <a:xfrm>
            <a:off x="4718303" y="3520440"/>
            <a:ext cx="3108960" cy="274320"/>
          </a:xfrm>
          <a:prstGeom prst="rect">
            <a:avLst/>
          </a:prstGeom>
          <a:noFill/>
        </p:spPr>
        <p:txBody>
          <a:bodyPr wrap="square" lIns="0" rIns="0" tIns="0" bIns="0" anchor="t">
            <a:spAutoFit/>
          </a:bodyPr>
          <a:lstStyle/>
          <a:p>
            <a:pPr algn="l">
              <a:spcAft>
                <a:spcPts val="0"/>
              </a:spcAft>
            </a:pPr>
            <a:r>
              <a:rPr sz="1250" b="1" i="0">
                <a:solidFill>
                  <a:srgbClr val="1B2A4A"/>
                </a:solidFill>
                <a:latin typeface="Calibri"/>
              </a:rPr>
              <a:t>Citation verifier</a:t>
            </a:r>
          </a:p>
        </p:txBody>
      </p:sp>
      <p:sp>
        <p:nvSpPr>
          <p:cNvPr id="30" name="TextBox 29"/>
          <p:cNvSpPr txBox="1"/>
          <p:nvPr/>
        </p:nvSpPr>
        <p:spPr>
          <a:xfrm>
            <a:off x="4718303" y="3794760"/>
            <a:ext cx="3108960" cy="640080"/>
          </a:xfrm>
          <a:prstGeom prst="rect">
            <a:avLst/>
          </a:prstGeom>
          <a:noFill/>
        </p:spPr>
        <p:txBody>
          <a:bodyPr wrap="square" lIns="0" rIns="0" tIns="0" bIns="0" anchor="t">
            <a:spAutoFit/>
          </a:bodyPr>
          <a:lstStyle/>
          <a:p>
            <a:pPr algn="l">
              <a:lnSpc>
                <a:spcPct val="105000"/>
              </a:lnSpc>
              <a:spcAft>
                <a:spcPts val="0"/>
              </a:spcAft>
            </a:pPr>
            <a:r>
              <a:rPr sz="1050" b="0" i="0">
                <a:solidFill>
                  <a:srgbClr val="2B3445"/>
                </a:solidFill>
                <a:latin typeface="Calibri"/>
              </a:rPr>
              <a:t>hallucination control added after early drafts cited bye-laws from memory in testing</a:t>
            </a:r>
          </a:p>
        </p:txBody>
      </p:sp>
      <p:sp>
        <p:nvSpPr>
          <p:cNvPr id="31" name="Rounded Rectangle 30"/>
          <p:cNvSpPr/>
          <p:nvPr/>
        </p:nvSpPr>
        <p:spPr>
          <a:xfrm>
            <a:off x="8046718" y="3538728"/>
            <a:ext cx="310896" cy="310896"/>
          </a:xfrm>
          <a:prstGeom prst="roundRect">
            <a:avLst>
              <a:gd name="adj" fmla="val 22000"/>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3</a:t>
            </a:r>
          </a:p>
        </p:txBody>
      </p:sp>
      <p:sp>
        <p:nvSpPr>
          <p:cNvPr id="32" name="TextBox 31"/>
          <p:cNvSpPr txBox="1"/>
          <p:nvPr/>
        </p:nvSpPr>
        <p:spPr>
          <a:xfrm>
            <a:off x="8467342" y="3520440"/>
            <a:ext cx="3108960" cy="274320"/>
          </a:xfrm>
          <a:prstGeom prst="rect">
            <a:avLst/>
          </a:prstGeom>
          <a:noFill/>
        </p:spPr>
        <p:txBody>
          <a:bodyPr wrap="square" lIns="0" rIns="0" tIns="0" bIns="0" anchor="t">
            <a:spAutoFit/>
          </a:bodyPr>
          <a:lstStyle/>
          <a:p>
            <a:pPr algn="l">
              <a:spcAft>
                <a:spcPts val="0"/>
              </a:spcAft>
            </a:pPr>
            <a:r>
              <a:rPr sz="1250" b="1" i="0">
                <a:solidFill>
                  <a:srgbClr val="1B2A4A"/>
                </a:solidFill>
                <a:latin typeface="Calibri"/>
              </a:rPr>
              <a:t>Data minimisation</a:t>
            </a:r>
          </a:p>
        </p:txBody>
      </p:sp>
      <p:sp>
        <p:nvSpPr>
          <p:cNvPr id="33" name="TextBox 32"/>
          <p:cNvSpPr txBox="1"/>
          <p:nvPr/>
        </p:nvSpPr>
        <p:spPr>
          <a:xfrm>
            <a:off x="8467342" y="3794760"/>
            <a:ext cx="3108960" cy="640080"/>
          </a:xfrm>
          <a:prstGeom prst="rect">
            <a:avLst/>
          </a:prstGeom>
          <a:noFill/>
        </p:spPr>
        <p:txBody>
          <a:bodyPr wrap="square" lIns="0" rIns="0" tIns="0" bIns="0" anchor="t">
            <a:spAutoFit/>
          </a:bodyPr>
          <a:lstStyle/>
          <a:p>
            <a:pPr algn="l">
              <a:lnSpc>
                <a:spcPct val="105000"/>
              </a:lnSpc>
              <a:spcAft>
                <a:spcPts val="0"/>
              </a:spcAft>
            </a:pPr>
            <a:r>
              <a:rPr sz="1050" b="0" i="0">
                <a:solidFill>
                  <a:srgbClr val="2B3445"/>
                </a:solidFill>
                <a:latin typeface="Calibri"/>
              </a:rPr>
              <a:t>names, mobiles and PANs excluded from every context (DPDP Act 2023)</a:t>
            </a:r>
          </a:p>
        </p:txBody>
      </p:sp>
      <p:sp>
        <p:nvSpPr>
          <p:cNvPr id="34" name="Rounded Rectangle 33"/>
          <p:cNvSpPr/>
          <p:nvPr/>
        </p:nvSpPr>
        <p:spPr>
          <a:xfrm>
            <a:off x="548640" y="4498848"/>
            <a:ext cx="310896" cy="310896"/>
          </a:xfrm>
          <a:prstGeom prst="roundRect">
            <a:avLst>
              <a:gd name="adj" fmla="val 22000"/>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4</a:t>
            </a:r>
          </a:p>
        </p:txBody>
      </p:sp>
      <p:sp>
        <p:nvSpPr>
          <p:cNvPr id="35" name="TextBox 34"/>
          <p:cNvSpPr txBox="1"/>
          <p:nvPr/>
        </p:nvSpPr>
        <p:spPr>
          <a:xfrm>
            <a:off x="969264" y="4480560"/>
            <a:ext cx="3108960" cy="274320"/>
          </a:xfrm>
          <a:prstGeom prst="rect">
            <a:avLst/>
          </a:prstGeom>
          <a:noFill/>
        </p:spPr>
        <p:txBody>
          <a:bodyPr wrap="square" lIns="0" rIns="0" tIns="0" bIns="0" anchor="t">
            <a:spAutoFit/>
          </a:bodyPr>
          <a:lstStyle/>
          <a:p>
            <a:pPr algn="l">
              <a:spcAft>
                <a:spcPts val="0"/>
              </a:spcAft>
            </a:pPr>
            <a:r>
              <a:rPr sz="1250" b="1" i="0">
                <a:solidFill>
                  <a:srgbClr val="1B2A4A"/>
                </a:solidFill>
                <a:latin typeface="Calibri"/>
              </a:rPr>
              <a:t>Fallback</a:t>
            </a:r>
          </a:p>
        </p:txBody>
      </p:sp>
      <p:sp>
        <p:nvSpPr>
          <p:cNvPr id="36" name="TextBox 35"/>
          <p:cNvSpPr txBox="1"/>
          <p:nvPr/>
        </p:nvSpPr>
        <p:spPr>
          <a:xfrm>
            <a:off x="969264" y="4754880"/>
            <a:ext cx="3108960" cy="640080"/>
          </a:xfrm>
          <a:prstGeom prst="rect">
            <a:avLst/>
          </a:prstGeom>
          <a:noFill/>
        </p:spPr>
        <p:txBody>
          <a:bodyPr wrap="square" lIns="0" rIns="0" tIns="0" bIns="0" anchor="t">
            <a:spAutoFit/>
          </a:bodyPr>
          <a:lstStyle/>
          <a:p>
            <a:pPr algn="l">
              <a:lnSpc>
                <a:spcPct val="105000"/>
              </a:lnSpc>
              <a:spcAft>
                <a:spcPts val="0"/>
              </a:spcAft>
            </a:pPr>
            <a:r>
              <a:rPr sz="1050" b="0" i="0">
                <a:solidFill>
                  <a:srgbClr val="2B3445"/>
                </a:solidFill>
                <a:latin typeface="Calibri"/>
              </a:rPr>
              <a:t>server-side fallback beta; on refusal or API error the deterministic template produces the document</a:t>
            </a:r>
          </a:p>
        </p:txBody>
      </p:sp>
      <p:sp>
        <p:nvSpPr>
          <p:cNvPr id="37" name="Rounded Rectangle 36"/>
          <p:cNvSpPr/>
          <p:nvPr/>
        </p:nvSpPr>
        <p:spPr>
          <a:xfrm>
            <a:off x="4297679" y="4498848"/>
            <a:ext cx="310896" cy="310896"/>
          </a:xfrm>
          <a:prstGeom prst="roundRect">
            <a:avLst>
              <a:gd name="adj" fmla="val 22000"/>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5</a:t>
            </a:r>
          </a:p>
        </p:txBody>
      </p:sp>
      <p:sp>
        <p:nvSpPr>
          <p:cNvPr id="38" name="TextBox 37"/>
          <p:cNvSpPr txBox="1"/>
          <p:nvPr/>
        </p:nvSpPr>
        <p:spPr>
          <a:xfrm>
            <a:off x="4718303" y="4480560"/>
            <a:ext cx="3108960" cy="274320"/>
          </a:xfrm>
          <a:prstGeom prst="rect">
            <a:avLst/>
          </a:prstGeom>
          <a:noFill/>
        </p:spPr>
        <p:txBody>
          <a:bodyPr wrap="square" lIns="0" rIns="0" tIns="0" bIns="0" anchor="t">
            <a:spAutoFit/>
          </a:bodyPr>
          <a:lstStyle/>
          <a:p>
            <a:pPr algn="l">
              <a:spcAft>
                <a:spcPts val="0"/>
              </a:spcAft>
            </a:pPr>
            <a:r>
              <a:rPr sz="1250" b="1" i="0">
                <a:solidFill>
                  <a:srgbClr val="1B2A4A"/>
                </a:solidFill>
                <a:latin typeface="Calibri"/>
              </a:rPr>
              <a:t>Full logging</a:t>
            </a:r>
          </a:p>
        </p:txBody>
      </p:sp>
      <p:sp>
        <p:nvSpPr>
          <p:cNvPr id="39" name="TextBox 38"/>
          <p:cNvSpPr txBox="1"/>
          <p:nvPr/>
        </p:nvSpPr>
        <p:spPr>
          <a:xfrm>
            <a:off x="4718303" y="4754880"/>
            <a:ext cx="3108960" cy="640080"/>
          </a:xfrm>
          <a:prstGeom prst="rect">
            <a:avLst/>
          </a:prstGeom>
          <a:noFill/>
        </p:spPr>
        <p:txBody>
          <a:bodyPr wrap="square" lIns="0" rIns="0" tIns="0" bIns="0" anchor="t">
            <a:spAutoFit/>
          </a:bodyPr>
          <a:lstStyle/>
          <a:p>
            <a:pPr algn="l">
              <a:lnSpc>
                <a:spcPct val="105000"/>
              </a:lnSpc>
              <a:spcAft>
                <a:spcPts val="0"/>
              </a:spcAft>
            </a:pPr>
            <a:r>
              <a:rPr sz="1050" b="0" i="0">
                <a:solidFill>
                  <a:srgbClr val="2B3445"/>
                </a:solidFill>
                <a:latin typeface="Calibri"/>
              </a:rPr>
              <a:t>prompt, response, source (model or template) and flags written to ai_prompt_log.md</a:t>
            </a:r>
          </a:p>
        </p:txBody>
      </p:sp>
      <p:sp>
        <p:nvSpPr>
          <p:cNvPr id="40" name="Rounded Rectangle 39"/>
          <p:cNvSpPr/>
          <p:nvPr/>
        </p:nvSpPr>
        <p:spPr>
          <a:xfrm>
            <a:off x="8046718" y="4498848"/>
            <a:ext cx="310896" cy="310896"/>
          </a:xfrm>
          <a:prstGeom prst="roundRect">
            <a:avLst>
              <a:gd name="adj" fmla="val 22000"/>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6</a:t>
            </a:r>
          </a:p>
        </p:txBody>
      </p:sp>
      <p:sp>
        <p:nvSpPr>
          <p:cNvPr id="41" name="TextBox 40"/>
          <p:cNvSpPr txBox="1"/>
          <p:nvPr/>
        </p:nvSpPr>
        <p:spPr>
          <a:xfrm>
            <a:off x="8467342" y="4480560"/>
            <a:ext cx="3108960" cy="274320"/>
          </a:xfrm>
          <a:prstGeom prst="rect">
            <a:avLst/>
          </a:prstGeom>
          <a:noFill/>
        </p:spPr>
        <p:txBody>
          <a:bodyPr wrap="square" lIns="0" rIns="0" tIns="0" bIns="0" anchor="t">
            <a:spAutoFit/>
          </a:bodyPr>
          <a:lstStyle/>
          <a:p>
            <a:pPr algn="l">
              <a:spcAft>
                <a:spcPts val="0"/>
              </a:spcAft>
            </a:pPr>
            <a:r>
              <a:rPr sz="1250" b="1" i="0">
                <a:solidFill>
                  <a:srgbClr val="1B2A4A"/>
                </a:solidFill>
                <a:latin typeface="Calibri"/>
              </a:rPr>
              <a:t>Human in the loop</a:t>
            </a:r>
          </a:p>
        </p:txBody>
      </p:sp>
      <p:sp>
        <p:nvSpPr>
          <p:cNvPr id="42" name="TextBox 41"/>
          <p:cNvSpPr txBox="1"/>
          <p:nvPr/>
        </p:nvSpPr>
        <p:spPr>
          <a:xfrm>
            <a:off x="8467342" y="4754880"/>
            <a:ext cx="3108960" cy="640080"/>
          </a:xfrm>
          <a:prstGeom prst="rect">
            <a:avLst/>
          </a:prstGeom>
          <a:noFill/>
        </p:spPr>
        <p:txBody>
          <a:bodyPr wrap="square" lIns="0" rIns="0" tIns="0" bIns="0" anchor="t">
            <a:spAutoFit/>
          </a:bodyPr>
          <a:lstStyle/>
          <a:p>
            <a:pPr algn="l">
              <a:lnSpc>
                <a:spcPct val="105000"/>
              </a:lnSpc>
              <a:spcAft>
                <a:spcPts val="0"/>
              </a:spcAft>
            </a:pPr>
            <a:r>
              <a:rPr sz="1050" b="0" i="0">
                <a:solidFill>
                  <a:srgbClr val="2B3445"/>
                </a:solidFill>
                <a:latin typeface="Calibri"/>
              </a:rPr>
              <a:t>every output is marked draft; the signing partner reviews it against the schedules</a:t>
            </a:r>
          </a:p>
        </p:txBody>
      </p:sp>
      <p:sp>
        <p:nvSpPr>
          <p:cNvPr id="43" name="Rounded Rectangle 42"/>
          <p:cNvSpPr/>
          <p:nvPr/>
        </p:nvSpPr>
        <p:spPr>
          <a:xfrm>
            <a:off x="548640" y="5532120"/>
            <a:ext cx="11094415" cy="731520"/>
          </a:xfrm>
          <a:prstGeom prst="roundRect">
            <a:avLst>
              <a:gd name="adj" fmla="val 6000"/>
            </a:avLst>
          </a:prstGeom>
          <a:solidFill>
            <a:srgbClr val="DF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22960" y="5605272"/>
            <a:ext cx="10545775" cy="594360"/>
          </a:xfrm>
          <a:prstGeom prst="rect">
            <a:avLst/>
          </a:prstGeom>
          <a:noFill/>
        </p:spPr>
        <p:txBody>
          <a:bodyPr wrap="square" lIns="0" rIns="0" tIns="0" bIns="0" anchor="t">
            <a:spAutoFit/>
          </a:bodyPr>
          <a:lstStyle/>
          <a:p>
            <a:pPr algn="l">
              <a:lnSpc>
                <a:spcPct val="108000"/>
              </a:lnSpc>
              <a:spcAft>
                <a:spcPts val="0"/>
              </a:spcAft>
            </a:pPr>
            <a:r>
              <a:rPr sz="1150" b="1" i="0">
                <a:solidFill>
                  <a:srgbClr val="1B2A4A"/>
                </a:solidFill>
                <a:latin typeface="Calibri"/>
              </a:rPr>
              <a:t>Honest disclosure on the included run: </a:t>
            </a:r>
            <a:r>
              <a:rPr sz="1150" b="0" i="0">
                <a:solidFill>
                  <a:srgbClr val="2B3445"/>
                </a:solidFill>
                <a:latin typeface="Calibri"/>
              </a:rPr>
              <a:t>no Anthropic credentials were present, so summary.json records ai_enabled = false and all 5 documents in output/ (10 reminder letters included) were produced by the offline templates. The same prompts, context and guardrails run unchanged with the --ai flag and a logged-in SDK.</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Kicker"/>
          <p:cNvSpPr txBox="1"/>
          <p:nvPr/>
        </p:nvSpPr>
        <p:spPr>
          <a:xfrm>
            <a:off x="548640" y="301752"/>
            <a:ext cx="11094415" cy="256032"/>
          </a:xfrm>
          <a:prstGeom prst="rect">
            <a:avLst/>
          </a:prstGeom>
          <a:noFill/>
        </p:spPr>
        <p:txBody>
          <a:bodyPr wrap="square" lIns="0" rIns="0" tIns="0" bIns="0" anchor="t">
            <a:spAutoFit/>
          </a:bodyPr>
          <a:lstStyle/>
          <a:p>
            <a:pPr algn="l">
              <a:spcAft>
                <a:spcPts val="0"/>
              </a:spcAft>
            </a:pPr>
            <a:r>
              <a:rPr sz="1100" b="1" i="0">
                <a:solidFill>
                  <a:srgbClr val="0F8B8D"/>
                </a:solidFill>
                <a:latin typeface="Calibri"/>
              </a:rPr>
              <a:t>RESULTS</a:t>
            </a:r>
          </a:p>
        </p:txBody>
      </p:sp>
      <p:sp>
        <p:nvSpPr>
          <p:cNvPr id="3" name="Title"/>
          <p:cNvSpPr txBox="1"/>
          <p:nvPr/>
        </p:nvSpPr>
        <p:spPr>
          <a:xfrm>
            <a:off x="548640" y="566928"/>
            <a:ext cx="11094415" cy="640080"/>
          </a:xfrm>
          <a:prstGeom prst="rect">
            <a:avLst/>
          </a:prstGeom>
          <a:noFill/>
        </p:spPr>
        <p:txBody>
          <a:bodyPr wrap="square" lIns="0" rIns="0" tIns="0" bIns="0" anchor="t">
            <a:spAutoFit/>
          </a:bodyPr>
          <a:lstStyle/>
          <a:p>
            <a:pPr algn="l">
              <a:spcAft>
                <a:spcPts val="0"/>
              </a:spcAft>
            </a:pPr>
            <a:r>
              <a:rPr sz="2800" b="1" i="0">
                <a:solidFill>
                  <a:srgbClr val="1B2A4A"/>
                </a:solidFill>
                <a:latin typeface="Calibri"/>
              </a:rPr>
              <a:t>22 observations, 19/19 seeded failures, Rs 28,46,514 exposure</a:t>
            </a:r>
          </a:p>
        </p:txBody>
      </p:sp>
      <p:sp>
        <p:nvSpPr>
          <p:cNvPr id="4" name="Footer"/>
          <p:cNvSpPr txBox="1"/>
          <p:nvPr/>
        </p:nvSpPr>
        <p:spPr>
          <a:xfrm>
            <a:off x="548640" y="6419088"/>
            <a:ext cx="8229600" cy="228600"/>
          </a:xfrm>
          <a:prstGeom prst="rect">
            <a:avLst/>
          </a:prstGeom>
          <a:noFill/>
        </p:spPr>
        <p:txBody>
          <a:bodyPr wrap="square" lIns="0" rIns="0" tIns="0" bIns="0" anchor="t">
            <a:spAutoFit/>
          </a:bodyPr>
          <a:lstStyle/>
          <a:p>
            <a:pPr algn="l">
              <a:spcAft>
                <a:spcPts val="0"/>
              </a:spcAft>
            </a:pPr>
            <a:r>
              <a:rPr sz="900" b="0" i="0">
                <a:solidFill>
                  <a:srgbClr val="5F6B7A"/>
                </a:solidFill>
                <a:latin typeface="Calibri"/>
              </a:rPr>
              <a:t>AICA Level 2  |  Module C Capstone  |  AI-Powered Statutory Audit Assistant for CHS  |  synthetic data</a:t>
            </a:r>
          </a:p>
        </p:txBody>
      </p:sp>
      <p:sp>
        <p:nvSpPr>
          <p:cNvPr id="5" name="SlideNo"/>
          <p:cNvSpPr txBox="1"/>
          <p:nvPr/>
        </p:nvSpPr>
        <p:spPr>
          <a:xfrm>
            <a:off x="10725912" y="6419088"/>
            <a:ext cx="914400" cy="228600"/>
          </a:xfrm>
          <a:prstGeom prst="rect">
            <a:avLst/>
          </a:prstGeom>
          <a:noFill/>
        </p:spPr>
        <p:txBody>
          <a:bodyPr wrap="square" lIns="0" rIns="0" tIns="0" bIns="0" anchor="t">
            <a:spAutoFit/>
          </a:bodyPr>
          <a:lstStyle/>
          <a:p>
            <a:pPr algn="r">
              <a:spcAft>
                <a:spcPts val="0"/>
              </a:spcAft>
            </a:pPr>
            <a:r>
              <a:rPr sz="900" b="0" i="0">
                <a:solidFill>
                  <a:srgbClr val="5F6B7A"/>
                </a:solidFill>
                <a:latin typeface="Calibri"/>
              </a:rPr>
              <a:t>11 / 14</a:t>
            </a:r>
          </a:p>
        </p:txBody>
      </p:sp>
      <p:sp>
        <p:nvSpPr>
          <p:cNvPr id="6" name="Rounded Rectangle 5"/>
          <p:cNvSpPr/>
          <p:nvPr/>
        </p:nvSpPr>
        <p:spPr>
          <a:xfrm>
            <a:off x="548640" y="1417320"/>
            <a:ext cx="3611880" cy="1051560"/>
          </a:xfrm>
          <a:prstGeom prst="roundRect">
            <a:avLst>
              <a:gd name="adj" fmla="val 6000"/>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545336"/>
            <a:ext cx="3246120" cy="457200"/>
          </a:xfrm>
          <a:prstGeom prst="rect">
            <a:avLst/>
          </a:prstGeom>
          <a:noFill/>
        </p:spPr>
        <p:txBody>
          <a:bodyPr wrap="square" lIns="0" rIns="0" tIns="0" bIns="0" anchor="t">
            <a:spAutoFit/>
          </a:bodyPr>
          <a:lstStyle/>
          <a:p>
            <a:pPr algn="l">
              <a:spcAft>
                <a:spcPts val="0"/>
              </a:spcAft>
            </a:pPr>
            <a:r>
              <a:rPr sz="2400" b="1" i="0">
                <a:solidFill>
                  <a:srgbClr val="1B2A4A"/>
                </a:solidFill>
                <a:latin typeface="Calibri"/>
              </a:rPr>
              <a:t>22</a:t>
            </a:r>
          </a:p>
        </p:txBody>
      </p:sp>
      <p:sp>
        <p:nvSpPr>
          <p:cNvPr id="8" name="TextBox 7"/>
          <p:cNvSpPr txBox="1"/>
          <p:nvPr/>
        </p:nvSpPr>
        <p:spPr>
          <a:xfrm>
            <a:off x="731520" y="1901952"/>
            <a:ext cx="3246120" cy="457200"/>
          </a:xfrm>
          <a:prstGeom prst="rect">
            <a:avLst/>
          </a:prstGeom>
          <a:noFill/>
        </p:spPr>
        <p:txBody>
          <a:bodyPr wrap="square" lIns="0" rIns="0" tIns="0" bIns="0" anchor="t">
            <a:spAutoFit/>
          </a:bodyPr>
          <a:lstStyle/>
          <a:p>
            <a:pPr algn="l">
              <a:spcAft>
                <a:spcPts val="0"/>
              </a:spcAft>
            </a:pPr>
            <a:r>
              <a:rPr sz="1100" b="0" i="0">
                <a:solidFill>
                  <a:srgbClr val="5F6B7A"/>
                </a:solidFill>
                <a:latin typeface="Calibri"/>
              </a:rPr>
              <a:t>observations (13 High, 6 Medium, 3 Low)</a:t>
            </a:r>
          </a:p>
        </p:txBody>
      </p:sp>
      <p:sp>
        <p:nvSpPr>
          <p:cNvPr id="9" name="Rounded Rectangle 8"/>
          <p:cNvSpPr/>
          <p:nvPr/>
        </p:nvSpPr>
        <p:spPr>
          <a:xfrm>
            <a:off x="4288536" y="1417320"/>
            <a:ext cx="3611880" cy="1051560"/>
          </a:xfrm>
          <a:prstGeom prst="roundRect">
            <a:avLst>
              <a:gd name="adj" fmla="val 6000"/>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71416" y="1545336"/>
            <a:ext cx="3246120" cy="457200"/>
          </a:xfrm>
          <a:prstGeom prst="rect">
            <a:avLst/>
          </a:prstGeom>
          <a:noFill/>
        </p:spPr>
        <p:txBody>
          <a:bodyPr wrap="square" lIns="0" rIns="0" tIns="0" bIns="0" anchor="t">
            <a:spAutoFit/>
          </a:bodyPr>
          <a:lstStyle/>
          <a:p>
            <a:pPr algn="l">
              <a:spcAft>
                <a:spcPts val="0"/>
              </a:spcAft>
            </a:pPr>
            <a:r>
              <a:rPr sz="2400" b="1" i="0">
                <a:solidFill>
                  <a:srgbClr val="1B2A4A"/>
                </a:solidFill>
                <a:latin typeface="Calibri"/>
              </a:rPr>
              <a:t>19 / 19</a:t>
            </a:r>
          </a:p>
        </p:txBody>
      </p:sp>
      <p:sp>
        <p:nvSpPr>
          <p:cNvPr id="11" name="TextBox 10"/>
          <p:cNvSpPr txBox="1"/>
          <p:nvPr/>
        </p:nvSpPr>
        <p:spPr>
          <a:xfrm>
            <a:off x="4471416" y="1901952"/>
            <a:ext cx="3246120" cy="457200"/>
          </a:xfrm>
          <a:prstGeom prst="rect">
            <a:avLst/>
          </a:prstGeom>
          <a:noFill/>
        </p:spPr>
        <p:txBody>
          <a:bodyPr wrap="square" lIns="0" rIns="0" tIns="0" bIns="0" anchor="t">
            <a:spAutoFit/>
          </a:bodyPr>
          <a:lstStyle/>
          <a:p>
            <a:pPr algn="l">
              <a:spcAft>
                <a:spcPts val="0"/>
              </a:spcAft>
            </a:pPr>
            <a:r>
              <a:rPr sz="1100" b="0" i="0">
                <a:solidFill>
                  <a:srgbClr val="5F6B7A"/>
                </a:solidFill>
                <a:latin typeface="Calibri"/>
              </a:rPr>
              <a:t>seeded control failures detected</a:t>
            </a:r>
          </a:p>
        </p:txBody>
      </p:sp>
      <p:sp>
        <p:nvSpPr>
          <p:cNvPr id="12" name="Rounded Rectangle 11"/>
          <p:cNvSpPr/>
          <p:nvPr/>
        </p:nvSpPr>
        <p:spPr>
          <a:xfrm>
            <a:off x="8028432" y="1417320"/>
            <a:ext cx="3611880" cy="1051560"/>
          </a:xfrm>
          <a:prstGeom prst="roundRect">
            <a:avLst>
              <a:gd name="adj" fmla="val 6000"/>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11312" y="1545336"/>
            <a:ext cx="3246120" cy="457200"/>
          </a:xfrm>
          <a:prstGeom prst="rect">
            <a:avLst/>
          </a:prstGeom>
          <a:noFill/>
        </p:spPr>
        <p:txBody>
          <a:bodyPr wrap="square" lIns="0" rIns="0" tIns="0" bIns="0" anchor="t">
            <a:spAutoFit/>
          </a:bodyPr>
          <a:lstStyle/>
          <a:p>
            <a:pPr algn="l">
              <a:spcAft>
                <a:spcPts val="0"/>
              </a:spcAft>
            </a:pPr>
            <a:r>
              <a:rPr sz="2400" b="1" i="0">
                <a:solidFill>
                  <a:srgbClr val="1B2A4A"/>
                </a:solidFill>
                <a:latin typeface="Calibri"/>
              </a:rPr>
              <a:t>Rs 28,46,514</a:t>
            </a:r>
          </a:p>
        </p:txBody>
      </p:sp>
      <p:sp>
        <p:nvSpPr>
          <p:cNvPr id="14" name="TextBox 13"/>
          <p:cNvSpPr txBox="1"/>
          <p:nvPr/>
        </p:nvSpPr>
        <p:spPr>
          <a:xfrm>
            <a:off x="8211312" y="1901952"/>
            <a:ext cx="3246120" cy="457200"/>
          </a:xfrm>
          <a:prstGeom prst="rect">
            <a:avLst/>
          </a:prstGeom>
          <a:noFill/>
        </p:spPr>
        <p:txBody>
          <a:bodyPr wrap="square" lIns="0" rIns="0" tIns="0" bIns="0" anchor="t">
            <a:spAutoFit/>
          </a:bodyPr>
          <a:lstStyle/>
          <a:p>
            <a:pPr algn="l">
              <a:spcAft>
                <a:spcPts val="0"/>
              </a:spcAft>
            </a:pPr>
            <a:r>
              <a:rPr sz="1100" b="0" i="0">
                <a:solidFill>
                  <a:srgbClr val="5F6B7A"/>
                </a:solidFill>
                <a:latin typeface="Calibri"/>
              </a:rPr>
              <a:t>quantified exposure across findings</a:t>
            </a:r>
          </a:p>
        </p:txBody>
      </p:sp>
      <p:sp>
        <p:nvSpPr>
          <p:cNvPr id="15" name="Rounded Rectangle 14"/>
          <p:cNvSpPr/>
          <p:nvPr/>
        </p:nvSpPr>
        <p:spPr>
          <a:xfrm>
            <a:off x="548640" y="2606040"/>
            <a:ext cx="3611880" cy="1051560"/>
          </a:xfrm>
          <a:prstGeom prst="roundRect">
            <a:avLst>
              <a:gd name="adj" fmla="val 6000"/>
            </a:avLst>
          </a:prstGeom>
          <a:solidFill>
            <a:srgbClr val="DF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734056"/>
            <a:ext cx="3246120" cy="457200"/>
          </a:xfrm>
          <a:prstGeom prst="rect">
            <a:avLst/>
          </a:prstGeom>
          <a:noFill/>
        </p:spPr>
        <p:txBody>
          <a:bodyPr wrap="square" lIns="0" rIns="0" tIns="0" bIns="0" anchor="t">
            <a:spAutoFit/>
          </a:bodyPr>
          <a:lstStyle/>
          <a:p>
            <a:pPr algn="l">
              <a:spcAft>
                <a:spcPts val="0"/>
              </a:spcAft>
            </a:pPr>
            <a:r>
              <a:rPr sz="2400" b="1" i="0">
                <a:solidFill>
                  <a:srgbClr val="1B2A4A"/>
                </a:solidFill>
                <a:latin typeface="Calibri"/>
              </a:rPr>
              <a:t>Rs 10,37,561</a:t>
            </a:r>
          </a:p>
        </p:txBody>
      </p:sp>
      <p:sp>
        <p:nvSpPr>
          <p:cNvPr id="17" name="TextBox 16"/>
          <p:cNvSpPr txBox="1"/>
          <p:nvPr/>
        </p:nvSpPr>
        <p:spPr>
          <a:xfrm>
            <a:off x="731520" y="3090672"/>
            <a:ext cx="3246120" cy="457200"/>
          </a:xfrm>
          <a:prstGeom prst="rect">
            <a:avLst/>
          </a:prstGeom>
          <a:noFill/>
        </p:spPr>
        <p:txBody>
          <a:bodyPr wrap="square" lIns="0" rIns="0" tIns="0" bIns="0" anchor="t">
            <a:spAutoFit/>
          </a:bodyPr>
          <a:lstStyle/>
          <a:p>
            <a:pPr algn="l">
              <a:spcAft>
                <a:spcPts val="0"/>
              </a:spcAft>
            </a:pPr>
            <a:r>
              <a:rPr sz="1100" b="0" i="0">
                <a:solidFill>
                  <a:srgbClr val="5F6B7A"/>
                </a:solidFill>
                <a:latin typeface="Calibri"/>
              </a:rPr>
              <a:t>member dues; 10 defaulters beyond 3 months</a:t>
            </a:r>
          </a:p>
        </p:txBody>
      </p:sp>
      <p:sp>
        <p:nvSpPr>
          <p:cNvPr id="18" name="Rounded Rectangle 17"/>
          <p:cNvSpPr/>
          <p:nvPr/>
        </p:nvSpPr>
        <p:spPr>
          <a:xfrm>
            <a:off x="4288536" y="2606040"/>
            <a:ext cx="3611880" cy="1051560"/>
          </a:xfrm>
          <a:prstGeom prst="roundRect">
            <a:avLst>
              <a:gd name="adj" fmla="val 6000"/>
            </a:avLst>
          </a:prstGeom>
          <a:solidFill>
            <a:srgbClr val="DF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471416" y="2734056"/>
            <a:ext cx="3246120" cy="457200"/>
          </a:xfrm>
          <a:prstGeom prst="rect">
            <a:avLst/>
          </a:prstGeom>
          <a:noFill/>
        </p:spPr>
        <p:txBody>
          <a:bodyPr wrap="square" lIns="0" rIns="0" tIns="0" bIns="0" anchor="t">
            <a:spAutoFit/>
          </a:bodyPr>
          <a:lstStyle/>
          <a:p>
            <a:pPr algn="l">
              <a:spcAft>
                <a:spcPts val="0"/>
              </a:spcAft>
            </a:pPr>
            <a:r>
              <a:rPr sz="2400" b="1" i="0">
                <a:solidFill>
                  <a:srgbClr val="1B2A4A"/>
                </a:solidFill>
                <a:latin typeface="Calibri"/>
              </a:rPr>
              <a:t>Rs 86,483</a:t>
            </a:r>
          </a:p>
        </p:txBody>
      </p:sp>
      <p:sp>
        <p:nvSpPr>
          <p:cNvPr id="20" name="TextBox 19"/>
          <p:cNvSpPr txBox="1"/>
          <p:nvPr/>
        </p:nvSpPr>
        <p:spPr>
          <a:xfrm>
            <a:off x="4471416" y="3090672"/>
            <a:ext cx="3246120" cy="457200"/>
          </a:xfrm>
          <a:prstGeom prst="rect">
            <a:avLst/>
          </a:prstGeom>
          <a:noFill/>
        </p:spPr>
        <p:txBody>
          <a:bodyPr wrap="square" lIns="0" rIns="0" tIns="0" bIns="0" anchor="t">
            <a:spAutoFit/>
          </a:bodyPr>
          <a:lstStyle/>
          <a:p>
            <a:pPr algn="l">
              <a:spcAft>
                <a:spcPts val="0"/>
              </a:spcAft>
            </a:pPr>
            <a:r>
              <a:rPr sz="1100" b="0" i="0">
                <a:solidFill>
                  <a:srgbClr val="5F6B7A"/>
                </a:solidFill>
                <a:latin typeface="Calibri"/>
              </a:rPr>
              <a:t>GST billing error (over and under)</a:t>
            </a:r>
          </a:p>
        </p:txBody>
      </p:sp>
      <p:sp>
        <p:nvSpPr>
          <p:cNvPr id="21" name="Rounded Rectangle 20"/>
          <p:cNvSpPr/>
          <p:nvPr/>
        </p:nvSpPr>
        <p:spPr>
          <a:xfrm>
            <a:off x="8028432" y="2606040"/>
            <a:ext cx="3611880" cy="1051560"/>
          </a:xfrm>
          <a:prstGeom prst="roundRect">
            <a:avLst>
              <a:gd name="adj" fmla="val 6000"/>
            </a:avLst>
          </a:prstGeom>
          <a:solidFill>
            <a:srgbClr val="DF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11312" y="2734056"/>
            <a:ext cx="3246120" cy="457200"/>
          </a:xfrm>
          <a:prstGeom prst="rect">
            <a:avLst/>
          </a:prstGeom>
          <a:noFill/>
        </p:spPr>
        <p:txBody>
          <a:bodyPr wrap="square" lIns="0" rIns="0" tIns="0" bIns="0" anchor="t">
            <a:spAutoFit/>
          </a:bodyPr>
          <a:lstStyle/>
          <a:p>
            <a:pPr algn="l">
              <a:spcAft>
                <a:spcPts val="0"/>
              </a:spcAft>
            </a:pPr>
            <a:r>
              <a:rPr sz="2400" b="1" i="0">
                <a:solidFill>
                  <a:srgbClr val="1B2A4A"/>
                </a:solidFill>
                <a:latin typeface="Calibri"/>
              </a:rPr>
              <a:t>Rs 11,82,001</a:t>
            </a:r>
          </a:p>
        </p:txBody>
      </p:sp>
      <p:sp>
        <p:nvSpPr>
          <p:cNvPr id="23" name="TextBox 22"/>
          <p:cNvSpPr txBox="1"/>
          <p:nvPr/>
        </p:nvSpPr>
        <p:spPr>
          <a:xfrm>
            <a:off x="8211312" y="3090672"/>
            <a:ext cx="3246120" cy="457200"/>
          </a:xfrm>
          <a:prstGeom prst="rect">
            <a:avLst/>
          </a:prstGeom>
          <a:noFill/>
        </p:spPr>
        <p:txBody>
          <a:bodyPr wrap="square" lIns="0" rIns="0" tIns="0" bIns="0" anchor="t">
            <a:spAutoFit/>
          </a:bodyPr>
          <a:lstStyle/>
          <a:p>
            <a:pPr algn="l">
              <a:spcAft>
                <a:spcPts val="0"/>
              </a:spcAft>
            </a:pPr>
            <a:r>
              <a:rPr sz="1100" b="0" i="0">
                <a:solidFill>
                  <a:srgbClr val="5F6B7A"/>
                </a:solidFill>
                <a:latin typeface="Calibri"/>
              </a:rPr>
              <a:t>sinking fund under-investment</a:t>
            </a:r>
          </a:p>
        </p:txBody>
      </p:sp>
      <p:sp>
        <p:nvSpPr>
          <p:cNvPr id="24" name="TextBox 23"/>
          <p:cNvSpPr txBox="1"/>
          <p:nvPr/>
        </p:nvSpPr>
        <p:spPr>
          <a:xfrm>
            <a:off x="548640" y="3840480"/>
            <a:ext cx="6949440" cy="274320"/>
          </a:xfrm>
          <a:prstGeom prst="rect">
            <a:avLst/>
          </a:prstGeom>
          <a:noFill/>
        </p:spPr>
        <p:txBody>
          <a:bodyPr wrap="square" lIns="0" rIns="0" tIns="0" bIns="0" anchor="t">
            <a:spAutoFit/>
          </a:bodyPr>
          <a:lstStyle/>
          <a:p>
            <a:pPr algn="l">
              <a:spcAft>
                <a:spcPts val="0"/>
              </a:spcAft>
            </a:pPr>
            <a:r>
              <a:rPr sz="1200" b="1" i="0">
                <a:solidFill>
                  <a:srgbClr val="1B2A4A"/>
                </a:solidFill>
                <a:latin typeface="Calibri"/>
              </a:rPr>
              <a:t>Observations by module and severity (findings.csv)</a:t>
            </a:r>
          </a:p>
        </p:txBody>
      </p:sp>
      <p:graphicFrame>
        <p:nvGraphicFramePr>
          <p:cNvPr id="25" name="Chart 24"/>
          <p:cNvGraphicFramePr>
            <a:graphicFrameLocks noGrp="1"/>
          </p:cNvGraphicFramePr>
          <p:nvPr/>
        </p:nvGraphicFramePr>
        <p:xfrm>
          <a:off x="548640" y="4114800"/>
          <a:ext cx="6949440" cy="2194560"/>
        </p:xfrm>
        <a:graphic>
          <a:graphicData uri="http://schemas.openxmlformats.org/drawingml/2006/chart">
            <c:chart xmlns:c="http://schemas.openxmlformats.org/drawingml/2006/chart" r:id="rId2"/>
          </a:graphicData>
        </a:graphic>
      </p:graphicFrame>
      <p:sp>
        <p:nvSpPr>
          <p:cNvPr id="26" name="Rounded Rectangle 25"/>
          <p:cNvSpPr/>
          <p:nvPr/>
        </p:nvSpPr>
        <p:spPr>
          <a:xfrm>
            <a:off x="7818120" y="3840480"/>
            <a:ext cx="3822191" cy="2468880"/>
          </a:xfrm>
          <a:prstGeom prst="roundRect">
            <a:avLst>
              <a:gd name="adj" fmla="val 6000"/>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46720" y="4023360"/>
            <a:ext cx="3383280" cy="274320"/>
          </a:xfrm>
          <a:prstGeom prst="rect">
            <a:avLst/>
          </a:prstGeom>
          <a:noFill/>
        </p:spPr>
        <p:txBody>
          <a:bodyPr wrap="square" lIns="0" rIns="0" tIns="0" bIns="0" anchor="t">
            <a:spAutoFit/>
          </a:bodyPr>
          <a:lstStyle/>
          <a:p>
            <a:pPr algn="l">
              <a:spcAft>
                <a:spcPts val="0"/>
              </a:spcAft>
            </a:pPr>
            <a:r>
              <a:rPr sz="1300" b="1" i="0">
                <a:solidFill>
                  <a:srgbClr val="1B2A4A"/>
                </a:solidFill>
                <a:latin typeface="Calibri"/>
              </a:rPr>
              <a:t>Deliverables in output/</a:t>
            </a:r>
          </a:p>
        </p:txBody>
      </p:sp>
      <p:sp>
        <p:nvSpPr>
          <p:cNvPr id="28" name="TextBox 27"/>
          <p:cNvSpPr txBox="1"/>
          <p:nvPr/>
        </p:nvSpPr>
        <p:spPr>
          <a:xfrm>
            <a:off x="8046720" y="4389120"/>
            <a:ext cx="3383280" cy="1828800"/>
          </a:xfrm>
          <a:prstGeom prst="rect">
            <a:avLst/>
          </a:prstGeom>
          <a:noFill/>
        </p:spPr>
        <p:txBody>
          <a:bodyPr wrap="square" lIns="0" rIns="0" tIns="0" bIns="0" anchor="t">
            <a:spAutoFit/>
          </a:bodyPr>
          <a:lstStyle/>
          <a:p>
            <a:pPr algn="l" marL="201168" indent="-201168">
              <a:lnSpc>
                <a:spcPct val="105000"/>
              </a:lnSpc>
              <a:spcAft>
                <a:spcPts val="400"/>
              </a:spcAft>
              <a:buClr>
                <a:srgbClr val="0F8B8D"/>
              </a:buClr>
              <a:buFont typeface="Arial"/>
              <a:buChar char="▪"/>
            </a:pPr>
            <a:r>
              <a:rPr sz="1050" b="1" i="0">
                <a:solidFill>
                  <a:srgbClr val="2B3445"/>
                </a:solidFill>
                <a:latin typeface="Calibri"/>
              </a:rPr>
              <a:t>CHS_Audit_Workbook_FY2025-26.xlsx - 22 sheets: </a:t>
            </a:r>
            <a:r>
              <a:rPr sz="1050" b="0" i="0">
                <a:solidFill>
                  <a:srgbClr val="2B3445"/>
                </a:solidFill>
                <a:latin typeface="Calibri"/>
              </a:rPr>
              <a:t>observations, every test schedule, drafts</a:t>
            </a:r>
          </a:p>
          <a:p>
            <a:pPr algn="l" marL="201168" indent="-201168">
              <a:lnSpc>
                <a:spcPct val="105000"/>
              </a:lnSpc>
              <a:spcAft>
                <a:spcPts val="400"/>
              </a:spcAft>
              <a:buClr>
                <a:srgbClr val="0F8B8D"/>
              </a:buClr>
              <a:buFont typeface="Arial"/>
              <a:buChar char="▪"/>
            </a:pPr>
            <a:r>
              <a:rPr sz="1050" b="1" i="0">
                <a:solidFill>
                  <a:srgbClr val="2B3445"/>
                </a:solidFill>
                <a:latin typeface="Calibri"/>
              </a:rPr>
              <a:t>dashboard.html - </a:t>
            </a:r>
            <a:r>
              <a:rPr sz="1050" b="0" i="0">
                <a:solidFill>
                  <a:srgbClr val="2B3445"/>
                </a:solidFill>
                <a:latin typeface="Calibri"/>
              </a:rPr>
              <a:t>self-contained KPI and chart page</a:t>
            </a:r>
          </a:p>
          <a:p>
            <a:pPr algn="l" marL="201168" indent="-201168">
              <a:lnSpc>
                <a:spcPct val="105000"/>
              </a:lnSpc>
              <a:spcAft>
                <a:spcPts val="400"/>
              </a:spcAft>
              <a:buClr>
                <a:srgbClr val="0F8B8D"/>
              </a:buClr>
              <a:buFont typeface="Arial"/>
              <a:buChar char="▪"/>
            </a:pPr>
            <a:r>
              <a:rPr sz="1050" b="1" i="0">
                <a:solidFill>
                  <a:srgbClr val="2B3445"/>
                </a:solidFill>
                <a:latin typeface="Calibri"/>
              </a:rPr>
              <a:t>5 Draft_*.txt - </a:t>
            </a:r>
            <a:r>
              <a:rPr sz="1050" b="0" i="0">
                <a:solidFill>
                  <a:srgbClr val="2B3445"/>
                </a:solidFill>
                <a:latin typeface="Calibri"/>
              </a:rPr>
              <a:t>observations, management letter, governance summary, tax note, reminder letters</a:t>
            </a:r>
          </a:p>
          <a:p>
            <a:pPr algn="l" marL="201168" indent="-201168">
              <a:lnSpc>
                <a:spcPct val="105000"/>
              </a:lnSpc>
              <a:spcAft>
                <a:spcPts val="0"/>
              </a:spcAft>
              <a:buClr>
                <a:srgbClr val="0F8B8D"/>
              </a:buClr>
              <a:buFont typeface="Arial"/>
              <a:buChar char="▪"/>
            </a:pPr>
            <a:r>
              <a:rPr sz="1050" b="1" i="0">
                <a:solidFill>
                  <a:srgbClr val="2B3445"/>
                </a:solidFill>
                <a:latin typeface="Calibri"/>
              </a:rPr>
              <a:t>ai_prompt_log.md, findings.csv, summary.json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Kicker"/>
          <p:cNvSpPr txBox="1"/>
          <p:nvPr/>
        </p:nvSpPr>
        <p:spPr>
          <a:xfrm>
            <a:off x="548640" y="301752"/>
            <a:ext cx="11094415" cy="256032"/>
          </a:xfrm>
          <a:prstGeom prst="rect">
            <a:avLst/>
          </a:prstGeom>
          <a:noFill/>
        </p:spPr>
        <p:txBody>
          <a:bodyPr wrap="square" lIns="0" rIns="0" tIns="0" bIns="0" anchor="t">
            <a:spAutoFit/>
          </a:bodyPr>
          <a:lstStyle/>
          <a:p>
            <a:pPr algn="l">
              <a:spcAft>
                <a:spcPts val="0"/>
              </a:spcAft>
            </a:pPr>
            <a:r>
              <a:rPr sz="1100" b="1" i="0">
                <a:solidFill>
                  <a:srgbClr val="0F8B8D"/>
                </a:solidFill>
                <a:latin typeface="Calibri"/>
              </a:rPr>
              <a:t>LEARNING APPLIED</a:t>
            </a:r>
          </a:p>
        </p:txBody>
      </p:sp>
      <p:sp>
        <p:nvSpPr>
          <p:cNvPr id="3" name="Title"/>
          <p:cNvSpPr txBox="1"/>
          <p:nvPr/>
        </p:nvSpPr>
        <p:spPr>
          <a:xfrm>
            <a:off x="548640" y="566928"/>
            <a:ext cx="11094415" cy="640080"/>
          </a:xfrm>
          <a:prstGeom prst="rect">
            <a:avLst/>
          </a:prstGeom>
          <a:noFill/>
        </p:spPr>
        <p:txBody>
          <a:bodyPr wrap="square" lIns="0" rIns="0" tIns="0" bIns="0" anchor="t">
            <a:spAutoFit/>
          </a:bodyPr>
          <a:lstStyle/>
          <a:p>
            <a:pPr algn="l">
              <a:spcAft>
                <a:spcPts val="0"/>
              </a:spcAft>
            </a:pPr>
            <a:r>
              <a:rPr sz="2800" b="1" i="0">
                <a:solidFill>
                  <a:srgbClr val="1B2A4A"/>
                </a:solidFill>
                <a:latin typeface="Calibri"/>
              </a:rPr>
              <a:t>How the five-day AICA Level 2 programme shaped the build</a:t>
            </a:r>
          </a:p>
        </p:txBody>
      </p:sp>
      <p:sp>
        <p:nvSpPr>
          <p:cNvPr id="4" name="Footer"/>
          <p:cNvSpPr txBox="1"/>
          <p:nvPr/>
        </p:nvSpPr>
        <p:spPr>
          <a:xfrm>
            <a:off x="548640" y="6419088"/>
            <a:ext cx="8229600" cy="228600"/>
          </a:xfrm>
          <a:prstGeom prst="rect">
            <a:avLst/>
          </a:prstGeom>
          <a:noFill/>
        </p:spPr>
        <p:txBody>
          <a:bodyPr wrap="square" lIns="0" rIns="0" tIns="0" bIns="0" anchor="t">
            <a:spAutoFit/>
          </a:bodyPr>
          <a:lstStyle/>
          <a:p>
            <a:pPr algn="l">
              <a:spcAft>
                <a:spcPts val="0"/>
              </a:spcAft>
            </a:pPr>
            <a:r>
              <a:rPr sz="900" b="0" i="0">
                <a:solidFill>
                  <a:srgbClr val="5F6B7A"/>
                </a:solidFill>
                <a:latin typeface="Calibri"/>
              </a:rPr>
              <a:t>AICA Level 2  |  Module C Capstone  |  AI-Powered Statutory Audit Assistant for CHS  |  synthetic data</a:t>
            </a:r>
          </a:p>
        </p:txBody>
      </p:sp>
      <p:sp>
        <p:nvSpPr>
          <p:cNvPr id="5" name="SlideNo"/>
          <p:cNvSpPr txBox="1"/>
          <p:nvPr/>
        </p:nvSpPr>
        <p:spPr>
          <a:xfrm>
            <a:off x="10725912" y="6419088"/>
            <a:ext cx="914400" cy="228600"/>
          </a:xfrm>
          <a:prstGeom prst="rect">
            <a:avLst/>
          </a:prstGeom>
          <a:noFill/>
        </p:spPr>
        <p:txBody>
          <a:bodyPr wrap="square" lIns="0" rIns="0" tIns="0" bIns="0" anchor="t">
            <a:spAutoFit/>
          </a:bodyPr>
          <a:lstStyle/>
          <a:p>
            <a:pPr algn="r">
              <a:spcAft>
                <a:spcPts val="0"/>
              </a:spcAft>
            </a:pPr>
            <a:r>
              <a:rPr sz="900" b="0" i="0">
                <a:solidFill>
                  <a:srgbClr val="5F6B7A"/>
                </a:solidFill>
                <a:latin typeface="Calibri"/>
              </a:rPr>
              <a:t>12 / 14</a:t>
            </a:r>
          </a:p>
        </p:txBody>
      </p:sp>
      <p:sp>
        <p:nvSpPr>
          <p:cNvPr id="6" name="Rounded Rectangle 5"/>
          <p:cNvSpPr/>
          <p:nvPr/>
        </p:nvSpPr>
        <p:spPr>
          <a:xfrm>
            <a:off x="548640" y="1417320"/>
            <a:ext cx="3566160" cy="2103120"/>
          </a:xfrm>
          <a:prstGeom prst="roundRect">
            <a:avLst>
              <a:gd name="adj" fmla="val 6000"/>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645920"/>
            <a:ext cx="329184" cy="329184"/>
          </a:xfrm>
          <a:prstGeom prst="roundRect">
            <a:avLst>
              <a:gd name="adj" fmla="val 22000"/>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1</a:t>
            </a:r>
          </a:p>
        </p:txBody>
      </p:sp>
      <p:sp>
        <p:nvSpPr>
          <p:cNvPr id="8" name="TextBox 7"/>
          <p:cNvSpPr txBox="1"/>
          <p:nvPr/>
        </p:nvSpPr>
        <p:spPr>
          <a:xfrm>
            <a:off x="777240" y="2103120"/>
            <a:ext cx="3108960" cy="548640"/>
          </a:xfrm>
          <a:prstGeom prst="rect">
            <a:avLst/>
          </a:prstGeom>
          <a:noFill/>
        </p:spPr>
        <p:txBody>
          <a:bodyPr wrap="square" lIns="0" rIns="0" tIns="0" bIns="0" anchor="t">
            <a:spAutoFit/>
          </a:bodyPr>
          <a:lstStyle/>
          <a:p>
            <a:pPr algn="l">
              <a:lnSpc>
                <a:spcPct val="105000"/>
              </a:lnSpc>
              <a:spcAft>
                <a:spcPts val="0"/>
              </a:spcAft>
            </a:pPr>
            <a:r>
              <a:rPr sz="1350" b="1" i="0">
                <a:solidFill>
                  <a:srgbClr val="1B2A4A"/>
                </a:solidFill>
                <a:latin typeface="Calibri"/>
              </a:rPr>
              <a:t>Gen AI fundamentals and prompt engineering</a:t>
            </a:r>
          </a:p>
        </p:txBody>
      </p:sp>
      <p:sp>
        <p:nvSpPr>
          <p:cNvPr id="9" name="TextBox 8"/>
          <p:cNvSpPr txBox="1"/>
          <p:nvPr/>
        </p:nvSpPr>
        <p:spPr>
          <a:xfrm>
            <a:off x="777240" y="2606040"/>
            <a:ext cx="3108960" cy="868680"/>
          </a:xfrm>
          <a:prstGeom prst="rect">
            <a:avLst/>
          </a:prstGeom>
          <a:noFill/>
        </p:spPr>
        <p:txBody>
          <a:bodyPr wrap="square" lIns="0" rIns="0" tIns="0" bIns="0" anchor="t">
            <a:spAutoFit/>
          </a:bodyPr>
          <a:lstStyle/>
          <a:p>
            <a:pPr algn="l">
              <a:lnSpc>
                <a:spcPct val="108000"/>
              </a:lnSpc>
              <a:spcAft>
                <a:spcPts val="0"/>
              </a:spcAft>
            </a:pPr>
            <a:r>
              <a:rPr sz="1050" b="0" i="0">
                <a:solidFill>
                  <a:srgbClr val="2B3445"/>
                </a:solidFill>
                <a:latin typeface="Calibri"/>
              </a:rPr>
              <a:t>Role + task + constraints + format in every prompt; closed-world system prompt; iteration after early drafts cited bye-laws from memory</a:t>
            </a:r>
          </a:p>
        </p:txBody>
      </p:sp>
      <p:sp>
        <p:nvSpPr>
          <p:cNvPr id="10" name="Rounded Rectangle 9"/>
          <p:cNvSpPr/>
          <p:nvPr/>
        </p:nvSpPr>
        <p:spPr>
          <a:xfrm>
            <a:off x="4297679" y="1417320"/>
            <a:ext cx="3566160" cy="2103120"/>
          </a:xfrm>
          <a:prstGeom prst="roundRect">
            <a:avLst>
              <a:gd name="adj" fmla="val 6000"/>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526279" y="1645920"/>
            <a:ext cx="329184" cy="329184"/>
          </a:xfrm>
          <a:prstGeom prst="roundRect">
            <a:avLst>
              <a:gd name="adj" fmla="val 22000"/>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2</a:t>
            </a:r>
          </a:p>
        </p:txBody>
      </p:sp>
      <p:sp>
        <p:nvSpPr>
          <p:cNvPr id="12" name="TextBox 11"/>
          <p:cNvSpPr txBox="1"/>
          <p:nvPr/>
        </p:nvSpPr>
        <p:spPr>
          <a:xfrm>
            <a:off x="4526279" y="2103120"/>
            <a:ext cx="3108960" cy="548640"/>
          </a:xfrm>
          <a:prstGeom prst="rect">
            <a:avLst/>
          </a:prstGeom>
          <a:noFill/>
        </p:spPr>
        <p:txBody>
          <a:bodyPr wrap="square" lIns="0" rIns="0" tIns="0" bIns="0" anchor="t">
            <a:spAutoFit/>
          </a:bodyPr>
          <a:lstStyle/>
          <a:p>
            <a:pPr algn="l">
              <a:lnSpc>
                <a:spcPct val="105000"/>
              </a:lnSpc>
              <a:spcAft>
                <a:spcPts val="0"/>
              </a:spcAft>
            </a:pPr>
            <a:r>
              <a:rPr sz="1350" b="1" i="0">
                <a:solidFill>
                  <a:srgbClr val="1B2A4A"/>
                </a:solidFill>
                <a:latin typeface="Calibri"/>
              </a:rPr>
              <a:t>AI tools for CA practice</a:t>
            </a:r>
          </a:p>
        </p:txBody>
      </p:sp>
      <p:sp>
        <p:nvSpPr>
          <p:cNvPr id="13" name="TextBox 12"/>
          <p:cNvSpPr txBox="1"/>
          <p:nvPr/>
        </p:nvSpPr>
        <p:spPr>
          <a:xfrm>
            <a:off x="4526279" y="2606040"/>
            <a:ext cx="3108960" cy="868680"/>
          </a:xfrm>
          <a:prstGeom prst="rect">
            <a:avLst/>
          </a:prstGeom>
          <a:noFill/>
        </p:spPr>
        <p:txBody>
          <a:bodyPr wrap="square" lIns="0" rIns="0" tIns="0" bIns="0" anchor="t">
            <a:spAutoFit/>
          </a:bodyPr>
          <a:lstStyle/>
          <a:p>
            <a:pPr algn="l">
              <a:lnSpc>
                <a:spcPct val="108000"/>
              </a:lnSpc>
              <a:spcAft>
                <a:spcPts val="0"/>
              </a:spcAft>
            </a:pPr>
            <a:r>
              <a:rPr sz="1050" b="0" i="0">
                <a:solidFill>
                  <a:srgbClr val="2B3445"/>
                </a:solidFill>
                <a:latin typeface="Calibri"/>
              </a:rPr>
              <a:t>Anthropic SDK embedded in a Python CLI the auditor runs; drafts of observations, letters and notes with the partner as reviewer</a:t>
            </a:r>
          </a:p>
        </p:txBody>
      </p:sp>
      <p:sp>
        <p:nvSpPr>
          <p:cNvPr id="14" name="Rounded Rectangle 13"/>
          <p:cNvSpPr/>
          <p:nvPr/>
        </p:nvSpPr>
        <p:spPr>
          <a:xfrm>
            <a:off x="8046718" y="1417320"/>
            <a:ext cx="3566160" cy="2103120"/>
          </a:xfrm>
          <a:prstGeom prst="roundRect">
            <a:avLst>
              <a:gd name="adj" fmla="val 6000"/>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275318" y="1645920"/>
            <a:ext cx="329184" cy="329184"/>
          </a:xfrm>
          <a:prstGeom prst="roundRect">
            <a:avLst>
              <a:gd name="adj" fmla="val 22000"/>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3</a:t>
            </a:r>
          </a:p>
        </p:txBody>
      </p:sp>
      <p:sp>
        <p:nvSpPr>
          <p:cNvPr id="16" name="TextBox 15"/>
          <p:cNvSpPr txBox="1"/>
          <p:nvPr/>
        </p:nvSpPr>
        <p:spPr>
          <a:xfrm>
            <a:off x="8275318" y="2103120"/>
            <a:ext cx="3108960" cy="548640"/>
          </a:xfrm>
          <a:prstGeom prst="rect">
            <a:avLst/>
          </a:prstGeom>
          <a:noFill/>
        </p:spPr>
        <p:txBody>
          <a:bodyPr wrap="square" lIns="0" rIns="0" tIns="0" bIns="0" anchor="t">
            <a:spAutoFit/>
          </a:bodyPr>
          <a:lstStyle/>
          <a:p>
            <a:pPr algn="l">
              <a:lnSpc>
                <a:spcPct val="105000"/>
              </a:lnSpc>
              <a:spcAft>
                <a:spcPts val="0"/>
              </a:spcAft>
            </a:pPr>
            <a:r>
              <a:rPr sz="1350" b="1" i="0">
                <a:solidFill>
                  <a:srgbClr val="1B2A4A"/>
                </a:solidFill>
                <a:latin typeface="Calibri"/>
              </a:rPr>
              <a:t>Data analytics with Excel and Python</a:t>
            </a:r>
          </a:p>
        </p:txBody>
      </p:sp>
      <p:sp>
        <p:nvSpPr>
          <p:cNvPr id="17" name="TextBox 16"/>
          <p:cNvSpPr txBox="1"/>
          <p:nvPr/>
        </p:nvSpPr>
        <p:spPr>
          <a:xfrm>
            <a:off x="8275318" y="2606040"/>
            <a:ext cx="3108960" cy="868680"/>
          </a:xfrm>
          <a:prstGeom prst="rect">
            <a:avLst/>
          </a:prstGeom>
          <a:noFill/>
        </p:spPr>
        <p:txBody>
          <a:bodyPr wrap="square" lIns="0" rIns="0" tIns="0" bIns="0" anchor="t">
            <a:spAutoFit/>
          </a:bodyPr>
          <a:lstStyle/>
          <a:p>
            <a:pPr algn="l">
              <a:lnSpc>
                <a:spcPct val="108000"/>
              </a:lnSpc>
              <a:spcAft>
                <a:spcPts val="0"/>
              </a:spcAft>
            </a:pPr>
            <a:r>
              <a:rPr sz="1050" b="0" i="0">
                <a:solidFill>
                  <a:srgbClr val="2B3445"/>
                </a:solidFill>
                <a:latin typeface="Calibri"/>
              </a:rPr>
              <a:t>pandas ledger reconstruction, recomputation, duplicate and split-invoice detection, Benford; 22-sheet workbook via openpyxl</a:t>
            </a:r>
          </a:p>
        </p:txBody>
      </p:sp>
      <p:sp>
        <p:nvSpPr>
          <p:cNvPr id="18" name="Rounded Rectangle 17"/>
          <p:cNvSpPr/>
          <p:nvPr/>
        </p:nvSpPr>
        <p:spPr>
          <a:xfrm>
            <a:off x="548640" y="3703320"/>
            <a:ext cx="3566160" cy="2103120"/>
          </a:xfrm>
          <a:prstGeom prst="roundRect">
            <a:avLst>
              <a:gd name="adj" fmla="val 6000"/>
            </a:avLst>
          </a:prstGeom>
          <a:solidFill>
            <a:srgbClr val="DF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77240" y="3931920"/>
            <a:ext cx="329184" cy="329184"/>
          </a:xfrm>
          <a:prstGeom prst="roundRect">
            <a:avLst>
              <a:gd name="adj" fmla="val 22000"/>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4</a:t>
            </a:r>
          </a:p>
        </p:txBody>
      </p:sp>
      <p:sp>
        <p:nvSpPr>
          <p:cNvPr id="20" name="TextBox 19"/>
          <p:cNvSpPr txBox="1"/>
          <p:nvPr/>
        </p:nvSpPr>
        <p:spPr>
          <a:xfrm>
            <a:off x="777240" y="4389120"/>
            <a:ext cx="3108960" cy="548640"/>
          </a:xfrm>
          <a:prstGeom prst="rect">
            <a:avLst/>
          </a:prstGeom>
          <a:noFill/>
        </p:spPr>
        <p:txBody>
          <a:bodyPr wrap="square" lIns="0" rIns="0" tIns="0" bIns="0" anchor="t">
            <a:spAutoFit/>
          </a:bodyPr>
          <a:lstStyle/>
          <a:p>
            <a:pPr algn="l">
              <a:lnSpc>
                <a:spcPct val="105000"/>
              </a:lnSpc>
              <a:spcAft>
                <a:spcPts val="0"/>
              </a:spcAft>
            </a:pPr>
            <a:r>
              <a:rPr sz="1350" b="1" i="0">
                <a:solidFill>
                  <a:srgbClr val="1B2A4A"/>
                </a:solidFill>
                <a:latin typeface="Calibri"/>
              </a:rPr>
              <a:t>AI in audit and assurance</a:t>
            </a:r>
          </a:p>
        </p:txBody>
      </p:sp>
      <p:sp>
        <p:nvSpPr>
          <p:cNvPr id="21" name="TextBox 20"/>
          <p:cNvSpPr txBox="1"/>
          <p:nvPr/>
        </p:nvSpPr>
        <p:spPr>
          <a:xfrm>
            <a:off x="777240" y="4892040"/>
            <a:ext cx="3108960" cy="868680"/>
          </a:xfrm>
          <a:prstGeom prst="rect">
            <a:avLst/>
          </a:prstGeom>
          <a:noFill/>
        </p:spPr>
        <p:txBody>
          <a:bodyPr wrap="square" lIns="0" rIns="0" tIns="0" bIns="0" anchor="t">
            <a:spAutoFit/>
          </a:bodyPr>
          <a:lstStyle/>
          <a:p>
            <a:pPr algn="l">
              <a:lnSpc>
                <a:spcPct val="108000"/>
              </a:lnSpc>
              <a:spcAft>
                <a:spcPts val="0"/>
              </a:spcAft>
            </a:pPr>
            <a:r>
              <a:rPr sz="1050" b="0" i="0">
                <a:solidFill>
                  <a:srgbClr val="2B3445"/>
                </a:solidFill>
                <a:latin typeface="Calibri"/>
              </a:rPr>
              <a:t>Rules compute, model writes; every finding carries severity, legal reference, amount and evidence sheet; SA 520 analytics</a:t>
            </a:r>
          </a:p>
        </p:txBody>
      </p:sp>
      <p:sp>
        <p:nvSpPr>
          <p:cNvPr id="22" name="Rounded Rectangle 21"/>
          <p:cNvSpPr/>
          <p:nvPr/>
        </p:nvSpPr>
        <p:spPr>
          <a:xfrm>
            <a:off x="4297679" y="3703320"/>
            <a:ext cx="3566160" cy="2103120"/>
          </a:xfrm>
          <a:prstGeom prst="roundRect">
            <a:avLst>
              <a:gd name="adj" fmla="val 6000"/>
            </a:avLst>
          </a:prstGeom>
          <a:solidFill>
            <a:srgbClr val="DF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4526279" y="3931920"/>
            <a:ext cx="329184" cy="329184"/>
          </a:xfrm>
          <a:prstGeom prst="roundRect">
            <a:avLst>
              <a:gd name="adj" fmla="val 22000"/>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5</a:t>
            </a:r>
          </a:p>
        </p:txBody>
      </p:sp>
      <p:sp>
        <p:nvSpPr>
          <p:cNvPr id="24" name="TextBox 23"/>
          <p:cNvSpPr txBox="1"/>
          <p:nvPr/>
        </p:nvSpPr>
        <p:spPr>
          <a:xfrm>
            <a:off x="4526279" y="4389120"/>
            <a:ext cx="3108960" cy="548640"/>
          </a:xfrm>
          <a:prstGeom prst="rect">
            <a:avLst/>
          </a:prstGeom>
          <a:noFill/>
        </p:spPr>
        <p:txBody>
          <a:bodyPr wrap="square" lIns="0" rIns="0" tIns="0" bIns="0" anchor="t">
            <a:spAutoFit/>
          </a:bodyPr>
          <a:lstStyle/>
          <a:p>
            <a:pPr algn="l">
              <a:lnSpc>
                <a:spcPct val="105000"/>
              </a:lnSpc>
              <a:spcAft>
                <a:spcPts val="0"/>
              </a:spcAft>
            </a:pPr>
            <a:r>
              <a:rPr sz="1350" b="1" i="0">
                <a:solidFill>
                  <a:srgbClr val="1B2A4A"/>
                </a:solidFill>
                <a:latin typeface="Calibri"/>
              </a:rPr>
              <a:t>AI in taxation and compliance</a:t>
            </a:r>
          </a:p>
        </p:txBody>
      </p:sp>
      <p:sp>
        <p:nvSpPr>
          <p:cNvPr id="25" name="TextBox 24"/>
          <p:cNvSpPr txBox="1"/>
          <p:nvPr/>
        </p:nvSpPr>
        <p:spPr>
          <a:xfrm>
            <a:off x="4526279" y="4892040"/>
            <a:ext cx="3108960" cy="868680"/>
          </a:xfrm>
          <a:prstGeom prst="rect">
            <a:avLst/>
          </a:prstGeom>
          <a:noFill/>
        </p:spPr>
        <p:txBody>
          <a:bodyPr wrap="square" lIns="0" rIns="0" tIns="0" bIns="0" anchor="t">
            <a:spAutoFit/>
          </a:bodyPr>
          <a:lstStyle/>
          <a:p>
            <a:pPr algn="l">
              <a:lnSpc>
                <a:spcPct val="108000"/>
              </a:lnSpc>
              <a:spcAft>
                <a:spcPts val="0"/>
              </a:spcAft>
            </a:pPr>
            <a:r>
              <a:rPr sz="1050" b="0" i="0">
                <a:solidFill>
                  <a:srgbClr val="2B3445"/>
                </a:solidFill>
                <a:latin typeface="Calibri"/>
              </a:rPr>
              <a:t>s.80P vs s.115BAD comparison, 234B/234C, TDS rates, GST Rs 7,500 test, rule-driven statutory calendar</a:t>
            </a:r>
          </a:p>
        </p:txBody>
      </p:sp>
      <p:sp>
        <p:nvSpPr>
          <p:cNvPr id="26" name="Rounded Rectangle 25"/>
          <p:cNvSpPr/>
          <p:nvPr/>
        </p:nvSpPr>
        <p:spPr>
          <a:xfrm>
            <a:off x="8046718" y="3703320"/>
            <a:ext cx="3566160" cy="2103120"/>
          </a:xfrm>
          <a:prstGeom prst="roundRect">
            <a:avLst>
              <a:gd name="adj" fmla="val 6000"/>
            </a:avLst>
          </a:prstGeom>
          <a:solidFill>
            <a:srgbClr val="DF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8275318" y="3931920"/>
            <a:ext cx="329184" cy="329184"/>
          </a:xfrm>
          <a:prstGeom prst="roundRect">
            <a:avLst>
              <a:gd name="adj" fmla="val 22000"/>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6</a:t>
            </a:r>
          </a:p>
        </p:txBody>
      </p:sp>
      <p:sp>
        <p:nvSpPr>
          <p:cNvPr id="28" name="TextBox 27"/>
          <p:cNvSpPr txBox="1"/>
          <p:nvPr/>
        </p:nvSpPr>
        <p:spPr>
          <a:xfrm>
            <a:off x="8275318" y="4389120"/>
            <a:ext cx="3108960" cy="548640"/>
          </a:xfrm>
          <a:prstGeom prst="rect">
            <a:avLst/>
          </a:prstGeom>
          <a:noFill/>
        </p:spPr>
        <p:txBody>
          <a:bodyPr wrap="square" lIns="0" rIns="0" tIns="0" bIns="0" anchor="t">
            <a:spAutoFit/>
          </a:bodyPr>
          <a:lstStyle/>
          <a:p>
            <a:pPr algn="l">
              <a:lnSpc>
                <a:spcPct val="105000"/>
              </a:lnSpc>
              <a:spcAft>
                <a:spcPts val="0"/>
              </a:spcAft>
            </a:pPr>
            <a:r>
              <a:rPr sz="1350" b="1" i="0">
                <a:solidFill>
                  <a:srgbClr val="1B2A4A"/>
                </a:solidFill>
                <a:latin typeface="Calibri"/>
              </a:rPr>
              <a:t>Ethics, governance and DPDP</a:t>
            </a:r>
          </a:p>
        </p:txBody>
      </p:sp>
      <p:sp>
        <p:nvSpPr>
          <p:cNvPr id="29" name="TextBox 28"/>
          <p:cNvSpPr txBox="1"/>
          <p:nvPr/>
        </p:nvSpPr>
        <p:spPr>
          <a:xfrm>
            <a:off x="8275318" y="4892040"/>
            <a:ext cx="3108960" cy="868680"/>
          </a:xfrm>
          <a:prstGeom prst="rect">
            <a:avLst/>
          </a:prstGeom>
          <a:noFill/>
        </p:spPr>
        <p:txBody>
          <a:bodyPr wrap="square" lIns="0" rIns="0" tIns="0" bIns="0" anchor="t">
            <a:spAutoFit/>
          </a:bodyPr>
          <a:lstStyle/>
          <a:p>
            <a:pPr algn="l">
              <a:lnSpc>
                <a:spcPct val="108000"/>
              </a:lnSpc>
              <a:spcAft>
                <a:spcPts val="0"/>
              </a:spcAft>
            </a:pPr>
            <a:r>
              <a:rPr sz="1050" b="0" i="0">
                <a:solidFill>
                  <a:srgbClr val="2B3445"/>
                </a:solidFill>
                <a:latin typeface="Calibri"/>
              </a:rPr>
              <a:t>Synthetic data, masked PANs, data minimisation to the API, citation verifier, prompt log, drafts marked draft</a:t>
            </a:r>
          </a:p>
        </p:txBody>
      </p:sp>
      <p:sp>
        <p:nvSpPr>
          <p:cNvPr id="30" name="TextBox 29"/>
          <p:cNvSpPr txBox="1"/>
          <p:nvPr/>
        </p:nvSpPr>
        <p:spPr>
          <a:xfrm>
            <a:off x="548640" y="6053328"/>
            <a:ext cx="11094415" cy="274320"/>
          </a:xfrm>
          <a:prstGeom prst="rect">
            <a:avLst/>
          </a:prstGeom>
          <a:noFill/>
        </p:spPr>
        <p:txBody>
          <a:bodyPr wrap="square" lIns="0" rIns="0" tIns="0" bIns="0" anchor="t">
            <a:spAutoFit/>
          </a:bodyPr>
          <a:lstStyle/>
          <a:p>
            <a:pPr algn="l">
              <a:spcAft>
                <a:spcPts val="0"/>
              </a:spcAft>
            </a:pPr>
            <a:r>
              <a:rPr sz="950" b="0" i="1">
                <a:solidFill>
                  <a:srgbClr val="5F6B7A"/>
                </a:solidFill>
                <a:latin typeface="Calibri"/>
              </a:rPr>
              <a:t>Indicative mapping to generic topic areas; the presenter should align the headings with the AICA Level 2 course handout before the viva.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Kicker"/>
          <p:cNvSpPr txBox="1"/>
          <p:nvPr/>
        </p:nvSpPr>
        <p:spPr>
          <a:xfrm>
            <a:off x="548640" y="301752"/>
            <a:ext cx="11094415" cy="256032"/>
          </a:xfrm>
          <a:prstGeom prst="rect">
            <a:avLst/>
          </a:prstGeom>
          <a:noFill/>
        </p:spPr>
        <p:txBody>
          <a:bodyPr wrap="square" lIns="0" rIns="0" tIns="0" bIns="0" anchor="t">
            <a:spAutoFit/>
          </a:bodyPr>
          <a:lstStyle/>
          <a:p>
            <a:pPr algn="l">
              <a:spcAft>
                <a:spcPts val="0"/>
              </a:spcAft>
            </a:pPr>
            <a:r>
              <a:rPr sz="1100" b="1" i="0">
                <a:solidFill>
                  <a:srgbClr val="0F8B8D"/>
                </a:solidFill>
                <a:latin typeface="Calibri"/>
              </a:rPr>
              <a:t>LIMITATIONS AND FUTURE SCOPE</a:t>
            </a:r>
          </a:p>
        </p:txBody>
      </p:sp>
      <p:sp>
        <p:nvSpPr>
          <p:cNvPr id="3" name="Title"/>
          <p:cNvSpPr txBox="1"/>
          <p:nvPr/>
        </p:nvSpPr>
        <p:spPr>
          <a:xfrm>
            <a:off x="548640" y="566928"/>
            <a:ext cx="11094415" cy="640080"/>
          </a:xfrm>
          <a:prstGeom prst="rect">
            <a:avLst/>
          </a:prstGeom>
          <a:noFill/>
        </p:spPr>
        <p:txBody>
          <a:bodyPr wrap="square" lIns="0" rIns="0" tIns="0" bIns="0" anchor="t">
            <a:spAutoFit/>
          </a:bodyPr>
          <a:lstStyle/>
          <a:p>
            <a:pPr algn="l">
              <a:spcAft>
                <a:spcPts val="0"/>
              </a:spcAft>
            </a:pPr>
            <a:r>
              <a:rPr sz="2800" b="1" i="0">
                <a:solidFill>
                  <a:srgbClr val="1B2A4A"/>
                </a:solidFill>
                <a:latin typeface="Calibri"/>
              </a:rPr>
              <a:t>What the prototype does not yet do, and where it goes next</a:t>
            </a:r>
          </a:p>
        </p:txBody>
      </p:sp>
      <p:sp>
        <p:nvSpPr>
          <p:cNvPr id="4" name="Footer"/>
          <p:cNvSpPr txBox="1"/>
          <p:nvPr/>
        </p:nvSpPr>
        <p:spPr>
          <a:xfrm>
            <a:off x="548640" y="6419088"/>
            <a:ext cx="8229600" cy="228600"/>
          </a:xfrm>
          <a:prstGeom prst="rect">
            <a:avLst/>
          </a:prstGeom>
          <a:noFill/>
        </p:spPr>
        <p:txBody>
          <a:bodyPr wrap="square" lIns="0" rIns="0" tIns="0" bIns="0" anchor="t">
            <a:spAutoFit/>
          </a:bodyPr>
          <a:lstStyle/>
          <a:p>
            <a:pPr algn="l">
              <a:spcAft>
                <a:spcPts val="0"/>
              </a:spcAft>
            </a:pPr>
            <a:r>
              <a:rPr sz="900" b="0" i="0">
                <a:solidFill>
                  <a:srgbClr val="5F6B7A"/>
                </a:solidFill>
                <a:latin typeface="Calibri"/>
              </a:rPr>
              <a:t>AICA Level 2  |  Module C Capstone  |  AI-Powered Statutory Audit Assistant for CHS  |  synthetic data</a:t>
            </a:r>
          </a:p>
        </p:txBody>
      </p:sp>
      <p:sp>
        <p:nvSpPr>
          <p:cNvPr id="5" name="SlideNo"/>
          <p:cNvSpPr txBox="1"/>
          <p:nvPr/>
        </p:nvSpPr>
        <p:spPr>
          <a:xfrm>
            <a:off x="10725912" y="6419088"/>
            <a:ext cx="914400" cy="228600"/>
          </a:xfrm>
          <a:prstGeom prst="rect">
            <a:avLst/>
          </a:prstGeom>
          <a:noFill/>
        </p:spPr>
        <p:txBody>
          <a:bodyPr wrap="square" lIns="0" rIns="0" tIns="0" bIns="0" anchor="t">
            <a:spAutoFit/>
          </a:bodyPr>
          <a:lstStyle/>
          <a:p>
            <a:pPr algn="r">
              <a:spcAft>
                <a:spcPts val="0"/>
              </a:spcAft>
            </a:pPr>
            <a:r>
              <a:rPr sz="900" b="0" i="0">
                <a:solidFill>
                  <a:srgbClr val="5F6B7A"/>
                </a:solidFill>
                <a:latin typeface="Calibri"/>
              </a:rPr>
              <a:t>13 / 14</a:t>
            </a:r>
          </a:p>
        </p:txBody>
      </p:sp>
      <p:sp>
        <p:nvSpPr>
          <p:cNvPr id="6" name="Rounded Rectangle 5"/>
          <p:cNvSpPr/>
          <p:nvPr/>
        </p:nvSpPr>
        <p:spPr>
          <a:xfrm>
            <a:off x="548640" y="1417320"/>
            <a:ext cx="5394960" cy="4206240"/>
          </a:xfrm>
          <a:prstGeom prst="roundRect">
            <a:avLst>
              <a:gd name="adj" fmla="val 6000"/>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18488"/>
            <a:ext cx="4846320" cy="320040"/>
          </a:xfrm>
          <a:prstGeom prst="rect">
            <a:avLst/>
          </a:prstGeom>
          <a:noFill/>
        </p:spPr>
        <p:txBody>
          <a:bodyPr wrap="square" lIns="0" rIns="0" tIns="0" bIns="0" anchor="t">
            <a:spAutoFit/>
          </a:bodyPr>
          <a:lstStyle/>
          <a:p>
            <a:pPr algn="l">
              <a:spcAft>
                <a:spcPts val="0"/>
              </a:spcAft>
            </a:pPr>
            <a:r>
              <a:rPr sz="1600" b="1" i="0">
                <a:solidFill>
                  <a:srgbClr val="1B2A4A"/>
                </a:solidFill>
                <a:latin typeface="Calibri"/>
              </a:rPr>
              <a:t>Limitations</a:t>
            </a:r>
          </a:p>
        </p:txBody>
      </p:sp>
      <p:sp>
        <p:nvSpPr>
          <p:cNvPr id="8" name="TextBox 7"/>
          <p:cNvSpPr txBox="1"/>
          <p:nvPr/>
        </p:nvSpPr>
        <p:spPr>
          <a:xfrm>
            <a:off x="822960" y="2103120"/>
            <a:ext cx="4846320" cy="3383280"/>
          </a:xfrm>
          <a:prstGeom prst="rect">
            <a:avLst/>
          </a:prstGeom>
          <a:noFill/>
        </p:spPr>
        <p:txBody>
          <a:bodyPr wrap="square" lIns="0" rIns="0" tIns="0" bIns="0" anchor="t">
            <a:spAutoFit/>
          </a:bodyPr>
          <a:lstStyle/>
          <a:p>
            <a:pPr algn="l" marL="201168" indent="-201168">
              <a:lnSpc>
                <a:spcPct val="112000"/>
              </a:lnSpc>
              <a:spcAft>
                <a:spcPts val="800"/>
              </a:spcAft>
              <a:buClr>
                <a:srgbClr val="B6433A"/>
              </a:buClr>
              <a:buFont typeface="Arial"/>
              <a:buChar char="▪"/>
            </a:pPr>
            <a:r>
              <a:rPr sz="1250" b="0" i="0">
                <a:solidFill>
                  <a:srgbClr val="2B3445"/>
                </a:solidFill>
                <a:latin typeface="Calibri"/>
              </a:rPr>
              <a:t>Tested on synthetic data only; real society exports (Tally, society-management software) will need format-specific loaders</a:t>
            </a:r>
          </a:p>
          <a:p>
            <a:pPr algn="l" marL="201168" indent="-201168">
              <a:lnSpc>
                <a:spcPct val="112000"/>
              </a:lnSpc>
              <a:spcAft>
                <a:spcPts val="800"/>
              </a:spcAft>
              <a:buClr>
                <a:srgbClr val="B6433A"/>
              </a:buClr>
              <a:buFont typeface="Arial"/>
              <a:buChar char="▪"/>
            </a:pPr>
            <a:r>
              <a:rPr sz="1250" b="0" i="0">
                <a:solidFill>
                  <a:srgbClr val="2B3445"/>
                </a:solidFill>
                <a:latin typeface="Calibri"/>
              </a:rPr>
              <a:t>Thresholds, rates and due dates sit in config.py and follow the model bye-laws; a society's registered bye-laws may differ</a:t>
            </a:r>
          </a:p>
          <a:p>
            <a:pPr algn="l" marL="201168" indent="-201168">
              <a:lnSpc>
                <a:spcPct val="112000"/>
              </a:lnSpc>
              <a:spcAft>
                <a:spcPts val="800"/>
              </a:spcAft>
              <a:buClr>
                <a:srgbClr val="B6433A"/>
              </a:buClr>
              <a:buFont typeface="Arial"/>
              <a:buChar char="▪"/>
            </a:pPr>
            <a:r>
              <a:rPr sz="1250" b="0" i="0">
                <a:solidFill>
                  <a:srgbClr val="2B3445"/>
                </a:solidFill>
                <a:latin typeface="Calibri"/>
              </a:rPr>
              <a:t>Minutes parser expects structured text; scanned or handwritten minutes are out of reach without OCR</a:t>
            </a:r>
          </a:p>
          <a:p>
            <a:pPr algn="l" marL="201168" indent="-201168">
              <a:lnSpc>
                <a:spcPct val="112000"/>
              </a:lnSpc>
              <a:spcAft>
                <a:spcPts val="800"/>
              </a:spcAft>
              <a:buClr>
                <a:srgbClr val="B6433A"/>
              </a:buClr>
              <a:buFont typeface="Arial"/>
              <a:buChar char="▪"/>
            </a:pPr>
            <a:r>
              <a:rPr sz="1250" b="0" i="0">
                <a:solidFill>
                  <a:srgbClr val="2B3445"/>
                </a:solidFill>
                <a:latin typeface="Calibri"/>
              </a:rPr>
              <a:t>The included run used the template fallback; model-drafted output and the citation verifier need evaluation on a scored set</a:t>
            </a:r>
          </a:p>
          <a:p>
            <a:pPr algn="l" marL="201168" indent="-201168">
              <a:lnSpc>
                <a:spcPct val="112000"/>
              </a:lnSpc>
              <a:spcAft>
                <a:spcPts val="800"/>
              </a:spcAft>
              <a:buClr>
                <a:srgbClr val="B6433A"/>
              </a:buClr>
              <a:buFont typeface="Arial"/>
              <a:buChar char="▪"/>
            </a:pPr>
            <a:r>
              <a:rPr sz="1250" b="0" i="0">
                <a:solidFill>
                  <a:srgbClr val="2B3445"/>
                </a:solidFill>
                <a:latin typeface="Calibri"/>
              </a:rPr>
              <a:t>Legal references are drawn from the rule tables and still require professional verification before issue</a:t>
            </a:r>
          </a:p>
        </p:txBody>
      </p:sp>
      <p:sp>
        <p:nvSpPr>
          <p:cNvPr id="9" name="Rounded Rectangle 8"/>
          <p:cNvSpPr/>
          <p:nvPr/>
        </p:nvSpPr>
        <p:spPr>
          <a:xfrm>
            <a:off x="6245352" y="1417320"/>
            <a:ext cx="5394960" cy="4206240"/>
          </a:xfrm>
          <a:prstGeom prst="roundRect">
            <a:avLst>
              <a:gd name="adj" fmla="val 6000"/>
            </a:avLst>
          </a:prstGeom>
          <a:solidFill>
            <a:srgbClr val="DFF1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19672" y="1618488"/>
            <a:ext cx="4846320" cy="320040"/>
          </a:xfrm>
          <a:prstGeom prst="rect">
            <a:avLst/>
          </a:prstGeom>
          <a:noFill/>
        </p:spPr>
        <p:txBody>
          <a:bodyPr wrap="square" lIns="0" rIns="0" tIns="0" bIns="0" anchor="t">
            <a:spAutoFit/>
          </a:bodyPr>
          <a:lstStyle/>
          <a:p>
            <a:pPr algn="l">
              <a:spcAft>
                <a:spcPts val="0"/>
              </a:spcAft>
            </a:pPr>
            <a:r>
              <a:rPr sz="1600" b="1" i="0">
                <a:solidFill>
                  <a:srgbClr val="1B2A4A"/>
                </a:solidFill>
                <a:latin typeface="Calibri"/>
              </a:rPr>
              <a:t>Future scope</a:t>
            </a:r>
          </a:p>
        </p:txBody>
      </p:sp>
      <p:sp>
        <p:nvSpPr>
          <p:cNvPr id="11" name="TextBox 10"/>
          <p:cNvSpPr txBox="1"/>
          <p:nvPr/>
        </p:nvSpPr>
        <p:spPr>
          <a:xfrm>
            <a:off x="6519672" y="2103120"/>
            <a:ext cx="4846320" cy="3383280"/>
          </a:xfrm>
          <a:prstGeom prst="rect">
            <a:avLst/>
          </a:prstGeom>
          <a:noFill/>
        </p:spPr>
        <p:txBody>
          <a:bodyPr wrap="square" lIns="0" rIns="0" tIns="0" bIns="0" anchor="t">
            <a:spAutoFit/>
          </a:bodyPr>
          <a:lstStyle/>
          <a:p>
            <a:pPr algn="l" marL="201168" indent="-201168">
              <a:lnSpc>
                <a:spcPct val="112000"/>
              </a:lnSpc>
              <a:spcAft>
                <a:spcPts val="800"/>
              </a:spcAft>
              <a:buClr>
                <a:srgbClr val="0F8B8D"/>
              </a:buClr>
              <a:buFont typeface="Arial"/>
              <a:buChar char="▪"/>
            </a:pPr>
            <a:r>
              <a:rPr sz="1250" b="0" i="0">
                <a:solidFill>
                  <a:srgbClr val="2B3445"/>
                </a:solidFill>
                <a:latin typeface="Calibri"/>
              </a:rPr>
              <a:t>Loaders for Tally XML, bank-statement PDFs and GSTR-1 / Form 26AS downloads to replace manual Excel preparation</a:t>
            </a:r>
          </a:p>
          <a:p>
            <a:pPr algn="l" marL="201168" indent="-201168">
              <a:lnSpc>
                <a:spcPct val="112000"/>
              </a:lnSpc>
              <a:spcAft>
                <a:spcPts val="800"/>
              </a:spcAft>
              <a:buClr>
                <a:srgbClr val="0F8B8D"/>
              </a:buClr>
              <a:buFont typeface="Arial"/>
              <a:buChar char="▪"/>
            </a:pPr>
            <a:r>
              <a:rPr sz="1250" b="0" i="0">
                <a:solidFill>
                  <a:srgbClr val="2B3445"/>
                </a:solidFill>
                <a:latin typeface="Calibri"/>
              </a:rPr>
              <a:t>OCR of vouchers and minutes, with the same anomaly tests over the extracted fields</a:t>
            </a:r>
          </a:p>
          <a:p>
            <a:pPr algn="l" marL="201168" indent="-201168">
              <a:lnSpc>
                <a:spcPct val="112000"/>
              </a:lnSpc>
              <a:spcAft>
                <a:spcPts val="800"/>
              </a:spcAft>
              <a:buClr>
                <a:srgbClr val="0F8B8D"/>
              </a:buClr>
              <a:buFont typeface="Arial"/>
              <a:buChar char="▪"/>
            </a:pPr>
            <a:r>
              <a:rPr sz="1250" b="0" i="0">
                <a:solidFill>
                  <a:srgbClr val="2B3445"/>
                </a:solidFill>
                <a:latin typeface="Calibri"/>
              </a:rPr>
              <a:t>Panel-auditor view: one dashboard across many societies with Form O rectification tracking</a:t>
            </a:r>
          </a:p>
          <a:p>
            <a:pPr algn="l" marL="201168" indent="-201168">
              <a:lnSpc>
                <a:spcPct val="112000"/>
              </a:lnSpc>
              <a:spcAft>
                <a:spcPts val="800"/>
              </a:spcAft>
              <a:buClr>
                <a:srgbClr val="0F8B8D"/>
              </a:buClr>
              <a:buFont typeface="Arial"/>
              <a:buChar char="▪"/>
            </a:pPr>
            <a:r>
              <a:rPr sz="1250" b="0" i="0">
                <a:solidFill>
                  <a:srgbClr val="2B3445"/>
                </a:solidFill>
                <a:latin typeface="Calibri"/>
              </a:rPr>
              <a:t>An evaluation set of drafted documents to measure citation accuracy and tone before each release</a:t>
            </a:r>
          </a:p>
          <a:p>
            <a:pPr algn="l" marL="201168" indent="-201168">
              <a:lnSpc>
                <a:spcPct val="112000"/>
              </a:lnSpc>
              <a:spcAft>
                <a:spcPts val="800"/>
              </a:spcAft>
              <a:buClr>
                <a:srgbClr val="0F8B8D"/>
              </a:buClr>
              <a:buFont typeface="Arial"/>
              <a:buChar char="▪"/>
            </a:pPr>
            <a:r>
              <a:rPr sz="1250" b="0" i="0">
                <a:solidFill>
                  <a:srgbClr val="2B3445"/>
                </a:solidFill>
                <a:latin typeface="Calibri"/>
              </a:rPr>
              <a:t>Agentic cross-checks: the model proposes a test, the code executes it, the result is logged - keeping rules in charge of numbers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640080"/>
            <a:ext cx="7315200" cy="822960"/>
          </a:xfrm>
          <a:prstGeom prst="rect">
            <a:avLst/>
          </a:prstGeom>
          <a:noFill/>
        </p:spPr>
        <p:txBody>
          <a:bodyPr wrap="square" lIns="0" rIns="0" tIns="0" bIns="0" anchor="t">
            <a:spAutoFit/>
          </a:bodyPr>
          <a:lstStyle/>
          <a:p>
            <a:pPr algn="l">
              <a:spcAft>
                <a:spcPts val="0"/>
              </a:spcAft>
            </a:pPr>
            <a:r>
              <a:rPr sz="4000" b="1" i="0">
                <a:solidFill>
                  <a:srgbClr val="FFFFFF"/>
                </a:solidFill>
                <a:latin typeface="Calibri"/>
              </a:rPr>
              <a:t>Thank you</a:t>
            </a:r>
          </a:p>
        </p:txBody>
      </p:sp>
      <p:sp>
        <p:nvSpPr>
          <p:cNvPr id="4" name="TextBox 3"/>
          <p:cNvSpPr txBox="1"/>
          <p:nvPr/>
        </p:nvSpPr>
        <p:spPr>
          <a:xfrm>
            <a:off x="548640" y="1325880"/>
            <a:ext cx="10058400" cy="457200"/>
          </a:xfrm>
          <a:prstGeom prst="rect">
            <a:avLst/>
          </a:prstGeom>
          <a:noFill/>
        </p:spPr>
        <p:txBody>
          <a:bodyPr wrap="square" lIns="0" rIns="0" tIns="0" bIns="0" anchor="t">
            <a:spAutoFit/>
          </a:bodyPr>
          <a:lstStyle/>
          <a:p>
            <a:pPr algn="l">
              <a:spcAft>
                <a:spcPts val="0"/>
              </a:spcAft>
            </a:pPr>
            <a:r>
              <a:rPr sz="1600" b="0" i="0">
                <a:solidFill>
                  <a:srgbClr val="C7DAE8"/>
                </a:solidFill>
                <a:latin typeface="Calibri"/>
              </a:rPr>
              <a:t>Questions, and a short demo of the outputs  |  CA Madhusudan Jain, Chartered Accountant  |  Pune  |  jjaa.in</a:t>
            </a:r>
          </a:p>
        </p:txBody>
      </p:sp>
      <p:sp>
        <p:nvSpPr>
          <p:cNvPr id="5" name="Rounded Rectangle 4"/>
          <p:cNvSpPr/>
          <p:nvPr/>
        </p:nvSpPr>
        <p:spPr>
          <a:xfrm>
            <a:off x="548640" y="2103120"/>
            <a:ext cx="5486400" cy="3931920"/>
          </a:xfrm>
          <a:prstGeom prst="roundRect">
            <a:avLst>
              <a:gd name="adj" fmla="val 6000"/>
            </a:avLst>
          </a:prstGeom>
          <a:solidFill>
            <a:srgbClr val="121E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286000"/>
            <a:ext cx="4937760" cy="320040"/>
          </a:xfrm>
          <a:prstGeom prst="rect">
            <a:avLst/>
          </a:prstGeom>
          <a:noFill/>
        </p:spPr>
        <p:txBody>
          <a:bodyPr wrap="square" lIns="0" rIns="0" tIns="0" bIns="0" anchor="t">
            <a:spAutoFit/>
          </a:bodyPr>
          <a:lstStyle/>
          <a:p>
            <a:pPr algn="l">
              <a:spcAft>
                <a:spcPts val="0"/>
              </a:spcAft>
            </a:pPr>
            <a:r>
              <a:rPr sz="1400" b="1" i="0">
                <a:solidFill>
                  <a:srgbClr val="FFFFFF"/>
                </a:solidFill>
                <a:latin typeface="Calibri"/>
              </a:rPr>
              <a:t>How to run (README quick start)</a:t>
            </a:r>
          </a:p>
        </p:txBody>
      </p:sp>
      <p:sp>
        <p:nvSpPr>
          <p:cNvPr id="7" name="TextBox 6"/>
          <p:cNvSpPr txBox="1"/>
          <p:nvPr/>
        </p:nvSpPr>
        <p:spPr>
          <a:xfrm>
            <a:off x="822960" y="2743200"/>
            <a:ext cx="5029200" cy="1645920"/>
          </a:xfrm>
          <a:prstGeom prst="rect">
            <a:avLst/>
          </a:prstGeom>
          <a:noFill/>
        </p:spPr>
        <p:txBody>
          <a:bodyPr wrap="square" lIns="0" rIns="0" tIns="0" bIns="0" anchor="t">
            <a:spAutoFit/>
          </a:bodyPr>
          <a:lstStyle/>
          <a:p>
            <a:pPr algn="l">
              <a:spcAft>
                <a:spcPts val="500"/>
              </a:spcAft>
            </a:pPr>
            <a:r>
              <a:rPr sz="1100" b="0" i="0">
                <a:solidFill>
                  <a:srgbClr val="C7DAE8"/>
                </a:solidFill>
                <a:latin typeface="Consolas"/>
              </a:rPr>
              <a:t>python3 -m venv .venv &amp;&amp; .venv/bin/pip install -r requirements.txt</a:t>
            </a:r>
          </a:p>
          <a:p>
            <a:pPr algn="l">
              <a:spcAft>
                <a:spcPts val="500"/>
              </a:spcAft>
            </a:pPr>
            <a:r>
              <a:rPr sz="1100" b="0" i="0">
                <a:solidFill>
                  <a:srgbClr val="C7DAE8"/>
                </a:solidFill>
                <a:latin typeface="Consolas"/>
              </a:rPr>
              <a:t>cd src</a:t>
            </a:r>
          </a:p>
          <a:p>
            <a:pPr algn="l">
              <a:spcAft>
                <a:spcPts val="500"/>
              </a:spcAft>
            </a:pPr>
            <a:r>
              <a:rPr sz="1100" b="0" i="0">
                <a:solidFill>
                  <a:srgbClr val="C7DAE8"/>
                </a:solidFill>
                <a:latin typeface="Consolas"/>
              </a:rPr>
              <a:t>../.venv/bin/python -m chs_audit.generate_data ../data/raw</a:t>
            </a:r>
          </a:p>
          <a:p>
            <a:pPr algn="l">
              <a:spcAft>
                <a:spcPts val="500"/>
              </a:spcAft>
            </a:pPr>
            <a:r>
              <a:rPr sz="1100" b="0" i="0">
                <a:solidFill>
                  <a:srgbClr val="C7DAE8"/>
                </a:solidFill>
                <a:latin typeface="Consolas"/>
              </a:rPr>
              <a:t>../.venv/bin/python -m chs_audit.run_audit --data ../data/raw \</a:t>
            </a:r>
          </a:p>
          <a:p>
            <a:pPr algn="l">
              <a:spcAft>
                <a:spcPts val="500"/>
              </a:spcAft>
            </a:pPr>
            <a:r>
              <a:rPr sz="1100" b="0" i="0">
                <a:solidFill>
                  <a:srgbClr val="C7DAE8"/>
                </a:solidFill>
                <a:latin typeface="Consolas"/>
              </a:rPr>
              <a:t>    --out ../output --as-of 2026-07-15 [--ai]</a:t>
            </a:r>
          </a:p>
          <a:p>
            <a:pPr>
              <a:defRPr sz="1100"/>
            </a:pPr>
            <a:r>
              <a:t>Interactive tool: .venv/bin/streamlit run app.py  (paste API key under Data &amp; settings)</a:t>
            </a:r>
          </a:p>
        </p:txBody>
      </p:sp>
      <p:sp>
        <p:nvSpPr>
          <p:cNvPr id="8" name="TextBox 7"/>
          <p:cNvSpPr txBox="1"/>
          <p:nvPr/>
        </p:nvSpPr>
        <p:spPr>
          <a:xfrm>
            <a:off x="822960" y="4526280"/>
            <a:ext cx="4937760" cy="1371600"/>
          </a:xfrm>
          <a:prstGeom prst="rect">
            <a:avLst/>
          </a:prstGeom>
          <a:noFill/>
        </p:spPr>
        <p:txBody>
          <a:bodyPr wrap="square" lIns="0" rIns="0" tIns="0" bIns="0" anchor="t">
            <a:spAutoFit/>
          </a:bodyPr>
          <a:lstStyle/>
          <a:p>
            <a:pPr algn="l">
              <a:lnSpc>
                <a:spcPct val="110000"/>
              </a:lnSpc>
              <a:spcAft>
                <a:spcPts val="600"/>
              </a:spcAft>
            </a:pPr>
            <a:r>
              <a:rPr sz="1150" b="1" i="0">
                <a:solidFill>
                  <a:srgbClr val="FFFFFF"/>
                </a:solidFill>
                <a:latin typeface="Consolas"/>
              </a:rPr>
              <a:t>--ai </a:t>
            </a:r>
            <a:r>
              <a:rPr sz="1150" b="0" i="0">
                <a:solidFill>
                  <a:srgbClr val="C7DAE8"/>
                </a:solidFill>
                <a:latin typeface="Calibri"/>
              </a:rPr>
              <a:t>drafts with Claude via ANTHROPIC_API_KEY or an ant auth login profile; without it the pipeline runs fully offline on templates.</a:t>
            </a:r>
          </a:p>
          <a:p>
            <a:pPr algn="l">
              <a:lnSpc>
                <a:spcPct val="110000"/>
              </a:lnSpc>
              <a:spcAft>
                <a:spcPts val="0"/>
              </a:spcAft>
            </a:pPr>
            <a:r>
              <a:rPr sz="1150" b="1" i="0">
                <a:solidFill>
                  <a:srgbClr val="FFFFFF"/>
                </a:solidFill>
                <a:latin typeface="Consolas"/>
              </a:rPr>
              <a:t>--as-of </a:t>
            </a:r>
            <a:r>
              <a:rPr sz="1150" b="0" i="0">
                <a:solidFill>
                  <a:srgbClr val="C7DAE8"/>
                </a:solidFill>
                <a:latin typeface="Calibri"/>
              </a:rPr>
              <a:t>moves the audit date and recomputes the compliance calendar and action-item status.</a:t>
            </a:r>
          </a:p>
        </p:txBody>
      </p:sp>
      <p:sp>
        <p:nvSpPr>
          <p:cNvPr id="9" name="TextBox 8"/>
          <p:cNvSpPr txBox="1"/>
          <p:nvPr/>
        </p:nvSpPr>
        <p:spPr>
          <a:xfrm>
            <a:off x="6309360" y="2103120"/>
            <a:ext cx="5303520" cy="320040"/>
          </a:xfrm>
          <a:prstGeom prst="rect">
            <a:avLst/>
          </a:prstGeom>
          <a:noFill/>
        </p:spPr>
        <p:txBody>
          <a:bodyPr wrap="square" lIns="0" rIns="0" tIns="0" bIns="0" anchor="t">
            <a:spAutoFit/>
          </a:bodyPr>
          <a:lstStyle/>
          <a:p>
            <a:pPr algn="l">
              <a:spcAft>
                <a:spcPts val="0"/>
              </a:spcAft>
            </a:pPr>
            <a:r>
              <a:rPr sz="1400" b="1" i="0">
                <a:solidFill>
                  <a:srgbClr val="FFFFFF"/>
                </a:solidFill>
                <a:latin typeface="Calibri"/>
              </a:rPr>
              <a:t>Demo pointers (output/)</a:t>
            </a:r>
          </a:p>
        </p:txBody>
      </p:sp>
      <p:sp>
        <p:nvSpPr>
          <p:cNvPr id="10" name="TextBox 9"/>
          <p:cNvSpPr txBox="1"/>
          <p:nvPr/>
        </p:nvSpPr>
        <p:spPr>
          <a:xfrm>
            <a:off x="6309360" y="2560320"/>
            <a:ext cx="5303520" cy="274320"/>
          </a:xfrm>
          <a:prstGeom prst="rect">
            <a:avLst/>
          </a:prstGeom>
          <a:noFill/>
        </p:spPr>
        <p:txBody>
          <a:bodyPr wrap="square" lIns="0" rIns="0" tIns="0" bIns="0" anchor="t">
            <a:spAutoFit/>
          </a:bodyPr>
          <a:lstStyle/>
          <a:p>
            <a:pPr algn="l">
              <a:spcAft>
                <a:spcPts val="0"/>
              </a:spcAft>
            </a:pPr>
            <a:r>
              <a:rPr sz="1200" b="1" i="0">
                <a:solidFill>
                  <a:srgbClr val="FFFFFF"/>
                </a:solidFill>
                <a:latin typeface="Consolas"/>
              </a:rPr>
              <a:t>dashboard.html</a:t>
            </a:r>
          </a:p>
        </p:txBody>
      </p:sp>
      <p:sp>
        <p:nvSpPr>
          <p:cNvPr id="11" name="TextBox 10"/>
          <p:cNvSpPr txBox="1"/>
          <p:nvPr/>
        </p:nvSpPr>
        <p:spPr>
          <a:xfrm>
            <a:off x="6309360" y="2816352"/>
            <a:ext cx="5303520" cy="320040"/>
          </a:xfrm>
          <a:prstGeom prst="rect">
            <a:avLst/>
          </a:prstGeom>
          <a:noFill/>
        </p:spPr>
        <p:txBody>
          <a:bodyPr wrap="square" lIns="0" rIns="0" tIns="0" bIns="0" anchor="t">
            <a:spAutoFit/>
          </a:bodyPr>
          <a:lstStyle/>
          <a:p>
            <a:pPr algn="l">
              <a:spcAft>
                <a:spcPts val="0"/>
              </a:spcAft>
            </a:pPr>
            <a:r>
              <a:rPr sz="1100" b="0" i="0">
                <a:solidFill>
                  <a:srgbClr val="C7DAE8"/>
                </a:solidFill>
                <a:latin typeface="Calibri"/>
              </a:rPr>
              <a:t>KPIs, severity mix, monthly billed vs collected, calendar status</a:t>
            </a:r>
          </a:p>
        </p:txBody>
      </p:sp>
      <p:sp>
        <p:nvSpPr>
          <p:cNvPr id="12" name="TextBox 11"/>
          <p:cNvSpPr txBox="1"/>
          <p:nvPr/>
        </p:nvSpPr>
        <p:spPr>
          <a:xfrm>
            <a:off x="6309360" y="3145536"/>
            <a:ext cx="5303520" cy="274320"/>
          </a:xfrm>
          <a:prstGeom prst="rect">
            <a:avLst/>
          </a:prstGeom>
          <a:noFill/>
        </p:spPr>
        <p:txBody>
          <a:bodyPr wrap="square" lIns="0" rIns="0" tIns="0" bIns="0" anchor="t">
            <a:spAutoFit/>
          </a:bodyPr>
          <a:lstStyle/>
          <a:p>
            <a:pPr algn="l">
              <a:spcAft>
                <a:spcPts val="0"/>
              </a:spcAft>
            </a:pPr>
            <a:r>
              <a:rPr sz="1200" b="1" i="0">
                <a:solidFill>
                  <a:srgbClr val="FFFFFF"/>
                </a:solidFill>
                <a:latin typeface="Consolas"/>
              </a:rPr>
              <a:t>CHS_Audit_Workbook_FY2025-26.xlsx</a:t>
            </a:r>
          </a:p>
        </p:txBody>
      </p:sp>
      <p:sp>
        <p:nvSpPr>
          <p:cNvPr id="13" name="TextBox 12"/>
          <p:cNvSpPr txBox="1"/>
          <p:nvPr/>
        </p:nvSpPr>
        <p:spPr>
          <a:xfrm>
            <a:off x="6309360" y="3401568"/>
            <a:ext cx="5303520" cy="320040"/>
          </a:xfrm>
          <a:prstGeom prst="rect">
            <a:avLst/>
          </a:prstGeom>
          <a:noFill/>
        </p:spPr>
        <p:txBody>
          <a:bodyPr wrap="square" lIns="0" rIns="0" tIns="0" bIns="0" anchor="t">
            <a:spAutoFit/>
          </a:bodyPr>
          <a:lstStyle/>
          <a:p>
            <a:pPr algn="l">
              <a:spcAft>
                <a:spcPts val="0"/>
              </a:spcAft>
            </a:pPr>
            <a:r>
              <a:rPr sz="1100" b="0" i="0">
                <a:solidFill>
                  <a:srgbClr val="C7DAE8"/>
                </a:solidFill>
                <a:latin typeface="Calibri"/>
              </a:rPr>
              <a:t>22 sheets - start at Audit_Observations, then GST_Check and Minutes_Actions</a:t>
            </a:r>
          </a:p>
        </p:txBody>
      </p:sp>
      <p:sp>
        <p:nvSpPr>
          <p:cNvPr id="14" name="TextBox 13"/>
          <p:cNvSpPr txBox="1"/>
          <p:nvPr/>
        </p:nvSpPr>
        <p:spPr>
          <a:xfrm>
            <a:off x="6309360" y="3730752"/>
            <a:ext cx="5303520" cy="274320"/>
          </a:xfrm>
          <a:prstGeom prst="rect">
            <a:avLst/>
          </a:prstGeom>
          <a:noFill/>
        </p:spPr>
        <p:txBody>
          <a:bodyPr wrap="square" lIns="0" rIns="0" tIns="0" bIns="0" anchor="t">
            <a:spAutoFit/>
          </a:bodyPr>
          <a:lstStyle/>
          <a:p>
            <a:pPr algn="l">
              <a:spcAft>
                <a:spcPts val="0"/>
              </a:spcAft>
            </a:pPr>
            <a:r>
              <a:rPr sz="1200" b="1" i="0">
                <a:solidFill>
                  <a:srgbClr val="FFFFFF"/>
                </a:solidFill>
                <a:latin typeface="Consolas"/>
              </a:rPr>
              <a:t>Draft_Audit_Observations.txt</a:t>
            </a:r>
          </a:p>
        </p:txBody>
      </p:sp>
      <p:sp>
        <p:nvSpPr>
          <p:cNvPr id="15" name="TextBox 14"/>
          <p:cNvSpPr txBox="1"/>
          <p:nvPr/>
        </p:nvSpPr>
        <p:spPr>
          <a:xfrm>
            <a:off x="6309360" y="3986784"/>
            <a:ext cx="5303520" cy="320040"/>
          </a:xfrm>
          <a:prstGeom prst="rect">
            <a:avLst/>
          </a:prstGeom>
          <a:noFill/>
        </p:spPr>
        <p:txBody>
          <a:bodyPr wrap="square" lIns="0" rIns="0" tIns="0" bIns="0" anchor="t">
            <a:spAutoFit/>
          </a:bodyPr>
          <a:lstStyle/>
          <a:p>
            <a:pPr algn="l">
              <a:spcAft>
                <a:spcPts val="0"/>
              </a:spcAft>
            </a:pPr>
            <a:r>
              <a:rPr sz="1100" b="0" i="0">
                <a:solidFill>
                  <a:srgbClr val="C7DAE8"/>
                </a:solidFill>
                <a:latin typeface="Calibri"/>
              </a:rPr>
              <a:t>the drafted report section, High severity first</a:t>
            </a:r>
          </a:p>
        </p:txBody>
      </p:sp>
      <p:sp>
        <p:nvSpPr>
          <p:cNvPr id="16" name="TextBox 15"/>
          <p:cNvSpPr txBox="1"/>
          <p:nvPr/>
        </p:nvSpPr>
        <p:spPr>
          <a:xfrm>
            <a:off x="6309360" y="4315968"/>
            <a:ext cx="5303520" cy="274320"/>
          </a:xfrm>
          <a:prstGeom prst="rect">
            <a:avLst/>
          </a:prstGeom>
          <a:noFill/>
        </p:spPr>
        <p:txBody>
          <a:bodyPr wrap="square" lIns="0" rIns="0" tIns="0" bIns="0" anchor="t">
            <a:spAutoFit/>
          </a:bodyPr>
          <a:lstStyle/>
          <a:p>
            <a:pPr algn="l">
              <a:spcAft>
                <a:spcPts val="0"/>
              </a:spcAft>
            </a:pPr>
            <a:r>
              <a:rPr sz="1200" b="1" i="0">
                <a:solidFill>
                  <a:srgbClr val="FFFFFF"/>
                </a:solidFill>
                <a:latin typeface="Consolas"/>
              </a:rPr>
              <a:t>Draft_Reminder_Letters.txt</a:t>
            </a:r>
          </a:p>
        </p:txBody>
      </p:sp>
      <p:sp>
        <p:nvSpPr>
          <p:cNvPr id="17" name="TextBox 16"/>
          <p:cNvSpPr txBox="1"/>
          <p:nvPr/>
        </p:nvSpPr>
        <p:spPr>
          <a:xfrm>
            <a:off x="6309360" y="4572000"/>
            <a:ext cx="5303520" cy="320040"/>
          </a:xfrm>
          <a:prstGeom prst="rect">
            <a:avLst/>
          </a:prstGeom>
          <a:noFill/>
        </p:spPr>
        <p:txBody>
          <a:bodyPr wrap="square" lIns="0" rIns="0" tIns="0" bIns="0" anchor="t">
            <a:spAutoFit/>
          </a:bodyPr>
          <a:lstStyle/>
          <a:p>
            <a:pPr algn="l">
              <a:spcAft>
                <a:spcPts val="0"/>
              </a:spcAft>
            </a:pPr>
            <a:r>
              <a:rPr sz="1100" b="0" i="0">
                <a:solidFill>
                  <a:srgbClr val="C7DAE8"/>
                </a:solidFill>
                <a:latin typeface="Calibri"/>
              </a:rPr>
              <a:t>10 letters, flat numbers only</a:t>
            </a:r>
          </a:p>
        </p:txBody>
      </p:sp>
      <p:sp>
        <p:nvSpPr>
          <p:cNvPr id="18" name="TextBox 17"/>
          <p:cNvSpPr txBox="1"/>
          <p:nvPr/>
        </p:nvSpPr>
        <p:spPr>
          <a:xfrm>
            <a:off x="6309360" y="4901184"/>
            <a:ext cx="5303520" cy="274320"/>
          </a:xfrm>
          <a:prstGeom prst="rect">
            <a:avLst/>
          </a:prstGeom>
          <a:noFill/>
        </p:spPr>
        <p:txBody>
          <a:bodyPr wrap="square" lIns="0" rIns="0" tIns="0" bIns="0" anchor="t">
            <a:spAutoFit/>
          </a:bodyPr>
          <a:lstStyle/>
          <a:p>
            <a:pPr algn="l">
              <a:spcAft>
                <a:spcPts val="0"/>
              </a:spcAft>
            </a:pPr>
            <a:r>
              <a:rPr sz="1200" b="1" i="0">
                <a:solidFill>
                  <a:srgbClr val="FFFFFF"/>
                </a:solidFill>
                <a:latin typeface="Consolas"/>
              </a:rPr>
              <a:t>ai_prompt_log.md</a:t>
            </a:r>
          </a:p>
        </p:txBody>
      </p:sp>
      <p:sp>
        <p:nvSpPr>
          <p:cNvPr id="19" name="TextBox 18"/>
          <p:cNvSpPr txBox="1"/>
          <p:nvPr/>
        </p:nvSpPr>
        <p:spPr>
          <a:xfrm>
            <a:off x="6309360" y="5157216"/>
            <a:ext cx="5303520" cy="320040"/>
          </a:xfrm>
          <a:prstGeom prst="rect">
            <a:avLst/>
          </a:prstGeom>
          <a:noFill/>
        </p:spPr>
        <p:txBody>
          <a:bodyPr wrap="square" lIns="0" rIns="0" tIns="0" bIns="0" anchor="t">
            <a:spAutoFit/>
          </a:bodyPr>
          <a:lstStyle/>
          <a:p>
            <a:pPr algn="l">
              <a:spcAft>
                <a:spcPts val="0"/>
              </a:spcAft>
            </a:pPr>
            <a:r>
              <a:rPr sz="1100" b="0" i="0">
                <a:solidFill>
                  <a:srgbClr val="C7DAE8"/>
                </a:solidFill>
                <a:latin typeface="Calibri"/>
              </a:rPr>
              <a:t>every prompt, response, source and guardrail flag</a:t>
            </a:r>
          </a:p>
        </p:txBody>
      </p:sp>
      <p:sp>
        <p:nvSpPr>
          <p:cNvPr id="20" name="TextBox 19"/>
          <p:cNvSpPr txBox="1"/>
          <p:nvPr/>
        </p:nvSpPr>
        <p:spPr>
          <a:xfrm>
            <a:off x="6309360" y="5486400"/>
            <a:ext cx="5303520" cy="274320"/>
          </a:xfrm>
          <a:prstGeom prst="rect">
            <a:avLst/>
          </a:prstGeom>
          <a:noFill/>
        </p:spPr>
        <p:txBody>
          <a:bodyPr wrap="square" lIns="0" rIns="0" tIns="0" bIns="0" anchor="t">
            <a:spAutoFit/>
          </a:bodyPr>
          <a:lstStyle/>
          <a:p>
            <a:pPr algn="l">
              <a:spcAft>
                <a:spcPts val="0"/>
              </a:spcAft>
            </a:pPr>
            <a:r>
              <a:rPr sz="1200" b="1" i="0">
                <a:solidFill>
                  <a:srgbClr val="FFFFFF"/>
                </a:solidFill>
                <a:latin typeface="Consolas"/>
              </a:rPr>
              <a:t>data/raw/society_data.xlsx</a:t>
            </a:r>
          </a:p>
        </p:txBody>
      </p:sp>
      <p:sp>
        <p:nvSpPr>
          <p:cNvPr id="21" name="TextBox 20"/>
          <p:cNvSpPr txBox="1"/>
          <p:nvPr/>
        </p:nvSpPr>
        <p:spPr>
          <a:xfrm>
            <a:off x="6309360" y="5742432"/>
            <a:ext cx="5303520" cy="320040"/>
          </a:xfrm>
          <a:prstGeom prst="rect">
            <a:avLst/>
          </a:prstGeom>
          <a:noFill/>
        </p:spPr>
        <p:txBody>
          <a:bodyPr wrap="square" lIns="0" rIns="0" tIns="0" bIns="0" anchor="t">
            <a:spAutoFit/>
          </a:bodyPr>
          <a:lstStyle/>
          <a:p>
            <a:pPr algn="l">
              <a:spcAft>
                <a:spcPts val="0"/>
              </a:spcAft>
            </a:pPr>
            <a:r>
              <a:rPr sz="1100" b="0" i="0">
                <a:solidFill>
                  <a:srgbClr val="C7DAE8"/>
                </a:solidFill>
                <a:latin typeface="Calibri"/>
              </a:rPr>
              <a:t>sheet Seeded_Issues_(answer_key): the 19 planted failures</a:t>
            </a:r>
          </a:p>
        </p:txBody>
      </p:sp>
      <p:sp>
        <p:nvSpPr>
          <p:cNvPr id="22" name="Footer"/>
          <p:cNvSpPr txBox="1"/>
          <p:nvPr/>
        </p:nvSpPr>
        <p:spPr>
          <a:xfrm>
            <a:off x="548640" y="6419088"/>
            <a:ext cx="8229600" cy="228600"/>
          </a:xfrm>
          <a:prstGeom prst="rect">
            <a:avLst/>
          </a:prstGeom>
          <a:noFill/>
        </p:spPr>
        <p:txBody>
          <a:bodyPr wrap="square" lIns="0" rIns="0" tIns="0" bIns="0" anchor="t">
            <a:spAutoFit/>
          </a:bodyPr>
          <a:lstStyle/>
          <a:p>
            <a:pPr algn="l">
              <a:spcAft>
                <a:spcPts val="0"/>
              </a:spcAft>
            </a:pPr>
            <a:r>
              <a:rPr sz="900" b="0" i="0">
                <a:solidFill>
                  <a:srgbClr val="C7DAE8"/>
                </a:solidFill>
                <a:latin typeface="Calibri"/>
              </a:rPr>
              <a:t>AICA Level 2  |  Module C Capstone  |  AI-Powered Statutory Audit Assistant for CHS  |  synthetic data</a:t>
            </a:r>
          </a:p>
        </p:txBody>
      </p:sp>
      <p:sp>
        <p:nvSpPr>
          <p:cNvPr id="23" name="SlideNo"/>
          <p:cNvSpPr txBox="1"/>
          <p:nvPr/>
        </p:nvSpPr>
        <p:spPr>
          <a:xfrm>
            <a:off x="10725912" y="6419088"/>
            <a:ext cx="914400" cy="228600"/>
          </a:xfrm>
          <a:prstGeom prst="rect">
            <a:avLst/>
          </a:prstGeom>
          <a:noFill/>
        </p:spPr>
        <p:txBody>
          <a:bodyPr wrap="square" lIns="0" rIns="0" tIns="0" bIns="0" anchor="t">
            <a:spAutoFit/>
          </a:bodyPr>
          <a:lstStyle/>
          <a:p>
            <a:pPr algn="r">
              <a:spcAft>
                <a:spcPts val="0"/>
              </a:spcAft>
            </a:pPr>
            <a:r>
              <a:rPr sz="900" b="0" i="0">
                <a:solidFill>
                  <a:srgbClr val="C7DAE8"/>
                </a:solidFill>
                <a:latin typeface="Calibri"/>
              </a:rPr>
              <a:t>14 / 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