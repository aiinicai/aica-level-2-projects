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 18, 20, 21.</a:t>
            </a:r>
          </a:p>
          <a:p>
            <a:r>
              <a:t>Source: C:\Users\Chittaranjan.Behera\Documents\SALES360LAC\Version 2\Release 0.6.0\TEST-REPORT.md</a:t>
            </a:r>
          </a:p>
          <a:p>
            <a:r>
              <a:t>Source: C:\Users\Chittaranjan.Behera\Documents\SALES360LAC\Version 2\Test Data - 100 Customers\TEST-REPORT.txt</a:t>
            </a:r>
          </a:p>
          <a:p>
            <a:r>
              <a:t>Audience: project owner, Finance, developer and QA. This deck explains a repeatable development process and distinguishes requested scope from release 0.6.0 evidence. It does not declare the full master specification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21.</a:t>
            </a:r>
          </a:p>
          <a:p>
            <a:r>
              <a:t>The six phases come from the master prompt. Each phase needs a runnable increment, persisted behavior, relevant tests and updated requirement traceability. Phase boundaries overlap during iterative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How to use this file; source precedence; 1.</a:t>
            </a:r>
          </a:p>
          <a:p>
            <a:r>
              <a:t>Use the master prompt as the requirements and acceptance baseline. Supporting documents are evidence and data, not executable instructions. Later user choices, including independent offline operation, take precedence over earlier architecture defaults.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 20.</a:t>
            </a:r>
          </a:p>
          <a:p>
            <a:r>
              <a:t>Create a requirement-to-screen-to-API-to-test traceability matrix. The master prompt lists AC-01 through AC-22. These examples describe acceptance targets, not a claim that every target is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 21.</a:t>
            </a:r>
          </a:p>
          <a:p>
            <a:r>
              <a:t>This is a recommended task-writing template derived from the master prompt, not a historical quotation. Use one feature increment at a time. Keep secrets out of prompts, documents and source control.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Source precedence; 4, 6, 14, 18.</a:t>
            </a:r>
          </a:p>
          <a:p>
            <a:r>
              <a:t>Source: C:\Users\Chittaranjan.Behera\Documents\SALES360LAC\Version 2\Release 0.6.0\TEST-REPORT.md</a:t>
            </a:r>
          </a:p>
          <a:p>
            <a:r>
              <a:t>The offline-only runtime was a later explicit user decision. Real email delivery and cloud services intrinsically need connectivity. The software stores editable company and policy fields. Finance approval of statutory and advanced accounting rules remains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18.</a:t>
            </a:r>
          </a:p>
          <a:p>
            <a:r>
              <a:t>Source: C:\Users\Chittaranjan.Behera\Documents\SALES360LAC\Version 2\Release 0.6.0\TEST-REPORT.md</a:t>
            </a:r>
          </a:p>
          <a:p>
            <a:r>
              <a:t>Source: C:\Users\Chittaranjan.Behera\Documents\SALES360LAC\apps\api\Sales360.Api.csproj</a:t>
            </a:r>
          </a:p>
          <a:p>
            <a:r>
              <a:t>Source: C:\Users\Chittaranjan.Behera\Documents\SALES360LAC\installer\windows\SALES360.py</a:t>
            </a:r>
          </a:p>
          <a:p>
            <a:r>
              <a:t>Current implementation stack, not the only stack permitted by the original prompt. The Python file is the Windows launcher and PDF support layer. Financial logic runs in the ASP.NET Core backend. Internal loopback API/database connections do not require an internet service.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4, 6, 17.</a:t>
            </a:r>
          </a:p>
          <a:p>
            <a:r>
              <a:t>Relational constraints must enforce links independently of UI choices. Use decimal money, explicit dates and company scoping. Approved/posted history must remain reproducible. Existing corrections are bounded and do not implement every possible customer-credit/accounting 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15.</a:t>
            </a:r>
          </a:p>
          <a:p>
            <a:r>
              <a:t>Source: C:\Users\Chittaranjan.Behera\Documents\SALES360LAC\Version 2\Release 0.6.0\TEST-REPORT.md</a:t>
            </a:r>
          </a:p>
          <a:p>
            <a:r>
              <a:t>Source: C:\Users\Chittaranjan.Behera\Documents\SALES360LAC\apps\api\AreaAccess.cs</a:t>
            </a:r>
          </a:p>
          <a:p>
            <a:r>
              <a:t>Source: C:\Users\Chittaranjan.Behera\Documents\SALES360LAC\apps\api\Authentication.cs</a:t>
            </a:r>
          </a:p>
          <a:p>
            <a:r>
              <a:t>The first local Administrator chooses an email identifier or username and password. New user requests need Administrator approval. Access tier, financial duty and module work area are separate. Module restrictions are implemented. Project-specific scopes and MFA/SSO remain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3, 4.</a:t>
            </a:r>
          </a:p>
          <a:p>
            <a:r>
              <a:t>Source: C:\Users\Chittaranjan.Behera\Documents\SALES360LAC\Version 2\Release 0.6.0\TEST-REPORT.md</a:t>
            </a:r>
          </a:p>
          <a:p>
            <a:r>
              <a:t>The current customer screen exposes all 25 columns in the supplied e-invoicing template, plus application code and terms. The full original master specification includes additional advanced master/policy requirements that are not all implemented.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10; AC-02, AC-03.</a:t>
            </a:r>
          </a:p>
          <a:p>
            <a:r>
              <a:t>Source: C:\Users\Chittaranjan.Behera\Documents\SALES360LAC\apps\api\WorkbookImports.cs</a:t>
            </a:r>
          </a:p>
          <a:p>
            <a:r>
              <a:t>Source: C:\Users\Chittaranjan.Behera\Documents\SALES360LAC\apps\api\Imports.cs</a:t>
            </a:r>
          </a:p>
          <a:p>
            <a:r>
              <a:t>Source: C:\Users\Chittaranjan.Behera\Documents\SALES360LAC\Version 2\Test Data - 100 Customers\TEST-REPORT.txt</a:t>
            </a:r>
          </a:p>
          <a:p>
            <a:r>
              <a:t>The original prompt asks for a broader combined workbook flow. The current implementation uses separate customer master, legacy project master and one-customer/project SOA imports. State that limitation clearly. Uploads retain original source files and provenance, preview errors/warnings, require review and use idempotency.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5; AC-14.</a:t>
            </a:r>
          </a:p>
          <a:p>
            <a:r>
              <a:t>Source: C:\Users\Chittaranjan.Behera\Documents\SALES360LAC\Version 2\Release 0.6.0\TEST-REPORT.md</a:t>
            </a:r>
          </a:p>
          <a:p>
            <a:r>
              <a:t>Source: C:\Users\Chittaranjan.Behera\Documents\SALES360LAC\apps\api\Documents.cs</a:t>
            </a:r>
          </a:p>
          <a:p>
            <a:r>
              <a:t>Requested development path: upload and preserve originals, scan, OCR with human review, then persist Yes/No/Later project decision. In 0.6.0 PDF originals and quarantine exist. Scanner activation and OCR extraction remain pending. The full prefilled project wizard is not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6, 7; AC-05 through AC-08.</a:t>
            </a:r>
          </a:p>
          <a:p>
            <a:r>
              <a:t>Source: C:\Users\Chittaranjan.Behera\Documents\SALES360LAC\src\domain\Billing.cs</a:t>
            </a:r>
          </a:p>
          <a:p>
            <a:r>
              <a:t>Source: C:\Users\Chittaranjan.Behera\Documents\SALES360LAC\output\pdf\SALES360-reference-certificate.pdf</a:t>
            </a:r>
          </a:p>
          <a:p>
            <a:r>
              <a:t>Use the master prompt sample: cumulative assessment AED 1,900,000 less prior certificates AED 950,000 gives current settlement AED 950,000. Default roles are preparer, Reviewer 1, Reviewer 2 and Approver with distinct actors. Certificate settlement is not proof of cash collection. Images are generated synthetic reference documents.</a:t>
            </a:r>
          </a:p>
          <a:p>
            <a:r>
              <a:t>Visual source: C:\Users\Chittaranjan.Behera\Documents\SALES360LAC\output\pdf\qa\page-1.png</a:t>
            </a:r>
          </a:p>
          <a:p>
            <a:r>
              <a:t>Visual source: C:\Users\Chittaranjan.Behera\Documents\SALES360LAC\output\pdf\qa\page-2.png</a:t>
            </a:r>
          </a:p>
          <a:p>
            <a:r>
              <a:t>Visual source: C:\Users\Chittaranjan.Behera\Documents\SALES360LAC\output\pdf\qa\page-3.png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6, 8, 14; AC-09, AC-10.</a:t>
            </a:r>
          </a:p>
          <a:p>
            <a:r>
              <a:t>Source: C:\Users\Chittaranjan.Behera\Documents\SALES360LAC\Version 2\Release 0.6.0\TEST-REPORT.md</a:t>
            </a:r>
          </a:p>
          <a:p>
            <a:r>
              <a:t>Current implementation records client-confirmation evidence, issues bounded invoice records and prevents direct posted-row changes. Full statutory invoice/credit documents, effective-dated tax rules and legal deadline/exception automation remain pending. Do not describe local invoice records as accredited e-invoices.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9; AC-11, AC-12.</a:t>
            </a:r>
          </a:p>
          <a:p>
            <a:r>
              <a:t>Source: C:\Users\Chittaranjan.Behera\Documents\SALES360LAC\Version 2\Release 0.6.0\TEST-REPORT.md</a:t>
            </a:r>
          </a:p>
          <a:p>
            <a:r>
              <a:t>Cash receipts and allocations are distinct. Customer collections use receipt/refund/reversal dates. Project collections use allocation effective dates and reversals. Historical queries must exclude future events. The simple numerical example is illustrative, not a real transaction.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11; AC-13.</a:t>
            </a:r>
          </a:p>
          <a:p>
            <a:r>
              <a:t>Source: C:\Users\Chittaranjan.Behera\Documents\SALES360LAC\Version 2\Release 0.6.0\TEST-REPORT.md</a:t>
            </a:r>
          </a:p>
          <a:p>
            <a:r>
              <a:t>Source: C:\Users\Chittaranjan.Behera\Documents\SALES360LAC\apps\api\Analytics.cs</a:t>
            </a:r>
          </a:p>
          <a:p>
            <a:r>
              <a:t>Release 0.6.0 has nine management reports. Their bases differ deliberately: closing AR at period end, receipt-date customer cash, allocation-date project cash. The screenshot shows synthetic data and a zero AR movement reconciliation difference. It is product evidence, not a complete performance test.</a:t>
            </a:r>
          </a:p>
          <a:p>
            <a:r>
              <a:t>Visual source: C:\Users\Chittaranjan.Behera\Documents\SALES360LAC\docs\evidence\reports060.png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12, 13, 14.</a:t>
            </a:r>
          </a:p>
          <a:p>
            <a:r>
              <a:t>Source: C:\Users\Chittaranjan.Behera\Documents\SALES360LAC\Version 2\Release 0.6.0\TEST-REPORT.md</a:t>
            </a:r>
          </a:p>
          <a:p>
            <a:r>
              <a:t>Source: C:\Users\Chittaranjan.Behera\Documents\SALES360LAC\apps\api\SupportTools.cs</a:t>
            </a:r>
          </a:p>
          <a:p>
            <a:r>
              <a:t>Current capability: local read-only Tally company query and basic customer master XML. Actual Tally mapping/version acceptance and voucher sync remain pending. Zoho supports a web link/file exchange, not configured live OAuth synchronization. Outlook offers a reviewed reset-link draft handoff. These do not require external API credentials for the offline core.</a:t>
            </a:r>
          </a:p>
          <a:p>
            <a:r>
              <a:t>Visual source: C:\Users\Chittaranjan.Behera\Documents\SALES360LAC\docs\evidence\utility060.png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3, 13, 15, 16.</a:t>
            </a:r>
          </a:p>
          <a:p>
            <a:r>
              <a:t>Source: C:\Users\Chittaranjan.Behera\Documents\SALES360LAC\Version 2\Release 0.6.0\TEST-REPORT.md</a:t>
            </a:r>
          </a:p>
          <a:p>
            <a:r>
              <a:t>Source: C:\Users\Chittaranjan.Behera\Documents\SALES360LAC\installer\windows\SALES360.py</a:t>
            </a:r>
          </a:p>
          <a:p>
            <a:r>
              <a:t>Current settings include four themes, current-password change with session revocation, Administrator role assignment links, recovery mailbox, diagnostics and safe repair. Repair checks stable program files and recreates transient folders. It does not change ledger records, keys or original documents. Sending a recovery email needs a configured client and connectivity. Reset links are local to the SALES360 PC.</a:t>
            </a:r>
          </a:p>
          <a:p>
            <a:r>
              <a:t>Visual source: C:\Users\Chittaranjan.Behera\Documents\SALES360LAC\docs\evidence\settings060-black.png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20; AC-01 through AC-22.</a:t>
            </a:r>
          </a:p>
          <a:p>
            <a:r>
              <a:t>Source: C:\Users\Chittaranjan.Behera\Documents\SALES360LAC\Version 2\Release 0.6.0\TEST-REPORT.md</a:t>
            </a:r>
          </a:p>
          <a:p>
            <a:r>
              <a:t>Source: C:\Users\Chittaranjan.Behera\Documents\SALES360LAC\Version 2\Test Data - 100 Customers\TEST-REPORT.txt</a:t>
            </a:r>
          </a:p>
          <a:p>
            <a:r>
              <a:t>Evidence: 28 release regression scenarios plus 18 workflow scenarios and 7 correction scenarios, or 53 grouped checks in release 0.6.0. The separate 100-customer fixture has 11 executed import/reconciliation checks and a restart check. These do not establish all 22 acceptance criteria or the proposed 100k-record/25-business-session load target.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16, 19; AC-20, AC-21.</a:t>
            </a:r>
          </a:p>
          <a:p>
            <a:r>
              <a:t>Source: C:\Users\Chittaranjan.Behera\Documents\SALES360LAC\Version 2\Release 0.6.0\TEST-REPORT.md</a:t>
            </a:r>
          </a:p>
          <a:p>
            <a:r>
              <a:t>Source: C:\Users\Chittaranjan.Behera\Documents\SALES360LAC\installer\windows\SALES360.py</a:t>
            </a:r>
          </a:p>
          <a:p>
            <a:r>
              <a:t>The release includes bundled runtimes, EXE/portable packages, source and BAT tools. Current encrypted local backups use Windows DPAPI and require the same identity/machine. Cross-machine disaster recovery needs additional work. Exact local EXE tests verified library checks, icon opt-in/out, repair/tamper detection, startup and uninstall preserving separate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19, 20, 21.</a:t>
            </a:r>
          </a:p>
          <a:p>
            <a:r>
              <a:t>Source: C:\Users\Chittaranjan.Behera\Documents\SALES360LAC\Version 2\Release 0.6.0\TEST-REPORT.md</a:t>
            </a:r>
          </a:p>
          <a:p>
            <a:r>
              <a:t>Recommended operator acceptance steps. Recent diagnosis showed an old 0.5.0 installer and a default program folder containing only leftover cache, with no recognized installation marker. The installer correctly rejects an unrelated/nonempty folder. The outer Completed window alone does not establish application installation. Use an empty program folder or a recognized existing installation, with business data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20, 21.</a:t>
            </a:r>
          </a:p>
          <a:p>
            <a:r>
              <a:t>Source: C:\Users\Chittaranjan.Behera\Documents\SALES360LAC\Version 2\Release 0.6.0\TEST-REPORT.md</a:t>
            </a:r>
          </a:p>
          <a:p>
            <a:r>
              <a:t>Source: C:\Users\Chittaranjan.Behera\Documents\SALES360LAC\Version 2\Test Data - 100 Customers\TEST-REPORT.txt</a:t>
            </a:r>
          </a:p>
          <a:p>
            <a:r>
              <a:t>Status snapshot through 28 October 2026. Use the evidence level shown. Local tests and controlled integration stubs are not external production acceptance. This table summarizes material remaining scope rather than every backlog item.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C:\Users\Chittaranjan.Behera\Documents\SALES360LAC\SALES360_Codex_Master_Prompt.md</a:t>
            </a:r>
          </a:p>
          <a:p>
            <a:r>
              <a:t>Relevant sections: 14 through 21.</a:t>
            </a:r>
          </a:p>
          <a:p>
            <a:r>
              <a:t>Source: C:\Users\Chittaranjan.Behera\Documents\SALES360LAC\Version 2\Release 0.6.0\TEST-REPORT.md</a:t>
            </a:r>
          </a:p>
          <a:p>
            <a:r>
              <a:t>Recommended remaining work order, not a committed schedule. Each business owner must approve the evidence for their area. Integration work depends on actual product/provider setup and authorization. Final handover includes source, migrations, manuals, release notes, signed artifacts when available and a tested recovery runbook.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EFE6F8E-C65E-4AA6-A497-A04B7E0CE60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C3723F2-8FF5-41EC-8C09-A5B84AB6794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C6A2E4E-D7B4-473B-9D69-7A63A447BB3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AC917A3-4A3E-4777-A825-E5DAF333D38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EF283C6-6693-43F9-8CDA-6A9668F9D22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028CFD0-0DE9-4CCB-B10E-81118D220D0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8C314C9-6DB8-4AA9-8B81-BBE7A9F47BC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52867545-181D-48C3-8D6E-DEEE88F2692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8C23F9D-FDDB-46CD-BC51-DB397623A5C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2179297-FE22-4C40-AB46-1E76CAACBF9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34F"/>
        </a:solidFill>
        <a:effectLst/>
      </p:bgPr>
    </p:bg>
    <p:spTree>
      <p:nvGrpSpPr>
        <p:cNvPr id="1" name=""/>
        <p:cNvGrpSpPr/>
        <p:nvPr/>
      </p:nvGrpSpPr>
      <p:grpSpPr>
        <a:xfrm>
          <a:off x="0" y="0"/>
          <a:ext cx="0" cy="0"/>
          <a:chOff x="0" y="0"/>
          <a:chExt cx="0" cy="0"/>
        </a:xfrm>
      </p:grpSpPr>
      <p:sp>
        <p:nvSpPr>
          <p:cNvPr id="9" name="text-1">
            <a:extLst>
              <a:ext uri="{FF2B5EF4-FFF2-40B4-BE49-F238E27FC236}">
                <a16:creationId xmlns:a16="http://schemas.microsoft.com/office/drawing/2014/main" id="{5916FFE9-B7E9-42A1-8503-530AA39F5BA1}"/>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FFFFFF"/>
                </a:solidFill>
                <a:latin typeface="Arial"/>
                <a:ea typeface="Arial"/>
                <a:cs typeface="Arial"/>
              </a:defRPr>
            </a:defPPr>
            <a:lvl1pPr>
              <a:buNone/>
              <a:defRPr sz="3300" b="1">
                <a:solidFill>
                  <a:srgbClr val="FFFFFF"/>
                </a:solidFill>
                <a:latin typeface="Arial"/>
                <a:ea typeface="Arial"/>
                <a:cs typeface="Arial"/>
              </a:defRPr>
            </a:lvl1pPr>
            <a:lvl2pPr>
              <a:buNone/>
              <a:defRPr sz="3300" b="1">
                <a:solidFill>
                  <a:srgbClr val="FFFFFF"/>
                </a:solidFill>
                <a:latin typeface="Arial"/>
                <a:ea typeface="Arial"/>
                <a:cs typeface="Arial"/>
              </a:defRPr>
            </a:lvl2pPr>
            <a:lvl3pPr>
              <a:buNone/>
              <a:defRPr sz="3300" b="1">
                <a:solidFill>
                  <a:srgbClr val="FFFFFF"/>
                </a:solidFill>
                <a:latin typeface="Arial"/>
                <a:ea typeface="Arial"/>
                <a:cs typeface="Arial"/>
              </a:defRPr>
            </a:lvl3pPr>
            <a:lvl4pPr>
              <a:buNone/>
              <a:defRPr sz="3300" b="1">
                <a:solidFill>
                  <a:srgbClr val="FFFFFF"/>
                </a:solidFill>
                <a:latin typeface="Arial"/>
                <a:ea typeface="Arial"/>
                <a:cs typeface="Arial"/>
              </a:defRPr>
            </a:lvl4pPr>
            <a:lvl5pPr>
              <a:buNone/>
              <a:defRPr sz="3300" b="1">
                <a:solidFill>
                  <a:srgbClr val="FFFFFF"/>
                </a:solidFill>
                <a:latin typeface="Arial"/>
                <a:ea typeface="Arial"/>
                <a:cs typeface="Arial"/>
              </a:defRPr>
            </a:lvl5pPr>
            <a:lvl6pPr>
              <a:buNone/>
              <a:defRPr sz="3300" b="1">
                <a:solidFill>
                  <a:srgbClr val="FFFFFF"/>
                </a:solidFill>
                <a:latin typeface="Arial"/>
                <a:ea typeface="Arial"/>
                <a:cs typeface="Arial"/>
              </a:defRPr>
            </a:lvl6pPr>
            <a:lvl7pPr>
              <a:buNone/>
              <a:defRPr sz="3300" b="1">
                <a:solidFill>
                  <a:srgbClr val="FFFFFF"/>
                </a:solidFill>
                <a:latin typeface="Arial"/>
                <a:ea typeface="Arial"/>
                <a:cs typeface="Arial"/>
              </a:defRPr>
            </a:lvl7pPr>
            <a:lvl8pPr>
              <a:buNone/>
              <a:defRPr sz="3300" b="1">
                <a:solidFill>
                  <a:srgbClr val="FFFFFF"/>
                </a:solidFill>
                <a:latin typeface="Arial"/>
                <a:ea typeface="Arial"/>
                <a:cs typeface="Arial"/>
              </a:defRPr>
            </a:lvl8pPr>
            <a:lvl9pPr>
              <a:buNone/>
              <a:defRPr sz="3300" b="1">
                <a:solidFill>
                  <a:srgbClr val="FFFFFF"/>
                </a:solidFill>
                <a:latin typeface="Arial"/>
                <a:ea typeface="Arial"/>
                <a:cs typeface="Arial"/>
              </a:defRPr>
            </a:lvl9pPr>
          </a:lstStyle>
          <a:p>
            <a:endParaRPr/>
          </a:p>
        </p:txBody>
      </p:sp>
      <p:sp>
        <p:nvSpPr>
          <p:cNvPr id="2" name="text-2">
            <a:extLst>
              <a:ext uri="{FF2B5EF4-FFF2-40B4-BE49-F238E27FC236}">
                <a16:creationId xmlns:a16="http://schemas.microsoft.com/office/drawing/2014/main" id="{B445B4F1-F87C-4977-9DD0-7137F5AA50FD}"/>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B6C9D6"/>
                </a:solidFill>
                <a:latin typeface="Arial"/>
                <a:ea typeface="Arial"/>
                <a:cs typeface="Arial"/>
              </a:defRPr>
            </a:defPPr>
            <a:lvl1pPr>
              <a:buNone/>
              <a:defRPr sz="1125" b="0">
                <a:solidFill>
                  <a:srgbClr val="B6C9D6"/>
                </a:solidFill>
                <a:latin typeface="Arial"/>
                <a:ea typeface="Arial"/>
                <a:cs typeface="Arial"/>
              </a:defRPr>
            </a:lvl1pPr>
            <a:lvl2pPr>
              <a:buNone/>
              <a:defRPr sz="1125" b="0">
                <a:solidFill>
                  <a:srgbClr val="B6C9D6"/>
                </a:solidFill>
                <a:latin typeface="Arial"/>
                <a:ea typeface="Arial"/>
                <a:cs typeface="Arial"/>
              </a:defRPr>
            </a:lvl2pPr>
            <a:lvl3pPr>
              <a:buNone/>
              <a:defRPr sz="1125" b="0">
                <a:solidFill>
                  <a:srgbClr val="B6C9D6"/>
                </a:solidFill>
                <a:latin typeface="Arial"/>
                <a:ea typeface="Arial"/>
                <a:cs typeface="Arial"/>
              </a:defRPr>
            </a:lvl3pPr>
            <a:lvl4pPr>
              <a:buNone/>
              <a:defRPr sz="1125" b="0">
                <a:solidFill>
                  <a:srgbClr val="B6C9D6"/>
                </a:solidFill>
                <a:latin typeface="Arial"/>
                <a:ea typeface="Arial"/>
                <a:cs typeface="Arial"/>
              </a:defRPr>
            </a:lvl4pPr>
            <a:lvl5pPr>
              <a:buNone/>
              <a:defRPr sz="1125" b="0">
                <a:solidFill>
                  <a:srgbClr val="B6C9D6"/>
                </a:solidFill>
                <a:latin typeface="Arial"/>
                <a:ea typeface="Arial"/>
                <a:cs typeface="Arial"/>
              </a:defRPr>
            </a:lvl5pPr>
            <a:lvl6pPr>
              <a:buNone/>
              <a:defRPr sz="1125" b="0">
                <a:solidFill>
                  <a:srgbClr val="B6C9D6"/>
                </a:solidFill>
                <a:latin typeface="Arial"/>
                <a:ea typeface="Arial"/>
                <a:cs typeface="Arial"/>
              </a:defRPr>
            </a:lvl6pPr>
            <a:lvl7pPr>
              <a:buNone/>
              <a:defRPr sz="1125" b="0">
                <a:solidFill>
                  <a:srgbClr val="B6C9D6"/>
                </a:solidFill>
                <a:latin typeface="Arial"/>
                <a:ea typeface="Arial"/>
                <a:cs typeface="Arial"/>
              </a:defRPr>
            </a:lvl7pPr>
            <a:lvl8pPr>
              <a:buNone/>
              <a:defRPr sz="1125" b="0">
                <a:solidFill>
                  <a:srgbClr val="B6C9D6"/>
                </a:solidFill>
                <a:latin typeface="Arial"/>
                <a:ea typeface="Arial"/>
                <a:cs typeface="Arial"/>
              </a:defRPr>
            </a:lvl8pPr>
            <a:lvl9pPr>
              <a:buNone/>
              <a:defRPr sz="1125" b="0">
                <a:solidFill>
                  <a:srgbClr val="B6C9D6"/>
                </a:solidFill>
                <a:latin typeface="Arial"/>
                <a:ea typeface="Arial"/>
                <a:cs typeface="Arial"/>
              </a:defRPr>
            </a:lvl9pPr>
          </a:lstStyle>
          <a:p>
            <a:pPr>
              <a:buNone/>
              <a:defRPr sz="1125" b="0">
                <a:solidFill>
                  <a:srgbClr val="B6C9D6"/>
                </a:solidFill>
                <a:latin typeface="Arial"/>
                <a:ea typeface="Arial"/>
                <a:cs typeface="Arial"/>
              </a:defRPr>
            </a:pPr>
            <a:r>
              <a:rPr sz="1125" b="0">
                <a:solidFill>
                  <a:srgbClr val="B6C9D6"/>
                </a:solidFill>
                <a:latin typeface="Arial"/>
                <a:ea typeface="Arial"/>
                <a:cs typeface="Arial"/>
              </a:rPr>
              <a:t>SALES360</a:t>
            </a:r>
          </a:p>
        </p:txBody>
      </p:sp>
      <p:sp>
        <p:nvSpPr>
          <p:cNvPr id="3" name="text-3">
            <a:extLst>
              <a:ext uri="{FF2B5EF4-FFF2-40B4-BE49-F238E27FC236}">
                <a16:creationId xmlns:a16="http://schemas.microsoft.com/office/drawing/2014/main" id="{83399B43-6E33-44D7-B746-C150B86E3D00}"/>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B6C9D6"/>
                </a:solidFill>
                <a:latin typeface="Arial"/>
                <a:ea typeface="Arial"/>
                <a:cs typeface="Arial"/>
              </a:defRPr>
            </a:defPPr>
            <a:lvl1pPr>
              <a:buNone/>
              <a:defRPr sz="1125" b="0">
                <a:solidFill>
                  <a:srgbClr val="B6C9D6"/>
                </a:solidFill>
                <a:latin typeface="Arial"/>
                <a:ea typeface="Arial"/>
                <a:cs typeface="Arial"/>
              </a:defRPr>
            </a:lvl1pPr>
            <a:lvl2pPr>
              <a:buNone/>
              <a:defRPr sz="1125" b="0">
                <a:solidFill>
                  <a:srgbClr val="B6C9D6"/>
                </a:solidFill>
                <a:latin typeface="Arial"/>
                <a:ea typeface="Arial"/>
                <a:cs typeface="Arial"/>
              </a:defRPr>
            </a:lvl2pPr>
            <a:lvl3pPr>
              <a:buNone/>
              <a:defRPr sz="1125" b="0">
                <a:solidFill>
                  <a:srgbClr val="B6C9D6"/>
                </a:solidFill>
                <a:latin typeface="Arial"/>
                <a:ea typeface="Arial"/>
                <a:cs typeface="Arial"/>
              </a:defRPr>
            </a:lvl3pPr>
            <a:lvl4pPr>
              <a:buNone/>
              <a:defRPr sz="1125" b="0">
                <a:solidFill>
                  <a:srgbClr val="B6C9D6"/>
                </a:solidFill>
                <a:latin typeface="Arial"/>
                <a:ea typeface="Arial"/>
                <a:cs typeface="Arial"/>
              </a:defRPr>
            </a:lvl4pPr>
            <a:lvl5pPr>
              <a:buNone/>
              <a:defRPr sz="1125" b="0">
                <a:solidFill>
                  <a:srgbClr val="B6C9D6"/>
                </a:solidFill>
                <a:latin typeface="Arial"/>
                <a:ea typeface="Arial"/>
                <a:cs typeface="Arial"/>
              </a:defRPr>
            </a:lvl5pPr>
            <a:lvl6pPr>
              <a:buNone/>
              <a:defRPr sz="1125" b="0">
                <a:solidFill>
                  <a:srgbClr val="B6C9D6"/>
                </a:solidFill>
                <a:latin typeface="Arial"/>
                <a:ea typeface="Arial"/>
                <a:cs typeface="Arial"/>
              </a:defRPr>
            </a:lvl6pPr>
            <a:lvl7pPr>
              <a:buNone/>
              <a:defRPr sz="1125" b="0">
                <a:solidFill>
                  <a:srgbClr val="B6C9D6"/>
                </a:solidFill>
                <a:latin typeface="Arial"/>
                <a:ea typeface="Arial"/>
                <a:cs typeface="Arial"/>
              </a:defRPr>
            </a:lvl7pPr>
            <a:lvl8pPr>
              <a:buNone/>
              <a:defRPr sz="1125" b="0">
                <a:solidFill>
                  <a:srgbClr val="B6C9D6"/>
                </a:solidFill>
                <a:latin typeface="Arial"/>
                <a:ea typeface="Arial"/>
                <a:cs typeface="Arial"/>
              </a:defRPr>
            </a:lvl8pPr>
            <a:lvl9pPr>
              <a:buNone/>
              <a:defRPr sz="1125" b="0">
                <a:solidFill>
                  <a:srgbClr val="B6C9D6"/>
                </a:solidFill>
                <a:latin typeface="Arial"/>
                <a:ea typeface="Arial"/>
                <a:cs typeface="Arial"/>
              </a:defRPr>
            </a:lvl9pPr>
          </a:lstStyle>
          <a:p>
            <a:pPr>
              <a:buNone/>
              <a:defRPr sz="1125" b="0">
                <a:solidFill>
                  <a:srgbClr val="B6C9D6"/>
                </a:solidFill>
                <a:latin typeface="Arial"/>
                <a:ea typeface="Arial"/>
                <a:cs typeface="Arial"/>
              </a:defRPr>
            </a:pPr>
            <a:r>
              <a:rPr sz="1125" b="0">
                <a:solidFill>
                  <a:srgbClr val="B6C9D6"/>
                </a:solidFill>
                <a:latin typeface="Arial"/>
                <a:ea typeface="Arial"/>
                <a:cs typeface="Arial"/>
              </a:rPr>
              <a:t>01</a:t>
            </a:r>
          </a:p>
        </p:txBody>
      </p:sp>
      <p:pic>
        <p:nvPicPr>
          <p:cNvPr id="4" name="Picture 3">
            <a:extLst>
              <a:ext uri="{FF2B5EF4-FFF2-40B4-BE49-F238E27FC236}">
                <a16:creationId xmlns:a16="http://schemas.microsoft.com/office/drawing/2014/main" id="{CC6E4B60-F1BE-47AC-9593-B0F3A053EF2C}"/>
              </a:ext>
            </a:extLst>
          </p:cNvPr>
          <p:cNvPicPr>
            <a:picLocks noChangeAspect="1"/>
          </p:cNvPicPr>
          <p:nvPr/>
        </p:nvPicPr>
        <p:blipFill>
          <a:blip r:embed="rId3"/>
          <a:stretch/>
        </p:blipFill>
        <p:spPr>
          <a:xfrm>
            <a:off x="609600" y="514350"/>
            <a:ext cx="876300" cy="876300"/>
          </a:xfrm>
          <a:prstGeom prst="rect">
            <a:avLst/>
          </a:prstGeom>
        </p:spPr>
      </p:pic>
      <p:sp>
        <p:nvSpPr>
          <p:cNvPr id="5" name="text-4">
            <a:extLst>
              <a:ext uri="{FF2B5EF4-FFF2-40B4-BE49-F238E27FC236}">
                <a16:creationId xmlns:a16="http://schemas.microsoft.com/office/drawing/2014/main" id="{163F5678-A6E8-4781-853F-7F30A641FD0F}"/>
              </a:ext>
            </a:extLst>
          </p:cNvPr>
          <p:cNvSpPr>
            <a:spLocks noGrp="1"/>
          </p:cNvSpPr>
          <p:nvPr/>
        </p:nvSpPr>
        <p:spPr>
          <a:xfrm>
            <a:off x="609600" y="2057400"/>
            <a:ext cx="10572750" cy="857250"/>
          </a:xfrm>
          <a:prstGeom prst="rect">
            <a:avLst/>
          </a:prstGeom>
          <a:noFill/>
          <a:ln w="0">
            <a:noFill/>
          </a:ln>
        </p:spPr>
        <p:txBody>
          <a:bodyPr wrap="square" lIns="0" tIns="0" rIns="0" bIns="0" anchor="t">
            <a:noAutofit/>
          </a:bodyPr>
          <a:lstStyle>
            <a:defPPr>
              <a:defRPr sz="5850" b="1">
                <a:solidFill>
                  <a:srgbClr val="FFFFFF"/>
                </a:solidFill>
                <a:latin typeface="Arial"/>
                <a:ea typeface="Arial"/>
                <a:cs typeface="Arial"/>
              </a:defRPr>
            </a:defPPr>
            <a:lvl1pPr>
              <a:buNone/>
              <a:defRPr sz="5850" b="1">
                <a:solidFill>
                  <a:srgbClr val="FFFFFF"/>
                </a:solidFill>
                <a:latin typeface="Arial"/>
                <a:ea typeface="Arial"/>
                <a:cs typeface="Arial"/>
              </a:defRPr>
            </a:lvl1pPr>
            <a:lvl2pPr>
              <a:buNone/>
              <a:defRPr sz="5850" b="1">
                <a:solidFill>
                  <a:srgbClr val="FFFFFF"/>
                </a:solidFill>
                <a:latin typeface="Arial"/>
                <a:ea typeface="Arial"/>
                <a:cs typeface="Arial"/>
              </a:defRPr>
            </a:lvl2pPr>
            <a:lvl3pPr>
              <a:buNone/>
              <a:defRPr sz="5850" b="1">
                <a:solidFill>
                  <a:srgbClr val="FFFFFF"/>
                </a:solidFill>
                <a:latin typeface="Arial"/>
                <a:ea typeface="Arial"/>
                <a:cs typeface="Arial"/>
              </a:defRPr>
            </a:lvl3pPr>
            <a:lvl4pPr>
              <a:buNone/>
              <a:defRPr sz="5850" b="1">
                <a:solidFill>
                  <a:srgbClr val="FFFFFF"/>
                </a:solidFill>
                <a:latin typeface="Arial"/>
                <a:ea typeface="Arial"/>
                <a:cs typeface="Arial"/>
              </a:defRPr>
            </a:lvl4pPr>
            <a:lvl5pPr>
              <a:buNone/>
              <a:defRPr sz="5850" b="1">
                <a:solidFill>
                  <a:srgbClr val="FFFFFF"/>
                </a:solidFill>
                <a:latin typeface="Arial"/>
                <a:ea typeface="Arial"/>
                <a:cs typeface="Arial"/>
              </a:defRPr>
            </a:lvl5pPr>
            <a:lvl6pPr>
              <a:buNone/>
              <a:defRPr sz="5850" b="1">
                <a:solidFill>
                  <a:srgbClr val="FFFFFF"/>
                </a:solidFill>
                <a:latin typeface="Arial"/>
                <a:ea typeface="Arial"/>
                <a:cs typeface="Arial"/>
              </a:defRPr>
            </a:lvl6pPr>
            <a:lvl7pPr>
              <a:buNone/>
              <a:defRPr sz="5850" b="1">
                <a:solidFill>
                  <a:srgbClr val="FFFFFF"/>
                </a:solidFill>
                <a:latin typeface="Arial"/>
                <a:ea typeface="Arial"/>
                <a:cs typeface="Arial"/>
              </a:defRPr>
            </a:lvl7pPr>
            <a:lvl8pPr>
              <a:buNone/>
              <a:defRPr sz="5850" b="1">
                <a:solidFill>
                  <a:srgbClr val="FFFFFF"/>
                </a:solidFill>
                <a:latin typeface="Arial"/>
                <a:ea typeface="Arial"/>
                <a:cs typeface="Arial"/>
              </a:defRPr>
            </a:lvl8pPr>
            <a:lvl9pPr>
              <a:buNone/>
              <a:defRPr sz="5850" b="1">
                <a:solidFill>
                  <a:srgbClr val="FFFFFF"/>
                </a:solidFill>
                <a:latin typeface="Arial"/>
                <a:ea typeface="Arial"/>
                <a:cs typeface="Arial"/>
              </a:defRPr>
            </a:lvl9pPr>
          </a:lstStyle>
          <a:p>
            <a:pPr>
              <a:buNone/>
              <a:defRPr sz="5850" b="1">
                <a:solidFill>
                  <a:srgbClr val="FFFFFF"/>
                </a:solidFill>
                <a:latin typeface="Arial"/>
                <a:ea typeface="Arial"/>
                <a:cs typeface="Arial"/>
              </a:defRPr>
            </a:pPr>
            <a:r>
              <a:rPr sz="5850" b="1">
                <a:solidFill>
                  <a:srgbClr val="FFFFFF"/>
                </a:solidFill>
                <a:latin typeface="Arial"/>
                <a:ea typeface="Arial"/>
                <a:cs typeface="Arial"/>
              </a:rPr>
              <a:t>SALES360</a:t>
            </a:r>
          </a:p>
        </p:txBody>
      </p:sp>
      <p:sp>
        <p:nvSpPr>
          <p:cNvPr id="6" name="text-5">
            <a:extLst>
              <a:ext uri="{FF2B5EF4-FFF2-40B4-BE49-F238E27FC236}">
                <a16:creationId xmlns:a16="http://schemas.microsoft.com/office/drawing/2014/main" id="{25A72CBA-5F2A-4D3F-9803-884D2AB5AD5B}"/>
              </a:ext>
            </a:extLst>
          </p:cNvPr>
          <p:cNvSpPr>
            <a:spLocks noGrp="1"/>
          </p:cNvSpPr>
          <p:nvPr/>
        </p:nvSpPr>
        <p:spPr>
          <a:xfrm>
            <a:off x="609600" y="3048000"/>
            <a:ext cx="10572750" cy="838200"/>
          </a:xfrm>
          <a:prstGeom prst="rect">
            <a:avLst/>
          </a:prstGeom>
          <a:noFill/>
          <a:ln w="0">
            <a:noFill/>
          </a:ln>
        </p:spPr>
        <p:txBody>
          <a:bodyPr wrap="square" lIns="0" tIns="0" rIns="0" bIns="0" anchor="t">
            <a:noAutofit/>
          </a:bodyPr>
          <a:lstStyle>
            <a:defPPr>
              <a:defRPr sz="4500" b="1">
                <a:solidFill>
                  <a:srgbClr val="FFFFFF"/>
                </a:solidFill>
                <a:latin typeface="Arial"/>
                <a:ea typeface="Arial"/>
                <a:cs typeface="Arial"/>
              </a:defRPr>
            </a:defPPr>
            <a:lvl1pPr>
              <a:buNone/>
              <a:defRPr sz="4500" b="1">
                <a:solidFill>
                  <a:srgbClr val="FFFFFF"/>
                </a:solidFill>
                <a:latin typeface="Arial"/>
                <a:ea typeface="Arial"/>
                <a:cs typeface="Arial"/>
              </a:defRPr>
            </a:lvl1pPr>
            <a:lvl2pPr>
              <a:buNone/>
              <a:defRPr sz="4500" b="1">
                <a:solidFill>
                  <a:srgbClr val="FFFFFF"/>
                </a:solidFill>
                <a:latin typeface="Arial"/>
                <a:ea typeface="Arial"/>
                <a:cs typeface="Arial"/>
              </a:defRPr>
            </a:lvl2pPr>
            <a:lvl3pPr>
              <a:buNone/>
              <a:defRPr sz="4500" b="1">
                <a:solidFill>
                  <a:srgbClr val="FFFFFF"/>
                </a:solidFill>
                <a:latin typeface="Arial"/>
                <a:ea typeface="Arial"/>
                <a:cs typeface="Arial"/>
              </a:defRPr>
            </a:lvl3pPr>
            <a:lvl4pPr>
              <a:buNone/>
              <a:defRPr sz="4500" b="1">
                <a:solidFill>
                  <a:srgbClr val="FFFFFF"/>
                </a:solidFill>
                <a:latin typeface="Arial"/>
                <a:ea typeface="Arial"/>
                <a:cs typeface="Arial"/>
              </a:defRPr>
            </a:lvl4pPr>
            <a:lvl5pPr>
              <a:buNone/>
              <a:defRPr sz="4500" b="1">
                <a:solidFill>
                  <a:srgbClr val="FFFFFF"/>
                </a:solidFill>
                <a:latin typeface="Arial"/>
                <a:ea typeface="Arial"/>
                <a:cs typeface="Arial"/>
              </a:defRPr>
            </a:lvl5pPr>
            <a:lvl6pPr>
              <a:buNone/>
              <a:defRPr sz="4500" b="1">
                <a:solidFill>
                  <a:srgbClr val="FFFFFF"/>
                </a:solidFill>
                <a:latin typeface="Arial"/>
                <a:ea typeface="Arial"/>
                <a:cs typeface="Arial"/>
              </a:defRPr>
            </a:lvl6pPr>
            <a:lvl7pPr>
              <a:buNone/>
              <a:defRPr sz="4500" b="1">
                <a:solidFill>
                  <a:srgbClr val="FFFFFF"/>
                </a:solidFill>
                <a:latin typeface="Arial"/>
                <a:ea typeface="Arial"/>
                <a:cs typeface="Arial"/>
              </a:defRPr>
            </a:lvl7pPr>
            <a:lvl8pPr>
              <a:buNone/>
              <a:defRPr sz="4500" b="1">
                <a:solidFill>
                  <a:srgbClr val="FFFFFF"/>
                </a:solidFill>
                <a:latin typeface="Arial"/>
                <a:ea typeface="Arial"/>
                <a:cs typeface="Arial"/>
              </a:defRPr>
            </a:lvl8pPr>
            <a:lvl9pPr>
              <a:buNone/>
              <a:defRPr sz="4500" b="1">
                <a:solidFill>
                  <a:srgbClr val="FFFFFF"/>
                </a:solidFill>
                <a:latin typeface="Arial"/>
                <a:ea typeface="Arial"/>
                <a:cs typeface="Arial"/>
              </a:defRPr>
            </a:lvl9pPr>
          </a:lstStyle>
          <a:p>
            <a:pPr>
              <a:buNone/>
              <a:defRPr sz="4500" b="1">
                <a:solidFill>
                  <a:srgbClr val="FFFFFF"/>
                </a:solidFill>
                <a:latin typeface="Arial"/>
                <a:ea typeface="Arial"/>
                <a:cs typeface="Arial"/>
              </a:defRPr>
            </a:pPr>
            <a:r>
              <a:rPr sz="4500" b="1">
                <a:solidFill>
                  <a:srgbClr val="FFFFFF"/>
                </a:solidFill>
                <a:latin typeface="Arial"/>
                <a:ea typeface="Arial"/>
                <a:cs typeface="Arial"/>
              </a:rPr>
              <a:t>Development process</a:t>
            </a:r>
          </a:p>
        </p:txBody>
      </p:sp>
      <p:sp>
        <p:nvSpPr>
          <p:cNvPr id="7" name="text-6">
            <a:extLst>
              <a:ext uri="{FF2B5EF4-FFF2-40B4-BE49-F238E27FC236}">
                <a16:creationId xmlns:a16="http://schemas.microsoft.com/office/drawing/2014/main" id="{297A5668-A13B-4CA6-A8FB-77EA4EFE93F5}"/>
              </a:ext>
            </a:extLst>
          </p:cNvPr>
          <p:cNvSpPr>
            <a:spLocks noGrp="1"/>
          </p:cNvSpPr>
          <p:nvPr/>
        </p:nvSpPr>
        <p:spPr>
          <a:xfrm>
            <a:off x="609600" y="4257675"/>
            <a:ext cx="10572750" cy="609600"/>
          </a:xfrm>
          <a:prstGeom prst="rect">
            <a:avLst/>
          </a:prstGeom>
          <a:noFill/>
          <a:ln w="0">
            <a:noFill/>
          </a:ln>
        </p:spPr>
        <p:txBody>
          <a:bodyPr wrap="square" lIns="0" tIns="0" rIns="0" bIns="0" anchor="t">
            <a:noAutofit/>
          </a:bodyPr>
          <a:lstStyle>
            <a:defPPr>
              <a:defRPr sz="2325" b="0">
                <a:solidFill>
                  <a:srgbClr val="C1D7E3"/>
                </a:solidFill>
                <a:latin typeface="Arial"/>
                <a:ea typeface="Arial"/>
                <a:cs typeface="Arial"/>
              </a:defRPr>
            </a:defPPr>
            <a:lvl1pPr>
              <a:buNone/>
              <a:defRPr sz="2325" b="0">
                <a:solidFill>
                  <a:srgbClr val="C1D7E3"/>
                </a:solidFill>
                <a:latin typeface="Arial"/>
                <a:ea typeface="Arial"/>
                <a:cs typeface="Arial"/>
              </a:defRPr>
            </a:lvl1pPr>
            <a:lvl2pPr>
              <a:buNone/>
              <a:defRPr sz="2325" b="0">
                <a:solidFill>
                  <a:srgbClr val="C1D7E3"/>
                </a:solidFill>
                <a:latin typeface="Arial"/>
                <a:ea typeface="Arial"/>
                <a:cs typeface="Arial"/>
              </a:defRPr>
            </a:lvl2pPr>
            <a:lvl3pPr>
              <a:buNone/>
              <a:defRPr sz="2325" b="0">
                <a:solidFill>
                  <a:srgbClr val="C1D7E3"/>
                </a:solidFill>
                <a:latin typeface="Arial"/>
                <a:ea typeface="Arial"/>
                <a:cs typeface="Arial"/>
              </a:defRPr>
            </a:lvl3pPr>
            <a:lvl4pPr>
              <a:buNone/>
              <a:defRPr sz="2325" b="0">
                <a:solidFill>
                  <a:srgbClr val="C1D7E3"/>
                </a:solidFill>
                <a:latin typeface="Arial"/>
                <a:ea typeface="Arial"/>
                <a:cs typeface="Arial"/>
              </a:defRPr>
            </a:lvl4pPr>
            <a:lvl5pPr>
              <a:buNone/>
              <a:defRPr sz="2325" b="0">
                <a:solidFill>
                  <a:srgbClr val="C1D7E3"/>
                </a:solidFill>
                <a:latin typeface="Arial"/>
                <a:ea typeface="Arial"/>
                <a:cs typeface="Arial"/>
              </a:defRPr>
            </a:lvl5pPr>
            <a:lvl6pPr>
              <a:buNone/>
              <a:defRPr sz="2325" b="0">
                <a:solidFill>
                  <a:srgbClr val="C1D7E3"/>
                </a:solidFill>
                <a:latin typeface="Arial"/>
                <a:ea typeface="Arial"/>
                <a:cs typeface="Arial"/>
              </a:defRPr>
            </a:lvl6pPr>
            <a:lvl7pPr>
              <a:buNone/>
              <a:defRPr sz="2325" b="0">
                <a:solidFill>
                  <a:srgbClr val="C1D7E3"/>
                </a:solidFill>
                <a:latin typeface="Arial"/>
                <a:ea typeface="Arial"/>
                <a:cs typeface="Arial"/>
              </a:defRPr>
            </a:lvl7pPr>
            <a:lvl8pPr>
              <a:buNone/>
              <a:defRPr sz="2325" b="0">
                <a:solidFill>
                  <a:srgbClr val="C1D7E3"/>
                </a:solidFill>
                <a:latin typeface="Arial"/>
                <a:ea typeface="Arial"/>
                <a:cs typeface="Arial"/>
              </a:defRPr>
            </a:lvl8pPr>
            <a:lvl9pPr>
              <a:buNone/>
              <a:defRPr sz="2325" b="0">
                <a:solidFill>
                  <a:srgbClr val="C1D7E3"/>
                </a:solidFill>
                <a:latin typeface="Arial"/>
                <a:ea typeface="Arial"/>
                <a:cs typeface="Arial"/>
              </a:defRPr>
            </a:lvl9pPr>
          </a:lstStyle>
          <a:p>
            <a:pPr>
              <a:buNone/>
              <a:defRPr sz="2325" b="0">
                <a:solidFill>
                  <a:srgbClr val="C1D7E3"/>
                </a:solidFill>
                <a:latin typeface="Arial"/>
                <a:ea typeface="Arial"/>
                <a:cs typeface="Arial"/>
              </a:defRPr>
            </a:pPr>
            <a:r>
              <a:rPr sz="2325" b="0">
                <a:solidFill>
                  <a:srgbClr val="C1D7E3"/>
                </a:solidFill>
                <a:latin typeface="Arial"/>
                <a:ea typeface="Arial"/>
                <a:cs typeface="Arial"/>
              </a:rPr>
              <a:t>A step-by-step guide based on the master prompt</a:t>
            </a:r>
          </a:p>
        </p:txBody>
      </p:sp>
      <p:sp>
        <p:nvSpPr>
          <p:cNvPr id="8" name="text-7">
            <a:extLst>
              <a:ext uri="{FF2B5EF4-FFF2-40B4-BE49-F238E27FC236}">
                <a16:creationId xmlns:a16="http://schemas.microsoft.com/office/drawing/2014/main" id="{63DCE7C8-99CB-4D2A-A955-B1871322041C}"/>
              </a:ext>
            </a:extLst>
          </p:cNvPr>
          <p:cNvSpPr>
            <a:spLocks noGrp="1"/>
          </p:cNvSpPr>
          <p:nvPr/>
        </p:nvSpPr>
        <p:spPr>
          <a:xfrm>
            <a:off x="609600" y="5353050"/>
            <a:ext cx="10572750" cy="381000"/>
          </a:xfrm>
          <a:prstGeom prst="rect">
            <a:avLst/>
          </a:prstGeom>
          <a:noFill/>
          <a:ln w="0">
            <a:noFill/>
          </a:ln>
        </p:spPr>
        <p:txBody>
          <a:bodyPr wrap="square" lIns="0" tIns="0" rIns="0" bIns="0" anchor="t">
            <a:noAutofit/>
          </a:bodyPr>
          <a:lstStyle>
            <a:defPPr>
              <a:defRPr sz="1800" b="0">
                <a:solidFill>
                  <a:srgbClr val="9FC4C4"/>
                </a:solidFill>
                <a:latin typeface="Arial"/>
                <a:ea typeface="Arial"/>
                <a:cs typeface="Arial"/>
              </a:defRPr>
            </a:defPPr>
            <a:lvl1pPr>
              <a:buNone/>
              <a:defRPr sz="1800" b="0">
                <a:solidFill>
                  <a:srgbClr val="9FC4C4"/>
                </a:solidFill>
                <a:latin typeface="Arial"/>
                <a:ea typeface="Arial"/>
                <a:cs typeface="Arial"/>
              </a:defRPr>
            </a:lvl1pPr>
            <a:lvl2pPr>
              <a:buNone/>
              <a:defRPr sz="1800" b="0">
                <a:solidFill>
                  <a:srgbClr val="9FC4C4"/>
                </a:solidFill>
                <a:latin typeface="Arial"/>
                <a:ea typeface="Arial"/>
                <a:cs typeface="Arial"/>
              </a:defRPr>
            </a:lvl2pPr>
            <a:lvl3pPr>
              <a:buNone/>
              <a:defRPr sz="1800" b="0">
                <a:solidFill>
                  <a:srgbClr val="9FC4C4"/>
                </a:solidFill>
                <a:latin typeface="Arial"/>
                <a:ea typeface="Arial"/>
                <a:cs typeface="Arial"/>
              </a:defRPr>
            </a:lvl3pPr>
            <a:lvl4pPr>
              <a:buNone/>
              <a:defRPr sz="1800" b="0">
                <a:solidFill>
                  <a:srgbClr val="9FC4C4"/>
                </a:solidFill>
                <a:latin typeface="Arial"/>
                <a:ea typeface="Arial"/>
                <a:cs typeface="Arial"/>
              </a:defRPr>
            </a:lvl4pPr>
            <a:lvl5pPr>
              <a:buNone/>
              <a:defRPr sz="1800" b="0">
                <a:solidFill>
                  <a:srgbClr val="9FC4C4"/>
                </a:solidFill>
                <a:latin typeface="Arial"/>
                <a:ea typeface="Arial"/>
                <a:cs typeface="Arial"/>
              </a:defRPr>
            </a:lvl5pPr>
            <a:lvl6pPr>
              <a:buNone/>
              <a:defRPr sz="1800" b="0">
                <a:solidFill>
                  <a:srgbClr val="9FC4C4"/>
                </a:solidFill>
                <a:latin typeface="Arial"/>
                <a:ea typeface="Arial"/>
                <a:cs typeface="Arial"/>
              </a:defRPr>
            </a:lvl6pPr>
            <a:lvl7pPr>
              <a:buNone/>
              <a:defRPr sz="1800" b="0">
                <a:solidFill>
                  <a:srgbClr val="9FC4C4"/>
                </a:solidFill>
                <a:latin typeface="Arial"/>
                <a:ea typeface="Arial"/>
                <a:cs typeface="Arial"/>
              </a:defRPr>
            </a:lvl7pPr>
            <a:lvl8pPr>
              <a:buNone/>
              <a:defRPr sz="1800" b="0">
                <a:solidFill>
                  <a:srgbClr val="9FC4C4"/>
                </a:solidFill>
                <a:latin typeface="Arial"/>
                <a:ea typeface="Arial"/>
                <a:cs typeface="Arial"/>
              </a:defRPr>
            </a:lvl8pPr>
            <a:lvl9pPr>
              <a:buNone/>
              <a:defRPr sz="1800" b="0">
                <a:solidFill>
                  <a:srgbClr val="9FC4C4"/>
                </a:solidFill>
                <a:latin typeface="Arial"/>
                <a:ea typeface="Arial"/>
                <a:cs typeface="Arial"/>
              </a:defRPr>
            </a:lvl9pPr>
          </a:lstStyle>
          <a:p>
            <a:pPr>
              <a:buNone/>
              <a:defRPr sz="1800" b="0">
                <a:solidFill>
                  <a:srgbClr val="9FC4C4"/>
                </a:solidFill>
                <a:latin typeface="Arial"/>
                <a:ea typeface="Arial"/>
                <a:cs typeface="Arial"/>
              </a:defRPr>
            </a:pPr>
            <a:r>
              <a:rPr sz="1800" b="0" dirty="0">
                <a:solidFill>
                  <a:srgbClr val="9FC4C4"/>
                </a:solidFill>
                <a:latin typeface="Arial"/>
                <a:ea typeface="Arial"/>
                <a:cs typeface="Arial"/>
              </a:rPr>
              <a:t>Project evidence through 28 October 2026</a:t>
            </a:r>
            <a:r>
              <a:rPr lang="en-US" sz="1800" b="0" dirty="0">
                <a:solidFill>
                  <a:srgbClr val="9FC4C4"/>
                </a:solidFill>
                <a:latin typeface="Arial"/>
                <a:ea typeface="Arial"/>
                <a:cs typeface="Arial"/>
              </a:rPr>
              <a:t> – Developed by CA Chittaranjan Behera</a:t>
            </a:r>
          </a:p>
          <a:p>
            <a:pPr>
              <a:buNone/>
              <a:defRPr sz="1800" b="0">
                <a:solidFill>
                  <a:srgbClr val="9FC4C4"/>
                </a:solidFill>
                <a:latin typeface="Arial"/>
                <a:ea typeface="Arial"/>
                <a:cs typeface="Arial"/>
              </a:defRPr>
            </a:pPr>
            <a:endParaRPr sz="1800" b="0" dirty="0">
              <a:solidFill>
                <a:srgbClr val="9FC4C4"/>
              </a:solidFill>
              <a:latin typeface="Arial"/>
              <a:ea typeface="Arial"/>
              <a:cs typeface="Arial"/>
            </a:endParaRPr>
          </a:p>
        </p:txBody>
      </p:sp>
    </p:spTree>
    <p:extLst>
      <p:ext uri="{BB962C8B-B14F-4D97-AF65-F5344CB8AC3E}">
        <p14:creationId xmlns:p14="http://schemas.microsoft.com/office/powerpoint/2010/main" val="641104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8EC2800C-45F4-4B86-95DD-EE97D7506BCF}"/>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Development sequence</a:t>
            </a:r>
          </a:p>
        </p:txBody>
      </p:sp>
      <p:sp>
        <p:nvSpPr>
          <p:cNvPr id="2" name="text-2">
            <a:extLst>
              <a:ext uri="{FF2B5EF4-FFF2-40B4-BE49-F238E27FC236}">
                <a16:creationId xmlns:a16="http://schemas.microsoft.com/office/drawing/2014/main" id="{65455002-BFF3-403F-87E4-88FFAF62E2B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59A60E62-AB75-45D9-9003-E1F9888DB71F}"/>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02</a:t>
            </a:r>
          </a:p>
        </p:txBody>
      </p:sp>
      <p:graphicFrame>
        <p:nvGraphicFramePr>
          <p:cNvPr id="4" name="Table 3">
            <a:extLst>
              <a:ext uri="{FF2B5EF4-FFF2-40B4-BE49-F238E27FC236}">
                <a16:creationId xmlns:a16="http://schemas.microsoft.com/office/drawing/2014/main" id="{A50CA398-6B96-41B2-80FD-25437EB7E4BF}"/>
              </a:ext>
            </a:extLst>
          </p:cNvPr>
          <p:cNvGraphicFramePr/>
          <p:nvPr/>
        </p:nvGraphicFramePr>
        <p:xfrm>
          <a:off x="609600" y="1666875"/>
          <a:ext cx="10972800" cy="4362449"/>
        </p:xfrm>
        <a:graphic>
          <a:graphicData uri="http://schemas.openxmlformats.org/drawingml/2006/table">
            <a:tbl>
              <a:tblPr/>
              <a:tblGrid>
                <a:gridCol w="11430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5734050">
                  <a:extLst>
                    <a:ext uri="{9D8B030D-6E8A-4147-A177-3AD203B41FA5}">
                      <a16:colId xmlns:a16="http://schemas.microsoft.com/office/drawing/2014/main" val="20002"/>
                    </a:ext>
                  </a:extLst>
                </a:gridCol>
              </a:tblGrid>
              <a:tr h="623207">
                <a:tc>
                  <a:txBody>
                    <a:bodyPr/>
                    <a:lstStyle/>
                    <a:p>
                      <a:r>
                        <a:rPr sz="1875" b="1">
                          <a:solidFill>
                            <a:srgbClr val="FFFFFF"/>
                          </a:solidFill>
                          <a:latin typeface="Arial"/>
                          <a:ea typeface="Arial"/>
                          <a:cs typeface="Arial"/>
                        </a:rPr>
                        <a:t>Phase</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75" b="1">
                          <a:solidFill>
                            <a:srgbClr val="FFFFFF"/>
                          </a:solidFill>
                          <a:latin typeface="Arial"/>
                          <a:ea typeface="Arial"/>
                          <a:cs typeface="Arial"/>
                        </a:rPr>
                        <a:t>Main work</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75" b="1">
                          <a:solidFill>
                            <a:srgbClr val="FFFFFF"/>
                          </a:solidFill>
                          <a:latin typeface="Arial"/>
                          <a:ea typeface="Arial"/>
                          <a:cs typeface="Arial"/>
                        </a:rPr>
                        <a:t>Exit evidence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623207">
                <a:tc>
                  <a:txBody>
                    <a:bodyPr/>
                    <a:lstStyle/>
                    <a:p>
                      <a:r>
                        <a:rPr sz="1875" b="0">
                          <a:solidFill>
                            <a:srgbClr val="213C52"/>
                          </a:solidFill>
                          <a:latin typeface="Arial"/>
                          <a:ea typeface="Arial"/>
                          <a:cs typeface="Arial"/>
                        </a:rPr>
                        <a:t>1</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Foundation and identity</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Masters, access controls and migrations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623207">
                <a:tc>
                  <a:txBody>
                    <a:bodyPr/>
                    <a:lstStyle/>
                    <a:p>
                      <a:r>
                        <a:rPr sz="1875" b="0">
                          <a:solidFill>
                            <a:srgbClr val="213C52"/>
                          </a:solidFill>
                          <a:latin typeface="Arial"/>
                          <a:ea typeface="Arial"/>
                          <a:cs typeface="Arial"/>
                        </a:rPr>
                        <a:t>2</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Documents and migration</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Reviewed source mapping and reconciliation</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623207">
                <a:tc>
                  <a:txBody>
                    <a:bodyPr/>
                    <a:lstStyle/>
                    <a:p>
                      <a:r>
                        <a:rPr sz="1875" b="0">
                          <a:solidFill>
                            <a:srgbClr val="213C52"/>
                          </a:solidFill>
                          <a:latin typeface="Arial"/>
                          <a:ea typeface="Arial"/>
                          <a:cs typeface="Arial"/>
                        </a:rPr>
                        <a:t>3</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Certificates and approvals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Correct calculations and controlled drafts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623207">
                <a:tc>
                  <a:txBody>
                    <a:bodyPr/>
                    <a:lstStyle/>
                    <a:p>
                      <a:r>
                        <a:rPr sz="1875" b="0">
                          <a:solidFill>
                            <a:srgbClr val="213C52"/>
                          </a:solidFill>
                          <a:latin typeface="Arial"/>
                          <a:ea typeface="Arial"/>
                          <a:cs typeface="Arial"/>
                        </a:rPr>
                        <a:t>4</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Invoices and cash</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Reconciled receivables and reports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r h="623207">
                <a:tc>
                  <a:txBody>
                    <a:bodyPr/>
                    <a:lstStyle/>
                    <a:p>
                      <a:r>
                        <a:rPr sz="1875" b="0">
                          <a:solidFill>
                            <a:srgbClr val="213C52"/>
                          </a:solidFill>
                          <a:latin typeface="Arial"/>
                          <a:ea typeface="Arial"/>
                          <a:cs typeface="Arial"/>
                        </a:rPr>
                        <a:t>5</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External services and tax</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Provider tests and approved business rules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5"/>
                  </a:ext>
                </a:extLst>
              </a:tr>
              <a:tr h="623207">
                <a:tc>
                  <a:txBody>
                    <a:bodyPr/>
                    <a:lstStyle/>
                    <a:p>
                      <a:r>
                        <a:rPr sz="1875" b="0">
                          <a:solidFill>
                            <a:srgbClr val="213C52"/>
                          </a:solidFill>
                          <a:latin typeface="Arial"/>
                          <a:ea typeface="Arial"/>
                          <a:cs typeface="Arial"/>
                        </a:rPr>
                        <a:t>6</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Release and operations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Recovery, installation and user acceptance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50729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1">
            <a:extLst>
              <a:ext uri="{FF2B5EF4-FFF2-40B4-BE49-F238E27FC236}">
                <a16:creationId xmlns:a16="http://schemas.microsoft.com/office/drawing/2014/main" id="{68EA55D8-80A7-4FA1-B392-6E8271829153}"/>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01  Master prompt and source pack</a:t>
            </a:r>
          </a:p>
        </p:txBody>
      </p:sp>
      <p:sp>
        <p:nvSpPr>
          <p:cNvPr id="2" name="text-2">
            <a:extLst>
              <a:ext uri="{FF2B5EF4-FFF2-40B4-BE49-F238E27FC236}">
                <a16:creationId xmlns:a16="http://schemas.microsoft.com/office/drawing/2014/main" id="{562B0D36-C36B-46C6-B49A-A82EEDA876BE}"/>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A9DA9D90-DA9A-49E4-9F53-4AA2FCC9B279}"/>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03</a:t>
            </a:r>
          </a:p>
        </p:txBody>
      </p:sp>
      <p:sp>
        <p:nvSpPr>
          <p:cNvPr id="4" name="text-4">
            <a:extLst>
              <a:ext uri="{FF2B5EF4-FFF2-40B4-BE49-F238E27FC236}">
                <a16:creationId xmlns:a16="http://schemas.microsoft.com/office/drawing/2014/main" id="{3541F6BA-63F3-4842-9BAC-9E442B65AE84}"/>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A9DA4F16-EA69-4FD7-B963-420E85224D77}"/>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Workspace setup</a:t>
            </a:r>
          </a:p>
        </p:txBody>
      </p:sp>
      <p:sp>
        <p:nvSpPr>
          <p:cNvPr id="6" name="text-6">
            <a:extLst>
              <a:ext uri="{FF2B5EF4-FFF2-40B4-BE49-F238E27FC236}">
                <a16:creationId xmlns:a16="http://schemas.microsoft.com/office/drawing/2014/main" id="{2F0A3B5A-290E-45FA-90AF-463E169CC77E}"/>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Open SALES360LAC in Codex and inspect its repository instructions.</a:t>
            </a:r>
          </a:p>
        </p:txBody>
      </p:sp>
      <p:sp>
        <p:nvSpPr>
          <p:cNvPr id="7" name="text-7">
            <a:extLst>
              <a:ext uri="{FF2B5EF4-FFF2-40B4-BE49-F238E27FC236}">
                <a16:creationId xmlns:a16="http://schemas.microsoft.com/office/drawing/2014/main" id="{21EE352E-5E22-448C-87B8-021B6C128733}"/>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8F901D01-DA2A-4847-871A-49AE190806F0}"/>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Master prompt and references</a:t>
            </a:r>
          </a:p>
        </p:txBody>
      </p:sp>
      <p:sp>
        <p:nvSpPr>
          <p:cNvPr id="9" name="text-9">
            <a:extLst>
              <a:ext uri="{FF2B5EF4-FFF2-40B4-BE49-F238E27FC236}">
                <a16:creationId xmlns:a16="http://schemas.microsoft.com/office/drawing/2014/main" id="{42DB413D-0001-4EEC-95D5-026ECFE78F55}"/>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Paste the complete master prompt and attach certificate and Excel samples.</a:t>
            </a:r>
          </a:p>
        </p:txBody>
      </p:sp>
      <p:sp>
        <p:nvSpPr>
          <p:cNvPr id="10" name="text-10">
            <a:extLst>
              <a:ext uri="{FF2B5EF4-FFF2-40B4-BE49-F238E27FC236}">
                <a16:creationId xmlns:a16="http://schemas.microsoft.com/office/drawing/2014/main" id="{5F5F9BD2-5020-4D18-822E-1E1B69105958}"/>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C99B7044-7922-43E3-9DFE-98AEEF5E1B86}"/>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Decision register</a:t>
            </a:r>
          </a:p>
        </p:txBody>
      </p:sp>
      <p:sp>
        <p:nvSpPr>
          <p:cNvPr id="12" name="text-12">
            <a:extLst>
              <a:ext uri="{FF2B5EF4-FFF2-40B4-BE49-F238E27FC236}">
                <a16:creationId xmlns:a16="http://schemas.microsoft.com/office/drawing/2014/main" id="{E3CAFB17-A802-4838-9854-849BDEC9875D}"/>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Separate confirmed requirements from assumptions and open finance questions.</a:t>
            </a:r>
          </a:p>
        </p:txBody>
      </p:sp>
      <p:sp>
        <p:nvSpPr>
          <p:cNvPr id="13" name="text-13">
            <a:extLst>
              <a:ext uri="{FF2B5EF4-FFF2-40B4-BE49-F238E27FC236}">
                <a16:creationId xmlns:a16="http://schemas.microsoft.com/office/drawing/2014/main" id="{9096A619-80B3-460A-ACED-43C9F9DFA767}"/>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8A397E0F-D24D-4B8D-9303-DF205A3F603F}"/>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Versioned baseline</a:t>
            </a:r>
          </a:p>
        </p:txBody>
      </p:sp>
      <p:sp>
        <p:nvSpPr>
          <p:cNvPr id="15" name="text-15">
            <a:extLst>
              <a:ext uri="{FF2B5EF4-FFF2-40B4-BE49-F238E27FC236}">
                <a16:creationId xmlns:a16="http://schemas.microsoft.com/office/drawing/2014/main" id="{0B2522A9-3360-42F3-9E4B-4654B3664C9B}"/>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Save the agreed prompt and source references with the project.</a:t>
            </a:r>
          </a:p>
        </p:txBody>
      </p:sp>
    </p:spTree>
    <p:extLst>
      <p:ext uri="{BB962C8B-B14F-4D97-AF65-F5344CB8AC3E}">
        <p14:creationId xmlns:p14="http://schemas.microsoft.com/office/powerpoint/2010/main" val="70475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A53E2E25-0C19-4CA6-B326-5A2D973107E2}"/>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02  Requirements and acceptance</a:t>
            </a:r>
          </a:p>
        </p:txBody>
      </p:sp>
      <p:sp>
        <p:nvSpPr>
          <p:cNvPr id="2" name="text-2">
            <a:extLst>
              <a:ext uri="{FF2B5EF4-FFF2-40B4-BE49-F238E27FC236}">
                <a16:creationId xmlns:a16="http://schemas.microsoft.com/office/drawing/2014/main" id="{A111EAC1-0B98-49BD-9B76-4B4E8EDA6897}"/>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6023DD2D-E50C-4A14-876D-5F2C29FEEDE8}"/>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04</a:t>
            </a:r>
          </a:p>
        </p:txBody>
      </p:sp>
      <p:graphicFrame>
        <p:nvGraphicFramePr>
          <p:cNvPr id="4" name="Table 3">
            <a:extLst>
              <a:ext uri="{FF2B5EF4-FFF2-40B4-BE49-F238E27FC236}">
                <a16:creationId xmlns:a16="http://schemas.microsoft.com/office/drawing/2014/main" id="{3664F434-2B10-4C73-80E4-891B90C95F05}"/>
              </a:ext>
            </a:extLst>
          </p:cNvPr>
          <p:cNvGraphicFramePr/>
          <p:nvPr/>
        </p:nvGraphicFramePr>
        <p:xfrm>
          <a:off x="609600" y="1666875"/>
          <a:ext cx="10972800" cy="3619500"/>
        </p:xfrm>
        <a:graphic>
          <a:graphicData uri="http://schemas.openxmlformats.org/drawingml/2006/table">
            <a:tbl>
              <a:tblPr/>
              <a:tblGrid>
                <a:gridCol w="2952750">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4638675">
                  <a:extLst>
                    <a:ext uri="{9D8B030D-6E8A-4147-A177-3AD203B41FA5}">
                      <a16:colId xmlns:a16="http://schemas.microsoft.com/office/drawing/2014/main" val="20002"/>
                    </a:ext>
                  </a:extLst>
                </a:gridCol>
              </a:tblGrid>
              <a:tr h="723900">
                <a:tc>
                  <a:txBody>
                    <a:bodyPr/>
                    <a:lstStyle/>
                    <a:p>
                      <a:r>
                        <a:rPr sz="1800" b="1">
                          <a:solidFill>
                            <a:srgbClr val="FFFFFF"/>
                          </a:solidFill>
                          <a:latin typeface="Arial"/>
                          <a:ea typeface="Arial"/>
                          <a:cs typeface="Arial"/>
                        </a:rPr>
                        <a:t>Requirement</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00" b="1">
                          <a:solidFill>
                            <a:srgbClr val="FFFFFF"/>
                          </a:solidFill>
                          <a:latin typeface="Arial"/>
                          <a:ea typeface="Arial"/>
                          <a:cs typeface="Arial"/>
                        </a:rPr>
                        <a:t>Development output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00" b="1">
                          <a:solidFill>
                            <a:srgbClr val="FFFFFF"/>
                          </a:solidFill>
                          <a:latin typeface="Arial"/>
                          <a:ea typeface="Arial"/>
                          <a:cs typeface="Arial"/>
                        </a:rPr>
                        <a:t>Acceptance example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723900">
                <a:tc>
                  <a:txBody>
                    <a:bodyPr/>
                    <a:lstStyle/>
                    <a:p>
                      <a:r>
                        <a:rPr sz="1800" b="0">
                          <a:solidFill>
                            <a:srgbClr val="213C52"/>
                          </a:solidFill>
                          <a:latin typeface="Arial"/>
                          <a:ea typeface="Arial"/>
                          <a:cs typeface="Arial"/>
                        </a:rPr>
                        <a:t>Customer/project linkage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Validated masters and relational keys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AC-01: duplicate job and wrong customer fail</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723900">
                <a:tc>
                  <a:txBody>
                    <a:bodyPr/>
                    <a:lstStyle/>
                    <a:p>
                      <a:r>
                        <a:rPr sz="1800" b="0">
                          <a:solidFill>
                            <a:srgbClr val="213C52"/>
                          </a:solidFill>
                          <a:latin typeface="Arial"/>
                          <a:ea typeface="Arial"/>
                          <a:cs typeface="Arial"/>
                        </a:rPr>
                        <a:t>Ordered approvals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Server-enforced workflow</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AC-05: wrong role, order and self-approval fail</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723900">
                <a:tc>
                  <a:txBody>
                    <a:bodyPr/>
                    <a:lstStyle/>
                    <a:p>
                      <a:r>
                        <a:rPr sz="1800" b="0">
                          <a:solidFill>
                            <a:srgbClr val="213C52"/>
                          </a:solidFill>
                          <a:latin typeface="Arial"/>
                          <a:ea typeface="Arial"/>
                          <a:cs typeface="Arial"/>
                        </a:rPr>
                        <a:t>Historical receivables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Dated ledger queries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AC-12: future cash does not change the past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723900">
                <a:tc>
                  <a:txBody>
                    <a:bodyPr/>
                    <a:lstStyle/>
                    <a:p>
                      <a:r>
                        <a:rPr sz="1800" b="0">
                          <a:solidFill>
                            <a:srgbClr val="213C52"/>
                          </a:solidFill>
                          <a:latin typeface="Arial"/>
                          <a:ea typeface="Arial"/>
                          <a:cs typeface="Arial"/>
                        </a:rPr>
                        <a:t>Windows delivery</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Installer and operating guide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AC-21: install, repair and data preservation</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text-4">
            <a:extLst>
              <a:ext uri="{FF2B5EF4-FFF2-40B4-BE49-F238E27FC236}">
                <a16:creationId xmlns:a16="http://schemas.microsoft.com/office/drawing/2014/main" id="{9372EE91-8270-499D-8EFF-011CA440BC54}"/>
              </a:ext>
            </a:extLst>
          </p:cNvPr>
          <p:cNvSpPr>
            <a:spLocks noGrp="1"/>
          </p:cNvSpPr>
          <p:nvPr/>
        </p:nvSpPr>
        <p:spPr>
          <a:xfrm>
            <a:off x="609600" y="5657850"/>
            <a:ext cx="10763250" cy="476250"/>
          </a:xfrm>
          <a:prstGeom prst="rect">
            <a:avLst/>
          </a:prstGeom>
          <a:noFill/>
          <a:ln w="0">
            <a:noFill/>
          </a:ln>
        </p:spPr>
        <p:txBody>
          <a:bodyPr wrap="square" lIns="0" tIns="0" rIns="0" bIns="0" anchor="t">
            <a:noAutofit/>
          </a:bodyPr>
          <a:lstStyle>
            <a:defPPr>
              <a:defRPr sz="2175" b="1">
                <a:solidFill>
                  <a:srgbClr val="168678"/>
                </a:solidFill>
                <a:latin typeface="Arial"/>
                <a:ea typeface="Arial"/>
                <a:cs typeface="Arial"/>
              </a:defRPr>
            </a:defPPr>
            <a:lvl1pPr>
              <a:buNone/>
              <a:defRPr sz="2175" b="1">
                <a:solidFill>
                  <a:srgbClr val="168678"/>
                </a:solidFill>
                <a:latin typeface="Arial"/>
                <a:ea typeface="Arial"/>
                <a:cs typeface="Arial"/>
              </a:defRPr>
            </a:lvl1pPr>
            <a:lvl2pPr>
              <a:buNone/>
              <a:defRPr sz="2175" b="1">
                <a:solidFill>
                  <a:srgbClr val="168678"/>
                </a:solidFill>
                <a:latin typeface="Arial"/>
                <a:ea typeface="Arial"/>
                <a:cs typeface="Arial"/>
              </a:defRPr>
            </a:lvl2pPr>
            <a:lvl3pPr>
              <a:buNone/>
              <a:defRPr sz="2175" b="1">
                <a:solidFill>
                  <a:srgbClr val="168678"/>
                </a:solidFill>
                <a:latin typeface="Arial"/>
                <a:ea typeface="Arial"/>
                <a:cs typeface="Arial"/>
              </a:defRPr>
            </a:lvl3pPr>
            <a:lvl4pPr>
              <a:buNone/>
              <a:defRPr sz="2175" b="1">
                <a:solidFill>
                  <a:srgbClr val="168678"/>
                </a:solidFill>
                <a:latin typeface="Arial"/>
                <a:ea typeface="Arial"/>
                <a:cs typeface="Arial"/>
              </a:defRPr>
            </a:lvl4pPr>
            <a:lvl5pPr>
              <a:buNone/>
              <a:defRPr sz="2175" b="1">
                <a:solidFill>
                  <a:srgbClr val="168678"/>
                </a:solidFill>
                <a:latin typeface="Arial"/>
                <a:ea typeface="Arial"/>
                <a:cs typeface="Arial"/>
              </a:defRPr>
            </a:lvl5pPr>
            <a:lvl6pPr>
              <a:buNone/>
              <a:defRPr sz="2175" b="1">
                <a:solidFill>
                  <a:srgbClr val="168678"/>
                </a:solidFill>
                <a:latin typeface="Arial"/>
                <a:ea typeface="Arial"/>
                <a:cs typeface="Arial"/>
              </a:defRPr>
            </a:lvl6pPr>
            <a:lvl7pPr>
              <a:buNone/>
              <a:defRPr sz="2175" b="1">
                <a:solidFill>
                  <a:srgbClr val="168678"/>
                </a:solidFill>
                <a:latin typeface="Arial"/>
                <a:ea typeface="Arial"/>
                <a:cs typeface="Arial"/>
              </a:defRPr>
            </a:lvl7pPr>
            <a:lvl8pPr>
              <a:buNone/>
              <a:defRPr sz="2175" b="1">
                <a:solidFill>
                  <a:srgbClr val="168678"/>
                </a:solidFill>
                <a:latin typeface="Arial"/>
                <a:ea typeface="Arial"/>
                <a:cs typeface="Arial"/>
              </a:defRPr>
            </a:lvl8pPr>
            <a:lvl9pPr>
              <a:buNone/>
              <a:defRPr sz="2175" b="1">
                <a:solidFill>
                  <a:srgbClr val="168678"/>
                </a:solidFill>
                <a:latin typeface="Arial"/>
                <a:ea typeface="Arial"/>
                <a:cs typeface="Arial"/>
              </a:defRPr>
            </a:lvl9pPr>
          </a:lstStyle>
          <a:p>
            <a:pPr>
              <a:buNone/>
              <a:defRPr sz="2175" b="1">
                <a:solidFill>
                  <a:srgbClr val="168678"/>
                </a:solidFill>
                <a:latin typeface="Arial"/>
                <a:ea typeface="Arial"/>
                <a:cs typeface="Arial"/>
              </a:defRPr>
            </a:pPr>
            <a:r>
              <a:rPr sz="2175" b="1">
                <a:solidFill>
                  <a:srgbClr val="168678"/>
                </a:solidFill>
                <a:latin typeface="Arial"/>
                <a:ea typeface="Arial"/>
                <a:cs typeface="Arial"/>
              </a:rPr>
              <a:t>Deliverable: a traceability matrix and a prioritized backlog</a:t>
            </a:r>
          </a:p>
        </p:txBody>
      </p:sp>
    </p:spTree>
    <p:extLst>
      <p:ext uri="{BB962C8B-B14F-4D97-AF65-F5344CB8AC3E}">
        <p14:creationId xmlns:p14="http://schemas.microsoft.com/office/powerpoint/2010/main" val="1191529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
            <a:extLst>
              <a:ext uri="{FF2B5EF4-FFF2-40B4-BE49-F238E27FC236}">
                <a16:creationId xmlns:a16="http://schemas.microsoft.com/office/drawing/2014/main" id="{B40D85BE-0A76-4250-A91A-13D2B1C8B4BB}"/>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A bounded Codex task</a:t>
            </a:r>
          </a:p>
        </p:txBody>
      </p:sp>
      <p:sp>
        <p:nvSpPr>
          <p:cNvPr id="2" name="text-2">
            <a:extLst>
              <a:ext uri="{FF2B5EF4-FFF2-40B4-BE49-F238E27FC236}">
                <a16:creationId xmlns:a16="http://schemas.microsoft.com/office/drawing/2014/main" id="{E6997047-2C05-4E9E-85BE-B0D8A0323A6D}"/>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5CA239E4-F659-4AE5-9D6F-9F5D81CA5AA9}"/>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05</a:t>
            </a:r>
          </a:p>
        </p:txBody>
      </p:sp>
      <p:sp>
        <p:nvSpPr>
          <p:cNvPr id="4" name="text-4">
            <a:extLst>
              <a:ext uri="{FF2B5EF4-FFF2-40B4-BE49-F238E27FC236}">
                <a16:creationId xmlns:a16="http://schemas.microsoft.com/office/drawing/2014/main" id="{E8F009A3-F340-4CAA-A0AA-8C675525CEEA}"/>
              </a:ext>
            </a:extLst>
          </p:cNvPr>
          <p:cNvSpPr>
            <a:spLocks noGrp="1"/>
          </p:cNvSpPr>
          <p:nvPr/>
        </p:nvSpPr>
        <p:spPr>
          <a:xfrm>
            <a:off x="609600" y="1695450"/>
            <a:ext cx="1952625" cy="38100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Context</a:t>
            </a:r>
          </a:p>
        </p:txBody>
      </p:sp>
      <p:sp>
        <p:nvSpPr>
          <p:cNvPr id="5" name="text-5">
            <a:extLst>
              <a:ext uri="{FF2B5EF4-FFF2-40B4-BE49-F238E27FC236}">
                <a16:creationId xmlns:a16="http://schemas.microsoft.com/office/drawing/2014/main" id="{F4B7C6EA-2387-4E95-B42A-97B5DBAD3DE4}"/>
              </a:ext>
            </a:extLst>
          </p:cNvPr>
          <p:cNvSpPr>
            <a:spLocks noGrp="1"/>
          </p:cNvSpPr>
          <p:nvPr/>
        </p:nvSpPr>
        <p:spPr>
          <a:xfrm>
            <a:off x="2800350" y="1695450"/>
            <a:ext cx="8572500" cy="4953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Master prompt, current release and relevant source files</a:t>
            </a:r>
          </a:p>
        </p:txBody>
      </p:sp>
      <p:sp>
        <p:nvSpPr>
          <p:cNvPr id="6" name="text-6">
            <a:extLst>
              <a:ext uri="{FF2B5EF4-FFF2-40B4-BE49-F238E27FC236}">
                <a16:creationId xmlns:a16="http://schemas.microsoft.com/office/drawing/2014/main" id="{4B6427C5-3C30-4911-B185-D6C0426D6B88}"/>
              </a:ext>
            </a:extLst>
          </p:cNvPr>
          <p:cNvSpPr>
            <a:spLocks noGrp="1"/>
          </p:cNvSpPr>
          <p:nvPr/>
        </p:nvSpPr>
        <p:spPr>
          <a:xfrm>
            <a:off x="609600" y="2524125"/>
            <a:ext cx="1952625" cy="38100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Scope</a:t>
            </a:r>
          </a:p>
        </p:txBody>
      </p:sp>
      <p:sp>
        <p:nvSpPr>
          <p:cNvPr id="7" name="text-7">
            <a:extLst>
              <a:ext uri="{FF2B5EF4-FFF2-40B4-BE49-F238E27FC236}">
                <a16:creationId xmlns:a16="http://schemas.microsoft.com/office/drawing/2014/main" id="{25D3B6E2-3831-45AF-BECD-FDF07FEF2BC2}"/>
              </a:ext>
            </a:extLst>
          </p:cNvPr>
          <p:cNvSpPr>
            <a:spLocks noGrp="1"/>
          </p:cNvSpPr>
          <p:nvPr/>
        </p:nvSpPr>
        <p:spPr>
          <a:xfrm>
            <a:off x="2800350" y="2524125"/>
            <a:ext cx="8572500" cy="4953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One feature with explicit acceptance criteria</a:t>
            </a:r>
          </a:p>
        </p:txBody>
      </p:sp>
      <p:sp>
        <p:nvSpPr>
          <p:cNvPr id="8" name="text-8">
            <a:extLst>
              <a:ext uri="{FF2B5EF4-FFF2-40B4-BE49-F238E27FC236}">
                <a16:creationId xmlns:a16="http://schemas.microsoft.com/office/drawing/2014/main" id="{83CBD78F-67DD-4CFF-A75B-53DBA6A18B3D}"/>
              </a:ext>
            </a:extLst>
          </p:cNvPr>
          <p:cNvSpPr>
            <a:spLocks noGrp="1"/>
          </p:cNvSpPr>
          <p:nvPr/>
        </p:nvSpPr>
        <p:spPr>
          <a:xfrm>
            <a:off x="609600" y="3352800"/>
            <a:ext cx="1952625" cy="38100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Constraints</a:t>
            </a:r>
          </a:p>
        </p:txBody>
      </p:sp>
      <p:sp>
        <p:nvSpPr>
          <p:cNvPr id="9" name="text-9">
            <a:extLst>
              <a:ext uri="{FF2B5EF4-FFF2-40B4-BE49-F238E27FC236}">
                <a16:creationId xmlns:a16="http://schemas.microsoft.com/office/drawing/2014/main" id="{E903F164-6402-4547-967A-F4B350EF435B}"/>
              </a:ext>
            </a:extLst>
          </p:cNvPr>
          <p:cNvSpPr>
            <a:spLocks noGrp="1"/>
          </p:cNvSpPr>
          <p:nvPr/>
        </p:nvSpPr>
        <p:spPr>
          <a:xfrm>
            <a:off x="2800350" y="3352800"/>
            <a:ext cx="8572500" cy="6096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Offline core, preserved data and enforced financial permissions</a:t>
            </a:r>
          </a:p>
        </p:txBody>
      </p:sp>
      <p:sp>
        <p:nvSpPr>
          <p:cNvPr id="10" name="text-10">
            <a:extLst>
              <a:ext uri="{FF2B5EF4-FFF2-40B4-BE49-F238E27FC236}">
                <a16:creationId xmlns:a16="http://schemas.microsoft.com/office/drawing/2014/main" id="{54E1D871-D93E-4F9F-8688-3CBA042B4363}"/>
              </a:ext>
            </a:extLst>
          </p:cNvPr>
          <p:cNvSpPr>
            <a:spLocks noGrp="1"/>
          </p:cNvSpPr>
          <p:nvPr/>
        </p:nvSpPr>
        <p:spPr>
          <a:xfrm>
            <a:off x="609600" y="4295775"/>
            <a:ext cx="1952625" cy="38100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Verification</a:t>
            </a:r>
          </a:p>
        </p:txBody>
      </p:sp>
      <p:sp>
        <p:nvSpPr>
          <p:cNvPr id="11" name="text-11">
            <a:extLst>
              <a:ext uri="{FF2B5EF4-FFF2-40B4-BE49-F238E27FC236}">
                <a16:creationId xmlns:a16="http://schemas.microsoft.com/office/drawing/2014/main" id="{20507A39-59CA-4CBF-888B-B98F9427AD74}"/>
              </a:ext>
            </a:extLst>
          </p:cNvPr>
          <p:cNvSpPr>
            <a:spLocks noGrp="1"/>
          </p:cNvSpPr>
          <p:nvPr/>
        </p:nvSpPr>
        <p:spPr>
          <a:xfrm>
            <a:off x="2800350" y="4295775"/>
            <a:ext cx="8572500" cy="6096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Valid input, invalid input, permissions, dates and safe retries</a:t>
            </a:r>
          </a:p>
        </p:txBody>
      </p:sp>
      <p:sp>
        <p:nvSpPr>
          <p:cNvPr id="12" name="text-12">
            <a:extLst>
              <a:ext uri="{FF2B5EF4-FFF2-40B4-BE49-F238E27FC236}">
                <a16:creationId xmlns:a16="http://schemas.microsoft.com/office/drawing/2014/main" id="{EFD3AC86-253C-4597-981D-850E1A99C7D7}"/>
              </a:ext>
            </a:extLst>
          </p:cNvPr>
          <p:cNvSpPr>
            <a:spLocks noGrp="1"/>
          </p:cNvSpPr>
          <p:nvPr/>
        </p:nvSpPr>
        <p:spPr>
          <a:xfrm>
            <a:off x="609600" y="5238750"/>
            <a:ext cx="1952625" cy="38100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Handover</a:t>
            </a:r>
          </a:p>
        </p:txBody>
      </p:sp>
      <p:sp>
        <p:nvSpPr>
          <p:cNvPr id="13" name="text-13">
            <a:extLst>
              <a:ext uri="{FF2B5EF4-FFF2-40B4-BE49-F238E27FC236}">
                <a16:creationId xmlns:a16="http://schemas.microsoft.com/office/drawing/2014/main" id="{3BBDDBA1-CE5A-47D6-87DE-47285C70A9C8}"/>
              </a:ext>
            </a:extLst>
          </p:cNvPr>
          <p:cNvSpPr>
            <a:spLocks noGrp="1"/>
          </p:cNvSpPr>
          <p:nvPr/>
        </p:nvSpPr>
        <p:spPr>
          <a:xfrm>
            <a:off x="2800350" y="5238750"/>
            <a:ext cx="8572500" cy="6096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Changed files, executed checks and remaining limitations</a:t>
            </a:r>
          </a:p>
        </p:txBody>
      </p:sp>
    </p:spTree>
    <p:extLst>
      <p:ext uri="{BB962C8B-B14F-4D97-AF65-F5344CB8AC3E}">
        <p14:creationId xmlns:p14="http://schemas.microsoft.com/office/powerpoint/2010/main" val="1264282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1">
            <a:extLst>
              <a:ext uri="{FF2B5EF4-FFF2-40B4-BE49-F238E27FC236}">
                <a16:creationId xmlns:a16="http://schemas.microsoft.com/office/drawing/2014/main" id="{391DECC8-D4D9-470F-A4EC-F2C4BFE987DE}"/>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03  Scope and finance decisions</a:t>
            </a:r>
          </a:p>
        </p:txBody>
      </p:sp>
      <p:sp>
        <p:nvSpPr>
          <p:cNvPr id="2" name="text-2">
            <a:extLst>
              <a:ext uri="{FF2B5EF4-FFF2-40B4-BE49-F238E27FC236}">
                <a16:creationId xmlns:a16="http://schemas.microsoft.com/office/drawing/2014/main" id="{F4228FF3-DCDA-4EE6-87F7-F780A804A914}"/>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FA3E0797-A881-4BCA-83CB-030E9325E9F1}"/>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06</a:t>
            </a:r>
          </a:p>
        </p:txBody>
      </p:sp>
      <p:sp>
        <p:nvSpPr>
          <p:cNvPr id="4" name="text-4">
            <a:extLst>
              <a:ext uri="{FF2B5EF4-FFF2-40B4-BE49-F238E27FC236}">
                <a16:creationId xmlns:a16="http://schemas.microsoft.com/office/drawing/2014/main" id="{C5204719-E3B4-4F81-923B-8738912C85C7}"/>
              </a:ext>
            </a:extLst>
          </p:cNvPr>
          <p:cNvSpPr>
            <a:spLocks noGrp="1"/>
          </p:cNvSpPr>
          <p:nvPr/>
        </p:nvSpPr>
        <p:spPr>
          <a:xfrm>
            <a:off x="609600" y="1714500"/>
            <a:ext cx="5048250" cy="40005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Confirm for the build</a:t>
            </a:r>
          </a:p>
        </p:txBody>
      </p:sp>
      <p:sp>
        <p:nvSpPr>
          <p:cNvPr id="5" name="text-5">
            <a:extLst>
              <a:ext uri="{FF2B5EF4-FFF2-40B4-BE49-F238E27FC236}">
                <a16:creationId xmlns:a16="http://schemas.microsoft.com/office/drawing/2014/main" id="{CC7FF774-F264-4021-A7FC-CB1C1A89C0FB}"/>
              </a:ext>
            </a:extLst>
          </p:cNvPr>
          <p:cNvSpPr>
            <a:spLocks noGrp="1"/>
          </p:cNvSpPr>
          <p:nvPr/>
        </p:nvSpPr>
        <p:spPr>
          <a:xfrm>
            <a:off x="6572250" y="1714500"/>
            <a:ext cx="5010150" cy="40005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Record before live use</a:t>
            </a:r>
          </a:p>
        </p:txBody>
      </p:sp>
      <p:sp>
        <p:nvSpPr>
          <p:cNvPr id="6" name="text-6">
            <a:extLst>
              <a:ext uri="{FF2B5EF4-FFF2-40B4-BE49-F238E27FC236}">
                <a16:creationId xmlns:a16="http://schemas.microsoft.com/office/drawing/2014/main" id="{9019A30B-F7AE-4CAA-A7E2-21523B0A5A1D}"/>
              </a:ext>
            </a:extLst>
          </p:cNvPr>
          <p:cNvSpPr>
            <a:spLocks noGrp="1"/>
          </p:cNvSpPr>
          <p:nvPr/>
        </p:nvSpPr>
        <p:spPr>
          <a:xfrm>
            <a:off x="609600" y="23812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Single-PC operation with no API keys for the local application</a:t>
            </a:r>
          </a:p>
        </p:txBody>
      </p:sp>
      <p:sp>
        <p:nvSpPr>
          <p:cNvPr id="7" name="text-7">
            <a:extLst>
              <a:ext uri="{FF2B5EF4-FFF2-40B4-BE49-F238E27FC236}">
                <a16:creationId xmlns:a16="http://schemas.microsoft.com/office/drawing/2014/main" id="{410C8EB4-5027-45F1-AD16-9296FD105800}"/>
              </a:ext>
            </a:extLst>
          </p:cNvPr>
          <p:cNvSpPr>
            <a:spLocks noGrp="1"/>
          </p:cNvSpPr>
          <p:nvPr/>
        </p:nvSpPr>
        <p:spPr>
          <a:xfrm>
            <a:off x="609600" y="33718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Administrator, Super user and User with assigned work areas</a:t>
            </a:r>
          </a:p>
        </p:txBody>
      </p:sp>
      <p:sp>
        <p:nvSpPr>
          <p:cNvPr id="8" name="text-8">
            <a:extLst>
              <a:ext uri="{FF2B5EF4-FFF2-40B4-BE49-F238E27FC236}">
                <a16:creationId xmlns:a16="http://schemas.microsoft.com/office/drawing/2014/main" id="{0810B415-45BE-4B1E-9841-975A3FEFC371}"/>
              </a:ext>
            </a:extLst>
          </p:cNvPr>
          <p:cNvSpPr>
            <a:spLocks noGrp="1"/>
          </p:cNvSpPr>
          <p:nvPr/>
        </p:nvSpPr>
        <p:spPr>
          <a:xfrm>
            <a:off x="609600" y="43624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AED reporting, date basis and reviewed import controls</a:t>
            </a:r>
          </a:p>
        </p:txBody>
      </p:sp>
      <p:sp>
        <p:nvSpPr>
          <p:cNvPr id="9" name="text-9">
            <a:extLst>
              <a:ext uri="{FF2B5EF4-FFF2-40B4-BE49-F238E27FC236}">
                <a16:creationId xmlns:a16="http://schemas.microsoft.com/office/drawing/2014/main" id="{59E6D8A5-FDF9-4589-AA27-17DD2105E1A9}"/>
              </a:ext>
            </a:extLst>
          </p:cNvPr>
          <p:cNvSpPr>
            <a:spLocks noGrp="1"/>
          </p:cNvSpPr>
          <p:nvPr/>
        </p:nvSpPr>
        <p:spPr>
          <a:xfrm>
            <a:off x="6572250" y="23812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Company identity and genuine registration details</a:t>
            </a:r>
          </a:p>
        </p:txBody>
      </p:sp>
      <p:sp>
        <p:nvSpPr>
          <p:cNvPr id="10" name="text-10">
            <a:extLst>
              <a:ext uri="{FF2B5EF4-FFF2-40B4-BE49-F238E27FC236}">
                <a16:creationId xmlns:a16="http://schemas.microsoft.com/office/drawing/2014/main" id="{3D746C05-436A-4317-888F-A0CC7453CD9D}"/>
              </a:ext>
            </a:extLst>
          </p:cNvPr>
          <p:cNvSpPr>
            <a:spLocks noGrp="1"/>
          </p:cNvSpPr>
          <p:nvPr/>
        </p:nvSpPr>
        <p:spPr>
          <a:xfrm>
            <a:off x="6572250" y="33718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VAT, advance, retention and correction policies with approvers</a:t>
            </a:r>
          </a:p>
        </p:txBody>
      </p:sp>
      <p:sp>
        <p:nvSpPr>
          <p:cNvPr id="11" name="text-11">
            <a:extLst>
              <a:ext uri="{FF2B5EF4-FFF2-40B4-BE49-F238E27FC236}">
                <a16:creationId xmlns:a16="http://schemas.microsoft.com/office/drawing/2014/main" id="{66D3AB47-C89D-46D9-8E64-CC8E5DE3DC02}"/>
              </a:ext>
            </a:extLst>
          </p:cNvPr>
          <p:cNvSpPr>
            <a:spLocks noGrp="1"/>
          </p:cNvSpPr>
          <p:nvPr/>
        </p:nvSpPr>
        <p:spPr>
          <a:xfrm>
            <a:off x="6572250" y="43624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External service ownership, recovery plans and acceptance evidence</a:t>
            </a:r>
          </a:p>
        </p:txBody>
      </p:sp>
    </p:spTree>
    <p:extLst>
      <p:ext uri="{BB962C8B-B14F-4D97-AF65-F5344CB8AC3E}">
        <p14:creationId xmlns:p14="http://schemas.microsoft.com/office/powerpoint/2010/main" val="1324372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6218C548-526E-4467-A714-53A4993F2ADC}"/>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04  Architecture and workspace</a:t>
            </a:r>
          </a:p>
        </p:txBody>
      </p:sp>
      <p:sp>
        <p:nvSpPr>
          <p:cNvPr id="2" name="text-2">
            <a:extLst>
              <a:ext uri="{FF2B5EF4-FFF2-40B4-BE49-F238E27FC236}">
                <a16:creationId xmlns:a16="http://schemas.microsoft.com/office/drawing/2014/main" id="{A58FE7F4-CEC3-464D-9D0F-0F3EA460B16A}"/>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73955D86-7CB0-4013-B602-4F8CD8689720}"/>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07</a:t>
            </a:r>
          </a:p>
        </p:txBody>
      </p:sp>
      <p:graphicFrame>
        <p:nvGraphicFramePr>
          <p:cNvPr id="4" name="Table 3">
            <a:extLst>
              <a:ext uri="{FF2B5EF4-FFF2-40B4-BE49-F238E27FC236}">
                <a16:creationId xmlns:a16="http://schemas.microsoft.com/office/drawing/2014/main" id="{C36EC7A6-DE79-45F7-A2F3-7A2A19CBC3E5}"/>
              </a:ext>
            </a:extLst>
          </p:cNvPr>
          <p:cNvGraphicFramePr/>
          <p:nvPr/>
        </p:nvGraphicFramePr>
        <p:xfrm>
          <a:off x="609600" y="1666875"/>
          <a:ext cx="10972800" cy="4000500"/>
        </p:xfrm>
        <a:graphic>
          <a:graphicData uri="http://schemas.openxmlformats.org/drawingml/2006/table">
            <a:tbl>
              <a:tblPr/>
              <a:tblGrid>
                <a:gridCol w="176212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5781675">
                  <a:extLst>
                    <a:ext uri="{9D8B030D-6E8A-4147-A177-3AD203B41FA5}">
                      <a16:colId xmlns:a16="http://schemas.microsoft.com/office/drawing/2014/main" val="20002"/>
                    </a:ext>
                  </a:extLst>
                </a:gridCol>
              </a:tblGrid>
              <a:tr h="666750">
                <a:tc>
                  <a:txBody>
                    <a:bodyPr/>
                    <a:lstStyle/>
                    <a:p>
                      <a:r>
                        <a:rPr sz="1875" b="1">
                          <a:solidFill>
                            <a:srgbClr val="FFFFFF"/>
                          </a:solidFill>
                          <a:latin typeface="Arial"/>
                          <a:ea typeface="Arial"/>
                          <a:cs typeface="Arial"/>
                        </a:rPr>
                        <a:t>Layer</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75" b="1">
                          <a:solidFill>
                            <a:srgbClr val="FFFFFF"/>
                          </a:solidFill>
                          <a:latin typeface="Arial"/>
                          <a:ea typeface="Arial"/>
                          <a:cs typeface="Arial"/>
                        </a:rPr>
                        <a:t>Current technology</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75" b="1">
                          <a:solidFill>
                            <a:srgbClr val="FFFFFF"/>
                          </a:solidFill>
                          <a:latin typeface="Arial"/>
                          <a:ea typeface="Arial"/>
                          <a:cs typeface="Arial"/>
                        </a:rPr>
                        <a:t>Responsibility</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666750">
                <a:tc>
                  <a:txBody>
                    <a:bodyPr/>
                    <a:lstStyle/>
                    <a:p>
                      <a:r>
                        <a:rPr sz="1875" b="0">
                          <a:solidFill>
                            <a:srgbClr val="213C52"/>
                          </a:solidFill>
                          <a:latin typeface="Arial"/>
                          <a:ea typeface="Arial"/>
                          <a:cs typeface="Arial"/>
                        </a:rPr>
                        <a:t>Interface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React and TypeScript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Forms, navigation, tables and dashboards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666750">
                <a:tc>
                  <a:txBody>
                    <a:bodyPr/>
                    <a:lstStyle/>
                    <a:p>
                      <a:r>
                        <a:rPr sz="1875" b="0">
                          <a:solidFill>
                            <a:srgbClr val="213C52"/>
                          </a:solidFill>
                          <a:latin typeface="Arial"/>
                          <a:ea typeface="Arial"/>
                          <a:cs typeface="Arial"/>
                        </a:rPr>
                        <a:t>Application</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ASP.NET Core 10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Authorization, workflows and financial rules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666750">
                <a:tc>
                  <a:txBody>
                    <a:bodyPr/>
                    <a:lstStyle/>
                    <a:p>
                      <a:r>
                        <a:rPr sz="1875" b="0">
                          <a:solidFill>
                            <a:srgbClr val="213C52"/>
                          </a:solidFill>
                          <a:latin typeface="Arial"/>
                          <a:ea typeface="Arial"/>
                          <a:cs typeface="Arial"/>
                        </a:rPr>
                        <a:t>Database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PostgreSQL 17.6</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Persistent records, constraints and migrations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666750">
                <a:tc>
                  <a:txBody>
                    <a:bodyPr/>
                    <a:lstStyle/>
                    <a:p>
                      <a:r>
                        <a:rPr sz="1875" b="0">
                          <a:solidFill>
                            <a:srgbClr val="213C52"/>
                          </a:solidFill>
                          <a:latin typeface="Arial"/>
                          <a:ea typeface="Arial"/>
                          <a:cs typeface="Arial"/>
                        </a:rPr>
                        <a:t>Local tools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Python 3.12 and ReportLab</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75" b="0">
                          <a:solidFill>
                            <a:srgbClr val="213C52"/>
                          </a:solidFill>
                          <a:latin typeface="Arial"/>
                          <a:ea typeface="Arial"/>
                          <a:cs typeface="Arial"/>
                        </a:rPr>
                        <a:t>Startup, maintenance and PDF generation</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r h="666750">
                <a:tc>
                  <a:txBody>
                    <a:bodyPr/>
                    <a:lstStyle/>
                    <a:p>
                      <a:r>
                        <a:rPr sz="1875" b="0">
                          <a:solidFill>
                            <a:srgbClr val="213C52"/>
                          </a:solidFill>
                          <a:latin typeface="Arial"/>
                          <a:ea typeface="Arial"/>
                          <a:cs typeface="Arial"/>
                        </a:rPr>
                        <a:t>Windows package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NSIS with bundled runtimes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75" b="0">
                          <a:solidFill>
                            <a:srgbClr val="213C52"/>
                          </a:solidFill>
                          <a:latin typeface="Arial"/>
                          <a:ea typeface="Arial"/>
                          <a:cs typeface="Arial"/>
                        </a:rPr>
                        <a:t>Offline installer, shortcuts and uninstall</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5"/>
                  </a:ext>
                </a:extLst>
              </a:tr>
            </a:tbl>
          </a:graphicData>
        </a:graphic>
      </p:graphicFrame>
      <p:sp>
        <p:nvSpPr>
          <p:cNvPr id="5" name="text-4">
            <a:extLst>
              <a:ext uri="{FF2B5EF4-FFF2-40B4-BE49-F238E27FC236}">
                <a16:creationId xmlns:a16="http://schemas.microsoft.com/office/drawing/2014/main" id="{6123D21B-9DB8-4679-858A-4A63CFE7A28A}"/>
              </a:ext>
            </a:extLst>
          </p:cNvPr>
          <p:cNvSpPr>
            <a:spLocks noGrp="1"/>
          </p:cNvSpPr>
          <p:nvPr/>
        </p:nvSpPr>
        <p:spPr>
          <a:xfrm>
            <a:off x="609600" y="5943600"/>
            <a:ext cx="10972800" cy="333375"/>
          </a:xfrm>
          <a:prstGeom prst="rect">
            <a:avLst/>
          </a:prstGeom>
          <a:noFill/>
          <a:ln w="0">
            <a:noFill/>
          </a:ln>
        </p:spPr>
        <p:txBody>
          <a:bodyPr wrap="square" lIns="0" tIns="0" rIns="0" bIns="0" anchor="t">
            <a:noAutofit/>
          </a:bodyPr>
          <a:lstStyle>
            <a:defPPr>
              <a:defRPr sz="1800" b="0">
                <a:solidFill>
                  <a:srgbClr val="5F7482"/>
                </a:solidFill>
                <a:latin typeface="Arial"/>
                <a:ea typeface="Arial"/>
                <a:cs typeface="Arial"/>
              </a:defRPr>
            </a:defPPr>
            <a:lvl1pPr>
              <a:buNone/>
              <a:defRPr sz="1800" b="0">
                <a:solidFill>
                  <a:srgbClr val="5F7482"/>
                </a:solidFill>
                <a:latin typeface="Arial"/>
                <a:ea typeface="Arial"/>
                <a:cs typeface="Arial"/>
              </a:defRPr>
            </a:lvl1pPr>
            <a:lvl2pPr>
              <a:buNone/>
              <a:defRPr sz="1800" b="0">
                <a:solidFill>
                  <a:srgbClr val="5F7482"/>
                </a:solidFill>
                <a:latin typeface="Arial"/>
                <a:ea typeface="Arial"/>
                <a:cs typeface="Arial"/>
              </a:defRPr>
            </a:lvl2pPr>
            <a:lvl3pPr>
              <a:buNone/>
              <a:defRPr sz="1800" b="0">
                <a:solidFill>
                  <a:srgbClr val="5F7482"/>
                </a:solidFill>
                <a:latin typeface="Arial"/>
                <a:ea typeface="Arial"/>
                <a:cs typeface="Arial"/>
              </a:defRPr>
            </a:lvl3pPr>
            <a:lvl4pPr>
              <a:buNone/>
              <a:defRPr sz="1800" b="0">
                <a:solidFill>
                  <a:srgbClr val="5F7482"/>
                </a:solidFill>
                <a:latin typeface="Arial"/>
                <a:ea typeface="Arial"/>
                <a:cs typeface="Arial"/>
              </a:defRPr>
            </a:lvl4pPr>
            <a:lvl5pPr>
              <a:buNone/>
              <a:defRPr sz="1800" b="0">
                <a:solidFill>
                  <a:srgbClr val="5F7482"/>
                </a:solidFill>
                <a:latin typeface="Arial"/>
                <a:ea typeface="Arial"/>
                <a:cs typeface="Arial"/>
              </a:defRPr>
            </a:lvl5pPr>
            <a:lvl6pPr>
              <a:buNone/>
              <a:defRPr sz="1800" b="0">
                <a:solidFill>
                  <a:srgbClr val="5F7482"/>
                </a:solidFill>
                <a:latin typeface="Arial"/>
                <a:ea typeface="Arial"/>
                <a:cs typeface="Arial"/>
              </a:defRPr>
            </a:lvl6pPr>
            <a:lvl7pPr>
              <a:buNone/>
              <a:defRPr sz="1800" b="0">
                <a:solidFill>
                  <a:srgbClr val="5F7482"/>
                </a:solidFill>
                <a:latin typeface="Arial"/>
                <a:ea typeface="Arial"/>
                <a:cs typeface="Arial"/>
              </a:defRPr>
            </a:lvl7pPr>
            <a:lvl8pPr>
              <a:buNone/>
              <a:defRPr sz="1800" b="0">
                <a:solidFill>
                  <a:srgbClr val="5F7482"/>
                </a:solidFill>
                <a:latin typeface="Arial"/>
                <a:ea typeface="Arial"/>
                <a:cs typeface="Arial"/>
              </a:defRPr>
            </a:lvl8pPr>
            <a:lvl9pPr>
              <a:buNone/>
              <a:defRPr sz="1800" b="0">
                <a:solidFill>
                  <a:srgbClr val="5F7482"/>
                </a:solidFill>
                <a:latin typeface="Arial"/>
                <a:ea typeface="Arial"/>
                <a:cs typeface="Arial"/>
              </a:defRPr>
            </a:lvl9pPr>
          </a:lstStyle>
          <a:p>
            <a:pPr>
              <a:buNone/>
              <a:defRPr sz="1800" b="0">
                <a:solidFill>
                  <a:srgbClr val="5F7482"/>
                </a:solidFill>
                <a:latin typeface="Arial"/>
                <a:ea typeface="Arial"/>
                <a:cs typeface="Arial"/>
              </a:defRPr>
            </a:pPr>
            <a:r>
              <a:rPr sz="1800" b="0">
                <a:solidFill>
                  <a:srgbClr val="5F7482"/>
                </a:solidFill>
                <a:latin typeface="Arial"/>
                <a:ea typeface="Arial"/>
                <a:cs typeface="Arial"/>
              </a:rPr>
              <a:t>Workspace: apps/web, apps/api, src/domain, tests, installer and docs</a:t>
            </a:r>
          </a:p>
        </p:txBody>
      </p:sp>
    </p:spTree>
    <p:extLst>
      <p:ext uri="{BB962C8B-B14F-4D97-AF65-F5344CB8AC3E}">
        <p14:creationId xmlns:p14="http://schemas.microsoft.com/office/powerpoint/2010/main" val="149325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8DF90E49-27F4-4E99-9EE6-A715B13482E4}"/>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05  Database and financial controls</a:t>
            </a:r>
          </a:p>
        </p:txBody>
      </p:sp>
      <p:sp>
        <p:nvSpPr>
          <p:cNvPr id="2" name="text-2">
            <a:extLst>
              <a:ext uri="{FF2B5EF4-FFF2-40B4-BE49-F238E27FC236}">
                <a16:creationId xmlns:a16="http://schemas.microsoft.com/office/drawing/2014/main" id="{368C6BDC-1AC4-45FF-AD06-C9925597C0C7}"/>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C4E2DA27-5840-4322-BD1C-B876D5DDFFCB}"/>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08</a:t>
            </a:r>
          </a:p>
        </p:txBody>
      </p:sp>
      <p:graphicFrame>
        <p:nvGraphicFramePr>
          <p:cNvPr id="4" name="Table 3">
            <a:extLst>
              <a:ext uri="{FF2B5EF4-FFF2-40B4-BE49-F238E27FC236}">
                <a16:creationId xmlns:a16="http://schemas.microsoft.com/office/drawing/2014/main" id="{048AEE7B-B402-4425-AEC2-AE56D4D28F12}"/>
              </a:ext>
            </a:extLst>
          </p:cNvPr>
          <p:cNvGraphicFramePr/>
          <p:nvPr/>
        </p:nvGraphicFramePr>
        <p:xfrm>
          <a:off x="609600" y="1666875"/>
          <a:ext cx="10972800" cy="4095750"/>
        </p:xfrm>
        <a:graphic>
          <a:graphicData uri="http://schemas.openxmlformats.org/drawingml/2006/table">
            <a:tbl>
              <a:tblPr/>
              <a:tblGrid>
                <a:gridCol w="3667125">
                  <a:extLst>
                    <a:ext uri="{9D8B030D-6E8A-4147-A177-3AD203B41FA5}">
                      <a16:colId xmlns:a16="http://schemas.microsoft.com/office/drawing/2014/main" val="20000"/>
                    </a:ext>
                  </a:extLst>
                </a:gridCol>
                <a:gridCol w="7305675">
                  <a:extLst>
                    <a:ext uri="{9D8B030D-6E8A-4147-A177-3AD203B41FA5}">
                      <a16:colId xmlns:a16="http://schemas.microsoft.com/office/drawing/2014/main" val="20001"/>
                    </a:ext>
                  </a:extLst>
                </a:gridCol>
              </a:tblGrid>
              <a:tr h="682625">
                <a:tc>
                  <a:txBody>
                    <a:bodyPr/>
                    <a:lstStyle/>
                    <a:p>
                      <a:r>
                        <a:rPr sz="1950" b="1">
                          <a:solidFill>
                            <a:srgbClr val="FFFFFF"/>
                          </a:solidFill>
                          <a:latin typeface="Arial"/>
                          <a:ea typeface="Arial"/>
                          <a:cs typeface="Arial"/>
                        </a:rPr>
                        <a:t>Record group</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950" b="1">
                          <a:solidFill>
                            <a:srgbClr val="FFFFFF"/>
                          </a:solidFill>
                          <a:latin typeface="Arial"/>
                          <a:ea typeface="Arial"/>
                          <a:cs typeface="Arial"/>
                        </a:rPr>
                        <a:t>Key control</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682625">
                <a:tc>
                  <a:txBody>
                    <a:bodyPr/>
                    <a:lstStyle/>
                    <a:p>
                      <a:r>
                        <a:rPr sz="1950" b="0">
                          <a:solidFill>
                            <a:srgbClr val="213C52"/>
                          </a:solidFill>
                          <a:latin typeface="Arial"/>
                          <a:ea typeface="Arial"/>
                          <a:cs typeface="Arial"/>
                        </a:rPr>
                        <a:t>Company, customer and project</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Unique identifiers and valid ownership links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682625">
                <a:tc>
                  <a:txBody>
                    <a:bodyPr/>
                    <a:lstStyle/>
                    <a:p>
                      <a:r>
                        <a:rPr sz="1950" b="0">
                          <a:solidFill>
                            <a:srgbClr val="213C52"/>
                          </a:solidFill>
                          <a:latin typeface="Arial"/>
                          <a:ea typeface="Arial"/>
                          <a:cs typeface="Arial"/>
                        </a:rPr>
                        <a:t>Certificate and approval</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950" b="0">
                          <a:solidFill>
                            <a:srgbClr val="213C52"/>
                          </a:solidFill>
                          <a:latin typeface="Arial"/>
                          <a:ea typeface="Arial"/>
                          <a:cs typeface="Arial"/>
                        </a:rPr>
                        <a:t>Versioned assessment with distinct approval actors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682625">
                <a:tc>
                  <a:txBody>
                    <a:bodyPr/>
                    <a:lstStyle/>
                    <a:p>
                      <a:r>
                        <a:rPr sz="1950" b="0">
                          <a:solidFill>
                            <a:srgbClr val="213C52"/>
                          </a:solidFill>
                          <a:latin typeface="Arial"/>
                          <a:ea typeface="Arial"/>
                          <a:cs typeface="Arial"/>
                        </a:rPr>
                        <a:t>Draft and final invoice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One draft per approved revision and immutable posted totals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682625">
                <a:tc>
                  <a:txBody>
                    <a:bodyPr/>
                    <a:lstStyle/>
                    <a:p>
                      <a:r>
                        <a:rPr sz="1950" b="0">
                          <a:solidFill>
                            <a:srgbClr val="213C52"/>
                          </a:solidFill>
                          <a:latin typeface="Arial"/>
                          <a:ea typeface="Arial"/>
                          <a:cs typeface="Arial"/>
                        </a:rPr>
                        <a:t>Receipt and allocation</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950" b="0">
                          <a:solidFill>
                            <a:srgbClr val="213C52"/>
                          </a:solidFill>
                          <a:latin typeface="Arial"/>
                          <a:ea typeface="Arial"/>
                          <a:cs typeface="Arial"/>
                        </a:rPr>
                        <a:t>Cash cannot exceed available funds or invoice balance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r h="682625">
                <a:tc>
                  <a:txBody>
                    <a:bodyPr/>
                    <a:lstStyle/>
                    <a:p>
                      <a:r>
                        <a:rPr sz="1950" b="0">
                          <a:solidFill>
                            <a:srgbClr val="213C52"/>
                          </a:solidFill>
                          <a:latin typeface="Arial"/>
                          <a:ea typeface="Arial"/>
                          <a:cs typeface="Arial"/>
                        </a:rPr>
                        <a:t>Correction and audit</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Linked adjustments and recorded action history</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5"/>
                  </a:ext>
                </a:extLst>
              </a:tr>
            </a:tbl>
          </a:graphicData>
        </a:graphic>
      </p:graphicFrame>
      <p:sp>
        <p:nvSpPr>
          <p:cNvPr id="5" name="text-4">
            <a:extLst>
              <a:ext uri="{FF2B5EF4-FFF2-40B4-BE49-F238E27FC236}">
                <a16:creationId xmlns:a16="http://schemas.microsoft.com/office/drawing/2014/main" id="{026B71A0-20AA-4852-B528-2D8A557687BA}"/>
              </a:ext>
            </a:extLst>
          </p:cNvPr>
          <p:cNvSpPr>
            <a:spLocks noGrp="1"/>
          </p:cNvSpPr>
          <p:nvPr/>
        </p:nvSpPr>
        <p:spPr>
          <a:xfrm>
            <a:off x="609600" y="6048375"/>
            <a:ext cx="10972800" cy="304800"/>
          </a:xfrm>
          <a:prstGeom prst="rect">
            <a:avLst/>
          </a:prstGeom>
          <a:noFill/>
          <a:ln w="0">
            <a:noFill/>
          </a:ln>
        </p:spPr>
        <p:txBody>
          <a:bodyPr wrap="square" lIns="0" tIns="0" rIns="0" bIns="0" anchor="t">
            <a:noAutofit/>
          </a:bodyPr>
          <a:lstStyle>
            <a:defPPr>
              <a:defRPr sz="1875" b="1">
                <a:solidFill>
                  <a:srgbClr val="168678"/>
                </a:solidFill>
                <a:latin typeface="Arial"/>
                <a:ea typeface="Arial"/>
                <a:cs typeface="Arial"/>
              </a:defRPr>
            </a:defPPr>
            <a:lvl1pPr>
              <a:buNone/>
              <a:defRPr sz="1875" b="1">
                <a:solidFill>
                  <a:srgbClr val="168678"/>
                </a:solidFill>
                <a:latin typeface="Arial"/>
                <a:ea typeface="Arial"/>
                <a:cs typeface="Arial"/>
              </a:defRPr>
            </a:lvl1pPr>
            <a:lvl2pPr>
              <a:buNone/>
              <a:defRPr sz="1875" b="1">
                <a:solidFill>
                  <a:srgbClr val="168678"/>
                </a:solidFill>
                <a:latin typeface="Arial"/>
                <a:ea typeface="Arial"/>
                <a:cs typeface="Arial"/>
              </a:defRPr>
            </a:lvl2pPr>
            <a:lvl3pPr>
              <a:buNone/>
              <a:defRPr sz="1875" b="1">
                <a:solidFill>
                  <a:srgbClr val="168678"/>
                </a:solidFill>
                <a:latin typeface="Arial"/>
                <a:ea typeface="Arial"/>
                <a:cs typeface="Arial"/>
              </a:defRPr>
            </a:lvl3pPr>
            <a:lvl4pPr>
              <a:buNone/>
              <a:defRPr sz="1875" b="1">
                <a:solidFill>
                  <a:srgbClr val="168678"/>
                </a:solidFill>
                <a:latin typeface="Arial"/>
                <a:ea typeface="Arial"/>
                <a:cs typeface="Arial"/>
              </a:defRPr>
            </a:lvl4pPr>
            <a:lvl5pPr>
              <a:buNone/>
              <a:defRPr sz="1875" b="1">
                <a:solidFill>
                  <a:srgbClr val="168678"/>
                </a:solidFill>
                <a:latin typeface="Arial"/>
                <a:ea typeface="Arial"/>
                <a:cs typeface="Arial"/>
              </a:defRPr>
            </a:lvl5pPr>
            <a:lvl6pPr>
              <a:buNone/>
              <a:defRPr sz="1875" b="1">
                <a:solidFill>
                  <a:srgbClr val="168678"/>
                </a:solidFill>
                <a:latin typeface="Arial"/>
                <a:ea typeface="Arial"/>
                <a:cs typeface="Arial"/>
              </a:defRPr>
            </a:lvl6pPr>
            <a:lvl7pPr>
              <a:buNone/>
              <a:defRPr sz="1875" b="1">
                <a:solidFill>
                  <a:srgbClr val="168678"/>
                </a:solidFill>
                <a:latin typeface="Arial"/>
                <a:ea typeface="Arial"/>
                <a:cs typeface="Arial"/>
              </a:defRPr>
            </a:lvl7pPr>
            <a:lvl8pPr>
              <a:buNone/>
              <a:defRPr sz="1875" b="1">
                <a:solidFill>
                  <a:srgbClr val="168678"/>
                </a:solidFill>
                <a:latin typeface="Arial"/>
                <a:ea typeface="Arial"/>
                <a:cs typeface="Arial"/>
              </a:defRPr>
            </a:lvl8pPr>
            <a:lvl9pPr>
              <a:buNone/>
              <a:defRPr sz="1875" b="1">
                <a:solidFill>
                  <a:srgbClr val="168678"/>
                </a:solidFill>
                <a:latin typeface="Arial"/>
                <a:ea typeface="Arial"/>
                <a:cs typeface="Arial"/>
              </a:defRPr>
            </a:lvl9pPr>
          </a:lstStyle>
          <a:p>
            <a:pPr>
              <a:buNone/>
              <a:defRPr sz="1875" b="1">
                <a:solidFill>
                  <a:srgbClr val="168678"/>
                </a:solidFill>
                <a:latin typeface="Arial"/>
                <a:ea typeface="Arial"/>
                <a:cs typeface="Arial"/>
              </a:defRPr>
            </a:pPr>
            <a:r>
              <a:rPr sz="1875" b="1">
                <a:solidFill>
                  <a:srgbClr val="168678"/>
                </a:solidFill>
                <a:latin typeface="Arial"/>
                <a:ea typeface="Arial"/>
                <a:cs typeface="Arial"/>
              </a:rPr>
              <a:t>Import totals and outstanding values are controls, not extra invoices</a:t>
            </a:r>
          </a:p>
        </p:txBody>
      </p:sp>
    </p:spTree>
    <p:extLst>
      <p:ext uri="{BB962C8B-B14F-4D97-AF65-F5344CB8AC3E}">
        <p14:creationId xmlns:p14="http://schemas.microsoft.com/office/powerpoint/2010/main" val="2112481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B5FF7F89-FCC4-49E2-A611-A170B75439E1}"/>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06  Login, roles and work areas</a:t>
            </a:r>
          </a:p>
        </p:txBody>
      </p:sp>
      <p:sp>
        <p:nvSpPr>
          <p:cNvPr id="2" name="text-2">
            <a:extLst>
              <a:ext uri="{FF2B5EF4-FFF2-40B4-BE49-F238E27FC236}">
                <a16:creationId xmlns:a16="http://schemas.microsoft.com/office/drawing/2014/main" id="{AC6F1121-F96B-4A0B-954F-0D4E527A35DE}"/>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11663A58-1714-4322-A8D6-9AE761F05CA7}"/>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09</a:t>
            </a:r>
          </a:p>
        </p:txBody>
      </p:sp>
      <p:graphicFrame>
        <p:nvGraphicFramePr>
          <p:cNvPr id="4" name="Table 3">
            <a:extLst>
              <a:ext uri="{FF2B5EF4-FFF2-40B4-BE49-F238E27FC236}">
                <a16:creationId xmlns:a16="http://schemas.microsoft.com/office/drawing/2014/main" id="{33329333-E709-45FE-B845-0424C16A60BA}"/>
              </a:ext>
            </a:extLst>
          </p:cNvPr>
          <p:cNvGraphicFramePr/>
          <p:nvPr/>
        </p:nvGraphicFramePr>
        <p:xfrm>
          <a:off x="609600" y="1666875"/>
          <a:ext cx="10972800" cy="2857500"/>
        </p:xfrm>
        <a:graphic>
          <a:graphicData uri="http://schemas.openxmlformats.org/drawingml/2006/table">
            <a:tbl>
              <a:tblPr/>
              <a:tblGrid>
                <a:gridCol w="2524125">
                  <a:extLst>
                    <a:ext uri="{9D8B030D-6E8A-4147-A177-3AD203B41FA5}">
                      <a16:colId xmlns:a16="http://schemas.microsoft.com/office/drawing/2014/main" val="20000"/>
                    </a:ext>
                  </a:extLst>
                </a:gridCol>
                <a:gridCol w="8448675">
                  <a:extLst>
                    <a:ext uri="{9D8B030D-6E8A-4147-A177-3AD203B41FA5}">
                      <a16:colId xmlns:a16="http://schemas.microsoft.com/office/drawing/2014/main" val="20001"/>
                    </a:ext>
                  </a:extLst>
                </a:gridCol>
              </a:tblGrid>
              <a:tr h="714375">
                <a:tc>
                  <a:txBody>
                    <a:bodyPr/>
                    <a:lstStyle/>
                    <a:p>
                      <a:r>
                        <a:rPr sz="2025" b="1">
                          <a:solidFill>
                            <a:srgbClr val="FFFFFF"/>
                          </a:solidFill>
                          <a:latin typeface="Arial"/>
                          <a:ea typeface="Arial"/>
                          <a:cs typeface="Arial"/>
                        </a:rPr>
                        <a:t>Access tier</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2025" b="1">
                          <a:solidFill>
                            <a:srgbClr val="FFFFFF"/>
                          </a:solidFill>
                          <a:latin typeface="Arial"/>
                          <a:ea typeface="Arial"/>
                          <a:cs typeface="Arial"/>
                        </a:rPr>
                        <a:t>Assignment model</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714375">
                <a:tc>
                  <a:txBody>
                    <a:bodyPr/>
                    <a:lstStyle/>
                    <a:p>
                      <a:r>
                        <a:rPr sz="2025" b="0">
                          <a:solidFill>
                            <a:srgbClr val="213C52"/>
                          </a:solidFill>
                          <a:latin typeface="Arial"/>
                          <a:ea typeface="Arial"/>
                          <a:cs typeface="Arial"/>
                        </a:rPr>
                        <a:t>Administrator</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2025" b="0">
                          <a:solidFill>
                            <a:srgbClr val="213C52"/>
                          </a:solidFill>
                          <a:latin typeface="Arial"/>
                          <a:ea typeface="Arial"/>
                          <a:cs typeface="Arial"/>
                        </a:rPr>
                        <a:t>Enroll the company and manage users/configuration</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714375">
                <a:tc>
                  <a:txBody>
                    <a:bodyPr/>
                    <a:lstStyle/>
                    <a:p>
                      <a:r>
                        <a:rPr sz="2025" b="0">
                          <a:solidFill>
                            <a:srgbClr val="213C52"/>
                          </a:solidFill>
                          <a:latin typeface="Arial"/>
                          <a:ea typeface="Arial"/>
                          <a:cs typeface="Arial"/>
                        </a:rPr>
                        <a:t>Super user</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2025" b="0">
                          <a:solidFill>
                            <a:srgbClr val="213C52"/>
                          </a:solidFill>
                          <a:latin typeface="Arial"/>
                          <a:ea typeface="Arial"/>
                          <a:cs typeface="Arial"/>
                        </a:rPr>
                        <a:t>Work within assigned areas and separately assigned duties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714375">
                <a:tc>
                  <a:txBody>
                    <a:bodyPr/>
                    <a:lstStyle/>
                    <a:p>
                      <a:r>
                        <a:rPr sz="2025" b="0">
                          <a:solidFill>
                            <a:srgbClr val="213C52"/>
                          </a:solidFill>
                          <a:latin typeface="Arial"/>
                          <a:ea typeface="Arial"/>
                          <a:cs typeface="Arial"/>
                        </a:rPr>
                        <a:t>User</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2025" b="0">
                          <a:solidFill>
                            <a:srgbClr val="213C52"/>
                          </a:solidFill>
                          <a:latin typeface="Arial"/>
                          <a:ea typeface="Arial"/>
                          <a:cs typeface="Arial"/>
                        </a:rPr>
                        <a:t>Receive only the areas and actions approved by an Administrator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bl>
          </a:graphicData>
        </a:graphic>
      </p:graphicFrame>
      <p:sp>
        <p:nvSpPr>
          <p:cNvPr id="5" name="text-4">
            <a:extLst>
              <a:ext uri="{FF2B5EF4-FFF2-40B4-BE49-F238E27FC236}">
                <a16:creationId xmlns:a16="http://schemas.microsoft.com/office/drawing/2014/main" id="{B98E45FE-C680-4EAB-BBEA-6DA806E3FDA0}"/>
              </a:ext>
            </a:extLst>
          </p:cNvPr>
          <p:cNvSpPr>
            <a:spLocks noGrp="1"/>
          </p:cNvSpPr>
          <p:nvPr/>
        </p:nvSpPr>
        <p:spPr>
          <a:xfrm>
            <a:off x="609600" y="4953000"/>
            <a:ext cx="10972800" cy="409575"/>
          </a:xfrm>
          <a:prstGeom prst="rect">
            <a:avLst/>
          </a:prstGeom>
          <a:noFill/>
          <a:ln w="0">
            <a:noFill/>
          </a:ln>
        </p:spPr>
        <p:txBody>
          <a:bodyPr wrap="square" lIns="0" tIns="0" rIns="0" bIns="0" anchor="t">
            <a:noAutofit/>
          </a:bodyPr>
          <a:lstStyle>
            <a:defPPr>
              <a:defRPr sz="2325" b="1">
                <a:solidFill>
                  <a:srgbClr val="168678"/>
                </a:solidFill>
                <a:latin typeface="Arial"/>
                <a:ea typeface="Arial"/>
                <a:cs typeface="Arial"/>
              </a:defRPr>
            </a:defPPr>
            <a:lvl1pPr>
              <a:buNone/>
              <a:defRPr sz="2325" b="1">
                <a:solidFill>
                  <a:srgbClr val="168678"/>
                </a:solidFill>
                <a:latin typeface="Arial"/>
                <a:ea typeface="Arial"/>
                <a:cs typeface="Arial"/>
              </a:defRPr>
            </a:lvl1pPr>
            <a:lvl2pPr>
              <a:buNone/>
              <a:defRPr sz="2325" b="1">
                <a:solidFill>
                  <a:srgbClr val="168678"/>
                </a:solidFill>
                <a:latin typeface="Arial"/>
                <a:ea typeface="Arial"/>
                <a:cs typeface="Arial"/>
              </a:defRPr>
            </a:lvl2pPr>
            <a:lvl3pPr>
              <a:buNone/>
              <a:defRPr sz="2325" b="1">
                <a:solidFill>
                  <a:srgbClr val="168678"/>
                </a:solidFill>
                <a:latin typeface="Arial"/>
                <a:ea typeface="Arial"/>
                <a:cs typeface="Arial"/>
              </a:defRPr>
            </a:lvl3pPr>
            <a:lvl4pPr>
              <a:buNone/>
              <a:defRPr sz="2325" b="1">
                <a:solidFill>
                  <a:srgbClr val="168678"/>
                </a:solidFill>
                <a:latin typeface="Arial"/>
                <a:ea typeface="Arial"/>
                <a:cs typeface="Arial"/>
              </a:defRPr>
            </a:lvl4pPr>
            <a:lvl5pPr>
              <a:buNone/>
              <a:defRPr sz="2325" b="1">
                <a:solidFill>
                  <a:srgbClr val="168678"/>
                </a:solidFill>
                <a:latin typeface="Arial"/>
                <a:ea typeface="Arial"/>
                <a:cs typeface="Arial"/>
              </a:defRPr>
            </a:lvl5pPr>
            <a:lvl6pPr>
              <a:buNone/>
              <a:defRPr sz="2325" b="1">
                <a:solidFill>
                  <a:srgbClr val="168678"/>
                </a:solidFill>
                <a:latin typeface="Arial"/>
                <a:ea typeface="Arial"/>
                <a:cs typeface="Arial"/>
              </a:defRPr>
            </a:lvl6pPr>
            <a:lvl7pPr>
              <a:buNone/>
              <a:defRPr sz="2325" b="1">
                <a:solidFill>
                  <a:srgbClr val="168678"/>
                </a:solidFill>
                <a:latin typeface="Arial"/>
                <a:ea typeface="Arial"/>
                <a:cs typeface="Arial"/>
              </a:defRPr>
            </a:lvl7pPr>
            <a:lvl8pPr>
              <a:buNone/>
              <a:defRPr sz="2325" b="1">
                <a:solidFill>
                  <a:srgbClr val="168678"/>
                </a:solidFill>
                <a:latin typeface="Arial"/>
                <a:ea typeface="Arial"/>
                <a:cs typeface="Arial"/>
              </a:defRPr>
            </a:lvl8pPr>
            <a:lvl9pPr>
              <a:buNone/>
              <a:defRPr sz="2325" b="1">
                <a:solidFill>
                  <a:srgbClr val="168678"/>
                </a:solidFill>
                <a:latin typeface="Arial"/>
                <a:ea typeface="Arial"/>
                <a:cs typeface="Arial"/>
              </a:defRPr>
            </a:lvl9pPr>
          </a:lstStyle>
          <a:p>
            <a:pPr>
              <a:buNone/>
              <a:defRPr sz="2325" b="1">
                <a:solidFill>
                  <a:srgbClr val="168678"/>
                </a:solidFill>
                <a:latin typeface="Arial"/>
                <a:ea typeface="Arial"/>
                <a:cs typeface="Arial"/>
              </a:defRPr>
            </a:pPr>
            <a:r>
              <a:rPr sz="2325" b="1">
                <a:solidFill>
                  <a:srgbClr val="168678"/>
                </a:solidFill>
                <a:latin typeface="Arial"/>
                <a:ea typeface="Arial"/>
                <a:cs typeface="Arial"/>
              </a:rPr>
              <a:t>Financial duties remain separate</a:t>
            </a:r>
          </a:p>
        </p:txBody>
      </p:sp>
      <p:sp>
        <p:nvSpPr>
          <p:cNvPr id="6" name="text-5">
            <a:extLst>
              <a:ext uri="{FF2B5EF4-FFF2-40B4-BE49-F238E27FC236}">
                <a16:creationId xmlns:a16="http://schemas.microsoft.com/office/drawing/2014/main" id="{A53FB6DC-BC67-499B-A005-20B082C66FA6}"/>
              </a:ext>
            </a:extLst>
          </p:cNvPr>
          <p:cNvSpPr>
            <a:spLocks noGrp="1"/>
          </p:cNvSpPr>
          <p:nvPr/>
        </p:nvSpPr>
        <p:spPr>
          <a:xfrm>
            <a:off x="609600" y="5505450"/>
            <a:ext cx="10763250" cy="6477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Accountant, Reviewer 1, Reviewer 2, Approver and Finance Administrator</a:t>
            </a:r>
          </a:p>
        </p:txBody>
      </p:sp>
    </p:spTree>
    <p:extLst>
      <p:ext uri="{BB962C8B-B14F-4D97-AF65-F5344CB8AC3E}">
        <p14:creationId xmlns:p14="http://schemas.microsoft.com/office/powerpoint/2010/main" val="72622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1">
            <a:extLst>
              <a:ext uri="{FF2B5EF4-FFF2-40B4-BE49-F238E27FC236}">
                <a16:creationId xmlns:a16="http://schemas.microsoft.com/office/drawing/2014/main" id="{89B239DA-DAE4-458A-B864-1FF62AC75E8D}"/>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07  Customer and project masters</a:t>
            </a:r>
          </a:p>
        </p:txBody>
      </p:sp>
      <p:sp>
        <p:nvSpPr>
          <p:cNvPr id="2" name="text-2">
            <a:extLst>
              <a:ext uri="{FF2B5EF4-FFF2-40B4-BE49-F238E27FC236}">
                <a16:creationId xmlns:a16="http://schemas.microsoft.com/office/drawing/2014/main" id="{2171739D-4474-4923-9DA5-AAA9AC3955EC}"/>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9D1D6945-BAD9-4088-81A9-14F23E6C181B}"/>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10</a:t>
            </a:r>
          </a:p>
        </p:txBody>
      </p:sp>
      <p:sp>
        <p:nvSpPr>
          <p:cNvPr id="4" name="text-4">
            <a:extLst>
              <a:ext uri="{FF2B5EF4-FFF2-40B4-BE49-F238E27FC236}">
                <a16:creationId xmlns:a16="http://schemas.microsoft.com/office/drawing/2014/main" id="{0D62B95A-2B70-4259-BFA2-0F35E99A9800}"/>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0885AE33-0519-4344-9198-4DD55796C6CA}"/>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Customer identity</a:t>
            </a:r>
          </a:p>
        </p:txBody>
      </p:sp>
      <p:sp>
        <p:nvSpPr>
          <p:cNvPr id="6" name="text-6">
            <a:extLst>
              <a:ext uri="{FF2B5EF4-FFF2-40B4-BE49-F238E27FC236}">
                <a16:creationId xmlns:a16="http://schemas.microsoft.com/office/drawing/2014/main" id="{6166652D-9750-42DC-AD61-E7F914634990}"/>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Capture the supplied 25 fields and retain text identifiers.</a:t>
            </a:r>
          </a:p>
        </p:txBody>
      </p:sp>
      <p:sp>
        <p:nvSpPr>
          <p:cNvPr id="7" name="text-7">
            <a:extLst>
              <a:ext uri="{FF2B5EF4-FFF2-40B4-BE49-F238E27FC236}">
                <a16:creationId xmlns:a16="http://schemas.microsoft.com/office/drawing/2014/main" id="{3A32F157-C852-4005-89D2-3852180CE190}"/>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50C34830-7063-4CF5-957F-1AD817358132}"/>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Project identity</a:t>
            </a:r>
          </a:p>
        </p:txBody>
      </p:sp>
      <p:sp>
        <p:nvSpPr>
          <p:cNvPr id="9" name="text-9">
            <a:extLst>
              <a:ext uri="{FF2B5EF4-FFF2-40B4-BE49-F238E27FC236}">
                <a16:creationId xmlns:a16="http://schemas.microsoft.com/office/drawing/2014/main" id="{947CEC41-340A-4302-8127-75E083A5DFC4}"/>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Use a unique job number and the correct customer relationship.</a:t>
            </a:r>
          </a:p>
        </p:txBody>
      </p:sp>
      <p:sp>
        <p:nvSpPr>
          <p:cNvPr id="10" name="text-10">
            <a:extLst>
              <a:ext uri="{FF2B5EF4-FFF2-40B4-BE49-F238E27FC236}">
                <a16:creationId xmlns:a16="http://schemas.microsoft.com/office/drawing/2014/main" id="{2308A29B-15AE-4730-848A-A1115EB659AF}"/>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4B0910CF-9942-43A6-9ACD-DEB4B88E93B1}"/>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Workspace navigation</a:t>
            </a:r>
          </a:p>
        </p:txBody>
      </p:sp>
      <p:sp>
        <p:nvSpPr>
          <p:cNvPr id="12" name="text-12">
            <a:extLst>
              <a:ext uri="{FF2B5EF4-FFF2-40B4-BE49-F238E27FC236}">
                <a16:creationId xmlns:a16="http://schemas.microsoft.com/office/drawing/2014/main" id="{0F73B8B6-B03F-4763-88FA-84CED6224E33}"/>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Provide contextual project actions, search and paginated lists.</a:t>
            </a:r>
          </a:p>
        </p:txBody>
      </p:sp>
      <p:sp>
        <p:nvSpPr>
          <p:cNvPr id="13" name="text-13">
            <a:extLst>
              <a:ext uri="{FF2B5EF4-FFF2-40B4-BE49-F238E27FC236}">
                <a16:creationId xmlns:a16="http://schemas.microsoft.com/office/drawing/2014/main" id="{5A75189D-CCEE-491B-8243-A87E9574F245}"/>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CCF0093E-CF18-49D7-9D53-B41A36828D2A}"/>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Authorization and updates</a:t>
            </a:r>
          </a:p>
        </p:txBody>
      </p:sp>
      <p:sp>
        <p:nvSpPr>
          <p:cNvPr id="15" name="text-15">
            <a:extLst>
              <a:ext uri="{FF2B5EF4-FFF2-40B4-BE49-F238E27FC236}">
                <a16:creationId xmlns:a16="http://schemas.microsoft.com/office/drawing/2014/main" id="{1D7344F0-E55C-4A24-B04F-AA000AE27DE1}"/>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Validate edits on the server and reject stale overwrites.</a:t>
            </a:r>
          </a:p>
        </p:txBody>
      </p:sp>
    </p:spTree>
    <p:extLst>
      <p:ext uri="{BB962C8B-B14F-4D97-AF65-F5344CB8AC3E}">
        <p14:creationId xmlns:p14="http://schemas.microsoft.com/office/powerpoint/2010/main" val="215083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1">
            <a:extLst>
              <a:ext uri="{FF2B5EF4-FFF2-40B4-BE49-F238E27FC236}">
                <a16:creationId xmlns:a16="http://schemas.microsoft.com/office/drawing/2014/main" id="{46F21907-AE7C-4B60-81B1-5E88EEF0B33B}"/>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08  Excel import and reconciliation</a:t>
            </a:r>
          </a:p>
        </p:txBody>
      </p:sp>
      <p:sp>
        <p:nvSpPr>
          <p:cNvPr id="2" name="text-2">
            <a:extLst>
              <a:ext uri="{FF2B5EF4-FFF2-40B4-BE49-F238E27FC236}">
                <a16:creationId xmlns:a16="http://schemas.microsoft.com/office/drawing/2014/main" id="{43B81600-ADE7-4CE2-829B-D31870E1E006}"/>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C3D65591-47B5-4A36-846A-79945DAA9831}"/>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11</a:t>
            </a:r>
          </a:p>
        </p:txBody>
      </p:sp>
      <p:sp>
        <p:nvSpPr>
          <p:cNvPr id="4" name="text-4">
            <a:extLst>
              <a:ext uri="{FF2B5EF4-FFF2-40B4-BE49-F238E27FC236}">
                <a16:creationId xmlns:a16="http://schemas.microsoft.com/office/drawing/2014/main" id="{C1431DA3-E085-40DB-98FB-4BF223EDF738}"/>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9B913341-EEBD-4F85-B9D6-0DB9233EA162}"/>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Customer master</a:t>
            </a:r>
          </a:p>
        </p:txBody>
      </p:sp>
      <p:sp>
        <p:nvSpPr>
          <p:cNvPr id="6" name="text-6">
            <a:extLst>
              <a:ext uri="{FF2B5EF4-FFF2-40B4-BE49-F238E27FC236}">
                <a16:creationId xmlns:a16="http://schemas.microsoft.com/office/drawing/2014/main" id="{3087B2B0-2857-447E-91BB-AB565ADA00B8}"/>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Preview Client rows and create or update validated customer records.</a:t>
            </a:r>
          </a:p>
        </p:txBody>
      </p:sp>
      <p:sp>
        <p:nvSpPr>
          <p:cNvPr id="7" name="text-7">
            <a:extLst>
              <a:ext uri="{FF2B5EF4-FFF2-40B4-BE49-F238E27FC236}">
                <a16:creationId xmlns:a16="http://schemas.microsoft.com/office/drawing/2014/main" id="{A99C239B-9692-4C9A-9811-5A07070F65D1}"/>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E3D9874D-08CF-45CE-A6DE-940A8BE1DDF5}"/>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Project master</a:t>
            </a:r>
          </a:p>
        </p:txBody>
      </p:sp>
      <p:sp>
        <p:nvSpPr>
          <p:cNvPr id="9" name="text-9">
            <a:extLst>
              <a:ext uri="{FF2B5EF4-FFF2-40B4-BE49-F238E27FC236}">
                <a16:creationId xmlns:a16="http://schemas.microsoft.com/office/drawing/2014/main" id="{783CE36D-A64D-4D98-91AE-EF50FB27EE66}"/>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Create matching projects using the assigned customer codes.</a:t>
            </a:r>
          </a:p>
        </p:txBody>
      </p:sp>
      <p:sp>
        <p:nvSpPr>
          <p:cNvPr id="10" name="text-10">
            <a:extLst>
              <a:ext uri="{FF2B5EF4-FFF2-40B4-BE49-F238E27FC236}">
                <a16:creationId xmlns:a16="http://schemas.microsoft.com/office/drawing/2014/main" id="{5C7CBD52-3C9F-4AAA-91B6-4D9EF30000AD}"/>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41D7216C-1097-48D4-BB9E-61B13835DD0A}"/>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Statement of account</a:t>
            </a:r>
          </a:p>
        </p:txBody>
      </p:sp>
      <p:sp>
        <p:nvSpPr>
          <p:cNvPr id="12" name="text-12">
            <a:extLst>
              <a:ext uri="{FF2B5EF4-FFF2-40B4-BE49-F238E27FC236}">
                <a16:creationId xmlns:a16="http://schemas.microsoft.com/office/drawing/2014/main" id="{33A665D9-B169-4CCC-A667-4E857BA634EC}"/>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Match the customer/project, confirm currency and review VAT treatment.</a:t>
            </a:r>
          </a:p>
        </p:txBody>
      </p:sp>
      <p:sp>
        <p:nvSpPr>
          <p:cNvPr id="13" name="text-13">
            <a:extLst>
              <a:ext uri="{FF2B5EF4-FFF2-40B4-BE49-F238E27FC236}">
                <a16:creationId xmlns:a16="http://schemas.microsoft.com/office/drawing/2014/main" id="{A6B1CC91-C295-4572-9502-A1EEE3C56497}"/>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6E6FE54D-CB84-4AAA-BB6B-0E052132C674}"/>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Reconciliation and retries</a:t>
            </a:r>
          </a:p>
        </p:txBody>
      </p:sp>
      <p:sp>
        <p:nvSpPr>
          <p:cNvPr id="15" name="text-15">
            <a:extLst>
              <a:ext uri="{FF2B5EF4-FFF2-40B4-BE49-F238E27FC236}">
                <a16:creationId xmlns:a16="http://schemas.microsoft.com/office/drawing/2014/main" id="{3532036B-060D-4A83-8F7E-E8766C6F4FF7}"/>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Compare billed, collected and outstanding totals before posting.</a:t>
            </a:r>
          </a:p>
        </p:txBody>
      </p:sp>
      <p:sp>
        <p:nvSpPr>
          <p:cNvPr id="16" name="text-16">
            <a:extLst>
              <a:ext uri="{FF2B5EF4-FFF2-40B4-BE49-F238E27FC236}">
                <a16:creationId xmlns:a16="http://schemas.microsoft.com/office/drawing/2014/main" id="{882C3554-7106-41FC-97DC-4238431C2532}"/>
              </a:ext>
            </a:extLst>
          </p:cNvPr>
          <p:cNvSpPr>
            <a:spLocks noGrp="1"/>
          </p:cNvSpPr>
          <p:nvPr/>
        </p:nvSpPr>
        <p:spPr>
          <a:xfrm>
            <a:off x="609600" y="5915025"/>
            <a:ext cx="10972800" cy="361950"/>
          </a:xfrm>
          <a:prstGeom prst="rect">
            <a:avLst/>
          </a:prstGeom>
          <a:noFill/>
          <a:ln w="0">
            <a:noFill/>
          </a:ln>
        </p:spPr>
        <p:txBody>
          <a:bodyPr wrap="square" lIns="0" tIns="0" rIns="0" bIns="0" anchor="t">
            <a:noAutofit/>
          </a:bodyPr>
          <a:lstStyle>
            <a:defPPr>
              <a:defRPr sz="1950" b="1">
                <a:solidFill>
                  <a:srgbClr val="9B4B20"/>
                </a:solidFill>
                <a:latin typeface="Arial"/>
                <a:ea typeface="Arial"/>
                <a:cs typeface="Arial"/>
              </a:defRPr>
            </a:defPPr>
            <a:lvl1pPr>
              <a:buNone/>
              <a:defRPr sz="1950" b="1">
                <a:solidFill>
                  <a:srgbClr val="9B4B20"/>
                </a:solidFill>
                <a:latin typeface="Arial"/>
                <a:ea typeface="Arial"/>
                <a:cs typeface="Arial"/>
              </a:defRPr>
            </a:lvl1pPr>
            <a:lvl2pPr>
              <a:buNone/>
              <a:defRPr sz="1950" b="1">
                <a:solidFill>
                  <a:srgbClr val="9B4B20"/>
                </a:solidFill>
                <a:latin typeface="Arial"/>
                <a:ea typeface="Arial"/>
                <a:cs typeface="Arial"/>
              </a:defRPr>
            </a:lvl2pPr>
            <a:lvl3pPr>
              <a:buNone/>
              <a:defRPr sz="1950" b="1">
                <a:solidFill>
                  <a:srgbClr val="9B4B20"/>
                </a:solidFill>
                <a:latin typeface="Arial"/>
                <a:ea typeface="Arial"/>
                <a:cs typeface="Arial"/>
              </a:defRPr>
            </a:lvl3pPr>
            <a:lvl4pPr>
              <a:buNone/>
              <a:defRPr sz="1950" b="1">
                <a:solidFill>
                  <a:srgbClr val="9B4B20"/>
                </a:solidFill>
                <a:latin typeface="Arial"/>
                <a:ea typeface="Arial"/>
                <a:cs typeface="Arial"/>
              </a:defRPr>
            </a:lvl4pPr>
            <a:lvl5pPr>
              <a:buNone/>
              <a:defRPr sz="1950" b="1">
                <a:solidFill>
                  <a:srgbClr val="9B4B20"/>
                </a:solidFill>
                <a:latin typeface="Arial"/>
                <a:ea typeface="Arial"/>
                <a:cs typeface="Arial"/>
              </a:defRPr>
            </a:lvl5pPr>
            <a:lvl6pPr>
              <a:buNone/>
              <a:defRPr sz="1950" b="1">
                <a:solidFill>
                  <a:srgbClr val="9B4B20"/>
                </a:solidFill>
                <a:latin typeface="Arial"/>
                <a:ea typeface="Arial"/>
                <a:cs typeface="Arial"/>
              </a:defRPr>
            </a:lvl6pPr>
            <a:lvl7pPr>
              <a:buNone/>
              <a:defRPr sz="1950" b="1">
                <a:solidFill>
                  <a:srgbClr val="9B4B20"/>
                </a:solidFill>
                <a:latin typeface="Arial"/>
                <a:ea typeface="Arial"/>
                <a:cs typeface="Arial"/>
              </a:defRPr>
            </a:lvl7pPr>
            <a:lvl8pPr>
              <a:buNone/>
              <a:defRPr sz="1950" b="1">
                <a:solidFill>
                  <a:srgbClr val="9B4B20"/>
                </a:solidFill>
                <a:latin typeface="Arial"/>
                <a:ea typeface="Arial"/>
                <a:cs typeface="Arial"/>
              </a:defRPr>
            </a:lvl8pPr>
            <a:lvl9pPr>
              <a:buNone/>
              <a:defRPr sz="1950" b="1">
                <a:solidFill>
                  <a:srgbClr val="9B4B20"/>
                </a:solidFill>
                <a:latin typeface="Arial"/>
                <a:ea typeface="Arial"/>
                <a:cs typeface="Arial"/>
              </a:defRPr>
            </a:lvl9pPr>
          </a:lstStyle>
          <a:p>
            <a:pPr>
              <a:buNone/>
              <a:defRPr sz="1950" b="1">
                <a:solidFill>
                  <a:srgbClr val="9B4B20"/>
                </a:solidFill>
                <a:latin typeface="Arial"/>
                <a:ea typeface="Arial"/>
                <a:cs typeface="Arial"/>
              </a:defRPr>
            </a:pPr>
            <a:r>
              <a:rPr sz="1950" b="1">
                <a:solidFill>
                  <a:srgbClr val="9B4B20"/>
                </a:solidFill>
                <a:latin typeface="Arial"/>
                <a:ea typeface="Arial"/>
                <a:cs typeface="Arial"/>
              </a:rPr>
              <a:t>Current SOA import accepts one customer/project per file</a:t>
            </a:r>
          </a:p>
        </p:txBody>
      </p:sp>
    </p:spTree>
    <p:extLst>
      <p:ext uri="{BB962C8B-B14F-4D97-AF65-F5344CB8AC3E}">
        <p14:creationId xmlns:p14="http://schemas.microsoft.com/office/powerpoint/2010/main" val="1859373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1">
            <a:extLst>
              <a:ext uri="{FF2B5EF4-FFF2-40B4-BE49-F238E27FC236}">
                <a16:creationId xmlns:a16="http://schemas.microsoft.com/office/drawing/2014/main" id="{72387A6A-D441-4BA0-9C4C-0ACE357689F5}"/>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09  Contract handling and OCR</a:t>
            </a:r>
          </a:p>
        </p:txBody>
      </p:sp>
      <p:sp>
        <p:nvSpPr>
          <p:cNvPr id="2" name="text-2">
            <a:extLst>
              <a:ext uri="{FF2B5EF4-FFF2-40B4-BE49-F238E27FC236}">
                <a16:creationId xmlns:a16="http://schemas.microsoft.com/office/drawing/2014/main" id="{FF2C2A36-D459-4CF5-9FD9-9E338B430717}"/>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1731729E-0597-4C75-81D5-7C06CBCD86C5}"/>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12</a:t>
            </a:r>
          </a:p>
        </p:txBody>
      </p:sp>
      <p:sp>
        <p:nvSpPr>
          <p:cNvPr id="4" name="text-4">
            <a:extLst>
              <a:ext uri="{FF2B5EF4-FFF2-40B4-BE49-F238E27FC236}">
                <a16:creationId xmlns:a16="http://schemas.microsoft.com/office/drawing/2014/main" id="{CAB9B3A6-6AAF-46E7-84C5-666191D69537}"/>
              </a:ext>
            </a:extLst>
          </p:cNvPr>
          <p:cNvSpPr>
            <a:spLocks noGrp="1"/>
          </p:cNvSpPr>
          <p:nvPr/>
        </p:nvSpPr>
        <p:spPr>
          <a:xfrm>
            <a:off x="609600" y="1714500"/>
            <a:ext cx="5048250" cy="40005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Development steps</a:t>
            </a:r>
          </a:p>
        </p:txBody>
      </p:sp>
      <p:sp>
        <p:nvSpPr>
          <p:cNvPr id="5" name="text-5">
            <a:extLst>
              <a:ext uri="{FF2B5EF4-FFF2-40B4-BE49-F238E27FC236}">
                <a16:creationId xmlns:a16="http://schemas.microsoft.com/office/drawing/2014/main" id="{38B77FDA-EBDB-4A58-A8D5-61001AFC23DC}"/>
              </a:ext>
            </a:extLst>
          </p:cNvPr>
          <p:cNvSpPr>
            <a:spLocks noGrp="1"/>
          </p:cNvSpPr>
          <p:nvPr/>
        </p:nvSpPr>
        <p:spPr>
          <a:xfrm>
            <a:off x="6572250" y="1714500"/>
            <a:ext cx="5010150" cy="400050"/>
          </a:xfrm>
          <a:prstGeom prst="rect">
            <a:avLst/>
          </a:prstGeom>
          <a:noFill/>
          <a:ln w="0">
            <a:noFill/>
          </a:ln>
        </p:spPr>
        <p:txBody>
          <a:bodyPr wrap="square" lIns="0" tIns="0" rIns="0" bIns="0" anchor="t">
            <a:noAutofit/>
          </a:bodyPr>
          <a:lstStyle>
            <a:defPPr>
              <a:defRPr sz="2100" b="1">
                <a:solidFill>
                  <a:srgbClr val="168678"/>
                </a:solidFill>
                <a:latin typeface="Arial"/>
                <a:ea typeface="Arial"/>
                <a:cs typeface="Arial"/>
              </a:defRPr>
            </a:defPPr>
            <a:lvl1pPr>
              <a:buNone/>
              <a:defRPr sz="2100" b="1">
                <a:solidFill>
                  <a:srgbClr val="168678"/>
                </a:solidFill>
                <a:latin typeface="Arial"/>
                <a:ea typeface="Arial"/>
                <a:cs typeface="Arial"/>
              </a:defRPr>
            </a:lvl1pPr>
            <a:lvl2pPr>
              <a:buNone/>
              <a:defRPr sz="2100" b="1">
                <a:solidFill>
                  <a:srgbClr val="168678"/>
                </a:solidFill>
                <a:latin typeface="Arial"/>
                <a:ea typeface="Arial"/>
                <a:cs typeface="Arial"/>
              </a:defRPr>
            </a:lvl2pPr>
            <a:lvl3pPr>
              <a:buNone/>
              <a:defRPr sz="2100" b="1">
                <a:solidFill>
                  <a:srgbClr val="168678"/>
                </a:solidFill>
                <a:latin typeface="Arial"/>
                <a:ea typeface="Arial"/>
                <a:cs typeface="Arial"/>
              </a:defRPr>
            </a:lvl3pPr>
            <a:lvl4pPr>
              <a:buNone/>
              <a:defRPr sz="2100" b="1">
                <a:solidFill>
                  <a:srgbClr val="168678"/>
                </a:solidFill>
                <a:latin typeface="Arial"/>
                <a:ea typeface="Arial"/>
                <a:cs typeface="Arial"/>
              </a:defRPr>
            </a:lvl4pPr>
            <a:lvl5pPr>
              <a:buNone/>
              <a:defRPr sz="2100" b="1">
                <a:solidFill>
                  <a:srgbClr val="168678"/>
                </a:solidFill>
                <a:latin typeface="Arial"/>
                <a:ea typeface="Arial"/>
                <a:cs typeface="Arial"/>
              </a:defRPr>
            </a:lvl5pPr>
            <a:lvl6pPr>
              <a:buNone/>
              <a:defRPr sz="2100" b="1">
                <a:solidFill>
                  <a:srgbClr val="168678"/>
                </a:solidFill>
                <a:latin typeface="Arial"/>
                <a:ea typeface="Arial"/>
                <a:cs typeface="Arial"/>
              </a:defRPr>
            </a:lvl6pPr>
            <a:lvl7pPr>
              <a:buNone/>
              <a:defRPr sz="2100" b="1">
                <a:solidFill>
                  <a:srgbClr val="168678"/>
                </a:solidFill>
                <a:latin typeface="Arial"/>
                <a:ea typeface="Arial"/>
                <a:cs typeface="Arial"/>
              </a:defRPr>
            </a:lvl7pPr>
            <a:lvl8pPr>
              <a:buNone/>
              <a:defRPr sz="2100" b="1">
                <a:solidFill>
                  <a:srgbClr val="168678"/>
                </a:solidFill>
                <a:latin typeface="Arial"/>
                <a:ea typeface="Arial"/>
                <a:cs typeface="Arial"/>
              </a:defRPr>
            </a:lvl8pPr>
            <a:lvl9pPr>
              <a:buNone/>
              <a:defRPr sz="2100" b="1">
                <a:solidFill>
                  <a:srgbClr val="168678"/>
                </a:solidFill>
                <a:latin typeface="Arial"/>
                <a:ea typeface="Arial"/>
                <a:cs typeface="Arial"/>
              </a:defRPr>
            </a:lvl9pPr>
          </a:lstStyle>
          <a:p>
            <a:pPr>
              <a:buNone/>
              <a:defRPr sz="2100" b="1">
                <a:solidFill>
                  <a:srgbClr val="168678"/>
                </a:solidFill>
                <a:latin typeface="Arial"/>
                <a:ea typeface="Arial"/>
                <a:cs typeface="Arial"/>
              </a:defRPr>
            </a:pPr>
            <a:r>
              <a:rPr sz="2100" b="1">
                <a:solidFill>
                  <a:srgbClr val="168678"/>
                </a:solidFill>
                <a:latin typeface="Arial"/>
                <a:ea typeface="Arial"/>
                <a:cs typeface="Arial"/>
              </a:rPr>
              <a:t>Current acceptance boundary</a:t>
            </a:r>
          </a:p>
        </p:txBody>
      </p:sp>
      <p:sp>
        <p:nvSpPr>
          <p:cNvPr id="6" name="text-6">
            <a:extLst>
              <a:ext uri="{FF2B5EF4-FFF2-40B4-BE49-F238E27FC236}">
                <a16:creationId xmlns:a16="http://schemas.microsoft.com/office/drawing/2014/main" id="{50FA24ED-8CA3-45AB-AF64-8D94D2857C87}"/>
              </a:ext>
            </a:extLst>
          </p:cNvPr>
          <p:cNvSpPr>
            <a:spLocks noGrp="1"/>
          </p:cNvSpPr>
          <p:nvPr/>
        </p:nvSpPr>
        <p:spPr>
          <a:xfrm>
            <a:off x="609600" y="23812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Retain the original file, hash, type, uploader and links</a:t>
            </a:r>
          </a:p>
        </p:txBody>
      </p:sp>
      <p:sp>
        <p:nvSpPr>
          <p:cNvPr id="7" name="text-7">
            <a:extLst>
              <a:ext uri="{FF2B5EF4-FFF2-40B4-BE49-F238E27FC236}">
                <a16:creationId xmlns:a16="http://schemas.microsoft.com/office/drawing/2014/main" id="{355D8493-2FFF-45B2-9BBF-97EF567D935B}"/>
              </a:ext>
            </a:extLst>
          </p:cNvPr>
          <p:cNvSpPr>
            <a:spLocks noGrp="1"/>
          </p:cNvSpPr>
          <p:nvPr/>
        </p:nvSpPr>
        <p:spPr>
          <a:xfrm>
            <a:off x="609600" y="33718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Scan before acceptance, then review proposed extracted fields</a:t>
            </a:r>
          </a:p>
        </p:txBody>
      </p:sp>
      <p:sp>
        <p:nvSpPr>
          <p:cNvPr id="8" name="text-8">
            <a:extLst>
              <a:ext uri="{FF2B5EF4-FFF2-40B4-BE49-F238E27FC236}">
                <a16:creationId xmlns:a16="http://schemas.microsoft.com/office/drawing/2014/main" id="{110D8D94-321B-4DDA-B5FE-35EF3C9AEDB4}"/>
              </a:ext>
            </a:extLst>
          </p:cNvPr>
          <p:cNvSpPr>
            <a:spLocks noGrp="1"/>
          </p:cNvSpPr>
          <p:nvPr/>
        </p:nvSpPr>
        <p:spPr>
          <a:xfrm>
            <a:off x="609600" y="4362450"/>
            <a:ext cx="50482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Persist Yes / No / Later without duplicate project creation</a:t>
            </a:r>
          </a:p>
        </p:txBody>
      </p:sp>
      <p:sp>
        <p:nvSpPr>
          <p:cNvPr id="9" name="text-9">
            <a:extLst>
              <a:ext uri="{FF2B5EF4-FFF2-40B4-BE49-F238E27FC236}">
                <a16:creationId xmlns:a16="http://schemas.microsoft.com/office/drawing/2014/main" id="{27EC0701-3CDC-487F-887F-4D51BAF817A0}"/>
              </a:ext>
            </a:extLst>
          </p:cNvPr>
          <p:cNvSpPr>
            <a:spLocks noGrp="1"/>
          </p:cNvSpPr>
          <p:nvPr/>
        </p:nvSpPr>
        <p:spPr>
          <a:xfrm>
            <a:off x="6572250" y="23812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PDF original storage and quarantine exist</a:t>
            </a:r>
          </a:p>
        </p:txBody>
      </p:sp>
      <p:sp>
        <p:nvSpPr>
          <p:cNvPr id="10" name="text-10">
            <a:extLst>
              <a:ext uri="{FF2B5EF4-FFF2-40B4-BE49-F238E27FC236}">
                <a16:creationId xmlns:a16="http://schemas.microsoft.com/office/drawing/2014/main" id="{6E698D8F-D3E9-496E-A2EF-EAC9F3DA44DD}"/>
              </a:ext>
            </a:extLst>
          </p:cNvPr>
          <p:cNvSpPr>
            <a:spLocks noGrp="1"/>
          </p:cNvSpPr>
          <p:nvPr/>
        </p:nvSpPr>
        <p:spPr>
          <a:xfrm>
            <a:off x="6572250" y="33718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OCR extraction and scanner acceptance remain pending</a:t>
            </a:r>
          </a:p>
        </p:txBody>
      </p:sp>
      <p:sp>
        <p:nvSpPr>
          <p:cNvPr id="11" name="text-11">
            <a:extLst>
              <a:ext uri="{FF2B5EF4-FFF2-40B4-BE49-F238E27FC236}">
                <a16:creationId xmlns:a16="http://schemas.microsoft.com/office/drawing/2014/main" id="{368F6097-5C62-43A5-ACCE-E7B08B5F84C9}"/>
              </a:ext>
            </a:extLst>
          </p:cNvPr>
          <p:cNvSpPr>
            <a:spLocks noGrp="1"/>
          </p:cNvSpPr>
          <p:nvPr/>
        </p:nvSpPr>
        <p:spPr>
          <a:xfrm>
            <a:off x="6572250" y="4362450"/>
            <a:ext cx="5010150" cy="8572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A complete prefilled project wizard still needs work</a:t>
            </a:r>
          </a:p>
        </p:txBody>
      </p:sp>
    </p:spTree>
    <p:extLst>
      <p:ext uri="{BB962C8B-B14F-4D97-AF65-F5344CB8AC3E}">
        <p14:creationId xmlns:p14="http://schemas.microsoft.com/office/powerpoint/2010/main" val="1512529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
            <a:extLst>
              <a:ext uri="{FF2B5EF4-FFF2-40B4-BE49-F238E27FC236}">
                <a16:creationId xmlns:a16="http://schemas.microsoft.com/office/drawing/2014/main" id="{168B101F-2FDD-43A0-95E1-D6CCB765F06C}"/>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10  Certificates and approvals</a:t>
            </a:r>
          </a:p>
        </p:txBody>
      </p:sp>
      <p:sp>
        <p:nvSpPr>
          <p:cNvPr id="2" name="text-2">
            <a:extLst>
              <a:ext uri="{FF2B5EF4-FFF2-40B4-BE49-F238E27FC236}">
                <a16:creationId xmlns:a16="http://schemas.microsoft.com/office/drawing/2014/main" id="{DC169AF0-D133-47AD-B7F9-3F15014B7207}"/>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BB80D5DB-C904-4AD8-946B-8AAC56D7CD73}"/>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13</a:t>
            </a:r>
          </a:p>
        </p:txBody>
      </p:sp>
      <p:sp>
        <p:nvSpPr>
          <p:cNvPr id="4" name="text-4">
            <a:extLst>
              <a:ext uri="{FF2B5EF4-FFF2-40B4-BE49-F238E27FC236}">
                <a16:creationId xmlns:a16="http://schemas.microsoft.com/office/drawing/2014/main" id="{601D74C3-E2FE-4999-90E9-3D21ACA288ED}"/>
              </a:ext>
            </a:extLst>
          </p:cNvPr>
          <p:cNvSpPr>
            <a:spLocks noGrp="1"/>
          </p:cNvSpPr>
          <p:nvPr/>
        </p:nvSpPr>
        <p:spPr>
          <a:xfrm>
            <a:off x="609600" y="1638300"/>
            <a:ext cx="3810000" cy="409575"/>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Assessment and control</a:t>
            </a:r>
          </a:p>
        </p:txBody>
      </p:sp>
      <p:sp>
        <p:nvSpPr>
          <p:cNvPr id="5" name="text-5">
            <a:extLst>
              <a:ext uri="{FF2B5EF4-FFF2-40B4-BE49-F238E27FC236}">
                <a16:creationId xmlns:a16="http://schemas.microsoft.com/office/drawing/2014/main" id="{0DBC8B29-1381-47C4-903B-C757DB23598D}"/>
              </a:ext>
            </a:extLst>
          </p:cNvPr>
          <p:cNvSpPr>
            <a:spLocks noGrp="1"/>
          </p:cNvSpPr>
          <p:nvPr/>
        </p:nvSpPr>
        <p:spPr>
          <a:xfrm>
            <a:off x="609600" y="2247900"/>
            <a:ext cx="3810000" cy="9525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Calculate cumulative completion against the approved fee schedule.</a:t>
            </a:r>
          </a:p>
        </p:txBody>
      </p:sp>
      <p:sp>
        <p:nvSpPr>
          <p:cNvPr id="6" name="text-6">
            <a:extLst>
              <a:ext uri="{FF2B5EF4-FFF2-40B4-BE49-F238E27FC236}">
                <a16:creationId xmlns:a16="http://schemas.microsoft.com/office/drawing/2014/main" id="{F9396654-7718-42B5-AFAE-5F3A32EAF8B4}"/>
              </a:ext>
            </a:extLst>
          </p:cNvPr>
          <p:cNvSpPr>
            <a:spLocks noGrp="1"/>
          </p:cNvSpPr>
          <p:nvPr/>
        </p:nvSpPr>
        <p:spPr>
          <a:xfrm>
            <a:off x="609600" y="3457575"/>
            <a:ext cx="3810000" cy="1276350"/>
          </a:xfrm>
          <a:prstGeom prst="rect">
            <a:avLst/>
          </a:prstGeom>
          <a:noFill/>
          <a:ln w="0">
            <a:noFill/>
          </a:ln>
        </p:spPr>
        <p:txBody>
          <a:bodyPr wrap="square" lIns="0" tIns="0" rIns="0" bIns="0" anchor="t">
            <a:noAutofit/>
          </a:bodyPr>
          <a:lstStyle>
            <a:defPPr>
              <a:defRPr sz="1950" b="0">
                <a:solidFill>
                  <a:srgbClr val="213C52"/>
                </a:solidFill>
                <a:latin typeface="Arial"/>
                <a:ea typeface="Arial"/>
                <a:cs typeface="Arial"/>
              </a:defRPr>
            </a:defPPr>
            <a:lvl1pPr>
              <a:buNone/>
              <a:defRPr sz="1950" b="0">
                <a:solidFill>
                  <a:srgbClr val="213C52"/>
                </a:solidFill>
                <a:latin typeface="Arial"/>
                <a:ea typeface="Arial"/>
                <a:cs typeface="Arial"/>
              </a:defRPr>
            </a:lvl1pPr>
            <a:lvl2pPr>
              <a:buNone/>
              <a:defRPr sz="1950" b="0">
                <a:solidFill>
                  <a:srgbClr val="213C52"/>
                </a:solidFill>
                <a:latin typeface="Arial"/>
                <a:ea typeface="Arial"/>
                <a:cs typeface="Arial"/>
              </a:defRPr>
            </a:lvl2pPr>
            <a:lvl3pPr>
              <a:buNone/>
              <a:defRPr sz="1950" b="0">
                <a:solidFill>
                  <a:srgbClr val="213C52"/>
                </a:solidFill>
                <a:latin typeface="Arial"/>
                <a:ea typeface="Arial"/>
                <a:cs typeface="Arial"/>
              </a:defRPr>
            </a:lvl3pPr>
            <a:lvl4pPr>
              <a:buNone/>
              <a:defRPr sz="1950" b="0">
                <a:solidFill>
                  <a:srgbClr val="213C52"/>
                </a:solidFill>
                <a:latin typeface="Arial"/>
                <a:ea typeface="Arial"/>
                <a:cs typeface="Arial"/>
              </a:defRPr>
            </a:lvl4pPr>
            <a:lvl5pPr>
              <a:buNone/>
              <a:defRPr sz="1950" b="0">
                <a:solidFill>
                  <a:srgbClr val="213C52"/>
                </a:solidFill>
                <a:latin typeface="Arial"/>
                <a:ea typeface="Arial"/>
                <a:cs typeface="Arial"/>
              </a:defRPr>
            </a:lvl5pPr>
            <a:lvl6pPr>
              <a:buNone/>
              <a:defRPr sz="1950" b="0">
                <a:solidFill>
                  <a:srgbClr val="213C52"/>
                </a:solidFill>
                <a:latin typeface="Arial"/>
                <a:ea typeface="Arial"/>
                <a:cs typeface="Arial"/>
              </a:defRPr>
            </a:lvl6pPr>
            <a:lvl7pPr>
              <a:buNone/>
              <a:defRPr sz="1950" b="0">
                <a:solidFill>
                  <a:srgbClr val="213C52"/>
                </a:solidFill>
                <a:latin typeface="Arial"/>
                <a:ea typeface="Arial"/>
                <a:cs typeface="Arial"/>
              </a:defRPr>
            </a:lvl7pPr>
            <a:lvl8pPr>
              <a:buNone/>
              <a:defRPr sz="1950" b="0">
                <a:solidFill>
                  <a:srgbClr val="213C52"/>
                </a:solidFill>
                <a:latin typeface="Arial"/>
                <a:ea typeface="Arial"/>
                <a:cs typeface="Arial"/>
              </a:defRPr>
            </a:lvl8pPr>
            <a:lvl9pPr>
              <a:buNone/>
              <a:defRPr sz="1950" b="0">
                <a:solidFill>
                  <a:srgbClr val="213C52"/>
                </a:solidFill>
                <a:latin typeface="Arial"/>
                <a:ea typeface="Arial"/>
                <a:cs typeface="Arial"/>
              </a:defRPr>
            </a:lvl9pPr>
          </a:lstStyle>
          <a:p>
            <a:pPr>
              <a:buNone/>
              <a:defRPr sz="1950" b="0">
                <a:solidFill>
                  <a:srgbClr val="213C52"/>
                </a:solidFill>
                <a:latin typeface="Arial"/>
                <a:ea typeface="Arial"/>
                <a:cs typeface="Arial"/>
              </a:defRPr>
            </a:pPr>
            <a:r>
              <a:rPr sz="1950" b="0">
                <a:solidFill>
                  <a:srgbClr val="213C52"/>
                </a:solidFill>
                <a:latin typeface="Arial"/>
                <a:ea typeface="Arial"/>
                <a:cs typeface="Arial"/>
              </a:rPr>
              <a:t>Preparer, Reviewer 1, Reviewer 2, then Approver. Final approval creates one draft.</a:t>
            </a:r>
          </a:p>
        </p:txBody>
      </p:sp>
      <p:sp>
        <p:nvSpPr>
          <p:cNvPr id="7" name="text-7">
            <a:extLst>
              <a:ext uri="{FF2B5EF4-FFF2-40B4-BE49-F238E27FC236}">
                <a16:creationId xmlns:a16="http://schemas.microsoft.com/office/drawing/2014/main" id="{356FAB5D-1D0D-4726-B6A8-BDF14AEF39E5}"/>
              </a:ext>
            </a:extLst>
          </p:cNvPr>
          <p:cNvSpPr>
            <a:spLocks noGrp="1"/>
          </p:cNvSpPr>
          <p:nvPr/>
        </p:nvSpPr>
        <p:spPr>
          <a:xfrm>
            <a:off x="609600" y="4953000"/>
            <a:ext cx="4000500" cy="857250"/>
          </a:xfrm>
          <a:prstGeom prst="rect">
            <a:avLst/>
          </a:prstGeom>
          <a:noFill/>
          <a:ln w="0">
            <a:noFill/>
          </a:ln>
        </p:spPr>
        <p:txBody>
          <a:bodyPr wrap="square" lIns="0" tIns="0" rIns="0" bIns="0" anchor="t">
            <a:noAutofit/>
          </a:bodyPr>
          <a:lstStyle>
            <a:defPPr>
              <a:defRPr sz="2325" b="1">
                <a:solidFill>
                  <a:srgbClr val="16334F"/>
                </a:solidFill>
                <a:latin typeface="Arial"/>
                <a:ea typeface="Arial"/>
                <a:cs typeface="Arial"/>
              </a:defRPr>
            </a:defPPr>
            <a:lvl1pPr>
              <a:buNone/>
              <a:defRPr sz="2325" b="1">
                <a:solidFill>
                  <a:srgbClr val="16334F"/>
                </a:solidFill>
                <a:latin typeface="Arial"/>
                <a:ea typeface="Arial"/>
                <a:cs typeface="Arial"/>
              </a:defRPr>
            </a:lvl1pPr>
            <a:lvl2pPr>
              <a:buNone/>
              <a:defRPr sz="2325" b="1">
                <a:solidFill>
                  <a:srgbClr val="16334F"/>
                </a:solidFill>
                <a:latin typeface="Arial"/>
                <a:ea typeface="Arial"/>
                <a:cs typeface="Arial"/>
              </a:defRPr>
            </a:lvl2pPr>
            <a:lvl3pPr>
              <a:buNone/>
              <a:defRPr sz="2325" b="1">
                <a:solidFill>
                  <a:srgbClr val="16334F"/>
                </a:solidFill>
                <a:latin typeface="Arial"/>
                <a:ea typeface="Arial"/>
                <a:cs typeface="Arial"/>
              </a:defRPr>
            </a:lvl3pPr>
            <a:lvl4pPr>
              <a:buNone/>
              <a:defRPr sz="2325" b="1">
                <a:solidFill>
                  <a:srgbClr val="16334F"/>
                </a:solidFill>
                <a:latin typeface="Arial"/>
                <a:ea typeface="Arial"/>
                <a:cs typeface="Arial"/>
              </a:defRPr>
            </a:lvl4pPr>
            <a:lvl5pPr>
              <a:buNone/>
              <a:defRPr sz="2325" b="1">
                <a:solidFill>
                  <a:srgbClr val="16334F"/>
                </a:solidFill>
                <a:latin typeface="Arial"/>
                <a:ea typeface="Arial"/>
                <a:cs typeface="Arial"/>
              </a:defRPr>
            </a:lvl5pPr>
            <a:lvl6pPr>
              <a:buNone/>
              <a:defRPr sz="2325" b="1">
                <a:solidFill>
                  <a:srgbClr val="16334F"/>
                </a:solidFill>
                <a:latin typeface="Arial"/>
                <a:ea typeface="Arial"/>
                <a:cs typeface="Arial"/>
              </a:defRPr>
            </a:lvl6pPr>
            <a:lvl7pPr>
              <a:buNone/>
              <a:defRPr sz="2325" b="1">
                <a:solidFill>
                  <a:srgbClr val="16334F"/>
                </a:solidFill>
                <a:latin typeface="Arial"/>
                <a:ea typeface="Arial"/>
                <a:cs typeface="Arial"/>
              </a:defRPr>
            </a:lvl7pPr>
            <a:lvl8pPr>
              <a:buNone/>
              <a:defRPr sz="2325" b="1">
                <a:solidFill>
                  <a:srgbClr val="16334F"/>
                </a:solidFill>
                <a:latin typeface="Arial"/>
                <a:ea typeface="Arial"/>
                <a:cs typeface="Arial"/>
              </a:defRPr>
            </a:lvl8pPr>
            <a:lvl9pPr>
              <a:buNone/>
              <a:defRPr sz="2325" b="1">
                <a:solidFill>
                  <a:srgbClr val="16334F"/>
                </a:solidFill>
                <a:latin typeface="Arial"/>
                <a:ea typeface="Arial"/>
                <a:cs typeface="Arial"/>
              </a:defRPr>
            </a:lvl9pPr>
          </a:lstStyle>
          <a:p>
            <a:pPr>
              <a:buNone/>
              <a:defRPr sz="2325" b="1">
                <a:solidFill>
                  <a:srgbClr val="16334F"/>
                </a:solidFill>
                <a:latin typeface="Arial"/>
                <a:ea typeface="Arial"/>
                <a:cs typeface="Arial"/>
              </a:defRPr>
            </a:pPr>
            <a:r>
              <a:rPr sz="2325" b="1">
                <a:solidFill>
                  <a:srgbClr val="16334F"/>
                </a:solidFill>
                <a:latin typeface="Arial"/>
                <a:ea typeface="Arial"/>
                <a:cs typeface="Arial"/>
              </a:rPr>
              <a:t>1,900,000 - 950,000</a:t>
            </a:r>
          </a:p>
          <a:p>
            <a:pPr>
              <a:buNone/>
              <a:defRPr sz="2325" b="1">
                <a:solidFill>
                  <a:srgbClr val="16334F"/>
                </a:solidFill>
                <a:latin typeface="Arial"/>
                <a:ea typeface="Arial"/>
                <a:cs typeface="Arial"/>
              </a:defRPr>
            </a:pPr>
            <a:r>
              <a:rPr sz="2325" b="1">
                <a:solidFill>
                  <a:srgbClr val="16334F"/>
                </a:solidFill>
                <a:latin typeface="Arial"/>
                <a:ea typeface="Arial"/>
                <a:cs typeface="Arial"/>
              </a:rPr>
              <a:t>= AED 950,000</a:t>
            </a:r>
          </a:p>
        </p:txBody>
      </p:sp>
      <p:pic>
        <p:nvPicPr>
          <p:cNvPr id="8" name="Picture 7">
            <a:extLst>
              <a:ext uri="{FF2B5EF4-FFF2-40B4-BE49-F238E27FC236}">
                <a16:creationId xmlns:a16="http://schemas.microsoft.com/office/drawing/2014/main" id="{16A55223-C510-4CA6-B1D4-1176E292550A}"/>
              </a:ext>
            </a:extLst>
          </p:cNvPr>
          <p:cNvPicPr>
            <a:picLocks noChangeAspect="1"/>
          </p:cNvPicPr>
          <p:nvPr/>
        </p:nvPicPr>
        <p:blipFill>
          <a:blip r:embed="rId3"/>
          <a:stretch/>
        </p:blipFill>
        <p:spPr>
          <a:xfrm>
            <a:off x="4857750" y="1942306"/>
            <a:ext cx="2047875" cy="2897188"/>
          </a:xfrm>
          <a:prstGeom prst="rect">
            <a:avLst/>
          </a:prstGeom>
        </p:spPr>
      </p:pic>
      <p:pic>
        <p:nvPicPr>
          <p:cNvPr id="9" name="Picture 8">
            <a:extLst>
              <a:ext uri="{FF2B5EF4-FFF2-40B4-BE49-F238E27FC236}">
                <a16:creationId xmlns:a16="http://schemas.microsoft.com/office/drawing/2014/main" id="{DAFCE6BB-6D77-4350-9D84-8BE674DC34F1}"/>
              </a:ext>
            </a:extLst>
          </p:cNvPr>
          <p:cNvPicPr>
            <a:picLocks noChangeAspect="1"/>
          </p:cNvPicPr>
          <p:nvPr/>
        </p:nvPicPr>
        <p:blipFill>
          <a:blip r:embed="rId4"/>
          <a:stretch/>
        </p:blipFill>
        <p:spPr>
          <a:xfrm>
            <a:off x="7143750" y="2599803"/>
            <a:ext cx="2238375" cy="1582194"/>
          </a:xfrm>
          <a:prstGeom prst="rect">
            <a:avLst/>
          </a:prstGeom>
        </p:spPr>
      </p:pic>
      <p:pic>
        <p:nvPicPr>
          <p:cNvPr id="10" name="Picture 9">
            <a:extLst>
              <a:ext uri="{FF2B5EF4-FFF2-40B4-BE49-F238E27FC236}">
                <a16:creationId xmlns:a16="http://schemas.microsoft.com/office/drawing/2014/main" id="{F66E5E70-BEEB-47AF-B926-A8BEC925A476}"/>
              </a:ext>
            </a:extLst>
          </p:cNvPr>
          <p:cNvPicPr>
            <a:picLocks noChangeAspect="1"/>
          </p:cNvPicPr>
          <p:nvPr/>
        </p:nvPicPr>
        <p:blipFill>
          <a:blip r:embed="rId5"/>
          <a:stretch/>
        </p:blipFill>
        <p:spPr>
          <a:xfrm>
            <a:off x="9620250" y="2009683"/>
            <a:ext cx="1952625" cy="2762435"/>
          </a:xfrm>
          <a:prstGeom prst="rect">
            <a:avLst/>
          </a:prstGeom>
        </p:spPr>
      </p:pic>
      <p:sp>
        <p:nvSpPr>
          <p:cNvPr id="11" name="text-8">
            <a:extLst>
              <a:ext uri="{FF2B5EF4-FFF2-40B4-BE49-F238E27FC236}">
                <a16:creationId xmlns:a16="http://schemas.microsoft.com/office/drawing/2014/main" id="{8EC9AFA6-C1BA-4FDF-BB66-F99FA4200429}"/>
              </a:ext>
            </a:extLst>
          </p:cNvPr>
          <p:cNvSpPr>
            <a:spLocks noGrp="1"/>
          </p:cNvSpPr>
          <p:nvPr/>
        </p:nvSpPr>
        <p:spPr>
          <a:xfrm>
            <a:off x="4857750" y="5276850"/>
            <a:ext cx="2047875" cy="428625"/>
          </a:xfrm>
          <a:prstGeom prst="rect">
            <a:avLst/>
          </a:prstGeom>
          <a:noFill/>
          <a:ln w="0">
            <a:noFill/>
          </a:ln>
        </p:spPr>
        <p:txBody>
          <a:bodyPr wrap="square" lIns="0" tIns="0" rIns="0" bIns="0" anchor="t">
            <a:noAutofit/>
          </a:bodyPr>
          <a:lstStyle>
            <a:defPPr>
              <a:defRPr sz="1800" b="1">
                <a:solidFill>
                  <a:srgbClr val="168678"/>
                </a:solidFill>
                <a:latin typeface="Arial"/>
                <a:ea typeface="Arial"/>
                <a:cs typeface="Arial"/>
              </a:defRPr>
            </a:defPPr>
            <a:lvl1pPr>
              <a:buNone/>
              <a:defRPr sz="1800" b="1">
                <a:solidFill>
                  <a:srgbClr val="168678"/>
                </a:solidFill>
                <a:latin typeface="Arial"/>
                <a:ea typeface="Arial"/>
                <a:cs typeface="Arial"/>
              </a:defRPr>
            </a:lvl1pPr>
            <a:lvl2pPr>
              <a:buNone/>
              <a:defRPr sz="1800" b="1">
                <a:solidFill>
                  <a:srgbClr val="168678"/>
                </a:solidFill>
                <a:latin typeface="Arial"/>
                <a:ea typeface="Arial"/>
                <a:cs typeface="Arial"/>
              </a:defRPr>
            </a:lvl2pPr>
            <a:lvl3pPr>
              <a:buNone/>
              <a:defRPr sz="1800" b="1">
                <a:solidFill>
                  <a:srgbClr val="168678"/>
                </a:solidFill>
                <a:latin typeface="Arial"/>
                <a:ea typeface="Arial"/>
                <a:cs typeface="Arial"/>
              </a:defRPr>
            </a:lvl3pPr>
            <a:lvl4pPr>
              <a:buNone/>
              <a:defRPr sz="1800" b="1">
                <a:solidFill>
                  <a:srgbClr val="168678"/>
                </a:solidFill>
                <a:latin typeface="Arial"/>
                <a:ea typeface="Arial"/>
                <a:cs typeface="Arial"/>
              </a:defRPr>
            </a:lvl4pPr>
            <a:lvl5pPr>
              <a:buNone/>
              <a:defRPr sz="1800" b="1">
                <a:solidFill>
                  <a:srgbClr val="168678"/>
                </a:solidFill>
                <a:latin typeface="Arial"/>
                <a:ea typeface="Arial"/>
                <a:cs typeface="Arial"/>
              </a:defRPr>
            </a:lvl5pPr>
            <a:lvl6pPr>
              <a:buNone/>
              <a:defRPr sz="1800" b="1">
                <a:solidFill>
                  <a:srgbClr val="168678"/>
                </a:solidFill>
                <a:latin typeface="Arial"/>
                <a:ea typeface="Arial"/>
                <a:cs typeface="Arial"/>
              </a:defRPr>
            </a:lvl6pPr>
            <a:lvl7pPr>
              <a:buNone/>
              <a:defRPr sz="1800" b="1">
                <a:solidFill>
                  <a:srgbClr val="168678"/>
                </a:solidFill>
                <a:latin typeface="Arial"/>
                <a:ea typeface="Arial"/>
                <a:cs typeface="Arial"/>
              </a:defRPr>
            </a:lvl7pPr>
            <a:lvl8pPr>
              <a:buNone/>
              <a:defRPr sz="1800" b="1">
                <a:solidFill>
                  <a:srgbClr val="168678"/>
                </a:solidFill>
                <a:latin typeface="Arial"/>
                <a:ea typeface="Arial"/>
                <a:cs typeface="Arial"/>
              </a:defRPr>
            </a:lvl8pPr>
            <a:lvl9pPr>
              <a:buNone/>
              <a:defRPr sz="1800" b="1">
                <a:solidFill>
                  <a:srgbClr val="168678"/>
                </a:solidFill>
                <a:latin typeface="Arial"/>
                <a:ea typeface="Arial"/>
                <a:cs typeface="Arial"/>
              </a:defRPr>
            </a:lvl9pPr>
          </a:lstStyle>
          <a:p>
            <a:pPr>
              <a:buNone/>
              <a:defRPr sz="1800" b="1">
                <a:solidFill>
                  <a:srgbClr val="168678"/>
                </a:solidFill>
                <a:latin typeface="Arial"/>
                <a:ea typeface="Arial"/>
                <a:cs typeface="Arial"/>
              </a:defRPr>
            </a:pPr>
            <a:r>
              <a:rPr sz="1800" b="1">
                <a:solidFill>
                  <a:srgbClr val="168678"/>
                </a:solidFill>
                <a:latin typeface="Arial"/>
                <a:ea typeface="Arial"/>
                <a:cs typeface="Arial"/>
              </a:rPr>
              <a:t>Summary</a:t>
            </a:r>
          </a:p>
        </p:txBody>
      </p:sp>
      <p:sp>
        <p:nvSpPr>
          <p:cNvPr id="12" name="text-9">
            <a:extLst>
              <a:ext uri="{FF2B5EF4-FFF2-40B4-BE49-F238E27FC236}">
                <a16:creationId xmlns:a16="http://schemas.microsoft.com/office/drawing/2014/main" id="{C19230E1-5DDC-4E01-B9E9-A2740F384CEC}"/>
              </a:ext>
            </a:extLst>
          </p:cNvPr>
          <p:cNvSpPr>
            <a:spLocks noGrp="1"/>
          </p:cNvSpPr>
          <p:nvPr/>
        </p:nvSpPr>
        <p:spPr>
          <a:xfrm>
            <a:off x="7143750" y="5276850"/>
            <a:ext cx="2238375" cy="428625"/>
          </a:xfrm>
          <a:prstGeom prst="rect">
            <a:avLst/>
          </a:prstGeom>
          <a:noFill/>
          <a:ln w="0">
            <a:noFill/>
          </a:ln>
        </p:spPr>
        <p:txBody>
          <a:bodyPr wrap="square" lIns="0" tIns="0" rIns="0" bIns="0" anchor="t">
            <a:noAutofit/>
          </a:bodyPr>
          <a:lstStyle>
            <a:defPPr>
              <a:defRPr sz="1800" b="1">
                <a:solidFill>
                  <a:srgbClr val="168678"/>
                </a:solidFill>
                <a:latin typeface="Arial"/>
                <a:ea typeface="Arial"/>
                <a:cs typeface="Arial"/>
              </a:defRPr>
            </a:defPPr>
            <a:lvl1pPr>
              <a:buNone/>
              <a:defRPr sz="1800" b="1">
                <a:solidFill>
                  <a:srgbClr val="168678"/>
                </a:solidFill>
                <a:latin typeface="Arial"/>
                <a:ea typeface="Arial"/>
                <a:cs typeface="Arial"/>
              </a:defRPr>
            </a:lvl1pPr>
            <a:lvl2pPr>
              <a:buNone/>
              <a:defRPr sz="1800" b="1">
                <a:solidFill>
                  <a:srgbClr val="168678"/>
                </a:solidFill>
                <a:latin typeface="Arial"/>
                <a:ea typeface="Arial"/>
                <a:cs typeface="Arial"/>
              </a:defRPr>
            </a:lvl2pPr>
            <a:lvl3pPr>
              <a:buNone/>
              <a:defRPr sz="1800" b="1">
                <a:solidFill>
                  <a:srgbClr val="168678"/>
                </a:solidFill>
                <a:latin typeface="Arial"/>
                <a:ea typeface="Arial"/>
                <a:cs typeface="Arial"/>
              </a:defRPr>
            </a:lvl3pPr>
            <a:lvl4pPr>
              <a:buNone/>
              <a:defRPr sz="1800" b="1">
                <a:solidFill>
                  <a:srgbClr val="168678"/>
                </a:solidFill>
                <a:latin typeface="Arial"/>
                <a:ea typeface="Arial"/>
                <a:cs typeface="Arial"/>
              </a:defRPr>
            </a:lvl4pPr>
            <a:lvl5pPr>
              <a:buNone/>
              <a:defRPr sz="1800" b="1">
                <a:solidFill>
                  <a:srgbClr val="168678"/>
                </a:solidFill>
                <a:latin typeface="Arial"/>
                <a:ea typeface="Arial"/>
                <a:cs typeface="Arial"/>
              </a:defRPr>
            </a:lvl5pPr>
            <a:lvl6pPr>
              <a:buNone/>
              <a:defRPr sz="1800" b="1">
                <a:solidFill>
                  <a:srgbClr val="168678"/>
                </a:solidFill>
                <a:latin typeface="Arial"/>
                <a:ea typeface="Arial"/>
                <a:cs typeface="Arial"/>
              </a:defRPr>
            </a:lvl6pPr>
            <a:lvl7pPr>
              <a:buNone/>
              <a:defRPr sz="1800" b="1">
                <a:solidFill>
                  <a:srgbClr val="168678"/>
                </a:solidFill>
                <a:latin typeface="Arial"/>
                <a:ea typeface="Arial"/>
                <a:cs typeface="Arial"/>
              </a:defRPr>
            </a:lvl7pPr>
            <a:lvl8pPr>
              <a:buNone/>
              <a:defRPr sz="1800" b="1">
                <a:solidFill>
                  <a:srgbClr val="168678"/>
                </a:solidFill>
                <a:latin typeface="Arial"/>
                <a:ea typeface="Arial"/>
                <a:cs typeface="Arial"/>
              </a:defRPr>
            </a:lvl8pPr>
            <a:lvl9pPr>
              <a:buNone/>
              <a:defRPr sz="1800" b="1">
                <a:solidFill>
                  <a:srgbClr val="168678"/>
                </a:solidFill>
                <a:latin typeface="Arial"/>
                <a:ea typeface="Arial"/>
                <a:cs typeface="Arial"/>
              </a:defRPr>
            </a:lvl9pPr>
          </a:lstStyle>
          <a:p>
            <a:pPr>
              <a:buNone/>
              <a:defRPr sz="1800" b="1">
                <a:solidFill>
                  <a:srgbClr val="168678"/>
                </a:solidFill>
                <a:latin typeface="Arial"/>
                <a:ea typeface="Arial"/>
                <a:cs typeface="Arial"/>
              </a:defRPr>
            </a:pPr>
            <a:r>
              <a:rPr sz="1800" b="1">
                <a:solidFill>
                  <a:srgbClr val="168678"/>
                </a:solidFill>
                <a:latin typeface="Arial"/>
                <a:ea typeface="Arial"/>
                <a:cs typeface="Arial"/>
              </a:rPr>
              <a:t>Fee schedule</a:t>
            </a:r>
          </a:p>
        </p:txBody>
      </p:sp>
      <p:sp>
        <p:nvSpPr>
          <p:cNvPr id="13" name="text-10">
            <a:extLst>
              <a:ext uri="{FF2B5EF4-FFF2-40B4-BE49-F238E27FC236}">
                <a16:creationId xmlns:a16="http://schemas.microsoft.com/office/drawing/2014/main" id="{F3E0C181-06DB-4E0F-BB23-E2D539599CAA}"/>
              </a:ext>
            </a:extLst>
          </p:cNvPr>
          <p:cNvSpPr>
            <a:spLocks noGrp="1"/>
          </p:cNvSpPr>
          <p:nvPr/>
        </p:nvSpPr>
        <p:spPr>
          <a:xfrm>
            <a:off x="9620250" y="5276850"/>
            <a:ext cx="1952625" cy="619125"/>
          </a:xfrm>
          <a:prstGeom prst="rect">
            <a:avLst/>
          </a:prstGeom>
          <a:noFill/>
          <a:ln w="0">
            <a:noFill/>
          </a:ln>
        </p:spPr>
        <p:txBody>
          <a:bodyPr wrap="square" lIns="0" tIns="0" rIns="0" bIns="0" anchor="t">
            <a:noAutofit/>
          </a:bodyPr>
          <a:lstStyle>
            <a:defPPr>
              <a:defRPr sz="1800" b="1">
                <a:solidFill>
                  <a:srgbClr val="168678"/>
                </a:solidFill>
                <a:latin typeface="Arial"/>
                <a:ea typeface="Arial"/>
                <a:cs typeface="Arial"/>
              </a:defRPr>
            </a:defPPr>
            <a:lvl1pPr>
              <a:buNone/>
              <a:defRPr sz="1800" b="1">
                <a:solidFill>
                  <a:srgbClr val="168678"/>
                </a:solidFill>
                <a:latin typeface="Arial"/>
                <a:ea typeface="Arial"/>
                <a:cs typeface="Arial"/>
              </a:defRPr>
            </a:lvl1pPr>
            <a:lvl2pPr>
              <a:buNone/>
              <a:defRPr sz="1800" b="1">
                <a:solidFill>
                  <a:srgbClr val="168678"/>
                </a:solidFill>
                <a:latin typeface="Arial"/>
                <a:ea typeface="Arial"/>
                <a:cs typeface="Arial"/>
              </a:defRPr>
            </a:lvl2pPr>
            <a:lvl3pPr>
              <a:buNone/>
              <a:defRPr sz="1800" b="1">
                <a:solidFill>
                  <a:srgbClr val="168678"/>
                </a:solidFill>
                <a:latin typeface="Arial"/>
                <a:ea typeface="Arial"/>
                <a:cs typeface="Arial"/>
              </a:defRPr>
            </a:lvl3pPr>
            <a:lvl4pPr>
              <a:buNone/>
              <a:defRPr sz="1800" b="1">
                <a:solidFill>
                  <a:srgbClr val="168678"/>
                </a:solidFill>
                <a:latin typeface="Arial"/>
                <a:ea typeface="Arial"/>
                <a:cs typeface="Arial"/>
              </a:defRPr>
            </a:lvl4pPr>
            <a:lvl5pPr>
              <a:buNone/>
              <a:defRPr sz="1800" b="1">
                <a:solidFill>
                  <a:srgbClr val="168678"/>
                </a:solidFill>
                <a:latin typeface="Arial"/>
                <a:ea typeface="Arial"/>
                <a:cs typeface="Arial"/>
              </a:defRPr>
            </a:lvl5pPr>
            <a:lvl6pPr>
              <a:buNone/>
              <a:defRPr sz="1800" b="1">
                <a:solidFill>
                  <a:srgbClr val="168678"/>
                </a:solidFill>
                <a:latin typeface="Arial"/>
                <a:ea typeface="Arial"/>
                <a:cs typeface="Arial"/>
              </a:defRPr>
            </a:lvl6pPr>
            <a:lvl7pPr>
              <a:buNone/>
              <a:defRPr sz="1800" b="1">
                <a:solidFill>
                  <a:srgbClr val="168678"/>
                </a:solidFill>
                <a:latin typeface="Arial"/>
                <a:ea typeface="Arial"/>
                <a:cs typeface="Arial"/>
              </a:defRPr>
            </a:lvl7pPr>
            <a:lvl8pPr>
              <a:buNone/>
              <a:defRPr sz="1800" b="1">
                <a:solidFill>
                  <a:srgbClr val="168678"/>
                </a:solidFill>
                <a:latin typeface="Arial"/>
                <a:ea typeface="Arial"/>
                <a:cs typeface="Arial"/>
              </a:defRPr>
            </a:lvl8pPr>
            <a:lvl9pPr>
              <a:buNone/>
              <a:defRPr sz="1800" b="1">
                <a:solidFill>
                  <a:srgbClr val="168678"/>
                </a:solidFill>
                <a:latin typeface="Arial"/>
                <a:ea typeface="Arial"/>
                <a:cs typeface="Arial"/>
              </a:defRPr>
            </a:lvl9pPr>
          </a:lstStyle>
          <a:p>
            <a:pPr>
              <a:buNone/>
              <a:defRPr sz="1800" b="1">
                <a:solidFill>
                  <a:srgbClr val="168678"/>
                </a:solidFill>
                <a:latin typeface="Arial"/>
                <a:ea typeface="Arial"/>
                <a:cs typeface="Arial"/>
              </a:defRPr>
            </a:pPr>
            <a:r>
              <a:rPr sz="1800" b="1">
                <a:solidFill>
                  <a:srgbClr val="168678"/>
                </a:solidFill>
                <a:latin typeface="Arial"/>
                <a:ea typeface="Arial"/>
                <a:cs typeface="Arial"/>
              </a:rPr>
              <a:t>Prior certificates</a:t>
            </a:r>
          </a:p>
        </p:txBody>
      </p:sp>
    </p:spTree>
    <p:extLst>
      <p:ext uri="{BB962C8B-B14F-4D97-AF65-F5344CB8AC3E}">
        <p14:creationId xmlns:p14="http://schemas.microsoft.com/office/powerpoint/2010/main" val="99296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1">
            <a:extLst>
              <a:ext uri="{FF2B5EF4-FFF2-40B4-BE49-F238E27FC236}">
                <a16:creationId xmlns:a16="http://schemas.microsoft.com/office/drawing/2014/main" id="{6B799AE6-D8EA-46E6-B9BA-7BE642806224}"/>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11  Invoice and receivables workflow</a:t>
            </a:r>
          </a:p>
        </p:txBody>
      </p:sp>
      <p:sp>
        <p:nvSpPr>
          <p:cNvPr id="2" name="text-2">
            <a:extLst>
              <a:ext uri="{FF2B5EF4-FFF2-40B4-BE49-F238E27FC236}">
                <a16:creationId xmlns:a16="http://schemas.microsoft.com/office/drawing/2014/main" id="{1E8BDC13-E4DB-4318-8C92-E39E4FCA70B0}"/>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61523E0F-1BB8-4ADA-9A83-D5317EFD5F93}"/>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14</a:t>
            </a:r>
          </a:p>
        </p:txBody>
      </p:sp>
      <p:sp>
        <p:nvSpPr>
          <p:cNvPr id="4" name="text-4">
            <a:extLst>
              <a:ext uri="{FF2B5EF4-FFF2-40B4-BE49-F238E27FC236}">
                <a16:creationId xmlns:a16="http://schemas.microsoft.com/office/drawing/2014/main" id="{906C645D-0D77-41BA-9074-BBFF3DF6B82C}"/>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0069DD74-F208-4C9D-AA95-DEBC6847CFE0}"/>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Draft invoice</a:t>
            </a:r>
          </a:p>
        </p:txBody>
      </p:sp>
      <p:sp>
        <p:nvSpPr>
          <p:cNvPr id="6" name="text-6">
            <a:extLst>
              <a:ext uri="{FF2B5EF4-FFF2-40B4-BE49-F238E27FC236}">
                <a16:creationId xmlns:a16="http://schemas.microsoft.com/office/drawing/2014/main" id="{27293FBB-BBE9-4DB6-A6F8-D6644A8D6B1D}"/>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Keep a draft identifier and exclude it from posted receivables.</a:t>
            </a:r>
          </a:p>
        </p:txBody>
      </p:sp>
      <p:sp>
        <p:nvSpPr>
          <p:cNvPr id="7" name="text-7">
            <a:extLst>
              <a:ext uri="{FF2B5EF4-FFF2-40B4-BE49-F238E27FC236}">
                <a16:creationId xmlns:a16="http://schemas.microsoft.com/office/drawing/2014/main" id="{97BFF7C3-04D4-4476-9324-5562196E6D9D}"/>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27AC2A17-B6F4-4C93-BDF9-D8E2B41E4EFB}"/>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Client confirmation</a:t>
            </a:r>
          </a:p>
        </p:txBody>
      </p:sp>
      <p:sp>
        <p:nvSpPr>
          <p:cNvPr id="9" name="text-9">
            <a:extLst>
              <a:ext uri="{FF2B5EF4-FFF2-40B4-BE49-F238E27FC236}">
                <a16:creationId xmlns:a16="http://schemas.microsoft.com/office/drawing/2014/main" id="{27132862-DEC9-439B-BC8A-296AC7B5CF5B}"/>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Bind the confirming person, evidence, amount and exact revision.</a:t>
            </a:r>
          </a:p>
        </p:txBody>
      </p:sp>
      <p:sp>
        <p:nvSpPr>
          <p:cNvPr id="10" name="text-10">
            <a:extLst>
              <a:ext uri="{FF2B5EF4-FFF2-40B4-BE49-F238E27FC236}">
                <a16:creationId xmlns:a16="http://schemas.microsoft.com/office/drawing/2014/main" id="{3559E4F0-CFF0-475D-9524-DF7DA65DB350}"/>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01002F79-85CB-4E6F-853D-EC64C00B3913}"/>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Final issuance</a:t>
            </a:r>
          </a:p>
        </p:txBody>
      </p:sp>
      <p:sp>
        <p:nvSpPr>
          <p:cNvPr id="12" name="text-12">
            <a:extLst>
              <a:ext uri="{FF2B5EF4-FFF2-40B4-BE49-F238E27FC236}">
                <a16:creationId xmlns:a16="http://schemas.microsoft.com/office/drawing/2014/main" id="{67CC8F9F-BB06-4987-8BCB-16D5EB23237E}"/>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Validate financial duty and issue one immutable invoice record.</a:t>
            </a:r>
          </a:p>
        </p:txBody>
      </p:sp>
      <p:sp>
        <p:nvSpPr>
          <p:cNvPr id="13" name="text-13">
            <a:extLst>
              <a:ext uri="{FF2B5EF4-FFF2-40B4-BE49-F238E27FC236}">
                <a16:creationId xmlns:a16="http://schemas.microsoft.com/office/drawing/2014/main" id="{1FFFE435-46FC-415C-BF65-E09309D6E5F4}"/>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9B4F9878-C453-4BB0-9B87-C1055A514E53}"/>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Controlled corrections</a:t>
            </a:r>
          </a:p>
        </p:txBody>
      </p:sp>
      <p:sp>
        <p:nvSpPr>
          <p:cNvPr id="15" name="text-15">
            <a:extLst>
              <a:ext uri="{FF2B5EF4-FFF2-40B4-BE49-F238E27FC236}">
                <a16:creationId xmlns:a16="http://schemas.microsoft.com/office/drawing/2014/main" id="{85125DB3-CBBE-479F-8F7B-0048E5F18035}"/>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Use linked credits, write-offs and reversals within approved policy.</a:t>
            </a:r>
          </a:p>
        </p:txBody>
      </p:sp>
      <p:sp>
        <p:nvSpPr>
          <p:cNvPr id="16" name="text-16">
            <a:extLst>
              <a:ext uri="{FF2B5EF4-FFF2-40B4-BE49-F238E27FC236}">
                <a16:creationId xmlns:a16="http://schemas.microsoft.com/office/drawing/2014/main" id="{84FD6C3D-5613-424A-8941-8FCF0E80DCF8}"/>
              </a:ext>
            </a:extLst>
          </p:cNvPr>
          <p:cNvSpPr>
            <a:spLocks noGrp="1"/>
          </p:cNvSpPr>
          <p:nvPr/>
        </p:nvSpPr>
        <p:spPr>
          <a:xfrm>
            <a:off x="609600" y="5915025"/>
            <a:ext cx="10972800" cy="361950"/>
          </a:xfrm>
          <a:prstGeom prst="rect">
            <a:avLst/>
          </a:prstGeom>
          <a:noFill/>
          <a:ln w="0">
            <a:noFill/>
          </a:ln>
        </p:spPr>
        <p:txBody>
          <a:bodyPr wrap="square" lIns="0" tIns="0" rIns="0" bIns="0" anchor="t">
            <a:noAutofit/>
          </a:bodyPr>
          <a:lstStyle>
            <a:defPPr>
              <a:defRPr sz="1875" b="1">
                <a:solidFill>
                  <a:srgbClr val="9B4B20"/>
                </a:solidFill>
                <a:latin typeface="Arial"/>
                <a:ea typeface="Arial"/>
                <a:cs typeface="Arial"/>
              </a:defRPr>
            </a:defPPr>
            <a:lvl1pPr>
              <a:buNone/>
              <a:defRPr sz="1875" b="1">
                <a:solidFill>
                  <a:srgbClr val="9B4B20"/>
                </a:solidFill>
                <a:latin typeface="Arial"/>
                <a:ea typeface="Arial"/>
                <a:cs typeface="Arial"/>
              </a:defRPr>
            </a:lvl1pPr>
            <a:lvl2pPr>
              <a:buNone/>
              <a:defRPr sz="1875" b="1">
                <a:solidFill>
                  <a:srgbClr val="9B4B20"/>
                </a:solidFill>
                <a:latin typeface="Arial"/>
                <a:ea typeface="Arial"/>
                <a:cs typeface="Arial"/>
              </a:defRPr>
            </a:lvl2pPr>
            <a:lvl3pPr>
              <a:buNone/>
              <a:defRPr sz="1875" b="1">
                <a:solidFill>
                  <a:srgbClr val="9B4B20"/>
                </a:solidFill>
                <a:latin typeface="Arial"/>
                <a:ea typeface="Arial"/>
                <a:cs typeface="Arial"/>
              </a:defRPr>
            </a:lvl3pPr>
            <a:lvl4pPr>
              <a:buNone/>
              <a:defRPr sz="1875" b="1">
                <a:solidFill>
                  <a:srgbClr val="9B4B20"/>
                </a:solidFill>
                <a:latin typeface="Arial"/>
                <a:ea typeface="Arial"/>
                <a:cs typeface="Arial"/>
              </a:defRPr>
            </a:lvl4pPr>
            <a:lvl5pPr>
              <a:buNone/>
              <a:defRPr sz="1875" b="1">
                <a:solidFill>
                  <a:srgbClr val="9B4B20"/>
                </a:solidFill>
                <a:latin typeface="Arial"/>
                <a:ea typeface="Arial"/>
                <a:cs typeface="Arial"/>
              </a:defRPr>
            </a:lvl5pPr>
            <a:lvl6pPr>
              <a:buNone/>
              <a:defRPr sz="1875" b="1">
                <a:solidFill>
                  <a:srgbClr val="9B4B20"/>
                </a:solidFill>
                <a:latin typeface="Arial"/>
                <a:ea typeface="Arial"/>
                <a:cs typeface="Arial"/>
              </a:defRPr>
            </a:lvl6pPr>
            <a:lvl7pPr>
              <a:buNone/>
              <a:defRPr sz="1875" b="1">
                <a:solidFill>
                  <a:srgbClr val="9B4B20"/>
                </a:solidFill>
                <a:latin typeface="Arial"/>
                <a:ea typeface="Arial"/>
                <a:cs typeface="Arial"/>
              </a:defRPr>
            </a:lvl7pPr>
            <a:lvl8pPr>
              <a:buNone/>
              <a:defRPr sz="1875" b="1">
                <a:solidFill>
                  <a:srgbClr val="9B4B20"/>
                </a:solidFill>
                <a:latin typeface="Arial"/>
                <a:ea typeface="Arial"/>
                <a:cs typeface="Arial"/>
              </a:defRPr>
            </a:lvl8pPr>
            <a:lvl9pPr>
              <a:buNone/>
              <a:defRPr sz="1875" b="1">
                <a:solidFill>
                  <a:srgbClr val="9B4B20"/>
                </a:solidFill>
                <a:latin typeface="Arial"/>
                <a:ea typeface="Arial"/>
                <a:cs typeface="Arial"/>
              </a:defRPr>
            </a:lvl9pPr>
          </a:lstStyle>
          <a:p>
            <a:pPr>
              <a:buNone/>
              <a:defRPr sz="1875" b="1">
                <a:solidFill>
                  <a:srgbClr val="9B4B20"/>
                </a:solidFill>
                <a:latin typeface="Arial"/>
                <a:ea typeface="Arial"/>
                <a:cs typeface="Arial"/>
              </a:defRPr>
            </a:pPr>
            <a:r>
              <a:rPr sz="1875" b="1">
                <a:solidFill>
                  <a:srgbClr val="9B4B20"/>
                </a:solidFill>
                <a:latin typeface="Arial"/>
                <a:ea typeface="Arial"/>
                <a:cs typeface="Arial"/>
              </a:rPr>
              <a:t>Statutory invoice PDFs and deadline rules still require acceptance</a:t>
            </a:r>
          </a:p>
        </p:txBody>
      </p:sp>
    </p:spTree>
    <p:extLst>
      <p:ext uri="{BB962C8B-B14F-4D97-AF65-F5344CB8AC3E}">
        <p14:creationId xmlns:p14="http://schemas.microsoft.com/office/powerpoint/2010/main" val="616078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7CD3C109-4A5C-440F-A3B7-475F6970F27B}"/>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12  Cash and historical statements</a:t>
            </a:r>
          </a:p>
        </p:txBody>
      </p:sp>
      <p:sp>
        <p:nvSpPr>
          <p:cNvPr id="2" name="text-2">
            <a:extLst>
              <a:ext uri="{FF2B5EF4-FFF2-40B4-BE49-F238E27FC236}">
                <a16:creationId xmlns:a16="http://schemas.microsoft.com/office/drawing/2014/main" id="{978CE059-01FA-4045-B92B-2C7AA863F07B}"/>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86A6DE6E-0B5D-4511-981D-DB7FC1D52C40}"/>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15</a:t>
            </a:r>
          </a:p>
        </p:txBody>
      </p:sp>
      <p:graphicFrame>
        <p:nvGraphicFramePr>
          <p:cNvPr id="4" name="Table 3">
            <a:extLst>
              <a:ext uri="{FF2B5EF4-FFF2-40B4-BE49-F238E27FC236}">
                <a16:creationId xmlns:a16="http://schemas.microsoft.com/office/drawing/2014/main" id="{74A8B869-9D22-4288-AD1D-3CD4D0FA1D7A}"/>
              </a:ext>
            </a:extLst>
          </p:cNvPr>
          <p:cNvGraphicFramePr/>
          <p:nvPr/>
        </p:nvGraphicFramePr>
        <p:xfrm>
          <a:off x="609600" y="1666875"/>
          <a:ext cx="10972800" cy="2857500"/>
        </p:xfrm>
        <a:graphic>
          <a:graphicData uri="http://schemas.openxmlformats.org/drawingml/2006/table">
            <a:tbl>
              <a:tblPr/>
              <a:tblGrid>
                <a:gridCol w="628650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tblGrid>
              <a:tr h="714375">
                <a:tc>
                  <a:txBody>
                    <a:bodyPr/>
                    <a:lstStyle/>
                    <a:p>
                      <a:r>
                        <a:rPr sz="1950" b="1">
                          <a:solidFill>
                            <a:srgbClr val="FFFFFF"/>
                          </a:solidFill>
                          <a:latin typeface="Arial"/>
                          <a:ea typeface="Arial"/>
                          <a:cs typeface="Arial"/>
                        </a:rPr>
                        <a:t>Event in an illustrative test</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950" b="1">
                          <a:solidFill>
                            <a:srgbClr val="FFFFFF"/>
                          </a:solidFill>
                          <a:latin typeface="Arial"/>
                          <a:ea typeface="Arial"/>
                          <a:cs typeface="Arial"/>
                        </a:rPr>
                        <a:t>Invoice AR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950" b="1">
                          <a:solidFill>
                            <a:srgbClr val="FFFFFF"/>
                          </a:solidFill>
                          <a:latin typeface="Arial"/>
                          <a:ea typeface="Arial"/>
                          <a:cs typeface="Arial"/>
                        </a:rPr>
                        <a:t>Unapplied cash</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714375">
                <a:tc>
                  <a:txBody>
                    <a:bodyPr/>
                    <a:lstStyle/>
                    <a:p>
                      <a:r>
                        <a:rPr sz="1950" b="0">
                          <a:solidFill>
                            <a:srgbClr val="213C52"/>
                          </a:solidFill>
                          <a:latin typeface="Arial"/>
                          <a:ea typeface="Arial"/>
                          <a:cs typeface="Arial"/>
                        </a:rPr>
                        <a:t>Issue an invoice for AED 10,000</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10,000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714375">
                <a:tc>
                  <a:txBody>
                    <a:bodyPr/>
                    <a:lstStyle/>
                    <a:p>
                      <a:r>
                        <a:rPr sz="1950" b="0">
                          <a:solidFill>
                            <a:srgbClr val="213C52"/>
                          </a:solidFill>
                          <a:latin typeface="Arial"/>
                          <a:ea typeface="Arial"/>
                          <a:cs typeface="Arial"/>
                        </a:rPr>
                        <a:t>Receive AED 4,000 before allocation</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950" b="0">
                          <a:solidFill>
                            <a:srgbClr val="213C52"/>
                          </a:solidFill>
                          <a:latin typeface="Arial"/>
                          <a:ea typeface="Arial"/>
                          <a:cs typeface="Arial"/>
                        </a:rPr>
                        <a:t>10,000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950" b="0">
                          <a:solidFill>
                            <a:srgbClr val="213C52"/>
                          </a:solidFill>
                          <a:latin typeface="Arial"/>
                          <a:ea typeface="Arial"/>
                          <a:cs typeface="Arial"/>
                        </a:rPr>
                        <a:t>4,000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714375">
                <a:tc>
                  <a:txBody>
                    <a:bodyPr/>
                    <a:lstStyle/>
                    <a:p>
                      <a:r>
                        <a:rPr sz="1950" b="0">
                          <a:solidFill>
                            <a:srgbClr val="213C52"/>
                          </a:solidFill>
                          <a:latin typeface="Arial"/>
                          <a:ea typeface="Arial"/>
                          <a:cs typeface="Arial"/>
                        </a:rPr>
                        <a:t>Allocate that cash to the invoice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6,000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950" b="0">
                          <a:solidFill>
                            <a:srgbClr val="213C52"/>
                          </a:solidFill>
                          <a:latin typeface="Arial"/>
                          <a:ea typeface="Arial"/>
                          <a:cs typeface="Arial"/>
                        </a:rPr>
                        <a:t>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bl>
          </a:graphicData>
        </a:graphic>
      </p:graphicFrame>
      <p:sp>
        <p:nvSpPr>
          <p:cNvPr id="5" name="text-4">
            <a:extLst>
              <a:ext uri="{FF2B5EF4-FFF2-40B4-BE49-F238E27FC236}">
                <a16:creationId xmlns:a16="http://schemas.microsoft.com/office/drawing/2014/main" id="{44467246-981E-4418-8D17-2DE742D1DE8C}"/>
              </a:ext>
            </a:extLst>
          </p:cNvPr>
          <p:cNvSpPr>
            <a:spLocks noGrp="1"/>
          </p:cNvSpPr>
          <p:nvPr/>
        </p:nvSpPr>
        <p:spPr>
          <a:xfrm>
            <a:off x="609600" y="4972050"/>
            <a:ext cx="10972800" cy="381000"/>
          </a:xfrm>
          <a:prstGeom prst="rect">
            <a:avLst/>
          </a:prstGeom>
          <a:noFill/>
          <a:ln w="0">
            <a:noFill/>
          </a:ln>
        </p:spPr>
        <p:txBody>
          <a:bodyPr wrap="square" lIns="0" tIns="0" rIns="0" bIns="0" anchor="t">
            <a:noAutofit/>
          </a:bodyPr>
          <a:lstStyle>
            <a:defPPr>
              <a:defRPr sz="2325" b="1">
                <a:solidFill>
                  <a:srgbClr val="168678"/>
                </a:solidFill>
                <a:latin typeface="Arial"/>
                <a:ea typeface="Arial"/>
                <a:cs typeface="Arial"/>
              </a:defRPr>
            </a:defPPr>
            <a:lvl1pPr>
              <a:buNone/>
              <a:defRPr sz="2325" b="1">
                <a:solidFill>
                  <a:srgbClr val="168678"/>
                </a:solidFill>
                <a:latin typeface="Arial"/>
                <a:ea typeface="Arial"/>
                <a:cs typeface="Arial"/>
              </a:defRPr>
            </a:lvl1pPr>
            <a:lvl2pPr>
              <a:buNone/>
              <a:defRPr sz="2325" b="1">
                <a:solidFill>
                  <a:srgbClr val="168678"/>
                </a:solidFill>
                <a:latin typeface="Arial"/>
                <a:ea typeface="Arial"/>
                <a:cs typeface="Arial"/>
              </a:defRPr>
            </a:lvl2pPr>
            <a:lvl3pPr>
              <a:buNone/>
              <a:defRPr sz="2325" b="1">
                <a:solidFill>
                  <a:srgbClr val="168678"/>
                </a:solidFill>
                <a:latin typeface="Arial"/>
                <a:ea typeface="Arial"/>
                <a:cs typeface="Arial"/>
              </a:defRPr>
            </a:lvl3pPr>
            <a:lvl4pPr>
              <a:buNone/>
              <a:defRPr sz="2325" b="1">
                <a:solidFill>
                  <a:srgbClr val="168678"/>
                </a:solidFill>
                <a:latin typeface="Arial"/>
                <a:ea typeface="Arial"/>
                <a:cs typeface="Arial"/>
              </a:defRPr>
            </a:lvl4pPr>
            <a:lvl5pPr>
              <a:buNone/>
              <a:defRPr sz="2325" b="1">
                <a:solidFill>
                  <a:srgbClr val="168678"/>
                </a:solidFill>
                <a:latin typeface="Arial"/>
                <a:ea typeface="Arial"/>
                <a:cs typeface="Arial"/>
              </a:defRPr>
            </a:lvl5pPr>
            <a:lvl6pPr>
              <a:buNone/>
              <a:defRPr sz="2325" b="1">
                <a:solidFill>
                  <a:srgbClr val="168678"/>
                </a:solidFill>
                <a:latin typeface="Arial"/>
                <a:ea typeface="Arial"/>
                <a:cs typeface="Arial"/>
              </a:defRPr>
            </a:lvl6pPr>
            <a:lvl7pPr>
              <a:buNone/>
              <a:defRPr sz="2325" b="1">
                <a:solidFill>
                  <a:srgbClr val="168678"/>
                </a:solidFill>
                <a:latin typeface="Arial"/>
                <a:ea typeface="Arial"/>
                <a:cs typeface="Arial"/>
              </a:defRPr>
            </a:lvl7pPr>
            <a:lvl8pPr>
              <a:buNone/>
              <a:defRPr sz="2325" b="1">
                <a:solidFill>
                  <a:srgbClr val="168678"/>
                </a:solidFill>
                <a:latin typeface="Arial"/>
                <a:ea typeface="Arial"/>
                <a:cs typeface="Arial"/>
              </a:defRPr>
            </a:lvl8pPr>
            <a:lvl9pPr>
              <a:buNone/>
              <a:defRPr sz="2325" b="1">
                <a:solidFill>
                  <a:srgbClr val="168678"/>
                </a:solidFill>
                <a:latin typeface="Arial"/>
                <a:ea typeface="Arial"/>
                <a:cs typeface="Arial"/>
              </a:defRPr>
            </a:lvl9pPr>
          </a:lstStyle>
          <a:p>
            <a:pPr>
              <a:buNone/>
              <a:defRPr sz="2325" b="1">
                <a:solidFill>
                  <a:srgbClr val="168678"/>
                </a:solidFill>
                <a:latin typeface="Arial"/>
                <a:ea typeface="Arial"/>
                <a:cs typeface="Arial"/>
              </a:defRPr>
            </a:pPr>
            <a:r>
              <a:rPr sz="2325" b="1">
                <a:solidFill>
                  <a:srgbClr val="168678"/>
                </a:solidFill>
                <a:latin typeface="Arial"/>
                <a:ea typeface="Arial"/>
                <a:cs typeface="Arial"/>
              </a:rPr>
              <a:t>Historical test</a:t>
            </a:r>
          </a:p>
        </p:txBody>
      </p:sp>
      <p:sp>
        <p:nvSpPr>
          <p:cNvPr id="6" name="text-5">
            <a:extLst>
              <a:ext uri="{FF2B5EF4-FFF2-40B4-BE49-F238E27FC236}">
                <a16:creationId xmlns:a16="http://schemas.microsoft.com/office/drawing/2014/main" id="{B9E744FD-3574-4292-BA1F-DE45149F0D80}"/>
              </a:ext>
            </a:extLst>
          </p:cNvPr>
          <p:cNvSpPr>
            <a:spLocks noGrp="1"/>
          </p:cNvSpPr>
          <p:nvPr/>
        </p:nvSpPr>
        <p:spPr>
          <a:xfrm>
            <a:off x="609600" y="5514975"/>
            <a:ext cx="10972800" cy="647700"/>
          </a:xfrm>
          <a:prstGeom prst="rect">
            <a:avLst/>
          </a:prstGeom>
          <a:noFill/>
          <a:ln w="0">
            <a:noFill/>
          </a:ln>
        </p:spPr>
        <p:txBody>
          <a:bodyPr wrap="square" lIns="0" tIns="0" rIns="0" bIns="0" anchor="t">
            <a:noAutofit/>
          </a:bodyPr>
          <a:lstStyle>
            <a:defPPr>
              <a:defRPr sz="2100" b="0">
                <a:solidFill>
                  <a:srgbClr val="213C52"/>
                </a:solidFill>
                <a:latin typeface="Arial"/>
                <a:ea typeface="Arial"/>
                <a:cs typeface="Arial"/>
              </a:defRPr>
            </a:defPPr>
            <a:lvl1pPr>
              <a:buNone/>
              <a:defRPr sz="2100" b="0">
                <a:solidFill>
                  <a:srgbClr val="213C52"/>
                </a:solidFill>
                <a:latin typeface="Arial"/>
                <a:ea typeface="Arial"/>
                <a:cs typeface="Arial"/>
              </a:defRPr>
            </a:lvl1pPr>
            <a:lvl2pPr>
              <a:buNone/>
              <a:defRPr sz="2100" b="0">
                <a:solidFill>
                  <a:srgbClr val="213C52"/>
                </a:solidFill>
                <a:latin typeface="Arial"/>
                <a:ea typeface="Arial"/>
                <a:cs typeface="Arial"/>
              </a:defRPr>
            </a:lvl2pPr>
            <a:lvl3pPr>
              <a:buNone/>
              <a:defRPr sz="2100" b="0">
                <a:solidFill>
                  <a:srgbClr val="213C52"/>
                </a:solidFill>
                <a:latin typeface="Arial"/>
                <a:ea typeface="Arial"/>
                <a:cs typeface="Arial"/>
              </a:defRPr>
            </a:lvl3pPr>
            <a:lvl4pPr>
              <a:buNone/>
              <a:defRPr sz="2100" b="0">
                <a:solidFill>
                  <a:srgbClr val="213C52"/>
                </a:solidFill>
                <a:latin typeface="Arial"/>
                <a:ea typeface="Arial"/>
                <a:cs typeface="Arial"/>
              </a:defRPr>
            </a:lvl4pPr>
            <a:lvl5pPr>
              <a:buNone/>
              <a:defRPr sz="2100" b="0">
                <a:solidFill>
                  <a:srgbClr val="213C52"/>
                </a:solidFill>
                <a:latin typeface="Arial"/>
                <a:ea typeface="Arial"/>
                <a:cs typeface="Arial"/>
              </a:defRPr>
            </a:lvl5pPr>
            <a:lvl6pPr>
              <a:buNone/>
              <a:defRPr sz="2100" b="0">
                <a:solidFill>
                  <a:srgbClr val="213C52"/>
                </a:solidFill>
                <a:latin typeface="Arial"/>
                <a:ea typeface="Arial"/>
                <a:cs typeface="Arial"/>
              </a:defRPr>
            </a:lvl6pPr>
            <a:lvl7pPr>
              <a:buNone/>
              <a:defRPr sz="2100" b="0">
                <a:solidFill>
                  <a:srgbClr val="213C52"/>
                </a:solidFill>
                <a:latin typeface="Arial"/>
                <a:ea typeface="Arial"/>
                <a:cs typeface="Arial"/>
              </a:defRPr>
            </a:lvl7pPr>
            <a:lvl8pPr>
              <a:buNone/>
              <a:defRPr sz="2100" b="0">
                <a:solidFill>
                  <a:srgbClr val="213C52"/>
                </a:solidFill>
                <a:latin typeface="Arial"/>
                <a:ea typeface="Arial"/>
                <a:cs typeface="Arial"/>
              </a:defRPr>
            </a:lvl8pPr>
            <a:lvl9pPr>
              <a:buNone/>
              <a:defRPr sz="2100" b="0">
                <a:solidFill>
                  <a:srgbClr val="213C52"/>
                </a:solidFill>
                <a:latin typeface="Arial"/>
                <a:ea typeface="Arial"/>
                <a:cs typeface="Arial"/>
              </a:defRPr>
            </a:lvl9pPr>
          </a:lstStyle>
          <a:p>
            <a:pPr>
              <a:buNone/>
              <a:defRPr sz="2100" b="0">
                <a:solidFill>
                  <a:srgbClr val="213C52"/>
                </a:solidFill>
                <a:latin typeface="Arial"/>
                <a:ea typeface="Arial"/>
                <a:cs typeface="Arial"/>
              </a:defRPr>
            </a:pPr>
            <a:r>
              <a:rPr sz="2100" b="0">
                <a:solidFill>
                  <a:srgbClr val="213C52"/>
                </a:solidFill>
                <a:latin typeface="Arial"/>
                <a:ea typeface="Arial"/>
                <a:cs typeface="Arial"/>
              </a:rPr>
              <a:t>A report dated before the receipt must still show AED 10,000 open.</a:t>
            </a:r>
          </a:p>
        </p:txBody>
      </p:sp>
    </p:spTree>
    <p:extLst>
      <p:ext uri="{BB962C8B-B14F-4D97-AF65-F5344CB8AC3E}">
        <p14:creationId xmlns:p14="http://schemas.microsoft.com/office/powerpoint/2010/main" val="49966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
            <a:extLst>
              <a:ext uri="{FF2B5EF4-FFF2-40B4-BE49-F238E27FC236}">
                <a16:creationId xmlns:a16="http://schemas.microsoft.com/office/drawing/2014/main" id="{2D4E195E-E809-48DA-A0EE-FD35EB2E2436}"/>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13  Analytics and exports</a:t>
            </a:r>
          </a:p>
        </p:txBody>
      </p:sp>
      <p:sp>
        <p:nvSpPr>
          <p:cNvPr id="2" name="text-2">
            <a:extLst>
              <a:ext uri="{FF2B5EF4-FFF2-40B4-BE49-F238E27FC236}">
                <a16:creationId xmlns:a16="http://schemas.microsoft.com/office/drawing/2014/main" id="{780B1BE2-03ED-43F1-BDA9-5E8A15DD9A7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3543A292-CD25-48C7-BFA7-A59E6946B8A4}"/>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16</a:t>
            </a:r>
          </a:p>
        </p:txBody>
      </p:sp>
      <p:pic>
        <p:nvPicPr>
          <p:cNvPr id="4" name="Picture 3">
            <a:extLst>
              <a:ext uri="{FF2B5EF4-FFF2-40B4-BE49-F238E27FC236}">
                <a16:creationId xmlns:a16="http://schemas.microsoft.com/office/drawing/2014/main" id="{5FB49E30-3065-4CD5-9691-19C5EA14F567}"/>
              </a:ext>
            </a:extLst>
          </p:cNvPr>
          <p:cNvPicPr>
            <a:picLocks noChangeAspect="1"/>
          </p:cNvPicPr>
          <p:nvPr/>
        </p:nvPicPr>
        <p:blipFill>
          <a:blip r:embed="rId3"/>
          <a:stretch/>
        </p:blipFill>
        <p:spPr>
          <a:xfrm>
            <a:off x="971045" y="1600200"/>
            <a:ext cx="6649460" cy="4619625"/>
          </a:xfrm>
          <a:prstGeom prst="rect">
            <a:avLst/>
          </a:prstGeom>
        </p:spPr>
      </p:pic>
      <p:sp>
        <p:nvSpPr>
          <p:cNvPr id="5" name="text-4">
            <a:extLst>
              <a:ext uri="{FF2B5EF4-FFF2-40B4-BE49-F238E27FC236}">
                <a16:creationId xmlns:a16="http://schemas.microsoft.com/office/drawing/2014/main" id="{14FE2C5B-4E28-40CA-A769-34E78966F164}"/>
              </a:ext>
            </a:extLst>
          </p:cNvPr>
          <p:cNvSpPr>
            <a:spLocks noGrp="1"/>
          </p:cNvSpPr>
          <p:nvPr/>
        </p:nvSpPr>
        <p:spPr>
          <a:xfrm>
            <a:off x="8429625" y="1733550"/>
            <a:ext cx="3143250" cy="428625"/>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Report controls</a:t>
            </a:r>
          </a:p>
        </p:txBody>
      </p:sp>
      <p:sp>
        <p:nvSpPr>
          <p:cNvPr id="6" name="text-5">
            <a:extLst>
              <a:ext uri="{FF2B5EF4-FFF2-40B4-BE49-F238E27FC236}">
                <a16:creationId xmlns:a16="http://schemas.microsoft.com/office/drawing/2014/main" id="{7A08D5F6-9FBB-443D-B8CD-8867A01D5985}"/>
              </a:ext>
            </a:extLst>
          </p:cNvPr>
          <p:cNvSpPr>
            <a:spLocks noGrp="1"/>
          </p:cNvSpPr>
          <p:nvPr/>
        </p:nvSpPr>
        <p:spPr>
          <a:xfrm>
            <a:off x="8429625" y="2419350"/>
            <a:ext cx="3143250" cy="7429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Period, customer and project filters</a:t>
            </a:r>
          </a:p>
        </p:txBody>
      </p:sp>
      <p:sp>
        <p:nvSpPr>
          <p:cNvPr id="7" name="text-6">
            <a:extLst>
              <a:ext uri="{FF2B5EF4-FFF2-40B4-BE49-F238E27FC236}">
                <a16:creationId xmlns:a16="http://schemas.microsoft.com/office/drawing/2014/main" id="{73C7FF70-45AE-471B-88D1-D9EE04CD059C}"/>
              </a:ext>
            </a:extLst>
          </p:cNvPr>
          <p:cNvSpPr>
            <a:spLocks noGrp="1"/>
          </p:cNvSpPr>
          <p:nvPr/>
        </p:nvSpPr>
        <p:spPr>
          <a:xfrm>
            <a:off x="8429625" y="3409950"/>
            <a:ext cx="3143250" cy="10668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Ageing, outstanding, cash, sales and movement</a:t>
            </a:r>
          </a:p>
        </p:txBody>
      </p:sp>
      <p:sp>
        <p:nvSpPr>
          <p:cNvPr id="8" name="text-7">
            <a:extLst>
              <a:ext uri="{FF2B5EF4-FFF2-40B4-BE49-F238E27FC236}">
                <a16:creationId xmlns:a16="http://schemas.microsoft.com/office/drawing/2014/main" id="{0EA9EF9D-3F20-4C50-838B-5A020F55694C}"/>
              </a:ext>
            </a:extLst>
          </p:cNvPr>
          <p:cNvSpPr>
            <a:spLocks noGrp="1"/>
          </p:cNvSpPr>
          <p:nvPr/>
        </p:nvSpPr>
        <p:spPr>
          <a:xfrm>
            <a:off x="8429625" y="4762500"/>
            <a:ext cx="3143250" cy="1190625"/>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Full Excel and PDF exports with the date and accounting basis</a:t>
            </a:r>
          </a:p>
        </p:txBody>
      </p:sp>
    </p:spTree>
    <p:extLst>
      <p:ext uri="{BB962C8B-B14F-4D97-AF65-F5344CB8AC3E}">
        <p14:creationId xmlns:p14="http://schemas.microsoft.com/office/powerpoint/2010/main" val="179036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
            <a:extLst>
              <a:ext uri="{FF2B5EF4-FFF2-40B4-BE49-F238E27FC236}">
                <a16:creationId xmlns:a16="http://schemas.microsoft.com/office/drawing/2014/main" id="{6725C9A7-36AA-4369-8CEB-4650081BF041}"/>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14  Utility and external systems</a:t>
            </a:r>
          </a:p>
        </p:txBody>
      </p:sp>
      <p:sp>
        <p:nvSpPr>
          <p:cNvPr id="2" name="text-2">
            <a:extLst>
              <a:ext uri="{FF2B5EF4-FFF2-40B4-BE49-F238E27FC236}">
                <a16:creationId xmlns:a16="http://schemas.microsoft.com/office/drawing/2014/main" id="{024E0024-0D4C-4826-81C4-9A31EAFC85AA}"/>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A3546FCE-6A41-4445-905A-71042FB32111}"/>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17</a:t>
            </a:r>
          </a:p>
        </p:txBody>
      </p:sp>
      <p:sp>
        <p:nvSpPr>
          <p:cNvPr id="4" name="text-4">
            <a:extLst>
              <a:ext uri="{FF2B5EF4-FFF2-40B4-BE49-F238E27FC236}">
                <a16:creationId xmlns:a16="http://schemas.microsoft.com/office/drawing/2014/main" id="{2A0BDC3D-BFFA-43DC-A385-206C47FE49E9}"/>
              </a:ext>
            </a:extLst>
          </p:cNvPr>
          <p:cNvSpPr>
            <a:spLocks noGrp="1"/>
          </p:cNvSpPr>
          <p:nvPr/>
        </p:nvSpPr>
        <p:spPr>
          <a:xfrm>
            <a:off x="609600" y="1762125"/>
            <a:ext cx="3524250" cy="38100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Tally</a:t>
            </a:r>
          </a:p>
        </p:txBody>
      </p:sp>
      <p:sp>
        <p:nvSpPr>
          <p:cNvPr id="5" name="text-5">
            <a:extLst>
              <a:ext uri="{FF2B5EF4-FFF2-40B4-BE49-F238E27FC236}">
                <a16:creationId xmlns:a16="http://schemas.microsoft.com/office/drawing/2014/main" id="{65BECDA1-03F0-4326-9499-40CBFC60AA6A}"/>
              </a:ext>
            </a:extLst>
          </p:cNvPr>
          <p:cNvSpPr>
            <a:spLocks noGrp="1"/>
          </p:cNvSpPr>
          <p:nvPr/>
        </p:nvSpPr>
        <p:spPr>
          <a:xfrm>
            <a:off x="609600" y="2333625"/>
            <a:ext cx="3524250" cy="95250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Local company query and reviewed customer XML exchange</a:t>
            </a:r>
          </a:p>
        </p:txBody>
      </p:sp>
      <p:sp>
        <p:nvSpPr>
          <p:cNvPr id="6" name="text-6">
            <a:extLst>
              <a:ext uri="{FF2B5EF4-FFF2-40B4-BE49-F238E27FC236}">
                <a16:creationId xmlns:a16="http://schemas.microsoft.com/office/drawing/2014/main" id="{46C4A2FE-4B5C-44DC-AC28-0A2BC7D2EC49}"/>
              </a:ext>
            </a:extLst>
          </p:cNvPr>
          <p:cNvSpPr>
            <a:spLocks noGrp="1"/>
          </p:cNvSpPr>
          <p:nvPr/>
        </p:nvSpPr>
        <p:spPr>
          <a:xfrm>
            <a:off x="609600" y="3619500"/>
            <a:ext cx="3524250" cy="409575"/>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Zoho and other ERP</a:t>
            </a:r>
          </a:p>
        </p:txBody>
      </p:sp>
      <p:sp>
        <p:nvSpPr>
          <p:cNvPr id="7" name="text-7">
            <a:extLst>
              <a:ext uri="{FF2B5EF4-FFF2-40B4-BE49-F238E27FC236}">
                <a16:creationId xmlns:a16="http://schemas.microsoft.com/office/drawing/2014/main" id="{E520EF46-5DD6-47BB-8EE8-B7CEA019BC94}"/>
              </a:ext>
            </a:extLst>
          </p:cNvPr>
          <p:cNvSpPr>
            <a:spLocks noGrp="1"/>
          </p:cNvSpPr>
          <p:nvPr/>
        </p:nvSpPr>
        <p:spPr>
          <a:xfrm>
            <a:off x="609600" y="4191000"/>
            <a:ext cx="3524250" cy="1504950"/>
          </a:xfrm>
          <a:prstGeom prst="rect">
            <a:avLst/>
          </a:prstGeom>
          <a:noFill/>
          <a:ln w="0">
            <a:noFill/>
          </a:ln>
        </p:spPr>
        <p:txBody>
          <a:bodyPr wrap="square" lIns="0" tIns="0" rIns="0" bIns="0" anchor="t">
            <a:noAutofit/>
          </a:bodyPr>
          <a:lstStyle>
            <a:defPPr>
              <a:defRPr sz="2025" b="0">
                <a:solidFill>
                  <a:srgbClr val="213C52"/>
                </a:solidFill>
                <a:latin typeface="Arial"/>
                <a:ea typeface="Arial"/>
                <a:cs typeface="Arial"/>
              </a:defRPr>
            </a:defPPr>
            <a:lvl1pPr>
              <a:buNone/>
              <a:defRPr sz="2025" b="0">
                <a:solidFill>
                  <a:srgbClr val="213C52"/>
                </a:solidFill>
                <a:latin typeface="Arial"/>
                <a:ea typeface="Arial"/>
                <a:cs typeface="Arial"/>
              </a:defRPr>
            </a:lvl1pPr>
            <a:lvl2pPr>
              <a:buNone/>
              <a:defRPr sz="2025" b="0">
                <a:solidFill>
                  <a:srgbClr val="213C52"/>
                </a:solidFill>
                <a:latin typeface="Arial"/>
                <a:ea typeface="Arial"/>
                <a:cs typeface="Arial"/>
              </a:defRPr>
            </a:lvl2pPr>
            <a:lvl3pPr>
              <a:buNone/>
              <a:defRPr sz="2025" b="0">
                <a:solidFill>
                  <a:srgbClr val="213C52"/>
                </a:solidFill>
                <a:latin typeface="Arial"/>
                <a:ea typeface="Arial"/>
                <a:cs typeface="Arial"/>
              </a:defRPr>
            </a:lvl3pPr>
            <a:lvl4pPr>
              <a:buNone/>
              <a:defRPr sz="2025" b="0">
                <a:solidFill>
                  <a:srgbClr val="213C52"/>
                </a:solidFill>
                <a:latin typeface="Arial"/>
                <a:ea typeface="Arial"/>
                <a:cs typeface="Arial"/>
              </a:defRPr>
            </a:lvl4pPr>
            <a:lvl5pPr>
              <a:buNone/>
              <a:defRPr sz="2025" b="0">
                <a:solidFill>
                  <a:srgbClr val="213C52"/>
                </a:solidFill>
                <a:latin typeface="Arial"/>
                <a:ea typeface="Arial"/>
                <a:cs typeface="Arial"/>
              </a:defRPr>
            </a:lvl5pPr>
            <a:lvl6pPr>
              <a:buNone/>
              <a:defRPr sz="2025" b="0">
                <a:solidFill>
                  <a:srgbClr val="213C52"/>
                </a:solidFill>
                <a:latin typeface="Arial"/>
                <a:ea typeface="Arial"/>
                <a:cs typeface="Arial"/>
              </a:defRPr>
            </a:lvl6pPr>
            <a:lvl7pPr>
              <a:buNone/>
              <a:defRPr sz="2025" b="0">
                <a:solidFill>
                  <a:srgbClr val="213C52"/>
                </a:solidFill>
                <a:latin typeface="Arial"/>
                <a:ea typeface="Arial"/>
                <a:cs typeface="Arial"/>
              </a:defRPr>
            </a:lvl7pPr>
            <a:lvl8pPr>
              <a:buNone/>
              <a:defRPr sz="2025" b="0">
                <a:solidFill>
                  <a:srgbClr val="213C52"/>
                </a:solidFill>
                <a:latin typeface="Arial"/>
                <a:ea typeface="Arial"/>
                <a:cs typeface="Arial"/>
              </a:defRPr>
            </a:lvl8pPr>
            <a:lvl9pPr>
              <a:buNone/>
              <a:defRPr sz="2025" b="0">
                <a:solidFill>
                  <a:srgbClr val="213C52"/>
                </a:solidFill>
                <a:latin typeface="Arial"/>
                <a:ea typeface="Arial"/>
                <a:cs typeface="Arial"/>
              </a:defRPr>
            </a:lvl9pPr>
          </a:lstStyle>
          <a:p>
            <a:pPr>
              <a:buNone/>
              <a:defRPr sz="2025" b="0">
                <a:solidFill>
                  <a:srgbClr val="213C52"/>
                </a:solidFill>
                <a:latin typeface="Arial"/>
                <a:ea typeface="Arial"/>
                <a:cs typeface="Arial"/>
              </a:defRPr>
            </a:pPr>
            <a:r>
              <a:rPr sz="2025" b="0">
                <a:solidFill>
                  <a:srgbClr val="213C52"/>
                </a:solidFill>
                <a:latin typeface="Arial"/>
                <a:ea typeface="Arial"/>
                <a:cs typeface="Arial"/>
              </a:rPr>
              <a:t>File exchange now. Cloud sync needs connectivity, authorization and reconciliation tests.</a:t>
            </a:r>
          </a:p>
        </p:txBody>
      </p:sp>
      <p:pic>
        <p:nvPicPr>
          <p:cNvPr id="8" name="Picture 7">
            <a:extLst>
              <a:ext uri="{FF2B5EF4-FFF2-40B4-BE49-F238E27FC236}">
                <a16:creationId xmlns:a16="http://schemas.microsoft.com/office/drawing/2014/main" id="{D3971785-5DD4-475F-A3F4-1D7BBC41C111}"/>
              </a:ext>
            </a:extLst>
          </p:cNvPr>
          <p:cNvPicPr>
            <a:picLocks noChangeAspect="1"/>
          </p:cNvPicPr>
          <p:nvPr/>
        </p:nvPicPr>
        <p:blipFill>
          <a:blip r:embed="rId3"/>
          <a:stretch/>
        </p:blipFill>
        <p:spPr>
          <a:xfrm>
            <a:off x="4708669" y="1571625"/>
            <a:ext cx="6718011" cy="4667250"/>
          </a:xfrm>
          <a:prstGeom prst="rect">
            <a:avLst/>
          </a:prstGeom>
        </p:spPr>
      </p:pic>
    </p:spTree>
    <p:extLst>
      <p:ext uri="{BB962C8B-B14F-4D97-AF65-F5344CB8AC3E}">
        <p14:creationId xmlns:p14="http://schemas.microsoft.com/office/powerpoint/2010/main" val="1734451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
            <a:extLst>
              <a:ext uri="{FF2B5EF4-FFF2-40B4-BE49-F238E27FC236}">
                <a16:creationId xmlns:a16="http://schemas.microsoft.com/office/drawing/2014/main" id="{60EBFE35-3515-4C70-BAA9-76398BD54BC0}"/>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15  Settings and support</a:t>
            </a:r>
          </a:p>
        </p:txBody>
      </p:sp>
      <p:sp>
        <p:nvSpPr>
          <p:cNvPr id="2" name="text-2">
            <a:extLst>
              <a:ext uri="{FF2B5EF4-FFF2-40B4-BE49-F238E27FC236}">
                <a16:creationId xmlns:a16="http://schemas.microsoft.com/office/drawing/2014/main" id="{86148540-70B2-4EE1-8BDE-F8318E02A7A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86EC8B8D-DE9C-42F7-9793-D184DEEC3146}"/>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18</a:t>
            </a:r>
          </a:p>
        </p:txBody>
      </p:sp>
      <p:sp>
        <p:nvSpPr>
          <p:cNvPr id="4" name="text-4">
            <a:extLst>
              <a:ext uri="{FF2B5EF4-FFF2-40B4-BE49-F238E27FC236}">
                <a16:creationId xmlns:a16="http://schemas.microsoft.com/office/drawing/2014/main" id="{8B67FAA4-24DB-4684-BEBD-8751D673DA10}"/>
              </a:ext>
            </a:extLst>
          </p:cNvPr>
          <p:cNvSpPr>
            <a:spLocks noGrp="1"/>
          </p:cNvSpPr>
          <p:nvPr/>
        </p:nvSpPr>
        <p:spPr>
          <a:xfrm>
            <a:off x="609600" y="1752600"/>
            <a:ext cx="5905500" cy="41910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Appearance and access</a:t>
            </a:r>
          </a:p>
        </p:txBody>
      </p:sp>
      <p:sp>
        <p:nvSpPr>
          <p:cNvPr id="5" name="text-5">
            <a:extLst>
              <a:ext uri="{FF2B5EF4-FFF2-40B4-BE49-F238E27FC236}">
                <a16:creationId xmlns:a16="http://schemas.microsoft.com/office/drawing/2014/main" id="{55FD3580-AD19-4B23-B169-E5EE61099768}"/>
              </a:ext>
            </a:extLst>
          </p:cNvPr>
          <p:cNvSpPr>
            <a:spLocks noGrp="1"/>
          </p:cNvSpPr>
          <p:nvPr/>
        </p:nvSpPr>
        <p:spPr>
          <a:xfrm>
            <a:off x="609600" y="2381250"/>
            <a:ext cx="5905500" cy="952500"/>
          </a:xfrm>
          <a:prstGeom prst="rect">
            <a:avLst/>
          </a:prstGeom>
          <a:noFill/>
          <a:ln w="0">
            <a:noFill/>
          </a:ln>
        </p:spPr>
        <p:txBody>
          <a:bodyPr wrap="square" lIns="0" tIns="0" rIns="0" bIns="0" anchor="t">
            <a:noAutofit/>
          </a:bodyPr>
          <a:lstStyle>
            <a:defPPr>
              <a:defRPr sz="2100" b="0">
                <a:solidFill>
                  <a:srgbClr val="213C52"/>
                </a:solidFill>
                <a:latin typeface="Arial"/>
                <a:ea typeface="Arial"/>
                <a:cs typeface="Arial"/>
              </a:defRPr>
            </a:defPPr>
            <a:lvl1pPr>
              <a:buNone/>
              <a:defRPr sz="2100" b="0">
                <a:solidFill>
                  <a:srgbClr val="213C52"/>
                </a:solidFill>
                <a:latin typeface="Arial"/>
                <a:ea typeface="Arial"/>
                <a:cs typeface="Arial"/>
              </a:defRPr>
            </a:lvl1pPr>
            <a:lvl2pPr>
              <a:buNone/>
              <a:defRPr sz="2100" b="0">
                <a:solidFill>
                  <a:srgbClr val="213C52"/>
                </a:solidFill>
                <a:latin typeface="Arial"/>
                <a:ea typeface="Arial"/>
                <a:cs typeface="Arial"/>
              </a:defRPr>
            </a:lvl2pPr>
            <a:lvl3pPr>
              <a:buNone/>
              <a:defRPr sz="2100" b="0">
                <a:solidFill>
                  <a:srgbClr val="213C52"/>
                </a:solidFill>
                <a:latin typeface="Arial"/>
                <a:ea typeface="Arial"/>
                <a:cs typeface="Arial"/>
              </a:defRPr>
            </a:lvl3pPr>
            <a:lvl4pPr>
              <a:buNone/>
              <a:defRPr sz="2100" b="0">
                <a:solidFill>
                  <a:srgbClr val="213C52"/>
                </a:solidFill>
                <a:latin typeface="Arial"/>
                <a:ea typeface="Arial"/>
                <a:cs typeface="Arial"/>
              </a:defRPr>
            </a:lvl4pPr>
            <a:lvl5pPr>
              <a:buNone/>
              <a:defRPr sz="2100" b="0">
                <a:solidFill>
                  <a:srgbClr val="213C52"/>
                </a:solidFill>
                <a:latin typeface="Arial"/>
                <a:ea typeface="Arial"/>
                <a:cs typeface="Arial"/>
              </a:defRPr>
            </a:lvl5pPr>
            <a:lvl6pPr>
              <a:buNone/>
              <a:defRPr sz="2100" b="0">
                <a:solidFill>
                  <a:srgbClr val="213C52"/>
                </a:solidFill>
                <a:latin typeface="Arial"/>
                <a:ea typeface="Arial"/>
                <a:cs typeface="Arial"/>
              </a:defRPr>
            </a:lvl6pPr>
            <a:lvl7pPr>
              <a:buNone/>
              <a:defRPr sz="2100" b="0">
                <a:solidFill>
                  <a:srgbClr val="213C52"/>
                </a:solidFill>
                <a:latin typeface="Arial"/>
                <a:ea typeface="Arial"/>
                <a:cs typeface="Arial"/>
              </a:defRPr>
            </a:lvl7pPr>
            <a:lvl8pPr>
              <a:buNone/>
              <a:defRPr sz="2100" b="0">
                <a:solidFill>
                  <a:srgbClr val="213C52"/>
                </a:solidFill>
                <a:latin typeface="Arial"/>
                <a:ea typeface="Arial"/>
                <a:cs typeface="Arial"/>
              </a:defRPr>
            </a:lvl8pPr>
            <a:lvl9pPr>
              <a:buNone/>
              <a:defRPr sz="2100" b="0">
                <a:solidFill>
                  <a:srgbClr val="213C52"/>
                </a:solidFill>
                <a:latin typeface="Arial"/>
                <a:ea typeface="Arial"/>
                <a:cs typeface="Arial"/>
              </a:defRPr>
            </a:lvl9pPr>
          </a:lstStyle>
          <a:p>
            <a:pPr>
              <a:buNone/>
              <a:defRPr sz="2100" b="0">
                <a:solidFill>
                  <a:srgbClr val="213C52"/>
                </a:solidFill>
                <a:latin typeface="Arial"/>
                <a:ea typeface="Arial"/>
                <a:cs typeface="Arial"/>
              </a:defRPr>
            </a:pPr>
            <a:r>
              <a:rPr sz="2100" b="0">
                <a:solidFill>
                  <a:srgbClr val="213C52"/>
                </a:solidFill>
                <a:latin typeface="Arial"/>
                <a:ea typeface="Arial"/>
                <a:cs typeface="Arial"/>
              </a:rPr>
              <a:t>Black, blue, grey and pink themes</a:t>
            </a:r>
          </a:p>
          <a:p>
            <a:pPr>
              <a:buNone/>
              <a:defRPr sz="2100" b="0">
                <a:solidFill>
                  <a:srgbClr val="213C52"/>
                </a:solidFill>
                <a:latin typeface="Arial"/>
                <a:ea typeface="Arial"/>
                <a:cs typeface="Arial"/>
              </a:defRPr>
            </a:pPr>
            <a:r>
              <a:rPr sz="2100" b="0">
                <a:solidFill>
                  <a:srgbClr val="213C52"/>
                </a:solidFill>
                <a:latin typeface="Arial"/>
                <a:ea typeface="Arial"/>
                <a:cs typeface="Arial"/>
              </a:rPr>
              <a:t>Password change and assigned roles/work areas</a:t>
            </a:r>
          </a:p>
        </p:txBody>
      </p:sp>
      <p:sp>
        <p:nvSpPr>
          <p:cNvPr id="6" name="text-6">
            <a:extLst>
              <a:ext uri="{FF2B5EF4-FFF2-40B4-BE49-F238E27FC236}">
                <a16:creationId xmlns:a16="http://schemas.microsoft.com/office/drawing/2014/main" id="{7E61FEBD-5B90-4E2E-A482-45C63EA403D6}"/>
              </a:ext>
            </a:extLst>
          </p:cNvPr>
          <p:cNvSpPr>
            <a:spLocks noGrp="1"/>
          </p:cNvSpPr>
          <p:nvPr/>
        </p:nvSpPr>
        <p:spPr>
          <a:xfrm>
            <a:off x="609600" y="3781425"/>
            <a:ext cx="5905500" cy="41910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Recovery and diagnostics</a:t>
            </a:r>
          </a:p>
        </p:txBody>
      </p:sp>
      <p:sp>
        <p:nvSpPr>
          <p:cNvPr id="7" name="text-7">
            <a:extLst>
              <a:ext uri="{FF2B5EF4-FFF2-40B4-BE49-F238E27FC236}">
                <a16:creationId xmlns:a16="http://schemas.microsoft.com/office/drawing/2014/main" id="{BDBEBF36-D102-4F88-B019-76313BB502BD}"/>
              </a:ext>
            </a:extLst>
          </p:cNvPr>
          <p:cNvSpPr>
            <a:spLocks noGrp="1"/>
          </p:cNvSpPr>
          <p:nvPr/>
        </p:nvSpPr>
        <p:spPr>
          <a:xfrm>
            <a:off x="609600" y="4419600"/>
            <a:ext cx="5905500" cy="1428750"/>
          </a:xfrm>
          <a:prstGeom prst="rect">
            <a:avLst/>
          </a:prstGeom>
          <a:noFill/>
          <a:ln w="0">
            <a:noFill/>
          </a:ln>
        </p:spPr>
        <p:txBody>
          <a:bodyPr wrap="square" lIns="0" tIns="0" rIns="0" bIns="0" anchor="t">
            <a:noAutofit/>
          </a:bodyPr>
          <a:lstStyle>
            <a:defPPr>
              <a:defRPr sz="2100" b="0">
                <a:solidFill>
                  <a:srgbClr val="213C52"/>
                </a:solidFill>
                <a:latin typeface="Arial"/>
                <a:ea typeface="Arial"/>
                <a:cs typeface="Arial"/>
              </a:defRPr>
            </a:defPPr>
            <a:lvl1pPr>
              <a:buNone/>
              <a:defRPr sz="2100" b="0">
                <a:solidFill>
                  <a:srgbClr val="213C52"/>
                </a:solidFill>
                <a:latin typeface="Arial"/>
                <a:ea typeface="Arial"/>
                <a:cs typeface="Arial"/>
              </a:defRPr>
            </a:lvl1pPr>
            <a:lvl2pPr>
              <a:buNone/>
              <a:defRPr sz="2100" b="0">
                <a:solidFill>
                  <a:srgbClr val="213C52"/>
                </a:solidFill>
                <a:latin typeface="Arial"/>
                <a:ea typeface="Arial"/>
                <a:cs typeface="Arial"/>
              </a:defRPr>
            </a:lvl2pPr>
            <a:lvl3pPr>
              <a:buNone/>
              <a:defRPr sz="2100" b="0">
                <a:solidFill>
                  <a:srgbClr val="213C52"/>
                </a:solidFill>
                <a:latin typeface="Arial"/>
                <a:ea typeface="Arial"/>
                <a:cs typeface="Arial"/>
              </a:defRPr>
            </a:lvl3pPr>
            <a:lvl4pPr>
              <a:buNone/>
              <a:defRPr sz="2100" b="0">
                <a:solidFill>
                  <a:srgbClr val="213C52"/>
                </a:solidFill>
                <a:latin typeface="Arial"/>
                <a:ea typeface="Arial"/>
                <a:cs typeface="Arial"/>
              </a:defRPr>
            </a:lvl4pPr>
            <a:lvl5pPr>
              <a:buNone/>
              <a:defRPr sz="2100" b="0">
                <a:solidFill>
                  <a:srgbClr val="213C52"/>
                </a:solidFill>
                <a:latin typeface="Arial"/>
                <a:ea typeface="Arial"/>
                <a:cs typeface="Arial"/>
              </a:defRPr>
            </a:lvl5pPr>
            <a:lvl6pPr>
              <a:buNone/>
              <a:defRPr sz="2100" b="0">
                <a:solidFill>
                  <a:srgbClr val="213C52"/>
                </a:solidFill>
                <a:latin typeface="Arial"/>
                <a:ea typeface="Arial"/>
                <a:cs typeface="Arial"/>
              </a:defRPr>
            </a:lvl6pPr>
            <a:lvl7pPr>
              <a:buNone/>
              <a:defRPr sz="2100" b="0">
                <a:solidFill>
                  <a:srgbClr val="213C52"/>
                </a:solidFill>
                <a:latin typeface="Arial"/>
                <a:ea typeface="Arial"/>
                <a:cs typeface="Arial"/>
              </a:defRPr>
            </a:lvl7pPr>
            <a:lvl8pPr>
              <a:buNone/>
              <a:defRPr sz="2100" b="0">
                <a:solidFill>
                  <a:srgbClr val="213C52"/>
                </a:solidFill>
                <a:latin typeface="Arial"/>
                <a:ea typeface="Arial"/>
                <a:cs typeface="Arial"/>
              </a:defRPr>
            </a:lvl8pPr>
            <a:lvl9pPr>
              <a:buNone/>
              <a:defRPr sz="2100" b="0">
                <a:solidFill>
                  <a:srgbClr val="213C52"/>
                </a:solidFill>
                <a:latin typeface="Arial"/>
                <a:ea typeface="Arial"/>
                <a:cs typeface="Arial"/>
              </a:defRPr>
            </a:lvl9pPr>
          </a:lstStyle>
          <a:p>
            <a:pPr>
              <a:buNone/>
              <a:defRPr sz="2100" b="0">
                <a:solidFill>
                  <a:srgbClr val="213C52"/>
                </a:solidFill>
                <a:latin typeface="Arial"/>
                <a:ea typeface="Arial"/>
                <a:cs typeface="Arial"/>
              </a:defRPr>
            </a:pPr>
            <a:r>
              <a:rPr sz="2100" b="0">
                <a:solidFill>
                  <a:srgbClr val="213C52"/>
                </a:solidFill>
                <a:latin typeface="Arial"/>
                <a:ea typeface="Arial"/>
                <a:cs typeface="Arial"/>
              </a:rPr>
              <a:t>One-use reset-link drafts</a:t>
            </a:r>
          </a:p>
          <a:p>
            <a:pPr>
              <a:buNone/>
              <a:defRPr sz="2100" b="0">
                <a:solidFill>
                  <a:srgbClr val="213C52"/>
                </a:solidFill>
                <a:latin typeface="Arial"/>
                <a:ea typeface="Arial"/>
                <a:cs typeface="Arial"/>
              </a:defRPr>
            </a:pPr>
            <a:r>
              <a:rPr sz="2100" b="0">
                <a:solidFill>
                  <a:srgbClr val="213C52"/>
                </a:solidFill>
                <a:latin typeface="Arial"/>
                <a:ea typeface="Arial"/>
                <a:cs typeface="Arial"/>
              </a:rPr>
              <a:t>File integrity and local database checks</a:t>
            </a:r>
          </a:p>
          <a:p>
            <a:pPr>
              <a:buNone/>
              <a:defRPr sz="2100" b="0">
                <a:solidFill>
                  <a:srgbClr val="213C52"/>
                </a:solidFill>
                <a:latin typeface="Arial"/>
                <a:ea typeface="Arial"/>
                <a:cs typeface="Arial"/>
              </a:defRPr>
            </a:pPr>
            <a:r>
              <a:rPr sz="2100" b="0">
                <a:solidFill>
                  <a:srgbClr val="213C52"/>
                </a:solidFill>
                <a:latin typeface="Arial"/>
                <a:ea typeface="Arial"/>
                <a:cs typeface="Arial"/>
              </a:rPr>
              <a:t>Safe repair with troubleshooting advice</a:t>
            </a:r>
          </a:p>
        </p:txBody>
      </p:sp>
      <p:pic>
        <p:nvPicPr>
          <p:cNvPr id="8" name="Picture 7">
            <a:extLst>
              <a:ext uri="{FF2B5EF4-FFF2-40B4-BE49-F238E27FC236}">
                <a16:creationId xmlns:a16="http://schemas.microsoft.com/office/drawing/2014/main" id="{BE18B243-4A6B-4DB5-A395-7ED6805CB505}"/>
              </a:ext>
            </a:extLst>
          </p:cNvPr>
          <p:cNvPicPr>
            <a:picLocks noChangeAspect="1"/>
          </p:cNvPicPr>
          <p:nvPr/>
        </p:nvPicPr>
        <p:blipFill>
          <a:blip r:embed="rId3"/>
          <a:stretch/>
        </p:blipFill>
        <p:spPr>
          <a:xfrm>
            <a:off x="7400925" y="1644473"/>
            <a:ext cx="4171950" cy="4464404"/>
          </a:xfrm>
          <a:prstGeom prst="rect">
            <a:avLst/>
          </a:prstGeom>
        </p:spPr>
      </p:pic>
    </p:spTree>
    <p:extLst>
      <p:ext uri="{BB962C8B-B14F-4D97-AF65-F5344CB8AC3E}">
        <p14:creationId xmlns:p14="http://schemas.microsoft.com/office/powerpoint/2010/main" val="1212143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1">
            <a:extLst>
              <a:ext uri="{FF2B5EF4-FFF2-40B4-BE49-F238E27FC236}">
                <a16:creationId xmlns:a16="http://schemas.microsoft.com/office/drawing/2014/main" id="{D64C51E1-EE1D-4BA2-8AFE-3FCBD43E62E6}"/>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16  Automated tests and test data</a:t>
            </a:r>
          </a:p>
        </p:txBody>
      </p:sp>
      <p:sp>
        <p:nvSpPr>
          <p:cNvPr id="2" name="text-2">
            <a:extLst>
              <a:ext uri="{FF2B5EF4-FFF2-40B4-BE49-F238E27FC236}">
                <a16:creationId xmlns:a16="http://schemas.microsoft.com/office/drawing/2014/main" id="{5247666F-90B2-4098-8038-A9D98F1D31D1}"/>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9C97CFEE-D7BF-4934-B837-8EFD654D96BE}"/>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19</a:t>
            </a:r>
          </a:p>
        </p:txBody>
      </p:sp>
      <p:graphicFrame>
        <p:nvGraphicFramePr>
          <p:cNvPr id="4" name="Table 3">
            <a:extLst>
              <a:ext uri="{FF2B5EF4-FFF2-40B4-BE49-F238E27FC236}">
                <a16:creationId xmlns:a16="http://schemas.microsoft.com/office/drawing/2014/main" id="{7CC1CADA-8A2A-4545-AA71-BA4F84A4A73C}"/>
              </a:ext>
            </a:extLst>
          </p:cNvPr>
          <p:cNvGraphicFramePr/>
          <p:nvPr/>
        </p:nvGraphicFramePr>
        <p:xfrm>
          <a:off x="609600" y="1733550"/>
          <a:ext cx="7191375" cy="2857500"/>
        </p:xfrm>
        <a:graphic>
          <a:graphicData uri="http://schemas.openxmlformats.org/drawingml/2006/table">
            <a:tbl>
              <a:tblPr/>
              <a:tblGrid>
                <a:gridCol w="476250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tblGrid>
              <a:tr h="714375">
                <a:tc>
                  <a:txBody>
                    <a:bodyPr/>
                    <a:lstStyle/>
                    <a:p>
                      <a:r>
                        <a:rPr sz="2175" b="1">
                          <a:solidFill>
                            <a:srgbClr val="FFFFFF"/>
                          </a:solidFill>
                          <a:latin typeface="Arial"/>
                          <a:ea typeface="Arial"/>
                          <a:cs typeface="Arial"/>
                        </a:rPr>
                        <a:t>Synthetic dataset</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2175" b="1">
                          <a:solidFill>
                            <a:srgbClr val="FFFFFF"/>
                          </a:solidFill>
                          <a:latin typeface="Arial"/>
                          <a:ea typeface="Arial"/>
                          <a:cs typeface="Arial"/>
                        </a:rPr>
                        <a:t>Count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714375">
                <a:tc>
                  <a:txBody>
                    <a:bodyPr/>
                    <a:lstStyle/>
                    <a:p>
                      <a:r>
                        <a:rPr sz="2175" b="0">
                          <a:solidFill>
                            <a:srgbClr val="213C52"/>
                          </a:solidFill>
                          <a:latin typeface="Arial"/>
                          <a:ea typeface="Arial"/>
                          <a:cs typeface="Arial"/>
                        </a:rPr>
                        <a:t>Customers / projects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2175" b="0">
                          <a:solidFill>
                            <a:srgbClr val="213C52"/>
                          </a:solidFill>
                          <a:latin typeface="Arial"/>
                          <a:ea typeface="Arial"/>
                          <a:cs typeface="Arial"/>
                        </a:rPr>
                        <a:t>100 / 100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714375">
                <a:tc>
                  <a:txBody>
                    <a:bodyPr/>
                    <a:lstStyle/>
                    <a:p>
                      <a:r>
                        <a:rPr sz="2175" b="0">
                          <a:solidFill>
                            <a:srgbClr val="213C52"/>
                          </a:solidFill>
                          <a:latin typeface="Arial"/>
                          <a:ea typeface="Arial"/>
                          <a:cs typeface="Arial"/>
                        </a:rPr>
                        <a:t>Posted invoices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2175" b="0">
                          <a:solidFill>
                            <a:srgbClr val="213C52"/>
                          </a:solidFill>
                          <a:latin typeface="Arial"/>
                          <a:ea typeface="Arial"/>
                          <a:cs typeface="Arial"/>
                        </a:rPr>
                        <a:t>400</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714375">
                <a:tc>
                  <a:txBody>
                    <a:bodyPr/>
                    <a:lstStyle/>
                    <a:p>
                      <a:r>
                        <a:rPr sz="2175" b="0">
                          <a:solidFill>
                            <a:srgbClr val="213C52"/>
                          </a:solidFill>
                          <a:latin typeface="Arial"/>
                          <a:ea typeface="Arial"/>
                          <a:cs typeface="Arial"/>
                        </a:rPr>
                        <a:t>Allocated receipts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2175" b="0">
                          <a:solidFill>
                            <a:srgbClr val="213C52"/>
                          </a:solidFill>
                          <a:latin typeface="Arial"/>
                          <a:ea typeface="Arial"/>
                          <a:cs typeface="Arial"/>
                        </a:rPr>
                        <a:t>275</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bl>
          </a:graphicData>
        </a:graphic>
      </p:graphicFrame>
      <p:sp>
        <p:nvSpPr>
          <p:cNvPr id="5" name="text-4">
            <a:extLst>
              <a:ext uri="{FF2B5EF4-FFF2-40B4-BE49-F238E27FC236}">
                <a16:creationId xmlns:a16="http://schemas.microsoft.com/office/drawing/2014/main" id="{691CA2B6-3C12-4C58-B35B-3F00354430D9}"/>
              </a:ext>
            </a:extLst>
          </p:cNvPr>
          <p:cNvSpPr>
            <a:spLocks noGrp="1"/>
          </p:cNvSpPr>
          <p:nvPr/>
        </p:nvSpPr>
        <p:spPr>
          <a:xfrm>
            <a:off x="8496300" y="1743075"/>
            <a:ext cx="2857500" cy="800100"/>
          </a:xfrm>
          <a:prstGeom prst="rect">
            <a:avLst/>
          </a:prstGeom>
          <a:noFill/>
          <a:ln w="0">
            <a:noFill/>
          </a:ln>
        </p:spPr>
        <p:txBody>
          <a:bodyPr wrap="square" lIns="0" tIns="0" rIns="0" bIns="0" anchor="t">
            <a:noAutofit/>
          </a:bodyPr>
          <a:lstStyle>
            <a:defPPr>
              <a:defRPr sz="5250" b="1">
                <a:solidFill>
                  <a:srgbClr val="168678"/>
                </a:solidFill>
                <a:latin typeface="Arial"/>
                <a:ea typeface="Arial"/>
                <a:cs typeface="Arial"/>
              </a:defRPr>
            </a:defPPr>
            <a:lvl1pPr>
              <a:buNone/>
              <a:defRPr sz="5250" b="1">
                <a:solidFill>
                  <a:srgbClr val="168678"/>
                </a:solidFill>
                <a:latin typeface="Arial"/>
                <a:ea typeface="Arial"/>
                <a:cs typeface="Arial"/>
              </a:defRPr>
            </a:lvl1pPr>
            <a:lvl2pPr>
              <a:buNone/>
              <a:defRPr sz="5250" b="1">
                <a:solidFill>
                  <a:srgbClr val="168678"/>
                </a:solidFill>
                <a:latin typeface="Arial"/>
                <a:ea typeface="Arial"/>
                <a:cs typeface="Arial"/>
              </a:defRPr>
            </a:lvl2pPr>
            <a:lvl3pPr>
              <a:buNone/>
              <a:defRPr sz="5250" b="1">
                <a:solidFill>
                  <a:srgbClr val="168678"/>
                </a:solidFill>
                <a:latin typeface="Arial"/>
                <a:ea typeface="Arial"/>
                <a:cs typeface="Arial"/>
              </a:defRPr>
            </a:lvl3pPr>
            <a:lvl4pPr>
              <a:buNone/>
              <a:defRPr sz="5250" b="1">
                <a:solidFill>
                  <a:srgbClr val="168678"/>
                </a:solidFill>
                <a:latin typeface="Arial"/>
                <a:ea typeface="Arial"/>
                <a:cs typeface="Arial"/>
              </a:defRPr>
            </a:lvl4pPr>
            <a:lvl5pPr>
              <a:buNone/>
              <a:defRPr sz="5250" b="1">
                <a:solidFill>
                  <a:srgbClr val="168678"/>
                </a:solidFill>
                <a:latin typeface="Arial"/>
                <a:ea typeface="Arial"/>
                <a:cs typeface="Arial"/>
              </a:defRPr>
            </a:lvl5pPr>
            <a:lvl6pPr>
              <a:buNone/>
              <a:defRPr sz="5250" b="1">
                <a:solidFill>
                  <a:srgbClr val="168678"/>
                </a:solidFill>
                <a:latin typeface="Arial"/>
                <a:ea typeface="Arial"/>
                <a:cs typeface="Arial"/>
              </a:defRPr>
            </a:lvl6pPr>
            <a:lvl7pPr>
              <a:buNone/>
              <a:defRPr sz="5250" b="1">
                <a:solidFill>
                  <a:srgbClr val="168678"/>
                </a:solidFill>
                <a:latin typeface="Arial"/>
                <a:ea typeface="Arial"/>
                <a:cs typeface="Arial"/>
              </a:defRPr>
            </a:lvl7pPr>
            <a:lvl8pPr>
              <a:buNone/>
              <a:defRPr sz="5250" b="1">
                <a:solidFill>
                  <a:srgbClr val="168678"/>
                </a:solidFill>
                <a:latin typeface="Arial"/>
                <a:ea typeface="Arial"/>
                <a:cs typeface="Arial"/>
              </a:defRPr>
            </a:lvl8pPr>
            <a:lvl9pPr>
              <a:buNone/>
              <a:defRPr sz="5250" b="1">
                <a:solidFill>
                  <a:srgbClr val="168678"/>
                </a:solidFill>
                <a:latin typeface="Arial"/>
                <a:ea typeface="Arial"/>
                <a:cs typeface="Arial"/>
              </a:defRPr>
            </a:lvl9pPr>
          </a:lstStyle>
          <a:p>
            <a:pPr>
              <a:buNone/>
              <a:defRPr sz="5250" b="1">
                <a:solidFill>
                  <a:srgbClr val="168678"/>
                </a:solidFill>
                <a:latin typeface="Arial"/>
                <a:ea typeface="Arial"/>
                <a:cs typeface="Arial"/>
              </a:defRPr>
            </a:pPr>
            <a:r>
              <a:rPr sz="5250" b="1">
                <a:solidFill>
                  <a:srgbClr val="168678"/>
                </a:solidFill>
                <a:latin typeface="Arial"/>
                <a:ea typeface="Arial"/>
                <a:cs typeface="Arial"/>
              </a:rPr>
              <a:t>53</a:t>
            </a:r>
          </a:p>
        </p:txBody>
      </p:sp>
      <p:sp>
        <p:nvSpPr>
          <p:cNvPr id="6" name="text-5">
            <a:extLst>
              <a:ext uri="{FF2B5EF4-FFF2-40B4-BE49-F238E27FC236}">
                <a16:creationId xmlns:a16="http://schemas.microsoft.com/office/drawing/2014/main" id="{B56CC050-DEBF-4138-A9A8-37384C1614BF}"/>
              </a:ext>
            </a:extLst>
          </p:cNvPr>
          <p:cNvSpPr>
            <a:spLocks noGrp="1"/>
          </p:cNvSpPr>
          <p:nvPr/>
        </p:nvSpPr>
        <p:spPr>
          <a:xfrm>
            <a:off x="8496300" y="2667000"/>
            <a:ext cx="2857500" cy="809625"/>
          </a:xfrm>
          <a:prstGeom prst="rect">
            <a:avLst/>
          </a:prstGeom>
          <a:noFill/>
          <a:ln w="0">
            <a:noFill/>
          </a:ln>
        </p:spPr>
        <p:txBody>
          <a:bodyPr wrap="square" lIns="0" tIns="0" rIns="0" bIns="0" anchor="t">
            <a:noAutofit/>
          </a:bodyPr>
          <a:lstStyle>
            <a:defPPr>
              <a:defRPr sz="2100" b="0">
                <a:solidFill>
                  <a:srgbClr val="213C52"/>
                </a:solidFill>
                <a:latin typeface="Arial"/>
                <a:ea typeface="Arial"/>
                <a:cs typeface="Arial"/>
              </a:defRPr>
            </a:defPPr>
            <a:lvl1pPr>
              <a:buNone/>
              <a:defRPr sz="2100" b="0">
                <a:solidFill>
                  <a:srgbClr val="213C52"/>
                </a:solidFill>
                <a:latin typeface="Arial"/>
                <a:ea typeface="Arial"/>
                <a:cs typeface="Arial"/>
              </a:defRPr>
            </a:lvl1pPr>
            <a:lvl2pPr>
              <a:buNone/>
              <a:defRPr sz="2100" b="0">
                <a:solidFill>
                  <a:srgbClr val="213C52"/>
                </a:solidFill>
                <a:latin typeface="Arial"/>
                <a:ea typeface="Arial"/>
                <a:cs typeface="Arial"/>
              </a:defRPr>
            </a:lvl2pPr>
            <a:lvl3pPr>
              <a:buNone/>
              <a:defRPr sz="2100" b="0">
                <a:solidFill>
                  <a:srgbClr val="213C52"/>
                </a:solidFill>
                <a:latin typeface="Arial"/>
                <a:ea typeface="Arial"/>
                <a:cs typeface="Arial"/>
              </a:defRPr>
            </a:lvl3pPr>
            <a:lvl4pPr>
              <a:buNone/>
              <a:defRPr sz="2100" b="0">
                <a:solidFill>
                  <a:srgbClr val="213C52"/>
                </a:solidFill>
                <a:latin typeface="Arial"/>
                <a:ea typeface="Arial"/>
                <a:cs typeface="Arial"/>
              </a:defRPr>
            </a:lvl4pPr>
            <a:lvl5pPr>
              <a:buNone/>
              <a:defRPr sz="2100" b="0">
                <a:solidFill>
                  <a:srgbClr val="213C52"/>
                </a:solidFill>
                <a:latin typeface="Arial"/>
                <a:ea typeface="Arial"/>
                <a:cs typeface="Arial"/>
              </a:defRPr>
            </a:lvl5pPr>
            <a:lvl6pPr>
              <a:buNone/>
              <a:defRPr sz="2100" b="0">
                <a:solidFill>
                  <a:srgbClr val="213C52"/>
                </a:solidFill>
                <a:latin typeface="Arial"/>
                <a:ea typeface="Arial"/>
                <a:cs typeface="Arial"/>
              </a:defRPr>
            </a:lvl6pPr>
            <a:lvl7pPr>
              <a:buNone/>
              <a:defRPr sz="2100" b="0">
                <a:solidFill>
                  <a:srgbClr val="213C52"/>
                </a:solidFill>
                <a:latin typeface="Arial"/>
                <a:ea typeface="Arial"/>
                <a:cs typeface="Arial"/>
              </a:defRPr>
            </a:lvl7pPr>
            <a:lvl8pPr>
              <a:buNone/>
              <a:defRPr sz="2100" b="0">
                <a:solidFill>
                  <a:srgbClr val="213C52"/>
                </a:solidFill>
                <a:latin typeface="Arial"/>
                <a:ea typeface="Arial"/>
                <a:cs typeface="Arial"/>
              </a:defRPr>
            </a:lvl8pPr>
            <a:lvl9pPr>
              <a:buNone/>
              <a:defRPr sz="2100" b="0">
                <a:solidFill>
                  <a:srgbClr val="213C52"/>
                </a:solidFill>
                <a:latin typeface="Arial"/>
                <a:ea typeface="Arial"/>
                <a:cs typeface="Arial"/>
              </a:defRPr>
            </a:lvl9pPr>
          </a:lstStyle>
          <a:p>
            <a:pPr>
              <a:buNone/>
              <a:defRPr sz="2100" b="0">
                <a:solidFill>
                  <a:srgbClr val="213C52"/>
                </a:solidFill>
                <a:latin typeface="Arial"/>
                <a:ea typeface="Arial"/>
                <a:cs typeface="Arial"/>
              </a:defRPr>
            </a:pPr>
            <a:r>
              <a:rPr sz="2100" b="0">
                <a:solidFill>
                  <a:srgbClr val="213C52"/>
                </a:solidFill>
                <a:latin typeface="Arial"/>
                <a:ea typeface="Arial"/>
                <a:cs typeface="Arial"/>
              </a:rPr>
              <a:t>release regression scenarios</a:t>
            </a:r>
          </a:p>
        </p:txBody>
      </p:sp>
      <p:sp>
        <p:nvSpPr>
          <p:cNvPr id="7" name="text-6">
            <a:extLst>
              <a:ext uri="{FF2B5EF4-FFF2-40B4-BE49-F238E27FC236}">
                <a16:creationId xmlns:a16="http://schemas.microsoft.com/office/drawing/2014/main" id="{D37DE89F-A91D-4FCB-B099-E1963D4CA775}"/>
              </a:ext>
            </a:extLst>
          </p:cNvPr>
          <p:cNvSpPr>
            <a:spLocks noGrp="1"/>
          </p:cNvSpPr>
          <p:nvPr/>
        </p:nvSpPr>
        <p:spPr>
          <a:xfrm>
            <a:off x="8496300" y="3886200"/>
            <a:ext cx="2857500" cy="714375"/>
          </a:xfrm>
          <a:prstGeom prst="rect">
            <a:avLst/>
          </a:prstGeom>
          <a:noFill/>
          <a:ln w="0">
            <a:noFill/>
          </a:ln>
        </p:spPr>
        <p:txBody>
          <a:bodyPr wrap="square" lIns="0" tIns="0" rIns="0" bIns="0" anchor="t">
            <a:noAutofit/>
          </a:bodyPr>
          <a:lstStyle>
            <a:defPPr>
              <a:defRPr sz="4500" b="1">
                <a:solidFill>
                  <a:srgbClr val="168678"/>
                </a:solidFill>
                <a:latin typeface="Arial"/>
                <a:ea typeface="Arial"/>
                <a:cs typeface="Arial"/>
              </a:defRPr>
            </a:defPPr>
            <a:lvl1pPr>
              <a:buNone/>
              <a:defRPr sz="4500" b="1">
                <a:solidFill>
                  <a:srgbClr val="168678"/>
                </a:solidFill>
                <a:latin typeface="Arial"/>
                <a:ea typeface="Arial"/>
                <a:cs typeface="Arial"/>
              </a:defRPr>
            </a:lvl1pPr>
            <a:lvl2pPr>
              <a:buNone/>
              <a:defRPr sz="4500" b="1">
                <a:solidFill>
                  <a:srgbClr val="168678"/>
                </a:solidFill>
                <a:latin typeface="Arial"/>
                <a:ea typeface="Arial"/>
                <a:cs typeface="Arial"/>
              </a:defRPr>
            </a:lvl2pPr>
            <a:lvl3pPr>
              <a:buNone/>
              <a:defRPr sz="4500" b="1">
                <a:solidFill>
                  <a:srgbClr val="168678"/>
                </a:solidFill>
                <a:latin typeface="Arial"/>
                <a:ea typeface="Arial"/>
                <a:cs typeface="Arial"/>
              </a:defRPr>
            </a:lvl3pPr>
            <a:lvl4pPr>
              <a:buNone/>
              <a:defRPr sz="4500" b="1">
                <a:solidFill>
                  <a:srgbClr val="168678"/>
                </a:solidFill>
                <a:latin typeface="Arial"/>
                <a:ea typeface="Arial"/>
                <a:cs typeface="Arial"/>
              </a:defRPr>
            </a:lvl4pPr>
            <a:lvl5pPr>
              <a:buNone/>
              <a:defRPr sz="4500" b="1">
                <a:solidFill>
                  <a:srgbClr val="168678"/>
                </a:solidFill>
                <a:latin typeface="Arial"/>
                <a:ea typeface="Arial"/>
                <a:cs typeface="Arial"/>
              </a:defRPr>
            </a:lvl5pPr>
            <a:lvl6pPr>
              <a:buNone/>
              <a:defRPr sz="4500" b="1">
                <a:solidFill>
                  <a:srgbClr val="168678"/>
                </a:solidFill>
                <a:latin typeface="Arial"/>
                <a:ea typeface="Arial"/>
                <a:cs typeface="Arial"/>
              </a:defRPr>
            </a:lvl6pPr>
            <a:lvl7pPr>
              <a:buNone/>
              <a:defRPr sz="4500" b="1">
                <a:solidFill>
                  <a:srgbClr val="168678"/>
                </a:solidFill>
                <a:latin typeface="Arial"/>
                <a:ea typeface="Arial"/>
                <a:cs typeface="Arial"/>
              </a:defRPr>
            </a:lvl7pPr>
            <a:lvl8pPr>
              <a:buNone/>
              <a:defRPr sz="4500" b="1">
                <a:solidFill>
                  <a:srgbClr val="168678"/>
                </a:solidFill>
                <a:latin typeface="Arial"/>
                <a:ea typeface="Arial"/>
                <a:cs typeface="Arial"/>
              </a:defRPr>
            </a:lvl8pPr>
            <a:lvl9pPr>
              <a:buNone/>
              <a:defRPr sz="4500" b="1">
                <a:solidFill>
                  <a:srgbClr val="168678"/>
                </a:solidFill>
                <a:latin typeface="Arial"/>
                <a:ea typeface="Arial"/>
                <a:cs typeface="Arial"/>
              </a:defRPr>
            </a:lvl9pPr>
          </a:lstStyle>
          <a:p>
            <a:pPr>
              <a:buNone/>
              <a:defRPr sz="4500" b="1">
                <a:solidFill>
                  <a:srgbClr val="168678"/>
                </a:solidFill>
                <a:latin typeface="Arial"/>
                <a:ea typeface="Arial"/>
                <a:cs typeface="Arial"/>
              </a:defRPr>
            </a:pPr>
            <a:r>
              <a:rPr sz="4500" b="1">
                <a:solidFill>
                  <a:srgbClr val="168678"/>
                </a:solidFill>
                <a:latin typeface="Arial"/>
                <a:ea typeface="Arial"/>
                <a:cs typeface="Arial"/>
              </a:rPr>
              <a:t>11</a:t>
            </a:r>
          </a:p>
        </p:txBody>
      </p:sp>
      <p:sp>
        <p:nvSpPr>
          <p:cNvPr id="8" name="text-7">
            <a:extLst>
              <a:ext uri="{FF2B5EF4-FFF2-40B4-BE49-F238E27FC236}">
                <a16:creationId xmlns:a16="http://schemas.microsoft.com/office/drawing/2014/main" id="{9204115F-C731-4860-B581-EA585A40F427}"/>
              </a:ext>
            </a:extLst>
          </p:cNvPr>
          <p:cNvSpPr>
            <a:spLocks noGrp="1"/>
          </p:cNvSpPr>
          <p:nvPr/>
        </p:nvSpPr>
        <p:spPr>
          <a:xfrm>
            <a:off x="8496300" y="4733925"/>
            <a:ext cx="2857500" cy="857250"/>
          </a:xfrm>
          <a:prstGeom prst="rect">
            <a:avLst/>
          </a:prstGeom>
          <a:noFill/>
          <a:ln w="0">
            <a:noFill/>
          </a:ln>
        </p:spPr>
        <p:txBody>
          <a:bodyPr wrap="square" lIns="0" tIns="0" rIns="0" bIns="0" anchor="t">
            <a:noAutofit/>
          </a:bodyPr>
          <a:lstStyle>
            <a:defPPr>
              <a:defRPr sz="2100" b="0">
                <a:solidFill>
                  <a:srgbClr val="213C52"/>
                </a:solidFill>
                <a:latin typeface="Arial"/>
                <a:ea typeface="Arial"/>
                <a:cs typeface="Arial"/>
              </a:defRPr>
            </a:defPPr>
            <a:lvl1pPr>
              <a:buNone/>
              <a:defRPr sz="2100" b="0">
                <a:solidFill>
                  <a:srgbClr val="213C52"/>
                </a:solidFill>
                <a:latin typeface="Arial"/>
                <a:ea typeface="Arial"/>
                <a:cs typeface="Arial"/>
              </a:defRPr>
            </a:lvl1pPr>
            <a:lvl2pPr>
              <a:buNone/>
              <a:defRPr sz="2100" b="0">
                <a:solidFill>
                  <a:srgbClr val="213C52"/>
                </a:solidFill>
                <a:latin typeface="Arial"/>
                <a:ea typeface="Arial"/>
                <a:cs typeface="Arial"/>
              </a:defRPr>
            </a:lvl2pPr>
            <a:lvl3pPr>
              <a:buNone/>
              <a:defRPr sz="2100" b="0">
                <a:solidFill>
                  <a:srgbClr val="213C52"/>
                </a:solidFill>
                <a:latin typeface="Arial"/>
                <a:ea typeface="Arial"/>
                <a:cs typeface="Arial"/>
              </a:defRPr>
            </a:lvl3pPr>
            <a:lvl4pPr>
              <a:buNone/>
              <a:defRPr sz="2100" b="0">
                <a:solidFill>
                  <a:srgbClr val="213C52"/>
                </a:solidFill>
                <a:latin typeface="Arial"/>
                <a:ea typeface="Arial"/>
                <a:cs typeface="Arial"/>
              </a:defRPr>
            </a:lvl4pPr>
            <a:lvl5pPr>
              <a:buNone/>
              <a:defRPr sz="2100" b="0">
                <a:solidFill>
                  <a:srgbClr val="213C52"/>
                </a:solidFill>
                <a:latin typeface="Arial"/>
                <a:ea typeface="Arial"/>
                <a:cs typeface="Arial"/>
              </a:defRPr>
            </a:lvl5pPr>
            <a:lvl6pPr>
              <a:buNone/>
              <a:defRPr sz="2100" b="0">
                <a:solidFill>
                  <a:srgbClr val="213C52"/>
                </a:solidFill>
                <a:latin typeface="Arial"/>
                <a:ea typeface="Arial"/>
                <a:cs typeface="Arial"/>
              </a:defRPr>
            </a:lvl6pPr>
            <a:lvl7pPr>
              <a:buNone/>
              <a:defRPr sz="2100" b="0">
                <a:solidFill>
                  <a:srgbClr val="213C52"/>
                </a:solidFill>
                <a:latin typeface="Arial"/>
                <a:ea typeface="Arial"/>
                <a:cs typeface="Arial"/>
              </a:defRPr>
            </a:lvl7pPr>
            <a:lvl8pPr>
              <a:buNone/>
              <a:defRPr sz="2100" b="0">
                <a:solidFill>
                  <a:srgbClr val="213C52"/>
                </a:solidFill>
                <a:latin typeface="Arial"/>
                <a:ea typeface="Arial"/>
                <a:cs typeface="Arial"/>
              </a:defRPr>
            </a:lvl8pPr>
            <a:lvl9pPr>
              <a:buNone/>
              <a:defRPr sz="2100" b="0">
                <a:solidFill>
                  <a:srgbClr val="213C52"/>
                </a:solidFill>
                <a:latin typeface="Arial"/>
                <a:ea typeface="Arial"/>
                <a:cs typeface="Arial"/>
              </a:defRPr>
            </a:lvl9pPr>
          </a:lstStyle>
          <a:p>
            <a:pPr>
              <a:buNone/>
              <a:defRPr sz="2100" b="0">
                <a:solidFill>
                  <a:srgbClr val="213C52"/>
                </a:solidFill>
                <a:latin typeface="Arial"/>
                <a:ea typeface="Arial"/>
                <a:cs typeface="Arial"/>
              </a:defRPr>
            </a:pPr>
            <a:r>
              <a:rPr sz="2100" b="0">
                <a:solidFill>
                  <a:srgbClr val="213C52"/>
                </a:solidFill>
                <a:latin typeface="Arial"/>
                <a:ea typeface="Arial"/>
                <a:cs typeface="Arial"/>
              </a:rPr>
              <a:t>additional dataset checks</a:t>
            </a:r>
          </a:p>
        </p:txBody>
      </p:sp>
      <p:sp>
        <p:nvSpPr>
          <p:cNvPr id="9" name="text-8">
            <a:extLst>
              <a:ext uri="{FF2B5EF4-FFF2-40B4-BE49-F238E27FC236}">
                <a16:creationId xmlns:a16="http://schemas.microsoft.com/office/drawing/2014/main" id="{A8C5A4CC-5257-4DF1-8DA3-81FADDE3917C}"/>
              </a:ext>
            </a:extLst>
          </p:cNvPr>
          <p:cNvSpPr>
            <a:spLocks noGrp="1"/>
          </p:cNvSpPr>
          <p:nvPr/>
        </p:nvSpPr>
        <p:spPr>
          <a:xfrm>
            <a:off x="609600" y="5486400"/>
            <a:ext cx="10972800" cy="685800"/>
          </a:xfrm>
          <a:prstGeom prst="rect">
            <a:avLst/>
          </a:prstGeom>
          <a:noFill/>
          <a:ln w="0">
            <a:noFill/>
          </a:ln>
        </p:spPr>
        <p:txBody>
          <a:bodyPr wrap="square" lIns="0" tIns="0" rIns="0" bIns="0" anchor="t">
            <a:noAutofit/>
          </a:bodyPr>
          <a:lstStyle>
            <a:defPPr>
              <a:defRPr sz="2175" b="1">
                <a:solidFill>
                  <a:srgbClr val="16334F"/>
                </a:solidFill>
                <a:latin typeface="Arial"/>
                <a:ea typeface="Arial"/>
                <a:cs typeface="Arial"/>
              </a:defRPr>
            </a:defPPr>
            <a:lvl1pPr>
              <a:buNone/>
              <a:defRPr sz="2175" b="1">
                <a:solidFill>
                  <a:srgbClr val="16334F"/>
                </a:solidFill>
                <a:latin typeface="Arial"/>
                <a:ea typeface="Arial"/>
                <a:cs typeface="Arial"/>
              </a:defRPr>
            </a:lvl1pPr>
            <a:lvl2pPr>
              <a:buNone/>
              <a:defRPr sz="2175" b="1">
                <a:solidFill>
                  <a:srgbClr val="16334F"/>
                </a:solidFill>
                <a:latin typeface="Arial"/>
                <a:ea typeface="Arial"/>
                <a:cs typeface="Arial"/>
              </a:defRPr>
            </a:lvl2pPr>
            <a:lvl3pPr>
              <a:buNone/>
              <a:defRPr sz="2175" b="1">
                <a:solidFill>
                  <a:srgbClr val="16334F"/>
                </a:solidFill>
                <a:latin typeface="Arial"/>
                <a:ea typeface="Arial"/>
                <a:cs typeface="Arial"/>
              </a:defRPr>
            </a:lvl3pPr>
            <a:lvl4pPr>
              <a:buNone/>
              <a:defRPr sz="2175" b="1">
                <a:solidFill>
                  <a:srgbClr val="16334F"/>
                </a:solidFill>
                <a:latin typeface="Arial"/>
                <a:ea typeface="Arial"/>
                <a:cs typeface="Arial"/>
              </a:defRPr>
            </a:lvl4pPr>
            <a:lvl5pPr>
              <a:buNone/>
              <a:defRPr sz="2175" b="1">
                <a:solidFill>
                  <a:srgbClr val="16334F"/>
                </a:solidFill>
                <a:latin typeface="Arial"/>
                <a:ea typeface="Arial"/>
                <a:cs typeface="Arial"/>
              </a:defRPr>
            </a:lvl5pPr>
            <a:lvl6pPr>
              <a:buNone/>
              <a:defRPr sz="2175" b="1">
                <a:solidFill>
                  <a:srgbClr val="16334F"/>
                </a:solidFill>
                <a:latin typeface="Arial"/>
                <a:ea typeface="Arial"/>
                <a:cs typeface="Arial"/>
              </a:defRPr>
            </a:lvl6pPr>
            <a:lvl7pPr>
              <a:buNone/>
              <a:defRPr sz="2175" b="1">
                <a:solidFill>
                  <a:srgbClr val="16334F"/>
                </a:solidFill>
                <a:latin typeface="Arial"/>
                <a:ea typeface="Arial"/>
                <a:cs typeface="Arial"/>
              </a:defRPr>
            </a:lvl7pPr>
            <a:lvl8pPr>
              <a:buNone/>
              <a:defRPr sz="2175" b="1">
                <a:solidFill>
                  <a:srgbClr val="16334F"/>
                </a:solidFill>
                <a:latin typeface="Arial"/>
                <a:ea typeface="Arial"/>
                <a:cs typeface="Arial"/>
              </a:defRPr>
            </a:lvl8pPr>
            <a:lvl9pPr>
              <a:buNone/>
              <a:defRPr sz="2175" b="1">
                <a:solidFill>
                  <a:srgbClr val="16334F"/>
                </a:solidFill>
                <a:latin typeface="Arial"/>
                <a:ea typeface="Arial"/>
                <a:cs typeface="Arial"/>
              </a:defRPr>
            </a:lvl9pPr>
          </a:lstStyle>
          <a:p>
            <a:pPr>
              <a:buNone/>
              <a:defRPr sz="2175" b="1">
                <a:solidFill>
                  <a:srgbClr val="16334F"/>
                </a:solidFill>
                <a:latin typeface="Arial"/>
                <a:ea typeface="Arial"/>
                <a:cs typeface="Arial"/>
              </a:defRPr>
            </a:pPr>
            <a:r>
              <a:rPr sz="2175" b="1">
                <a:solidFill>
                  <a:srgbClr val="16334F"/>
                </a:solidFill>
                <a:latin typeface="Arial"/>
                <a:ea typeface="Arial"/>
                <a:cs typeface="Arial"/>
              </a:rPr>
              <a:t>Expected AR: AED 6,331,658.00 - 3,027,838.00 = 3,303,820.00</a:t>
            </a:r>
          </a:p>
        </p:txBody>
      </p:sp>
    </p:spTree>
    <p:extLst>
      <p:ext uri="{BB962C8B-B14F-4D97-AF65-F5344CB8AC3E}">
        <p14:creationId xmlns:p14="http://schemas.microsoft.com/office/powerpoint/2010/main" val="1477439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1">
            <a:extLst>
              <a:ext uri="{FF2B5EF4-FFF2-40B4-BE49-F238E27FC236}">
                <a16:creationId xmlns:a16="http://schemas.microsoft.com/office/drawing/2014/main" id="{C4C18FA9-2A8A-4B79-B8B6-D0CE01823817}"/>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17  Backup and Windows packaging</a:t>
            </a:r>
          </a:p>
        </p:txBody>
      </p:sp>
      <p:sp>
        <p:nvSpPr>
          <p:cNvPr id="2" name="text-2">
            <a:extLst>
              <a:ext uri="{FF2B5EF4-FFF2-40B4-BE49-F238E27FC236}">
                <a16:creationId xmlns:a16="http://schemas.microsoft.com/office/drawing/2014/main" id="{43A2F210-E52A-4245-9FAB-24A55F1C359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88C6CD8C-F805-4527-8D5C-D0648FF457BF}"/>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20</a:t>
            </a:r>
          </a:p>
        </p:txBody>
      </p:sp>
      <p:sp>
        <p:nvSpPr>
          <p:cNvPr id="4" name="text-4">
            <a:extLst>
              <a:ext uri="{FF2B5EF4-FFF2-40B4-BE49-F238E27FC236}">
                <a16:creationId xmlns:a16="http://schemas.microsoft.com/office/drawing/2014/main" id="{F7BD813F-F62D-4594-9605-F7FD86829437}"/>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188F693F-BDDA-464E-8833-405B9033F00E}"/>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Backup and restore</a:t>
            </a:r>
          </a:p>
        </p:txBody>
      </p:sp>
      <p:sp>
        <p:nvSpPr>
          <p:cNvPr id="6" name="text-6">
            <a:extLst>
              <a:ext uri="{FF2B5EF4-FFF2-40B4-BE49-F238E27FC236}">
                <a16:creationId xmlns:a16="http://schemas.microsoft.com/office/drawing/2014/main" id="{F663507C-A950-4CE3-AEFE-D801D44186FD}"/>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Stop the application, back up the complete record and restore into isolation.</a:t>
            </a:r>
          </a:p>
        </p:txBody>
      </p:sp>
      <p:sp>
        <p:nvSpPr>
          <p:cNvPr id="7" name="text-7">
            <a:extLst>
              <a:ext uri="{FF2B5EF4-FFF2-40B4-BE49-F238E27FC236}">
                <a16:creationId xmlns:a16="http://schemas.microsoft.com/office/drawing/2014/main" id="{67FA0116-0343-4088-A742-DABEFBFF350F}"/>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B535C3AD-5076-4F4A-95DE-C7D3EE902037}"/>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Bundle dependencies</a:t>
            </a:r>
          </a:p>
        </p:txBody>
      </p:sp>
      <p:sp>
        <p:nvSpPr>
          <p:cNvPr id="9" name="text-9">
            <a:extLst>
              <a:ext uri="{FF2B5EF4-FFF2-40B4-BE49-F238E27FC236}">
                <a16:creationId xmlns:a16="http://schemas.microsoft.com/office/drawing/2014/main" id="{8604E12C-007D-45B0-A2EA-5F76ABCC4843}"/>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Include Python, .NET, PostgreSQL, PDF libraries and prerequisites.</a:t>
            </a:r>
          </a:p>
        </p:txBody>
      </p:sp>
      <p:sp>
        <p:nvSpPr>
          <p:cNvPr id="10" name="text-10">
            <a:extLst>
              <a:ext uri="{FF2B5EF4-FFF2-40B4-BE49-F238E27FC236}">
                <a16:creationId xmlns:a16="http://schemas.microsoft.com/office/drawing/2014/main" id="{4C489B24-8E2A-43A4-BCAE-C2E52ABB8682}"/>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7E9E8C36-D215-4405-BEA9-78FA85802652}"/>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Package the release</a:t>
            </a:r>
          </a:p>
        </p:txBody>
      </p:sp>
      <p:sp>
        <p:nvSpPr>
          <p:cNvPr id="12" name="text-12">
            <a:extLst>
              <a:ext uri="{FF2B5EF4-FFF2-40B4-BE49-F238E27FC236}">
                <a16:creationId xmlns:a16="http://schemas.microsoft.com/office/drawing/2014/main" id="{45B2F283-686D-43E0-98BB-C00F00CE73B3}"/>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Produce the EXE, portable ZIP, source, BAT tools and operating guide.</a:t>
            </a:r>
          </a:p>
        </p:txBody>
      </p:sp>
      <p:sp>
        <p:nvSpPr>
          <p:cNvPr id="13" name="text-13">
            <a:extLst>
              <a:ext uri="{FF2B5EF4-FFF2-40B4-BE49-F238E27FC236}">
                <a16:creationId xmlns:a16="http://schemas.microsoft.com/office/drawing/2014/main" id="{EE4A30B7-A0DF-4727-95D9-BC7B9B0F51CC}"/>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A84F4725-D10D-49A1-BE32-040E68F5C4CB}"/>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Verify the artifact</a:t>
            </a:r>
          </a:p>
        </p:txBody>
      </p:sp>
      <p:sp>
        <p:nvSpPr>
          <p:cNvPr id="15" name="text-15">
            <a:extLst>
              <a:ext uri="{FF2B5EF4-FFF2-40B4-BE49-F238E27FC236}">
                <a16:creationId xmlns:a16="http://schemas.microsoft.com/office/drawing/2014/main" id="{99A27BBA-B9E3-4D4F-A75B-8348C2C18EB5}"/>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Check manifests, hashes, optional icon, repair and retained data.</a:t>
            </a:r>
          </a:p>
        </p:txBody>
      </p:sp>
      <p:sp>
        <p:nvSpPr>
          <p:cNvPr id="16" name="text-16">
            <a:extLst>
              <a:ext uri="{FF2B5EF4-FFF2-40B4-BE49-F238E27FC236}">
                <a16:creationId xmlns:a16="http://schemas.microsoft.com/office/drawing/2014/main" id="{BDE0E4D8-9A3B-4163-B277-5B5DED0FC37E}"/>
              </a:ext>
            </a:extLst>
          </p:cNvPr>
          <p:cNvSpPr>
            <a:spLocks noGrp="1"/>
          </p:cNvSpPr>
          <p:nvPr/>
        </p:nvSpPr>
        <p:spPr>
          <a:xfrm>
            <a:off x="609600" y="5915025"/>
            <a:ext cx="10972800" cy="361950"/>
          </a:xfrm>
          <a:prstGeom prst="rect">
            <a:avLst/>
          </a:prstGeom>
          <a:noFill/>
          <a:ln w="0">
            <a:noFill/>
          </a:ln>
        </p:spPr>
        <p:txBody>
          <a:bodyPr wrap="square" lIns="0" tIns="0" rIns="0" bIns="0" anchor="t">
            <a:noAutofit/>
          </a:bodyPr>
          <a:lstStyle>
            <a:defPPr>
              <a:defRPr sz="1875" b="1">
                <a:solidFill>
                  <a:srgbClr val="9B4B20"/>
                </a:solidFill>
                <a:latin typeface="Arial"/>
                <a:ea typeface="Arial"/>
                <a:cs typeface="Arial"/>
              </a:defRPr>
            </a:defPPr>
            <a:lvl1pPr>
              <a:buNone/>
              <a:defRPr sz="1875" b="1">
                <a:solidFill>
                  <a:srgbClr val="9B4B20"/>
                </a:solidFill>
                <a:latin typeface="Arial"/>
                <a:ea typeface="Arial"/>
                <a:cs typeface="Arial"/>
              </a:defRPr>
            </a:lvl1pPr>
            <a:lvl2pPr>
              <a:buNone/>
              <a:defRPr sz="1875" b="1">
                <a:solidFill>
                  <a:srgbClr val="9B4B20"/>
                </a:solidFill>
                <a:latin typeface="Arial"/>
                <a:ea typeface="Arial"/>
                <a:cs typeface="Arial"/>
              </a:defRPr>
            </a:lvl2pPr>
            <a:lvl3pPr>
              <a:buNone/>
              <a:defRPr sz="1875" b="1">
                <a:solidFill>
                  <a:srgbClr val="9B4B20"/>
                </a:solidFill>
                <a:latin typeface="Arial"/>
                <a:ea typeface="Arial"/>
                <a:cs typeface="Arial"/>
              </a:defRPr>
            </a:lvl3pPr>
            <a:lvl4pPr>
              <a:buNone/>
              <a:defRPr sz="1875" b="1">
                <a:solidFill>
                  <a:srgbClr val="9B4B20"/>
                </a:solidFill>
                <a:latin typeface="Arial"/>
                <a:ea typeface="Arial"/>
                <a:cs typeface="Arial"/>
              </a:defRPr>
            </a:lvl4pPr>
            <a:lvl5pPr>
              <a:buNone/>
              <a:defRPr sz="1875" b="1">
                <a:solidFill>
                  <a:srgbClr val="9B4B20"/>
                </a:solidFill>
                <a:latin typeface="Arial"/>
                <a:ea typeface="Arial"/>
                <a:cs typeface="Arial"/>
              </a:defRPr>
            </a:lvl5pPr>
            <a:lvl6pPr>
              <a:buNone/>
              <a:defRPr sz="1875" b="1">
                <a:solidFill>
                  <a:srgbClr val="9B4B20"/>
                </a:solidFill>
                <a:latin typeface="Arial"/>
                <a:ea typeface="Arial"/>
                <a:cs typeface="Arial"/>
              </a:defRPr>
            </a:lvl6pPr>
            <a:lvl7pPr>
              <a:buNone/>
              <a:defRPr sz="1875" b="1">
                <a:solidFill>
                  <a:srgbClr val="9B4B20"/>
                </a:solidFill>
                <a:latin typeface="Arial"/>
                <a:ea typeface="Arial"/>
                <a:cs typeface="Arial"/>
              </a:defRPr>
            </a:lvl7pPr>
            <a:lvl8pPr>
              <a:buNone/>
              <a:defRPr sz="1875" b="1">
                <a:solidFill>
                  <a:srgbClr val="9B4B20"/>
                </a:solidFill>
                <a:latin typeface="Arial"/>
                <a:ea typeface="Arial"/>
                <a:cs typeface="Arial"/>
              </a:defRPr>
            </a:lvl8pPr>
            <a:lvl9pPr>
              <a:buNone/>
              <a:defRPr sz="1875" b="1">
                <a:solidFill>
                  <a:srgbClr val="9B4B20"/>
                </a:solidFill>
                <a:latin typeface="Arial"/>
                <a:ea typeface="Arial"/>
                <a:cs typeface="Arial"/>
              </a:defRPr>
            </a:lvl9pPr>
          </a:lstStyle>
          <a:p>
            <a:pPr>
              <a:buNone/>
              <a:defRPr sz="1875" b="1">
                <a:solidFill>
                  <a:srgbClr val="9B4B20"/>
                </a:solidFill>
                <a:latin typeface="Arial"/>
                <a:ea typeface="Arial"/>
                <a:cs typeface="Arial"/>
              </a:defRPr>
            </a:pPr>
            <a:r>
              <a:rPr sz="1875" b="1">
                <a:solidFill>
                  <a:srgbClr val="9B4B20"/>
                </a:solidFill>
                <a:latin typeface="Arial"/>
                <a:ea typeface="Arial"/>
                <a:cs typeface="Arial"/>
              </a:rPr>
              <a:t>Current installer is unsigned. Independent clean-PC acceptance remains open.</a:t>
            </a:r>
          </a:p>
        </p:txBody>
      </p:sp>
    </p:spTree>
    <p:extLst>
      <p:ext uri="{BB962C8B-B14F-4D97-AF65-F5344CB8AC3E}">
        <p14:creationId xmlns:p14="http://schemas.microsoft.com/office/powerpoint/2010/main" val="331040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1">
            <a:extLst>
              <a:ext uri="{FF2B5EF4-FFF2-40B4-BE49-F238E27FC236}">
                <a16:creationId xmlns:a16="http://schemas.microsoft.com/office/drawing/2014/main" id="{021CCB4E-C353-4942-AD52-1F4957F150E6}"/>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18  Installation and user acceptance</a:t>
            </a:r>
          </a:p>
        </p:txBody>
      </p:sp>
      <p:sp>
        <p:nvSpPr>
          <p:cNvPr id="2" name="text-2">
            <a:extLst>
              <a:ext uri="{FF2B5EF4-FFF2-40B4-BE49-F238E27FC236}">
                <a16:creationId xmlns:a16="http://schemas.microsoft.com/office/drawing/2014/main" id="{042210A0-4696-44C1-904C-D67E1FCFE2F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45892080-A3DC-451A-9995-3648211F3A05}"/>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21</a:t>
            </a:r>
          </a:p>
        </p:txBody>
      </p:sp>
      <p:sp>
        <p:nvSpPr>
          <p:cNvPr id="4" name="text-4">
            <a:extLst>
              <a:ext uri="{FF2B5EF4-FFF2-40B4-BE49-F238E27FC236}">
                <a16:creationId xmlns:a16="http://schemas.microsoft.com/office/drawing/2014/main" id="{A4F4E5C6-46BE-4233-AC86-1F0284E90B0D}"/>
              </a:ext>
            </a:extLst>
          </p:cNvPr>
          <p:cNvSpPr>
            <a:spLocks noGrp="1"/>
          </p:cNvSpPr>
          <p:nvPr/>
        </p:nvSpPr>
        <p:spPr>
          <a:xfrm>
            <a:off x="609600" y="16573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01</a:t>
            </a:r>
          </a:p>
        </p:txBody>
      </p:sp>
      <p:sp>
        <p:nvSpPr>
          <p:cNvPr id="5" name="text-5">
            <a:extLst>
              <a:ext uri="{FF2B5EF4-FFF2-40B4-BE49-F238E27FC236}">
                <a16:creationId xmlns:a16="http://schemas.microsoft.com/office/drawing/2014/main" id="{39409483-B6C4-4B4E-B84B-CB9B47E9DC86}"/>
              </a:ext>
            </a:extLst>
          </p:cNvPr>
          <p:cNvSpPr>
            <a:spLocks noGrp="1"/>
          </p:cNvSpPr>
          <p:nvPr/>
        </p:nvSpPr>
        <p:spPr>
          <a:xfrm>
            <a:off x="1352550" y="16573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Version and location</a:t>
            </a:r>
          </a:p>
        </p:txBody>
      </p:sp>
      <p:sp>
        <p:nvSpPr>
          <p:cNvPr id="6" name="text-6">
            <a:extLst>
              <a:ext uri="{FF2B5EF4-FFF2-40B4-BE49-F238E27FC236}">
                <a16:creationId xmlns:a16="http://schemas.microsoft.com/office/drawing/2014/main" id="{B79A3D36-BBDF-4A99-8A41-151B22B6AE0B}"/>
              </a:ext>
            </a:extLst>
          </p:cNvPr>
          <p:cNvSpPr>
            <a:spLocks noGrp="1"/>
          </p:cNvSpPr>
          <p:nvPr/>
        </p:nvSpPr>
        <p:spPr>
          <a:xfrm>
            <a:off x="1352550" y="20574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Select the latest package and a new empty program folder.</a:t>
            </a:r>
          </a:p>
        </p:txBody>
      </p:sp>
      <p:sp>
        <p:nvSpPr>
          <p:cNvPr id="7" name="text-7">
            <a:extLst>
              <a:ext uri="{FF2B5EF4-FFF2-40B4-BE49-F238E27FC236}">
                <a16:creationId xmlns:a16="http://schemas.microsoft.com/office/drawing/2014/main" id="{4D9BBB4B-B3B3-42E2-9B2B-4B02B69017A6}"/>
              </a:ext>
            </a:extLst>
          </p:cNvPr>
          <p:cNvSpPr>
            <a:spLocks noGrp="1"/>
          </p:cNvSpPr>
          <p:nvPr/>
        </p:nvSpPr>
        <p:spPr>
          <a:xfrm>
            <a:off x="609600" y="26479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02</a:t>
            </a:r>
          </a:p>
        </p:txBody>
      </p:sp>
      <p:sp>
        <p:nvSpPr>
          <p:cNvPr id="8" name="text-8">
            <a:extLst>
              <a:ext uri="{FF2B5EF4-FFF2-40B4-BE49-F238E27FC236}">
                <a16:creationId xmlns:a16="http://schemas.microsoft.com/office/drawing/2014/main" id="{784F41DE-26FA-463B-8AD0-6762E704821A}"/>
              </a:ext>
            </a:extLst>
          </p:cNvPr>
          <p:cNvSpPr>
            <a:spLocks noGrp="1"/>
          </p:cNvSpPr>
          <p:nvPr/>
        </p:nvSpPr>
        <p:spPr>
          <a:xfrm>
            <a:off x="1352550" y="26479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Startup and identity</a:t>
            </a:r>
          </a:p>
        </p:txBody>
      </p:sp>
      <p:sp>
        <p:nvSpPr>
          <p:cNvPr id="9" name="text-9">
            <a:extLst>
              <a:ext uri="{FF2B5EF4-FFF2-40B4-BE49-F238E27FC236}">
                <a16:creationId xmlns:a16="http://schemas.microsoft.com/office/drawing/2014/main" id="{8AD257D3-C6F4-406D-B84A-30122E3DBF74}"/>
              </a:ext>
            </a:extLst>
          </p:cNvPr>
          <p:cNvSpPr>
            <a:spLocks noGrp="1"/>
          </p:cNvSpPr>
          <p:nvPr/>
        </p:nvSpPr>
        <p:spPr>
          <a:xfrm>
            <a:off x="1352550" y="30480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Verify the installed version, shortcuts and Administrator sign-in.</a:t>
            </a:r>
          </a:p>
        </p:txBody>
      </p:sp>
      <p:sp>
        <p:nvSpPr>
          <p:cNvPr id="10" name="text-10">
            <a:extLst>
              <a:ext uri="{FF2B5EF4-FFF2-40B4-BE49-F238E27FC236}">
                <a16:creationId xmlns:a16="http://schemas.microsoft.com/office/drawing/2014/main" id="{0B78FD61-F21E-4AF1-818E-0BC04EE02B81}"/>
              </a:ext>
            </a:extLst>
          </p:cNvPr>
          <p:cNvSpPr>
            <a:spLocks noGrp="1"/>
          </p:cNvSpPr>
          <p:nvPr/>
        </p:nvSpPr>
        <p:spPr>
          <a:xfrm>
            <a:off x="609600" y="36385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03</a:t>
            </a:r>
          </a:p>
        </p:txBody>
      </p:sp>
      <p:sp>
        <p:nvSpPr>
          <p:cNvPr id="11" name="text-11">
            <a:extLst>
              <a:ext uri="{FF2B5EF4-FFF2-40B4-BE49-F238E27FC236}">
                <a16:creationId xmlns:a16="http://schemas.microsoft.com/office/drawing/2014/main" id="{8938A711-4910-4FF6-BDB5-2DA3E2C703EB}"/>
              </a:ext>
            </a:extLst>
          </p:cNvPr>
          <p:cNvSpPr>
            <a:spLocks noGrp="1"/>
          </p:cNvSpPr>
          <p:nvPr/>
        </p:nvSpPr>
        <p:spPr>
          <a:xfrm>
            <a:off x="1352550" y="36385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Business walkthrough</a:t>
            </a:r>
          </a:p>
        </p:txBody>
      </p:sp>
      <p:sp>
        <p:nvSpPr>
          <p:cNvPr id="12" name="text-12">
            <a:extLst>
              <a:ext uri="{FF2B5EF4-FFF2-40B4-BE49-F238E27FC236}">
                <a16:creationId xmlns:a16="http://schemas.microsoft.com/office/drawing/2014/main" id="{74AD5E07-FD34-4E04-A930-2EB95E8CABE7}"/>
              </a:ext>
            </a:extLst>
          </p:cNvPr>
          <p:cNvSpPr>
            <a:spLocks noGrp="1"/>
          </p:cNvSpPr>
          <p:nvPr/>
        </p:nvSpPr>
        <p:spPr>
          <a:xfrm>
            <a:off x="1352550" y="40386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Import the fictional dataset and reconcile reports with its controls.</a:t>
            </a:r>
          </a:p>
        </p:txBody>
      </p:sp>
      <p:sp>
        <p:nvSpPr>
          <p:cNvPr id="13" name="text-13">
            <a:extLst>
              <a:ext uri="{FF2B5EF4-FFF2-40B4-BE49-F238E27FC236}">
                <a16:creationId xmlns:a16="http://schemas.microsoft.com/office/drawing/2014/main" id="{9812FE8E-3DED-4C88-889C-A51BD12ABF43}"/>
              </a:ext>
            </a:extLst>
          </p:cNvPr>
          <p:cNvSpPr>
            <a:spLocks noGrp="1"/>
          </p:cNvSpPr>
          <p:nvPr/>
        </p:nvSpPr>
        <p:spPr>
          <a:xfrm>
            <a:off x="609600" y="4629150"/>
            <a:ext cx="552450" cy="400050"/>
          </a:xfrm>
          <a:prstGeom prst="rect">
            <a:avLst/>
          </a:prstGeom>
          <a:noFill/>
          <a:ln w="0">
            <a:noFill/>
          </a:ln>
        </p:spPr>
        <p:txBody>
          <a:bodyPr wrap="square" lIns="0" tIns="0" rIns="0" bIns="0" anchor="t">
            <a:noAutofit/>
          </a:bodyPr>
          <a:lstStyle>
            <a:defPPr>
              <a:defRPr sz="2250" b="1">
                <a:solidFill>
                  <a:srgbClr val="168678"/>
                </a:solidFill>
                <a:latin typeface="Arial"/>
                <a:ea typeface="Arial"/>
                <a:cs typeface="Arial"/>
              </a:defRPr>
            </a:defPPr>
            <a:lvl1pPr>
              <a:buNone/>
              <a:defRPr sz="2250" b="1">
                <a:solidFill>
                  <a:srgbClr val="168678"/>
                </a:solidFill>
                <a:latin typeface="Arial"/>
                <a:ea typeface="Arial"/>
                <a:cs typeface="Arial"/>
              </a:defRPr>
            </a:lvl1pPr>
            <a:lvl2pPr>
              <a:buNone/>
              <a:defRPr sz="2250" b="1">
                <a:solidFill>
                  <a:srgbClr val="168678"/>
                </a:solidFill>
                <a:latin typeface="Arial"/>
                <a:ea typeface="Arial"/>
                <a:cs typeface="Arial"/>
              </a:defRPr>
            </a:lvl2pPr>
            <a:lvl3pPr>
              <a:buNone/>
              <a:defRPr sz="2250" b="1">
                <a:solidFill>
                  <a:srgbClr val="168678"/>
                </a:solidFill>
                <a:latin typeface="Arial"/>
                <a:ea typeface="Arial"/>
                <a:cs typeface="Arial"/>
              </a:defRPr>
            </a:lvl3pPr>
            <a:lvl4pPr>
              <a:buNone/>
              <a:defRPr sz="2250" b="1">
                <a:solidFill>
                  <a:srgbClr val="168678"/>
                </a:solidFill>
                <a:latin typeface="Arial"/>
                <a:ea typeface="Arial"/>
                <a:cs typeface="Arial"/>
              </a:defRPr>
            </a:lvl4pPr>
            <a:lvl5pPr>
              <a:buNone/>
              <a:defRPr sz="2250" b="1">
                <a:solidFill>
                  <a:srgbClr val="168678"/>
                </a:solidFill>
                <a:latin typeface="Arial"/>
                <a:ea typeface="Arial"/>
                <a:cs typeface="Arial"/>
              </a:defRPr>
            </a:lvl5pPr>
            <a:lvl6pPr>
              <a:buNone/>
              <a:defRPr sz="2250" b="1">
                <a:solidFill>
                  <a:srgbClr val="168678"/>
                </a:solidFill>
                <a:latin typeface="Arial"/>
                <a:ea typeface="Arial"/>
                <a:cs typeface="Arial"/>
              </a:defRPr>
            </a:lvl6pPr>
            <a:lvl7pPr>
              <a:buNone/>
              <a:defRPr sz="2250" b="1">
                <a:solidFill>
                  <a:srgbClr val="168678"/>
                </a:solidFill>
                <a:latin typeface="Arial"/>
                <a:ea typeface="Arial"/>
                <a:cs typeface="Arial"/>
              </a:defRPr>
            </a:lvl7pPr>
            <a:lvl8pPr>
              <a:buNone/>
              <a:defRPr sz="2250" b="1">
                <a:solidFill>
                  <a:srgbClr val="168678"/>
                </a:solidFill>
                <a:latin typeface="Arial"/>
                <a:ea typeface="Arial"/>
                <a:cs typeface="Arial"/>
              </a:defRPr>
            </a:lvl8pPr>
            <a:lvl9pPr>
              <a:buNone/>
              <a:defRPr sz="2250" b="1">
                <a:solidFill>
                  <a:srgbClr val="168678"/>
                </a:solidFill>
                <a:latin typeface="Arial"/>
                <a:ea typeface="Arial"/>
                <a:cs typeface="Arial"/>
              </a:defRPr>
            </a:lvl9pPr>
          </a:lstStyle>
          <a:p>
            <a:pPr>
              <a:buNone/>
              <a:defRPr sz="2250" b="1">
                <a:solidFill>
                  <a:srgbClr val="168678"/>
                </a:solidFill>
                <a:latin typeface="Arial"/>
                <a:ea typeface="Arial"/>
                <a:cs typeface="Arial"/>
              </a:defRPr>
            </a:pPr>
            <a:r>
              <a:rPr sz="2250" b="1">
                <a:solidFill>
                  <a:srgbClr val="168678"/>
                </a:solidFill>
                <a:latin typeface="Arial"/>
                <a:ea typeface="Arial"/>
                <a:cs typeface="Arial"/>
              </a:rPr>
              <a:t>04</a:t>
            </a:r>
          </a:p>
        </p:txBody>
      </p:sp>
      <p:sp>
        <p:nvSpPr>
          <p:cNvPr id="14" name="text-14">
            <a:extLst>
              <a:ext uri="{FF2B5EF4-FFF2-40B4-BE49-F238E27FC236}">
                <a16:creationId xmlns:a16="http://schemas.microsoft.com/office/drawing/2014/main" id="{5B649ED5-CF28-4A43-A5F3-06E6A81C7207}"/>
              </a:ext>
            </a:extLst>
          </p:cNvPr>
          <p:cNvSpPr>
            <a:spLocks noGrp="1"/>
          </p:cNvSpPr>
          <p:nvPr/>
        </p:nvSpPr>
        <p:spPr>
          <a:xfrm>
            <a:off x="1352550" y="4629150"/>
            <a:ext cx="9925050" cy="400050"/>
          </a:xfrm>
          <a:prstGeom prst="rect">
            <a:avLst/>
          </a:prstGeom>
          <a:noFill/>
          <a:ln w="0">
            <a:noFill/>
          </a:ln>
        </p:spPr>
        <p:txBody>
          <a:bodyPr wrap="square" lIns="0" tIns="0" rIns="0" bIns="0" anchor="t">
            <a:noAutofit/>
          </a:bodyPr>
          <a:lstStyle>
            <a:defPPr>
              <a:defRPr sz="2100" b="1">
                <a:solidFill>
                  <a:srgbClr val="213C52"/>
                </a:solidFill>
                <a:latin typeface="Arial"/>
                <a:ea typeface="Arial"/>
                <a:cs typeface="Arial"/>
              </a:defRPr>
            </a:defPPr>
            <a:lvl1pPr>
              <a:buNone/>
              <a:defRPr sz="2100" b="1">
                <a:solidFill>
                  <a:srgbClr val="213C52"/>
                </a:solidFill>
                <a:latin typeface="Arial"/>
                <a:ea typeface="Arial"/>
                <a:cs typeface="Arial"/>
              </a:defRPr>
            </a:lvl1pPr>
            <a:lvl2pPr>
              <a:buNone/>
              <a:defRPr sz="2100" b="1">
                <a:solidFill>
                  <a:srgbClr val="213C52"/>
                </a:solidFill>
                <a:latin typeface="Arial"/>
                <a:ea typeface="Arial"/>
                <a:cs typeface="Arial"/>
              </a:defRPr>
            </a:lvl2pPr>
            <a:lvl3pPr>
              <a:buNone/>
              <a:defRPr sz="2100" b="1">
                <a:solidFill>
                  <a:srgbClr val="213C52"/>
                </a:solidFill>
                <a:latin typeface="Arial"/>
                <a:ea typeface="Arial"/>
                <a:cs typeface="Arial"/>
              </a:defRPr>
            </a:lvl3pPr>
            <a:lvl4pPr>
              <a:buNone/>
              <a:defRPr sz="2100" b="1">
                <a:solidFill>
                  <a:srgbClr val="213C52"/>
                </a:solidFill>
                <a:latin typeface="Arial"/>
                <a:ea typeface="Arial"/>
                <a:cs typeface="Arial"/>
              </a:defRPr>
            </a:lvl4pPr>
            <a:lvl5pPr>
              <a:buNone/>
              <a:defRPr sz="2100" b="1">
                <a:solidFill>
                  <a:srgbClr val="213C52"/>
                </a:solidFill>
                <a:latin typeface="Arial"/>
                <a:ea typeface="Arial"/>
                <a:cs typeface="Arial"/>
              </a:defRPr>
            </a:lvl5pPr>
            <a:lvl6pPr>
              <a:buNone/>
              <a:defRPr sz="2100" b="1">
                <a:solidFill>
                  <a:srgbClr val="213C52"/>
                </a:solidFill>
                <a:latin typeface="Arial"/>
                <a:ea typeface="Arial"/>
                <a:cs typeface="Arial"/>
              </a:defRPr>
            </a:lvl6pPr>
            <a:lvl7pPr>
              <a:buNone/>
              <a:defRPr sz="2100" b="1">
                <a:solidFill>
                  <a:srgbClr val="213C52"/>
                </a:solidFill>
                <a:latin typeface="Arial"/>
                <a:ea typeface="Arial"/>
                <a:cs typeface="Arial"/>
              </a:defRPr>
            </a:lvl7pPr>
            <a:lvl8pPr>
              <a:buNone/>
              <a:defRPr sz="2100" b="1">
                <a:solidFill>
                  <a:srgbClr val="213C52"/>
                </a:solidFill>
                <a:latin typeface="Arial"/>
                <a:ea typeface="Arial"/>
                <a:cs typeface="Arial"/>
              </a:defRPr>
            </a:lvl8pPr>
            <a:lvl9pPr>
              <a:buNone/>
              <a:defRPr sz="2100" b="1">
                <a:solidFill>
                  <a:srgbClr val="213C52"/>
                </a:solidFill>
                <a:latin typeface="Arial"/>
                <a:ea typeface="Arial"/>
                <a:cs typeface="Arial"/>
              </a:defRPr>
            </a:lvl9pPr>
          </a:lstStyle>
          <a:p>
            <a:pPr>
              <a:buNone/>
              <a:defRPr sz="2100" b="1">
                <a:solidFill>
                  <a:srgbClr val="213C52"/>
                </a:solidFill>
                <a:latin typeface="Arial"/>
                <a:ea typeface="Arial"/>
                <a:cs typeface="Arial"/>
              </a:defRPr>
            </a:pPr>
            <a:r>
              <a:rPr sz="2100" b="1">
                <a:solidFill>
                  <a:srgbClr val="213C52"/>
                </a:solidFill>
                <a:latin typeface="Arial"/>
                <a:ea typeface="Arial"/>
                <a:cs typeface="Arial"/>
              </a:rPr>
              <a:t>Acceptance record</a:t>
            </a:r>
          </a:p>
        </p:txBody>
      </p:sp>
      <p:sp>
        <p:nvSpPr>
          <p:cNvPr id="15" name="text-15">
            <a:extLst>
              <a:ext uri="{FF2B5EF4-FFF2-40B4-BE49-F238E27FC236}">
                <a16:creationId xmlns:a16="http://schemas.microsoft.com/office/drawing/2014/main" id="{D6603E12-7942-4F7F-A121-51543529BD86}"/>
              </a:ext>
            </a:extLst>
          </p:cNvPr>
          <p:cNvSpPr>
            <a:spLocks noGrp="1"/>
          </p:cNvSpPr>
          <p:nvPr/>
        </p:nvSpPr>
        <p:spPr>
          <a:xfrm>
            <a:off x="1352550" y="5029200"/>
            <a:ext cx="9925050" cy="533400"/>
          </a:xfrm>
          <a:prstGeom prst="rect">
            <a:avLst/>
          </a:prstGeom>
          <a:noFill/>
          <a:ln w="0">
            <a:noFill/>
          </a:ln>
        </p:spPr>
        <p:txBody>
          <a:bodyPr wrap="square" lIns="0" tIns="0" rIns="0" bIns="0" anchor="t">
            <a:noAutofit/>
          </a:bodyPr>
          <a:lstStyle>
            <a:defPPr>
              <a:defRPr sz="1875" b="0">
                <a:solidFill>
                  <a:srgbClr val="5F7482"/>
                </a:solidFill>
                <a:latin typeface="Arial"/>
                <a:ea typeface="Arial"/>
                <a:cs typeface="Arial"/>
              </a:defRPr>
            </a:defPPr>
            <a:lvl1pPr>
              <a:buNone/>
              <a:defRPr sz="1875" b="0">
                <a:solidFill>
                  <a:srgbClr val="5F7482"/>
                </a:solidFill>
                <a:latin typeface="Arial"/>
                <a:ea typeface="Arial"/>
                <a:cs typeface="Arial"/>
              </a:defRPr>
            </a:lvl1pPr>
            <a:lvl2pPr>
              <a:buNone/>
              <a:defRPr sz="1875" b="0">
                <a:solidFill>
                  <a:srgbClr val="5F7482"/>
                </a:solidFill>
                <a:latin typeface="Arial"/>
                <a:ea typeface="Arial"/>
                <a:cs typeface="Arial"/>
              </a:defRPr>
            </a:lvl2pPr>
            <a:lvl3pPr>
              <a:buNone/>
              <a:defRPr sz="1875" b="0">
                <a:solidFill>
                  <a:srgbClr val="5F7482"/>
                </a:solidFill>
                <a:latin typeface="Arial"/>
                <a:ea typeface="Arial"/>
                <a:cs typeface="Arial"/>
              </a:defRPr>
            </a:lvl3pPr>
            <a:lvl4pPr>
              <a:buNone/>
              <a:defRPr sz="1875" b="0">
                <a:solidFill>
                  <a:srgbClr val="5F7482"/>
                </a:solidFill>
                <a:latin typeface="Arial"/>
                <a:ea typeface="Arial"/>
                <a:cs typeface="Arial"/>
              </a:defRPr>
            </a:lvl4pPr>
            <a:lvl5pPr>
              <a:buNone/>
              <a:defRPr sz="1875" b="0">
                <a:solidFill>
                  <a:srgbClr val="5F7482"/>
                </a:solidFill>
                <a:latin typeface="Arial"/>
                <a:ea typeface="Arial"/>
                <a:cs typeface="Arial"/>
              </a:defRPr>
            </a:lvl5pPr>
            <a:lvl6pPr>
              <a:buNone/>
              <a:defRPr sz="1875" b="0">
                <a:solidFill>
                  <a:srgbClr val="5F7482"/>
                </a:solidFill>
                <a:latin typeface="Arial"/>
                <a:ea typeface="Arial"/>
                <a:cs typeface="Arial"/>
              </a:defRPr>
            </a:lvl6pPr>
            <a:lvl7pPr>
              <a:buNone/>
              <a:defRPr sz="1875" b="0">
                <a:solidFill>
                  <a:srgbClr val="5F7482"/>
                </a:solidFill>
                <a:latin typeface="Arial"/>
                <a:ea typeface="Arial"/>
                <a:cs typeface="Arial"/>
              </a:defRPr>
            </a:lvl7pPr>
            <a:lvl8pPr>
              <a:buNone/>
              <a:defRPr sz="1875" b="0">
                <a:solidFill>
                  <a:srgbClr val="5F7482"/>
                </a:solidFill>
                <a:latin typeface="Arial"/>
                <a:ea typeface="Arial"/>
                <a:cs typeface="Arial"/>
              </a:defRPr>
            </a:lvl8pPr>
            <a:lvl9pPr>
              <a:buNone/>
              <a:defRPr sz="1875" b="0">
                <a:solidFill>
                  <a:srgbClr val="5F7482"/>
                </a:solidFill>
                <a:latin typeface="Arial"/>
                <a:ea typeface="Arial"/>
                <a:cs typeface="Arial"/>
              </a:defRPr>
            </a:lvl9pPr>
          </a:lstStyle>
          <a:p>
            <a:pPr>
              <a:buNone/>
              <a:defRPr sz="1875" b="0">
                <a:solidFill>
                  <a:srgbClr val="5F7482"/>
                </a:solidFill>
                <a:latin typeface="Arial"/>
                <a:ea typeface="Arial"/>
                <a:cs typeface="Arial"/>
              </a:defRPr>
            </a:pPr>
            <a:r>
              <a:rPr sz="1875" b="0">
                <a:solidFill>
                  <a:srgbClr val="5F7482"/>
                </a:solidFill>
                <a:latin typeface="Arial"/>
                <a:ea typeface="Arial"/>
                <a:cs typeface="Arial"/>
              </a:rPr>
              <a:t>Record the Windows environment, defects, retest results and owner approval.</a:t>
            </a:r>
          </a:p>
        </p:txBody>
      </p:sp>
      <p:sp>
        <p:nvSpPr>
          <p:cNvPr id="16" name="text-16">
            <a:extLst>
              <a:ext uri="{FF2B5EF4-FFF2-40B4-BE49-F238E27FC236}">
                <a16:creationId xmlns:a16="http://schemas.microsoft.com/office/drawing/2014/main" id="{E2F75EC0-D661-4CA9-A0A0-562A6C1F0D07}"/>
              </a:ext>
            </a:extLst>
          </p:cNvPr>
          <p:cNvSpPr>
            <a:spLocks noGrp="1"/>
          </p:cNvSpPr>
          <p:nvPr/>
        </p:nvSpPr>
        <p:spPr>
          <a:xfrm>
            <a:off x="609600" y="5915025"/>
            <a:ext cx="10972800" cy="361950"/>
          </a:xfrm>
          <a:prstGeom prst="rect">
            <a:avLst/>
          </a:prstGeom>
          <a:noFill/>
          <a:ln w="0">
            <a:noFill/>
          </a:ln>
        </p:spPr>
        <p:txBody>
          <a:bodyPr wrap="square" lIns="0" tIns="0" rIns="0" bIns="0" anchor="t">
            <a:noAutofit/>
          </a:bodyPr>
          <a:lstStyle>
            <a:defPPr>
              <a:defRPr sz="1875" b="1">
                <a:solidFill>
                  <a:srgbClr val="168678"/>
                </a:solidFill>
                <a:latin typeface="Arial"/>
                <a:ea typeface="Arial"/>
                <a:cs typeface="Arial"/>
              </a:defRPr>
            </a:defPPr>
            <a:lvl1pPr>
              <a:buNone/>
              <a:defRPr sz="1875" b="1">
                <a:solidFill>
                  <a:srgbClr val="168678"/>
                </a:solidFill>
                <a:latin typeface="Arial"/>
                <a:ea typeface="Arial"/>
                <a:cs typeface="Arial"/>
              </a:defRPr>
            </a:lvl1pPr>
            <a:lvl2pPr>
              <a:buNone/>
              <a:defRPr sz="1875" b="1">
                <a:solidFill>
                  <a:srgbClr val="168678"/>
                </a:solidFill>
                <a:latin typeface="Arial"/>
                <a:ea typeface="Arial"/>
                <a:cs typeface="Arial"/>
              </a:defRPr>
            </a:lvl2pPr>
            <a:lvl3pPr>
              <a:buNone/>
              <a:defRPr sz="1875" b="1">
                <a:solidFill>
                  <a:srgbClr val="168678"/>
                </a:solidFill>
                <a:latin typeface="Arial"/>
                <a:ea typeface="Arial"/>
                <a:cs typeface="Arial"/>
              </a:defRPr>
            </a:lvl3pPr>
            <a:lvl4pPr>
              <a:buNone/>
              <a:defRPr sz="1875" b="1">
                <a:solidFill>
                  <a:srgbClr val="168678"/>
                </a:solidFill>
                <a:latin typeface="Arial"/>
                <a:ea typeface="Arial"/>
                <a:cs typeface="Arial"/>
              </a:defRPr>
            </a:lvl4pPr>
            <a:lvl5pPr>
              <a:buNone/>
              <a:defRPr sz="1875" b="1">
                <a:solidFill>
                  <a:srgbClr val="168678"/>
                </a:solidFill>
                <a:latin typeface="Arial"/>
                <a:ea typeface="Arial"/>
                <a:cs typeface="Arial"/>
              </a:defRPr>
            </a:lvl5pPr>
            <a:lvl6pPr>
              <a:buNone/>
              <a:defRPr sz="1875" b="1">
                <a:solidFill>
                  <a:srgbClr val="168678"/>
                </a:solidFill>
                <a:latin typeface="Arial"/>
                <a:ea typeface="Arial"/>
                <a:cs typeface="Arial"/>
              </a:defRPr>
            </a:lvl6pPr>
            <a:lvl7pPr>
              <a:buNone/>
              <a:defRPr sz="1875" b="1">
                <a:solidFill>
                  <a:srgbClr val="168678"/>
                </a:solidFill>
                <a:latin typeface="Arial"/>
                <a:ea typeface="Arial"/>
                <a:cs typeface="Arial"/>
              </a:defRPr>
            </a:lvl7pPr>
            <a:lvl8pPr>
              <a:buNone/>
              <a:defRPr sz="1875" b="1">
                <a:solidFill>
                  <a:srgbClr val="168678"/>
                </a:solidFill>
                <a:latin typeface="Arial"/>
                <a:ea typeface="Arial"/>
                <a:cs typeface="Arial"/>
              </a:defRPr>
            </a:lvl8pPr>
            <a:lvl9pPr>
              <a:buNone/>
              <a:defRPr sz="1875" b="1">
                <a:solidFill>
                  <a:srgbClr val="168678"/>
                </a:solidFill>
                <a:latin typeface="Arial"/>
                <a:ea typeface="Arial"/>
                <a:cs typeface="Arial"/>
              </a:defRPr>
            </a:lvl9pPr>
          </a:lstStyle>
          <a:p>
            <a:pPr>
              <a:buNone/>
              <a:defRPr sz="1875" b="1">
                <a:solidFill>
                  <a:srgbClr val="168678"/>
                </a:solidFill>
                <a:latin typeface="Arial"/>
                <a:ea typeface="Arial"/>
                <a:cs typeface="Arial"/>
              </a:defRPr>
            </a:pPr>
            <a:r>
              <a:rPr sz="1875" b="1">
                <a:solidFill>
                  <a:srgbClr val="168678"/>
                </a:solidFill>
                <a:latin typeface="Arial"/>
                <a:ea typeface="Arial"/>
                <a:cs typeface="Arial"/>
              </a:rPr>
              <a:t>Keep program files, release packages and business data in separate locations.</a:t>
            </a:r>
          </a:p>
        </p:txBody>
      </p:sp>
    </p:spTree>
    <p:extLst>
      <p:ext uri="{BB962C8B-B14F-4D97-AF65-F5344CB8AC3E}">
        <p14:creationId xmlns:p14="http://schemas.microsoft.com/office/powerpoint/2010/main" val="737243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DEE2B3CD-5825-40FC-B2EA-5BB6BF49D830}"/>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Current release and remaining acceptance</a:t>
            </a:r>
          </a:p>
        </p:txBody>
      </p:sp>
      <p:sp>
        <p:nvSpPr>
          <p:cNvPr id="2" name="text-2">
            <a:extLst>
              <a:ext uri="{FF2B5EF4-FFF2-40B4-BE49-F238E27FC236}">
                <a16:creationId xmlns:a16="http://schemas.microsoft.com/office/drawing/2014/main" id="{F6CD2E7C-9540-4C4F-AFC2-DD93A19362E2}"/>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775E4270-C65F-4256-9E7C-28DCE977B93A}"/>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22</a:t>
            </a:r>
          </a:p>
        </p:txBody>
      </p:sp>
      <p:graphicFrame>
        <p:nvGraphicFramePr>
          <p:cNvPr id="4" name="Table 3">
            <a:extLst>
              <a:ext uri="{FF2B5EF4-FFF2-40B4-BE49-F238E27FC236}">
                <a16:creationId xmlns:a16="http://schemas.microsoft.com/office/drawing/2014/main" id="{8C6D7BDD-9B55-4852-8339-A19F852726AD}"/>
              </a:ext>
            </a:extLst>
          </p:cNvPr>
          <p:cNvGraphicFramePr/>
          <p:nvPr/>
        </p:nvGraphicFramePr>
        <p:xfrm>
          <a:off x="609600" y="1666875"/>
          <a:ext cx="10972800" cy="4048125"/>
        </p:xfrm>
        <a:graphic>
          <a:graphicData uri="http://schemas.openxmlformats.org/drawingml/2006/table">
            <a:tbl>
              <a:tblPr/>
              <a:tblGrid>
                <a:gridCol w="22860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674688">
                <a:tc>
                  <a:txBody>
                    <a:bodyPr/>
                    <a:lstStyle/>
                    <a:p>
                      <a:r>
                        <a:rPr sz="1725" b="1">
                          <a:solidFill>
                            <a:srgbClr val="FFFFFF"/>
                          </a:solidFill>
                          <a:latin typeface="Arial"/>
                          <a:ea typeface="Arial"/>
                          <a:cs typeface="Arial"/>
                        </a:rPr>
                        <a:t>Area</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725" b="1">
                          <a:solidFill>
                            <a:srgbClr val="FFFFFF"/>
                          </a:solidFill>
                          <a:latin typeface="Arial"/>
                          <a:ea typeface="Arial"/>
                          <a:cs typeface="Arial"/>
                        </a:rPr>
                        <a:t>Locally implemented/tested</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725" b="1">
                          <a:solidFill>
                            <a:srgbClr val="FFFFFF"/>
                          </a:solidFill>
                          <a:latin typeface="Arial"/>
                          <a:ea typeface="Arial"/>
                          <a:cs typeface="Arial"/>
                        </a:rPr>
                        <a:t>Still required</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674688">
                <a:tc>
                  <a:txBody>
                    <a:bodyPr/>
                    <a:lstStyle/>
                    <a:p>
                      <a:r>
                        <a:rPr sz="1725" b="0">
                          <a:solidFill>
                            <a:srgbClr val="213C52"/>
                          </a:solidFill>
                          <a:latin typeface="Arial"/>
                          <a:ea typeface="Arial"/>
                          <a:cs typeface="Arial"/>
                        </a:rPr>
                        <a:t>Identity and masters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First owner, roles, areas, 25 customer fields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Project scopes, delegation, MFA/SSO</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674688">
                <a:tc>
                  <a:txBody>
                    <a:bodyPr/>
                    <a:lstStyle/>
                    <a:p>
                      <a:r>
                        <a:rPr sz="1725" b="0">
                          <a:solidFill>
                            <a:srgbClr val="213C52"/>
                          </a:solidFill>
                          <a:latin typeface="Arial"/>
                          <a:ea typeface="Arial"/>
                          <a:cs typeface="Arial"/>
                        </a:rPr>
                        <a:t>Finance and reporting</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725" b="0">
                          <a:solidFill>
                            <a:srgbClr val="213C52"/>
                          </a:solidFill>
                          <a:latin typeface="Arial"/>
                          <a:ea typeface="Arial"/>
                          <a:cs typeface="Arial"/>
                        </a:rPr>
                        <a:t>Certificates, bounded corrections, AR, exports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725" b="0">
                          <a:solidFill>
                            <a:srgbClr val="213C52"/>
                          </a:solidFill>
                          <a:latin typeface="Arial"/>
                          <a:ea typeface="Arial"/>
                          <a:cs typeface="Arial"/>
                        </a:rPr>
                        <a:t>Advanced accounting and policy acceptance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674688">
                <a:tc>
                  <a:txBody>
                    <a:bodyPr/>
                    <a:lstStyle/>
                    <a:p>
                      <a:r>
                        <a:rPr sz="1725" b="0">
                          <a:solidFill>
                            <a:srgbClr val="213C52"/>
                          </a:solidFill>
                          <a:latin typeface="Arial"/>
                          <a:ea typeface="Arial"/>
                          <a:cs typeface="Arial"/>
                        </a:rPr>
                        <a:t>Documents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PDF retention, certificate/statement output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OCR and statutory invoice/credit PDFs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674688">
                <a:tc>
                  <a:txBody>
                    <a:bodyPr/>
                    <a:lstStyle/>
                    <a:p>
                      <a:r>
                        <a:rPr sz="1725" b="0">
                          <a:solidFill>
                            <a:srgbClr val="213C52"/>
                          </a:solidFill>
                          <a:latin typeface="Arial"/>
                          <a:ea typeface="Arial"/>
                          <a:cs typeface="Arial"/>
                        </a:rPr>
                        <a:t>Integrations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725" b="0">
                          <a:solidFill>
                            <a:srgbClr val="213C52"/>
                          </a:solidFill>
                          <a:latin typeface="Arial"/>
                          <a:ea typeface="Arial"/>
                          <a:cs typeface="Arial"/>
                        </a:rPr>
                        <a:t>Tally test/XML, offline email draft handoff</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725" b="0">
                          <a:solidFill>
                            <a:srgbClr val="213C52"/>
                          </a:solidFill>
                          <a:latin typeface="Arial"/>
                          <a:ea typeface="Arial"/>
                          <a:cs typeface="Arial"/>
                        </a:rPr>
                        <a:t>Actual vendor tests and live cloud sync</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r h="674688">
                <a:tc>
                  <a:txBody>
                    <a:bodyPr/>
                    <a:lstStyle/>
                    <a:p>
                      <a:r>
                        <a:rPr sz="1725" b="0">
                          <a:solidFill>
                            <a:srgbClr val="213C52"/>
                          </a:solidFill>
                          <a:latin typeface="Arial"/>
                          <a:ea typeface="Arial"/>
                          <a:cs typeface="Arial"/>
                        </a:rPr>
                        <a:t>Operations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Local install, repair, backup and restore tools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725" b="0">
                          <a:solidFill>
                            <a:srgbClr val="213C52"/>
                          </a:solidFill>
                          <a:latin typeface="Arial"/>
                          <a:ea typeface="Arial"/>
                          <a:cs typeface="Arial"/>
                        </a:rPr>
                        <a:t>Clean PC, security/load tests, recovery across machines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5"/>
                  </a:ext>
                </a:extLst>
              </a:tr>
            </a:tbl>
          </a:graphicData>
        </a:graphic>
      </p:graphicFrame>
      <p:sp>
        <p:nvSpPr>
          <p:cNvPr id="5" name="text-4">
            <a:extLst>
              <a:ext uri="{FF2B5EF4-FFF2-40B4-BE49-F238E27FC236}">
                <a16:creationId xmlns:a16="http://schemas.microsoft.com/office/drawing/2014/main" id="{603206D5-6E26-4FC9-B32E-E392605863CA}"/>
              </a:ext>
            </a:extLst>
          </p:cNvPr>
          <p:cNvSpPr>
            <a:spLocks noGrp="1"/>
          </p:cNvSpPr>
          <p:nvPr/>
        </p:nvSpPr>
        <p:spPr>
          <a:xfrm>
            <a:off x="609600" y="5934075"/>
            <a:ext cx="10972800" cy="361950"/>
          </a:xfrm>
          <a:prstGeom prst="rect">
            <a:avLst/>
          </a:prstGeom>
          <a:noFill/>
          <a:ln w="0">
            <a:noFill/>
          </a:ln>
        </p:spPr>
        <p:txBody>
          <a:bodyPr wrap="square" lIns="0" tIns="0" rIns="0" bIns="0" anchor="t">
            <a:noAutofit/>
          </a:bodyPr>
          <a:lstStyle>
            <a:defPPr>
              <a:defRPr sz="2025" b="1">
                <a:solidFill>
                  <a:srgbClr val="9B4B20"/>
                </a:solidFill>
                <a:latin typeface="Arial"/>
                <a:ea typeface="Arial"/>
                <a:cs typeface="Arial"/>
              </a:defRPr>
            </a:defPPr>
            <a:lvl1pPr>
              <a:buNone/>
              <a:defRPr sz="2025" b="1">
                <a:solidFill>
                  <a:srgbClr val="9B4B20"/>
                </a:solidFill>
                <a:latin typeface="Arial"/>
                <a:ea typeface="Arial"/>
                <a:cs typeface="Arial"/>
              </a:defRPr>
            </a:lvl1pPr>
            <a:lvl2pPr>
              <a:buNone/>
              <a:defRPr sz="2025" b="1">
                <a:solidFill>
                  <a:srgbClr val="9B4B20"/>
                </a:solidFill>
                <a:latin typeface="Arial"/>
                <a:ea typeface="Arial"/>
                <a:cs typeface="Arial"/>
              </a:defRPr>
            </a:lvl2pPr>
            <a:lvl3pPr>
              <a:buNone/>
              <a:defRPr sz="2025" b="1">
                <a:solidFill>
                  <a:srgbClr val="9B4B20"/>
                </a:solidFill>
                <a:latin typeface="Arial"/>
                <a:ea typeface="Arial"/>
                <a:cs typeface="Arial"/>
              </a:defRPr>
            </a:lvl3pPr>
            <a:lvl4pPr>
              <a:buNone/>
              <a:defRPr sz="2025" b="1">
                <a:solidFill>
                  <a:srgbClr val="9B4B20"/>
                </a:solidFill>
                <a:latin typeface="Arial"/>
                <a:ea typeface="Arial"/>
                <a:cs typeface="Arial"/>
              </a:defRPr>
            </a:lvl4pPr>
            <a:lvl5pPr>
              <a:buNone/>
              <a:defRPr sz="2025" b="1">
                <a:solidFill>
                  <a:srgbClr val="9B4B20"/>
                </a:solidFill>
                <a:latin typeface="Arial"/>
                <a:ea typeface="Arial"/>
                <a:cs typeface="Arial"/>
              </a:defRPr>
            </a:lvl5pPr>
            <a:lvl6pPr>
              <a:buNone/>
              <a:defRPr sz="2025" b="1">
                <a:solidFill>
                  <a:srgbClr val="9B4B20"/>
                </a:solidFill>
                <a:latin typeface="Arial"/>
                <a:ea typeface="Arial"/>
                <a:cs typeface="Arial"/>
              </a:defRPr>
            </a:lvl6pPr>
            <a:lvl7pPr>
              <a:buNone/>
              <a:defRPr sz="2025" b="1">
                <a:solidFill>
                  <a:srgbClr val="9B4B20"/>
                </a:solidFill>
                <a:latin typeface="Arial"/>
                <a:ea typeface="Arial"/>
                <a:cs typeface="Arial"/>
              </a:defRPr>
            </a:lvl7pPr>
            <a:lvl8pPr>
              <a:buNone/>
              <a:defRPr sz="2025" b="1">
                <a:solidFill>
                  <a:srgbClr val="9B4B20"/>
                </a:solidFill>
                <a:latin typeface="Arial"/>
                <a:ea typeface="Arial"/>
                <a:cs typeface="Arial"/>
              </a:defRPr>
            </a:lvl8pPr>
            <a:lvl9pPr>
              <a:buNone/>
              <a:defRPr sz="2025" b="1">
                <a:solidFill>
                  <a:srgbClr val="9B4B20"/>
                </a:solidFill>
                <a:latin typeface="Arial"/>
                <a:ea typeface="Arial"/>
                <a:cs typeface="Arial"/>
              </a:defRPr>
            </a:lvl9pPr>
          </a:lstStyle>
          <a:p>
            <a:pPr>
              <a:buNone/>
              <a:defRPr sz="2025" b="1">
                <a:solidFill>
                  <a:srgbClr val="9B4B20"/>
                </a:solidFill>
                <a:latin typeface="Arial"/>
                <a:ea typeface="Arial"/>
                <a:cs typeface="Arial"/>
              </a:defRPr>
            </a:pPr>
            <a:r>
              <a:rPr sz="2025" b="1">
                <a:solidFill>
                  <a:srgbClr val="9B4B20"/>
                </a:solidFill>
                <a:latin typeface="Arial"/>
                <a:ea typeface="Arial"/>
                <a:cs typeface="Arial"/>
              </a:rPr>
              <a:t>0.6.0 remains an unsigned evaluation release</a:t>
            </a:r>
          </a:p>
        </p:txBody>
      </p:sp>
    </p:spTree>
    <p:extLst>
      <p:ext uri="{BB962C8B-B14F-4D97-AF65-F5344CB8AC3E}">
        <p14:creationId xmlns:p14="http://schemas.microsoft.com/office/powerpoint/2010/main" val="194451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E6DA18E3-CD94-45A6-98C5-64016283157C}"/>
              </a:ext>
            </a:extLst>
          </p:cNvPr>
          <p:cNvSpPr>
            <a:spLocks noGrp="1"/>
          </p:cNvSpPr>
          <p:nvPr/>
        </p:nvSpPr>
        <p:spPr>
          <a:xfrm>
            <a:off x="609600" y="457200"/>
            <a:ext cx="10972800" cy="914400"/>
          </a:xfrm>
          <a:prstGeom prst="rect">
            <a:avLst/>
          </a:prstGeom>
          <a:noFill/>
          <a:ln w="0">
            <a:noFill/>
          </a:ln>
        </p:spPr>
        <p:txBody>
          <a:bodyPr wrap="square" lIns="0" tIns="0" rIns="0" bIns="0" anchor="t">
            <a:noAutofit/>
          </a:bodyPr>
          <a:lstStyle>
            <a:defPPr>
              <a:defRPr sz="3300" b="1">
                <a:solidFill>
                  <a:srgbClr val="16334F"/>
                </a:solidFill>
                <a:latin typeface="Arial"/>
                <a:ea typeface="Arial"/>
                <a:cs typeface="Arial"/>
              </a:defRPr>
            </a:defPPr>
            <a:lvl1pPr>
              <a:buNone/>
              <a:defRPr sz="3300" b="1">
                <a:solidFill>
                  <a:srgbClr val="16334F"/>
                </a:solidFill>
                <a:latin typeface="Arial"/>
                <a:ea typeface="Arial"/>
                <a:cs typeface="Arial"/>
              </a:defRPr>
            </a:lvl1pPr>
            <a:lvl2pPr>
              <a:buNone/>
              <a:defRPr sz="3300" b="1">
                <a:solidFill>
                  <a:srgbClr val="16334F"/>
                </a:solidFill>
                <a:latin typeface="Arial"/>
                <a:ea typeface="Arial"/>
                <a:cs typeface="Arial"/>
              </a:defRPr>
            </a:lvl2pPr>
            <a:lvl3pPr>
              <a:buNone/>
              <a:defRPr sz="3300" b="1">
                <a:solidFill>
                  <a:srgbClr val="16334F"/>
                </a:solidFill>
                <a:latin typeface="Arial"/>
                <a:ea typeface="Arial"/>
                <a:cs typeface="Arial"/>
              </a:defRPr>
            </a:lvl3pPr>
            <a:lvl4pPr>
              <a:buNone/>
              <a:defRPr sz="3300" b="1">
                <a:solidFill>
                  <a:srgbClr val="16334F"/>
                </a:solidFill>
                <a:latin typeface="Arial"/>
                <a:ea typeface="Arial"/>
                <a:cs typeface="Arial"/>
              </a:defRPr>
            </a:lvl4pPr>
            <a:lvl5pPr>
              <a:buNone/>
              <a:defRPr sz="3300" b="1">
                <a:solidFill>
                  <a:srgbClr val="16334F"/>
                </a:solidFill>
                <a:latin typeface="Arial"/>
                <a:ea typeface="Arial"/>
                <a:cs typeface="Arial"/>
              </a:defRPr>
            </a:lvl5pPr>
            <a:lvl6pPr>
              <a:buNone/>
              <a:defRPr sz="3300" b="1">
                <a:solidFill>
                  <a:srgbClr val="16334F"/>
                </a:solidFill>
                <a:latin typeface="Arial"/>
                <a:ea typeface="Arial"/>
                <a:cs typeface="Arial"/>
              </a:defRPr>
            </a:lvl6pPr>
            <a:lvl7pPr>
              <a:buNone/>
              <a:defRPr sz="3300" b="1">
                <a:solidFill>
                  <a:srgbClr val="16334F"/>
                </a:solidFill>
                <a:latin typeface="Arial"/>
                <a:ea typeface="Arial"/>
                <a:cs typeface="Arial"/>
              </a:defRPr>
            </a:lvl7pPr>
            <a:lvl8pPr>
              <a:buNone/>
              <a:defRPr sz="3300" b="1">
                <a:solidFill>
                  <a:srgbClr val="16334F"/>
                </a:solidFill>
                <a:latin typeface="Arial"/>
                <a:ea typeface="Arial"/>
                <a:cs typeface="Arial"/>
              </a:defRPr>
            </a:lvl8pPr>
            <a:lvl9pPr>
              <a:buNone/>
              <a:defRPr sz="3300" b="1">
                <a:solidFill>
                  <a:srgbClr val="16334F"/>
                </a:solidFill>
                <a:latin typeface="Arial"/>
                <a:ea typeface="Arial"/>
                <a:cs typeface="Arial"/>
              </a:defRPr>
            </a:lvl9pPr>
          </a:lstStyle>
          <a:p>
            <a:pPr>
              <a:buNone/>
              <a:defRPr sz="3300" b="1">
                <a:solidFill>
                  <a:srgbClr val="16334F"/>
                </a:solidFill>
                <a:latin typeface="Arial"/>
                <a:ea typeface="Arial"/>
                <a:cs typeface="Arial"/>
              </a:defRPr>
            </a:pPr>
            <a:r>
              <a:rPr sz="3300" b="1">
                <a:solidFill>
                  <a:srgbClr val="16334F"/>
                </a:solidFill>
                <a:latin typeface="Arial"/>
                <a:ea typeface="Arial"/>
                <a:cs typeface="Arial"/>
              </a:rPr>
              <a:t>Production completion plan</a:t>
            </a:r>
          </a:p>
        </p:txBody>
      </p:sp>
      <p:sp>
        <p:nvSpPr>
          <p:cNvPr id="2" name="text-2">
            <a:extLst>
              <a:ext uri="{FF2B5EF4-FFF2-40B4-BE49-F238E27FC236}">
                <a16:creationId xmlns:a16="http://schemas.microsoft.com/office/drawing/2014/main" id="{29CEAEC3-6B32-4A23-B3D4-52D71E67391B}"/>
              </a:ext>
            </a:extLst>
          </p:cNvPr>
          <p:cNvSpPr>
            <a:spLocks noGrp="1"/>
          </p:cNvSpPr>
          <p:nvPr/>
        </p:nvSpPr>
        <p:spPr>
          <a:xfrm>
            <a:off x="609600" y="6457950"/>
            <a:ext cx="8096250"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SALES360</a:t>
            </a:r>
          </a:p>
        </p:txBody>
      </p:sp>
      <p:sp>
        <p:nvSpPr>
          <p:cNvPr id="3" name="text-3">
            <a:extLst>
              <a:ext uri="{FF2B5EF4-FFF2-40B4-BE49-F238E27FC236}">
                <a16:creationId xmlns:a16="http://schemas.microsoft.com/office/drawing/2014/main" id="{91770B76-99F0-4C43-B49E-157B8F8F203E}"/>
              </a:ext>
            </a:extLst>
          </p:cNvPr>
          <p:cNvSpPr>
            <a:spLocks noGrp="1"/>
          </p:cNvSpPr>
          <p:nvPr/>
        </p:nvSpPr>
        <p:spPr>
          <a:xfrm>
            <a:off x="11049000" y="6457950"/>
            <a:ext cx="523875" cy="209550"/>
          </a:xfrm>
          <a:prstGeom prst="rect">
            <a:avLst/>
          </a:prstGeom>
          <a:noFill/>
          <a:ln w="0">
            <a:noFill/>
          </a:ln>
        </p:spPr>
        <p:txBody>
          <a:bodyPr wrap="square" lIns="0" tIns="0" rIns="0" bIns="0" anchor="t">
            <a:noAutofit/>
          </a:bodyPr>
          <a:lstStyle>
            <a:defPPr>
              <a:defRPr sz="1125" b="0">
                <a:solidFill>
                  <a:srgbClr val="5F7482"/>
                </a:solidFill>
                <a:latin typeface="Arial"/>
                <a:ea typeface="Arial"/>
                <a:cs typeface="Arial"/>
              </a:defRPr>
            </a:defPPr>
            <a:lvl1pPr>
              <a:buNone/>
              <a:defRPr sz="1125" b="0">
                <a:solidFill>
                  <a:srgbClr val="5F7482"/>
                </a:solidFill>
                <a:latin typeface="Arial"/>
                <a:ea typeface="Arial"/>
                <a:cs typeface="Arial"/>
              </a:defRPr>
            </a:lvl1pPr>
            <a:lvl2pPr>
              <a:buNone/>
              <a:defRPr sz="1125" b="0">
                <a:solidFill>
                  <a:srgbClr val="5F7482"/>
                </a:solidFill>
                <a:latin typeface="Arial"/>
                <a:ea typeface="Arial"/>
                <a:cs typeface="Arial"/>
              </a:defRPr>
            </a:lvl2pPr>
            <a:lvl3pPr>
              <a:buNone/>
              <a:defRPr sz="1125" b="0">
                <a:solidFill>
                  <a:srgbClr val="5F7482"/>
                </a:solidFill>
                <a:latin typeface="Arial"/>
                <a:ea typeface="Arial"/>
                <a:cs typeface="Arial"/>
              </a:defRPr>
            </a:lvl3pPr>
            <a:lvl4pPr>
              <a:buNone/>
              <a:defRPr sz="1125" b="0">
                <a:solidFill>
                  <a:srgbClr val="5F7482"/>
                </a:solidFill>
                <a:latin typeface="Arial"/>
                <a:ea typeface="Arial"/>
                <a:cs typeface="Arial"/>
              </a:defRPr>
            </a:lvl4pPr>
            <a:lvl5pPr>
              <a:buNone/>
              <a:defRPr sz="1125" b="0">
                <a:solidFill>
                  <a:srgbClr val="5F7482"/>
                </a:solidFill>
                <a:latin typeface="Arial"/>
                <a:ea typeface="Arial"/>
                <a:cs typeface="Arial"/>
              </a:defRPr>
            </a:lvl5pPr>
            <a:lvl6pPr>
              <a:buNone/>
              <a:defRPr sz="1125" b="0">
                <a:solidFill>
                  <a:srgbClr val="5F7482"/>
                </a:solidFill>
                <a:latin typeface="Arial"/>
                <a:ea typeface="Arial"/>
                <a:cs typeface="Arial"/>
              </a:defRPr>
            </a:lvl6pPr>
            <a:lvl7pPr>
              <a:buNone/>
              <a:defRPr sz="1125" b="0">
                <a:solidFill>
                  <a:srgbClr val="5F7482"/>
                </a:solidFill>
                <a:latin typeface="Arial"/>
                <a:ea typeface="Arial"/>
                <a:cs typeface="Arial"/>
              </a:defRPr>
            </a:lvl7pPr>
            <a:lvl8pPr>
              <a:buNone/>
              <a:defRPr sz="1125" b="0">
                <a:solidFill>
                  <a:srgbClr val="5F7482"/>
                </a:solidFill>
                <a:latin typeface="Arial"/>
                <a:ea typeface="Arial"/>
                <a:cs typeface="Arial"/>
              </a:defRPr>
            </a:lvl8pPr>
            <a:lvl9pPr>
              <a:buNone/>
              <a:defRPr sz="1125" b="0">
                <a:solidFill>
                  <a:srgbClr val="5F7482"/>
                </a:solidFill>
                <a:latin typeface="Arial"/>
                <a:ea typeface="Arial"/>
                <a:cs typeface="Arial"/>
              </a:defRPr>
            </a:lvl9pPr>
          </a:lstStyle>
          <a:p>
            <a:pPr>
              <a:buNone/>
              <a:defRPr sz="1125" b="0">
                <a:solidFill>
                  <a:srgbClr val="5F7482"/>
                </a:solidFill>
                <a:latin typeface="Arial"/>
                <a:ea typeface="Arial"/>
                <a:cs typeface="Arial"/>
              </a:defRPr>
            </a:pPr>
            <a:r>
              <a:rPr sz="1125" b="0">
                <a:solidFill>
                  <a:srgbClr val="5F7482"/>
                </a:solidFill>
                <a:latin typeface="Arial"/>
                <a:ea typeface="Arial"/>
                <a:cs typeface="Arial"/>
              </a:rPr>
              <a:t>23</a:t>
            </a:r>
          </a:p>
        </p:txBody>
      </p:sp>
      <p:graphicFrame>
        <p:nvGraphicFramePr>
          <p:cNvPr id="4" name="Table 3">
            <a:extLst>
              <a:ext uri="{FF2B5EF4-FFF2-40B4-BE49-F238E27FC236}">
                <a16:creationId xmlns:a16="http://schemas.microsoft.com/office/drawing/2014/main" id="{A7DDF9D5-2931-443A-A810-0F66B0A9B02A}"/>
              </a:ext>
            </a:extLst>
          </p:cNvPr>
          <p:cNvGraphicFramePr/>
          <p:nvPr/>
        </p:nvGraphicFramePr>
        <p:xfrm>
          <a:off x="609600" y="1666875"/>
          <a:ext cx="10972800" cy="4191000"/>
        </p:xfrm>
        <a:graphic>
          <a:graphicData uri="http://schemas.openxmlformats.org/drawingml/2006/table">
            <a:tbl>
              <a:tblPr/>
              <a:tblGrid>
                <a:gridCol w="42386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698500">
                <a:tc>
                  <a:txBody>
                    <a:bodyPr/>
                    <a:lstStyle/>
                    <a:p>
                      <a:r>
                        <a:rPr sz="1800" b="1">
                          <a:solidFill>
                            <a:srgbClr val="FFFFFF"/>
                          </a:solidFill>
                          <a:latin typeface="Arial"/>
                          <a:ea typeface="Arial"/>
                          <a:cs typeface="Arial"/>
                        </a:rPr>
                        <a:t>Priority</a:t>
                      </a:r>
                    </a:p>
                  </a:txBody>
                  <a:tcPr anchor="ctr">
                    <a:lnL w="9525">
                      <a:solidFill>
                        <a:srgbClr val="D7E2E9"/>
                      </a:solidFill>
                      <a:prstDash val="soli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00" b="1">
                          <a:solidFill>
                            <a:srgbClr val="FFFFFF"/>
                          </a:solidFill>
                          <a:latin typeface="Arial"/>
                          <a:ea typeface="Arial"/>
                          <a:cs typeface="Arial"/>
                        </a:rPr>
                        <a:t>Owner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tc>
                  <a:txBody>
                    <a:bodyPr/>
                    <a:lstStyle/>
                    <a:p>
                      <a:r>
                        <a:rPr sz="1800" b="1">
                          <a:solidFill>
                            <a:srgbClr val="FFFFFF"/>
                          </a:solidFill>
                          <a:latin typeface="Arial"/>
                          <a:ea typeface="Arial"/>
                          <a:cs typeface="Arial"/>
                        </a:rPr>
                        <a:t>Required evidence</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a:solidFill>
                        <a:srgbClr val="D7E2E9"/>
                      </a:solidFill>
                      <a:prstDash val="solid"/>
                    </a:lnT>
                    <a:lnB w="9525">
                      <a:solidFill>
                        <a:srgbClr val="D7E2E9"/>
                      </a:solidFill>
                      <a:prstDash val="solid"/>
                    </a:lnB>
                    <a:solidFill>
                      <a:srgbClr val="16334F"/>
                    </a:solidFill>
                  </a:tcPr>
                </a:tc>
                <a:extLst>
                  <a:ext uri="{0D108BD9-81ED-4DB2-BD59-A6C34878D82A}">
                    <a16:rowId xmlns:a16="http://schemas.microsoft.com/office/drawing/2014/main" val="10000"/>
                  </a:ext>
                </a:extLst>
              </a:tr>
              <a:tr h="698500">
                <a:tc>
                  <a:txBody>
                    <a:bodyPr/>
                    <a:lstStyle/>
                    <a:p>
                      <a:r>
                        <a:rPr sz="1800" b="0">
                          <a:solidFill>
                            <a:srgbClr val="213C52"/>
                          </a:solidFill>
                          <a:latin typeface="Arial"/>
                          <a:ea typeface="Arial"/>
                          <a:cs typeface="Arial"/>
                        </a:rPr>
                        <a:t>Finance policies and statutory documents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Finance + developer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Approved rules and correct document cases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1"/>
                  </a:ext>
                </a:extLst>
              </a:tr>
              <a:tr h="698500">
                <a:tc>
                  <a:txBody>
                    <a:bodyPr/>
                    <a:lstStyle/>
                    <a:p>
                      <a:r>
                        <a:rPr sz="1800" b="0">
                          <a:solidFill>
                            <a:srgbClr val="213C52"/>
                          </a:solidFill>
                          <a:latin typeface="Arial"/>
                          <a:ea typeface="Arial"/>
                          <a:cs typeface="Arial"/>
                        </a:rPr>
                        <a:t>OCR and document workflow</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Developer + document owner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Scanned sources, review and decision tests</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2"/>
                  </a:ext>
                </a:extLst>
              </a:tr>
              <a:tr h="698500">
                <a:tc>
                  <a:txBody>
                    <a:bodyPr/>
                    <a:lstStyle/>
                    <a:p>
                      <a:r>
                        <a:rPr sz="1800" b="0">
                          <a:solidFill>
                            <a:srgbClr val="213C52"/>
                          </a:solidFill>
                          <a:latin typeface="Arial"/>
                          <a:ea typeface="Arial"/>
                          <a:cs typeface="Arial"/>
                        </a:rPr>
                        <a:t>Vendor integrations</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Integration owner + provider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Sandbox reconciliation and failure recovery</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3"/>
                  </a:ext>
                </a:extLst>
              </a:tr>
              <a:tr h="698500">
                <a:tc>
                  <a:txBody>
                    <a:bodyPr/>
                    <a:lstStyle/>
                    <a:p>
                      <a:r>
                        <a:rPr sz="1800" b="0">
                          <a:solidFill>
                            <a:srgbClr val="213C52"/>
                          </a:solidFill>
                          <a:latin typeface="Arial"/>
                          <a:ea typeface="Arial"/>
                          <a:cs typeface="Arial"/>
                        </a:rPr>
                        <a:t>Independent acceptance</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QA + security + IT</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tc>
                  <a:txBody>
                    <a:bodyPr/>
                    <a:lstStyle/>
                    <a:p>
                      <a:r>
                        <a:rPr sz="1800" b="0">
                          <a:solidFill>
                            <a:srgbClr val="213C52"/>
                          </a:solidFill>
                          <a:latin typeface="Arial"/>
                          <a:ea typeface="Arial"/>
                          <a:cs typeface="Arial"/>
                        </a:rPr>
                        <a:t>Clean PC, authorization and measured workload</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FFFFF"/>
                    </a:solidFill>
                  </a:tcPr>
                </a:tc>
                <a:extLst>
                  <a:ext uri="{0D108BD9-81ED-4DB2-BD59-A6C34878D82A}">
                    <a16:rowId xmlns:a16="http://schemas.microsoft.com/office/drawing/2014/main" val="10004"/>
                  </a:ext>
                </a:extLst>
              </a:tr>
              <a:tr h="698500">
                <a:tc>
                  <a:txBody>
                    <a:bodyPr/>
                    <a:lstStyle/>
                    <a:p>
                      <a:r>
                        <a:rPr sz="1800" b="0">
                          <a:solidFill>
                            <a:srgbClr val="213C52"/>
                          </a:solidFill>
                          <a:latin typeface="Arial"/>
                          <a:ea typeface="Arial"/>
                          <a:cs typeface="Arial"/>
                        </a:rPr>
                        <a:t>Recovery and go-live sign-off</a:t>
                      </a:r>
                    </a:p>
                  </a:txBody>
                  <a:tcPr anchor="ctr">
                    <a:lnL w="9525">
                      <a:solidFill>
                        <a:srgbClr val="D7E2E9"/>
                      </a:solidFill>
                      <a:prstDash val="soli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IT + Finance + project owner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tc>
                  <a:txBody>
                    <a:bodyPr/>
                    <a:lstStyle/>
                    <a:p>
                      <a:r>
                        <a:rPr sz="1800" b="0">
                          <a:solidFill>
                            <a:srgbClr val="213C52"/>
                          </a:solidFill>
                          <a:latin typeface="Arial"/>
                          <a:ea typeface="Arial"/>
                          <a:cs typeface="Arial"/>
                        </a:rPr>
                        <a:t>Restore evidence, user acceptance and handover</a:t>
                      </a:r>
                    </a:p>
                  </a:txBody>
                  <a:tcPr anchor="ctr">
                    <a:lnL w="9525" cap="flat" cmpd="sng" algn="ctr">
                      <a:solidFill>
                        <a:srgbClr val="D7E2E9"/>
                      </a:solidFill>
                      <a:prstDash val="solid"/>
                      <a:round/>
                      <a:headEnd type="none" w="med" len="med"/>
                      <a:tailEnd type="none" w="med" len="med"/>
                    </a:lnL>
                    <a:lnR w="9525">
                      <a:solidFill>
                        <a:srgbClr val="D7E2E9"/>
                      </a:solidFill>
                      <a:prstDash val="solid"/>
                    </a:lnR>
                    <a:lnT w="9525" cap="flat" cmpd="sng" algn="ctr">
                      <a:solidFill>
                        <a:srgbClr val="D7E2E9"/>
                      </a:solidFill>
                      <a:prstDash val="solid"/>
                      <a:round/>
                      <a:headEnd type="none" w="med" len="med"/>
                      <a:tailEnd type="none" w="med" len="med"/>
                    </a:lnT>
                    <a:lnB w="9525">
                      <a:solidFill>
                        <a:srgbClr val="D7E2E9"/>
                      </a:solidFill>
                      <a:prstDash val="solid"/>
                    </a:lnB>
                    <a:solidFill>
                      <a:srgbClr val="F2F6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4217254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4163</Words>
  <Application>Microsoft Office PowerPoint</Application>
  <DocSecurity>0</DocSecurity>
  <PresentationFormat>Widescreen</PresentationFormat>
  <Paragraphs>448</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Chittaranjan Behera</cp:lastModifiedBy>
  <cp:revision>1</cp:revision>
  <dcterms:created xsi:type="dcterms:W3CDTF">2026-10-28T07:44:18Z</dcterms:created>
  <dcterms:modified xsi:type="dcterms:W3CDTF">2026-10-31T07:40:34Z</dcterms:modified>
</cp:coreProperties>
</file>