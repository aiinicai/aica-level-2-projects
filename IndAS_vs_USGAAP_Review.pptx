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5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286000"/>
            <a:ext cx="5486400" cy="5486400"/>
          </a:xfrm>
          <a:prstGeom prst="ellipse">
            <a:avLst/>
          </a:prstGeom>
          <a:solidFill>
            <a:srgbClr val="38976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5B84C4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 TECHNOLOGY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 AS (IGAAP) vs US GAAP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Multi-Standard Comparison &amp; Reconciliation Tool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53512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53512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4064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4064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214616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14616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45168" y="434340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5168" y="4343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Benefits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·  Problem, Solution &amp; Roadmap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Reconciling Ind AS to US GAAP is still a manual, error-prone exercise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5" name="Image 0" descr="icons/layers_d9a4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476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91109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Five+ standards, one company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96112" y="2560320"/>
            <a:ext cx="4654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PP&amp;E, impairment, intangibles and employee benefits each diverge between Ind AS and US GAAP — every difference is tracked separately, often in disconnected spreadsheets.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9" name="Image 1" descr="icons/userEdit_d9a4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9476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49440" y="191109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spreadsheet-driven adjustments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336792" y="2560320"/>
            <a:ext cx="4654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hand-build GAAP-difference schedules for each standard, then re-key the results into the financial statements — a slow process with no single source of truth.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13" name="Image 2" descr="icons/clock_d9a4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5079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4714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turnaround at quarter-close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896112" y="5120640"/>
            <a:ext cx="4654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chosen accounting policy changes — say, an inventory costing method — every downstream schedule has to be rebuilt and re-checked by hand.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80760" y="425196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17" name="Image 3" descr="icons/exclaim_d9a44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50799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44714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 of reconciliation errors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336792" y="5120640"/>
            <a:ext cx="4654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structured, formula-driven bridge from Ind AS profit to US GAAP profit, sign errors and double-counted adjustments are easy to miss until audit.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 |  MULTI-STANDARD COMPARISON TOOL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tool: upload a journal extract, pick your standards, get both frameworks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29384"/>
            <a:ext cx="512064" cy="512064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6" name="Image 0" descr="icons/check_3897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482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92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Standard-by-standard treatment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532888"/>
            <a:ext cx="4654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combination of the five standards; each shows Ind AS and US GAAP treatment side by side with the profit and balance-sheet impact.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36792" y="1929384"/>
            <a:ext cx="512064" cy="512064"/>
          </a:xfrm>
          <a:prstGeom prst="ellipse">
            <a:avLst/>
          </a:prstGeom>
          <a:solidFill>
            <a:srgbClr val="5B84C4">
              <a:alpha val="18000"/>
            </a:srgbClr>
          </a:solidFill>
          <a:ln/>
        </p:spPr>
      </p:sp>
      <p:pic>
        <p:nvPicPr>
          <p:cNvPr id="11" name="Image 1" descr="icons/fileExcel_5b84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204825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892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Excel-native workflow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336792" y="2532888"/>
            <a:ext cx="4654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'journal extract' workbook — one sheet per standard, plus a Trial Balance — is the only input. A ready-made template ships with the tool.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96112" y="4306824"/>
            <a:ext cx="512064" cy="512064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16" name="Image 2" descr="icons/scale_3897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442569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70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Profit-first reconciliation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96112" y="4910328"/>
            <a:ext cx="4654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bridging table starts at Ind AS profit after tax, lists each standard's signed adjustment, and lands exactly on US GAAP profit after tax.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406908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36792" y="4306824"/>
            <a:ext cx="512064" cy="512064"/>
          </a:xfrm>
          <a:prstGeom prst="ellipse">
            <a:avLst/>
          </a:prstGeom>
          <a:solidFill>
            <a:srgbClr val="5B84C4">
              <a:alpha val="18000"/>
            </a:srgbClr>
          </a:solidFill>
          <a:ln/>
        </p:spPr>
      </p:sp>
      <p:pic>
        <p:nvPicPr>
          <p:cNvPr id="21" name="Image 3" descr="icons/chart_5b84c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442569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4270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financial statements, both formats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6336792" y="4910328"/>
            <a:ext cx="46542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III-style Ind AS statements and classified US GAAP statements are generated automatically from the Trial Balance plus every applied adjustment.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 |  MULTI-STANDARD COMPARISON TOOL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standards where the GAAP difference is mechanically computable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deliberately: leases, financial instruments and income taxes need judgement-heavy inputs a flat extract can't supply — they sit on the roadmap, not fabricated here.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2167128"/>
            <a:ext cx="585216" cy="585216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7" name="Image 0" descr="icons/box_7eca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295144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260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60120" y="3776472"/>
            <a:ext cx="1444752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886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2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330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4754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formula: FIFO / weighted-average vs FIFO / LIFO / weighted-average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71216" y="18745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21024" y="2167128"/>
            <a:ext cx="585216" cy="585216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14" name="Image 1" descr="icons/building_7eca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29514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008376" y="29260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Property, Plant &amp; Equipment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191256" y="3776472"/>
            <a:ext cx="1444752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008376" y="3886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16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360-10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035808" y="4754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Revaluation model permitted vs cost model only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102352" y="18745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52160" y="2167128"/>
            <a:ext cx="585216" cy="585216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21" name="Image 2" descr="icons/shield_7ecaa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76" y="229514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39512" y="29260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Impairment of Assets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422392" y="3776472"/>
            <a:ext cx="1444752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239512" y="3886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36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360-10 / 350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5266944" y="4754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of impairment permitted vs prohibited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333488" y="18745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083296" y="2167128"/>
            <a:ext cx="585216" cy="585216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28" name="Image 3" descr="icons/lightbulb_7ecaa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2295144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70648" y="29260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Intangible Assets</a:t>
            </a:r>
            <a:endParaRPr lang="en-US" sz="1350" dirty="0"/>
          </a:p>
        </p:txBody>
      </p:sp>
      <p:sp>
        <p:nvSpPr>
          <p:cNvPr id="30" name="Shape 24"/>
          <p:cNvSpPr/>
          <p:nvPr/>
        </p:nvSpPr>
        <p:spPr>
          <a:xfrm>
            <a:off x="7653528" y="3776472"/>
            <a:ext cx="1444752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470648" y="3886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38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730 / 985-20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7498080" y="4754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costs capitalised vs expensed as incurred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9564624" y="1874520"/>
            <a:ext cx="2084832" cy="4206240"/>
          </a:xfrm>
          <a:prstGeom prst="roundRect">
            <a:avLst>
              <a:gd name="adj" fmla="val 438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0314432" y="2167128"/>
            <a:ext cx="585216" cy="585216"/>
          </a:xfrm>
          <a:prstGeom prst="ellipse">
            <a:avLst/>
          </a:prstGeom>
          <a:solidFill>
            <a:srgbClr val="38976F">
              <a:alpha val="18000"/>
            </a:srgbClr>
          </a:solidFill>
          <a:ln/>
        </p:spPr>
      </p:sp>
      <p:pic>
        <p:nvPicPr>
          <p:cNvPr id="35" name="Image 4" descr="icons/heart_7ecaa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2295144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01784" y="29260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Benefits</a:t>
            </a:r>
            <a:endParaRPr lang="en-US" sz="1350" dirty="0"/>
          </a:p>
        </p:txBody>
      </p:sp>
      <p:sp>
        <p:nvSpPr>
          <p:cNvPr id="37" name="Shape 30"/>
          <p:cNvSpPr/>
          <p:nvPr/>
        </p:nvSpPr>
        <p:spPr>
          <a:xfrm>
            <a:off x="9884664" y="3776472"/>
            <a:ext cx="1444752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9701784" y="388620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19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715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9729216" y="475488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 gains/losses: OCI only vs amortised to P&amp;L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 |  MULTI-STANDARD COMPARISON TOOL</a:t>
            </a:r>
            <a:endParaRPr lang="en-US" sz="850" dirty="0"/>
          </a:p>
        </p:txBody>
      </p:sp>
      <p:sp>
        <p:nvSpPr>
          <p:cNvPr id="41" name="Text 34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single Excel upload to a fully reconciled set of financial statements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1783080"/>
            <a:ext cx="731520" cy="731520"/>
          </a:xfrm>
          <a:prstGeom prst="ellipse">
            <a:avLst/>
          </a:prstGeom>
          <a:solidFill>
            <a:srgbClr val="5B84C4">
              <a:alpha val="85000"/>
            </a:srgbClr>
          </a:solidFill>
          <a:ln w="38100">
            <a:solidFill>
              <a:srgbClr val="0B0F1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7734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pic>
        <p:nvPicPr>
          <p:cNvPr id="7" name="Image 0" descr="icons/upload_9bb8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606040"/>
            <a:ext cx="512064" cy="5120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91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86968" y="3730752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workbook: a Trial Balance sheet plus one sheet per applicable standard, using the built-in template.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218688" y="33375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56432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7972" y="1783080"/>
            <a:ext cx="731520" cy="731520"/>
          </a:xfrm>
          <a:prstGeom prst="ellipse">
            <a:avLst/>
          </a:prstGeom>
          <a:solidFill>
            <a:srgbClr val="5B84C4">
              <a:alpha val="85000"/>
            </a:srgbClr>
          </a:solidFill>
          <a:ln w="38100">
            <a:solidFill>
              <a:srgbClr val="0B0F1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7972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pic>
        <p:nvPicPr>
          <p:cNvPr id="14" name="Image 1" descr="icons/listCheck_9bb8e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606040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93592" y="3291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standards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730752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of the five standards apply; set the Ind AS and US GAAP inventory costing methods.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989320" y="33375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27064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18604" y="1783080"/>
            <a:ext cx="731520" cy="731520"/>
          </a:xfrm>
          <a:prstGeom prst="ellipse">
            <a:avLst/>
          </a:prstGeom>
          <a:solidFill>
            <a:srgbClr val="5B84C4">
              <a:alpha val="85000"/>
            </a:srgbClr>
          </a:solidFill>
          <a:ln w="38100">
            <a:solidFill>
              <a:srgbClr val="0B0F1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118604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21" name="Image 2" descr="icons/cogs_9bb8e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332" y="2606040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64224" y="3291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428232" y="3730752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standard's Ind AS and US GAAP treatment is computed independently and cross-checked for consistency.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759952" y="33375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8997696" y="2103120"/>
            <a:ext cx="2514600" cy="3017520"/>
          </a:xfrm>
          <a:prstGeom prst="roundRect">
            <a:avLst>
              <a:gd name="adj" fmla="val 3636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889236" y="1783080"/>
            <a:ext cx="731520" cy="731520"/>
          </a:xfrm>
          <a:prstGeom prst="ellipse">
            <a:avLst/>
          </a:prstGeom>
          <a:solidFill>
            <a:srgbClr val="5B84C4">
              <a:alpha val="85000"/>
            </a:srgbClr>
          </a:solidFill>
          <a:ln w="38100">
            <a:solidFill>
              <a:srgbClr val="0B0F15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889236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pic>
        <p:nvPicPr>
          <p:cNvPr id="28" name="Image 3" descr="icons/fileInvoice_9bb8e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8964" y="2606040"/>
            <a:ext cx="512064" cy="51206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134856" y="3291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export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9198864" y="3730752"/>
            <a:ext cx="2112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Profit-first reconciliation, full financial statements in each framework's native format, and Excel export.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85800" y="5532120"/>
            <a:ext cx="10826496" cy="777240"/>
          </a:xfrm>
          <a:prstGeom prst="roundRect">
            <a:avLst>
              <a:gd name="adj" fmla="val 9412"/>
            </a:avLst>
          </a:prstGeom>
          <a:solidFill>
            <a:srgbClr val="0F141B"/>
          </a:solidFill>
          <a:ln w="12700">
            <a:solidFill>
              <a:srgbClr val="263140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60120" y="5532120"/>
            <a:ext cx="10277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profit + Σ(adjustments) = US GAAP profit — exactly, every time, verified programmatically.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 |  MULTI-STANDARD COMPARISON TOOL</a:t>
            </a:r>
            <a:endParaRPr lang="en-US" sz="850" dirty="0"/>
          </a:p>
        </p:txBody>
      </p:sp>
      <p:sp>
        <p:nvSpPr>
          <p:cNvPr id="34" name="Text 28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REVIEW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single-file Python desktop application — no server, no external services, runs entirely on the user's machine.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31A23"/>
          </a:solidFill>
          <a:ln w="19050">
            <a:solidFill>
              <a:srgbClr val="3897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38976F">
              <a:alpha val="20000"/>
            </a:srgbClr>
          </a:solidFill>
          <a:ln/>
        </p:spPr>
      </p:sp>
      <p:pic>
        <p:nvPicPr>
          <p:cNvPr id="7" name="Image 0" descr="icons/desktop_3897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174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2075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788920"/>
            <a:ext cx="3063240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926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PyQt6 — native desktop UI toolkit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tokens: dark theme, typography, spacing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navigation + status bar (own widget classes)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QTableWidget-based statements, entries &amp; reconciliation views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31A23"/>
          </a:solidFill>
          <a:ln w="19050">
            <a:solidFill>
              <a:srgbClr val="5B84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2103120"/>
            <a:ext cx="502920" cy="502920"/>
          </a:xfrm>
          <a:prstGeom prst="ellipse">
            <a:avLst/>
          </a:prstGeom>
          <a:solidFill>
            <a:srgbClr val="5B84C4">
              <a:alpha val="20000"/>
            </a:srgbClr>
          </a:solidFill>
          <a:ln/>
        </p:spPr>
      </p:sp>
      <p:pic>
        <p:nvPicPr>
          <p:cNvPr id="13" name="Image 1" descr="icons/cogs_5b84c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2174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93792" y="2075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Business Logic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53712" y="2788920"/>
            <a:ext cx="3063240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53712" y="2926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 calculation engine per standard (FIFO/LIFO/weighted-average, revaluation, impairment, capitalisation, actuarial)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result schema: transactions, journal entries, reconciliation cards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Balance + adjustments → full Ind AS / US GAAP statements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checks: balance sheet balances, profit bridge verified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10144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131A23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38744" y="2103120"/>
            <a:ext cx="502920" cy="502920"/>
          </a:xfrm>
          <a:prstGeom prst="ellipse">
            <a:avLst/>
          </a:prstGeom>
          <a:solidFill>
            <a:srgbClr val="D9A441">
              <a:alpha val="20000"/>
            </a:srgbClr>
          </a:solidFill>
          <a:ln/>
        </p:spPr>
      </p:sp>
      <p:pic>
        <p:nvPicPr>
          <p:cNvPr id="19" name="Image 2" descr="icons/table_d9a4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044" y="221742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78824" y="207568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I/O Layer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238744" y="2788920"/>
            <a:ext cx="3063240" cy="0"/>
          </a:xfrm>
          <a:prstGeom prst="line">
            <a:avLst/>
          </a:prstGeom>
          <a:noFill/>
          <a:ln w="12700">
            <a:solidFill>
              <a:srgbClr val="263140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38744" y="29260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reading, transforming &amp; aggregating Excel data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— Excel read/write, workbook styling, template generation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workbook I/O: one sheet per standard + Trial Balance</a:t>
            </a:r>
            <a:endParaRPr lang="en-US" sz="11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export: reconciliation, financial statements, full workbook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stack:  </a:t>
            </a:r>
            <a:pPr indent="0" marL="0">
              <a:buNone/>
            </a:pPr>
            <a:r>
              <a:rPr lang="en-US" sz="10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standard library   ·   Excel .xlsx as the sole interchange format   ·   No database, no network calls, no third-party services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 |  MULTI-STANDARD COMPARISON TOOL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E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&amp;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5" name="Image 0" descr="icons/building_7eca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56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Leases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37744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116 (single lease model) vs ASC 842 (finance/operating classification) — needs a lease schedule (term, payments, discount rate), not just a journal extract.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9" name="Image 1" descr="icons/coins_7ecaa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10912" y="1856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instruments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4526280" y="237744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109 vs ASC 825/815 — classification and fair-value measurement differences; requires instrument-level fair value and hedge documentation.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01014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13" name="Image 2" descr="icons/percent_7ecaa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89280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95944" y="1856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taxes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8211312" y="237744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12 vs ASC 740 — deferred tax computed today only through the Tax Expense line; a full temporary-difference schedule is the natural next standard.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17" name="Image 3" descr="icons/history_7ecaa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416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Multi-period tracking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41248" y="452628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actuarial and revaluation amortisation logic beyond a first-year approximation to a full multi-year corridor / runoff model.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25112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21" name="Image 4" descr="icons/cloud_7ecaa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04164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010912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/ multi-user version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4526280" y="452628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single-file desktop app to a shared, browser-based deployment with role-based access and version history.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010144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31A23"/>
          </a:solidFill>
          <a:ln w="12700">
            <a:solidFill>
              <a:srgbClr val="263140"/>
            </a:solidFill>
            <a:prstDash val="solid"/>
          </a:ln>
        </p:spPr>
      </p:sp>
      <p:pic>
        <p:nvPicPr>
          <p:cNvPr id="25" name="Image 5" descr="icons/filePdf_7ecaa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4041648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695944" y="4005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export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8211312" y="4526280"/>
            <a:ext cx="3118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financial statement packs with disclosures, plus a full audit trail of every adjustment for external auditor review.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 |  MULTI-STANDARD COMPARISON TOOL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5B84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2743200"/>
            <a:ext cx="6400800" cy="6400800"/>
          </a:xfrm>
          <a:prstGeom prst="ellipse">
            <a:avLst/>
          </a:prstGeom>
          <a:solidFill>
            <a:srgbClr val="38976F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C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6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2743200" cy="0"/>
          </a:xfrm>
          <a:prstGeom prst="line">
            <a:avLst/>
          </a:prstGeom>
          <a:noFill/>
          <a:ln w="19050">
            <a:solidFill>
              <a:srgbClr val="2631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 AS (IGAAP) vs US GAAP — Multi-Standard Comparison Tool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2026-09-10T07:10:42Z</dcterms:created>
  <dcterms:modified xsi:type="dcterms:W3CDTF">2026-09-10T07:10:42Z</dcterms:modified>
</cp:coreProperties>
</file>