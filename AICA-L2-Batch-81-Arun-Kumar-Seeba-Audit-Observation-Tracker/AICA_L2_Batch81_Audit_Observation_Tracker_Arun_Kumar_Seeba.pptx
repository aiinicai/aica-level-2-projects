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Audit Observation &amp; Query Tracker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Visual System Walkthrough &amp; User Guide for Chartered Accountancy Audit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17520"/>
            <a:ext cx="23774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ICAI SA 230 &amp; SA 260 Aligned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017520"/>
            <a:ext cx="2377440" cy="4572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5-Element Structured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017520"/>
            <a:ext cx="2377440" cy="4572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Strict Terminal Gate &amp; Step-Up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59" y="3017520"/>
            <a:ext cx="237744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Automated Word (.docx) Summary Memo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2377440"/>
          </a:xfrm>
          <a:prstGeom prst="roundRect">
            <a:avLst/>
          </a:prstGeom>
          <a:solidFill>
            <a:srgbClr val="172A4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ED7AA"/>
                </a:solidFill>
              </a:defRPr>
            </a:pPr>
            <a:r>
              <a:t>DELIVERABLE HIGHLIGHTS &amp; ARCHITECTURE SUMMARY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Full Audit Query Lifecycle: Draft -&gt; Maker-Checker Review -&gt; Issued -&gt; Client Response -&gt; Closed Satisfactory / Info Awaited.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Engagement-Level RBAC: Role mapping per engagement (Partner, Manager, Senior, Article Assistant, Client Coordinator).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Strict Memo Generation Gate (FR-11): Blocks Word memo generation if any open queries remain, overridden only via approved EX-03.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Append-Only Audit Trail (FR-14): Immutable logging tracking user IPs, timestamps, before/after values, and password verifications.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System Architecture &amp; End-to-End Workflow Diagram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High-level pictorial breakdown of presentation tier, business logic layer, state machine, and document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0040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PRESENTATION TIER (UI / UX)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Partner Dashboard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KPI metrics, overdue alerts, exceptions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Audit Team Portal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Maker-checker drafting, observation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Client Portal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PBC request response, evidence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Admin Master UI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Client, contact &amp; staff provisioning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383280" cy="4846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200400" cy="4114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APPLICATION &amp; BUSINESS LOGIC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92024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7490"/>
                </a:solidFill>
              </a:defRPr>
            </a:pPr>
            <a:r>
              <a:t>Engagement RBAC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Dynamic role mapping &amp; maker-checker enforcement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97180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7490"/>
                </a:solidFill>
              </a:defRPr>
            </a:pPr>
            <a:r>
              <a:t>State Machine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Draft -&gt; Under Review -&gt; Issued -&gt; Responded -&gt; 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02336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7490"/>
                </a:solidFill>
              </a:defRPr>
            </a:pPr>
            <a:r>
              <a:t>ICAI Rules &amp; Gate (FR-11)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Terminal-status gate &amp; Partner step-up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507492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E7490"/>
                </a:solidFill>
              </a:defRPr>
            </a:pPr>
            <a:r>
              <a:t>Document Generator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python-docx Memo &amp; openpyxl Excel Exporter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280160"/>
            <a:ext cx="3383280" cy="4846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80" y="1371600"/>
            <a:ext cx="3200400" cy="41148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PERSISTENCE &amp; COMPLIANCE TIER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E4A"/>
                </a:solidFill>
              </a:defRPr>
            </a:pPr>
            <a:r>
              <a:t>SQLite DB Schema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Clients, Staff, Engagements, Queries, Exceptions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97180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E4A"/>
                </a:solidFill>
              </a:defRPr>
            </a:pPr>
            <a:r>
              <a:t>Append-Only AuditTrail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Immutable change logs with user, IP &amp; before/after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E4A"/>
                </a:solidFill>
              </a:defRPr>
            </a:pPr>
            <a:r>
              <a:t>Evidence Storage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Secure media attachments &amp; versioned DOCX memos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07492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E4A"/>
                </a:solidFill>
              </a:defRPr>
            </a:pPr>
            <a:r>
              <a:t>Session / Auth Store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Encrypted passwords, failed login lockouts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4592"/>
            <a:ext cx="384048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AuditTrack 2.0  | 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E2E8F0"/>
                </a:solidFill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End-to-End System Flow, Runtime Matrix, Front-End Stack &amp; Core Architectural Decisions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>
                <a:solidFill>
                  <a:srgbClr val="94A3B8"/>
                </a:solidFill>
              </a:defRPr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Aligned with ICAI Standards on Auditing (SA 230 / SA 260) &amp; Enterprise Python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1094415" cy="12344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0369A1"/>
                </a:solidFill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 FLOW: Local Desktop Execution &amp; Browser-Based In-Process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645920" cy="8046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Launcher (.bat)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F1F5F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Double-Click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setup_and_run.bat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(Auto-detects 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80160"/>
            <a:ext cx="1645920" cy="8046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Django Server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F1F5F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In-process WSGI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0.0.0.0:8000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(Multi-user access)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80160"/>
            <a:ext cx="1645920" cy="8046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 UI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F1F5F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Auto-opens Edge/Chrome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http://127.0.0.1:8000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(Interactive UI)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1645920" cy="80467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Core Engine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F1F5F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RBAC + State Machine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FR-11 Gate Validation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Docx Memo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280160"/>
            <a:ext cx="1645920" cy="8046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Storage 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F1F5F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SQLite DB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(db.sqlite3 - Zero Setup)</a:t>
            </a:r>
            <a:b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Secure Media Files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23160" y="1554480"/>
            <a:ext cx="182880" cy="201168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343400" y="1554480"/>
            <a:ext cx="182880" cy="201168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6263640" y="1554480"/>
            <a:ext cx="182880" cy="201168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183879" y="1554480"/>
            <a:ext cx="182880" cy="201168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28600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2359152"/>
            <a:ext cx="525780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Runtime &amp; Backend Technology Matrix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2697480"/>
          <a:ext cx="5257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CPython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3.10 - 3.14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Core cross-platform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Django Full-Stack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6.1.1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ORM, WSGI, RBAC &amp; Auth middleware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SQLite 3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3.45+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Single-file zero-config relational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Word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1.2.0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Auto-generates Summary Memos (.docx)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Excel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openpyxl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3.1.5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Styled Query Register XLSX exporter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</a:defRPr>
                      </a:pPr>
                      <a:r>
                        <a:t>UI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Selenium WebDriver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4.49.0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Automated UI walkthrough screenshot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2286000"/>
            <a:ext cx="546811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2359152"/>
            <a:ext cx="5285232" cy="29260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FFFFFF"/>
                </a:solidFill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Front-End Presentation &amp; Interactive UI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24912"/>
            <a:ext cx="5285232" cy="43891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0284C7"/>
                </a:solidFill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🎨 UI Framework: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Bootstrap 5.3 (Responsive Grid, Modals, Dynamic Tables &amp; Badges)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09544"/>
            <a:ext cx="5285232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D97706"/>
                </a:solidFill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Visual Analytics: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Chart.js 4.4 (Live Query Ageing Donut &amp; Risk Rating Bar Charts)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94176"/>
            <a:ext cx="5285232" cy="43891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166534"/>
                </a:solidFill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1665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⚡ Zero-Node SSR: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Django Server-Side Templates: Zero npm/Node build step required on host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78808"/>
            <a:ext cx="5285232" cy="43891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7C3AED"/>
                </a:solidFill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👥 Quick Persona Bar: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floating navbar for 1-click role simulation (Partner/Manager/CFO/Admin)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4864608"/>
            <a:ext cx="525780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Packaging, Verification &amp; Code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0F172A"/>
                </a:solidFill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1-Click Launchers: setup_and_run.bat &amp; start_server.bat with Python fallback (py, python, py -3)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0F172A"/>
                </a:solidFill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Test Coverage: 7 Automated Django TestCase Test Suites verifying RBAC, State Machine &amp; Gates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0284C7"/>
                </a:solidFill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Codebase Statistics: ~8,460 Total Lines of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>
                <a:solidFill>
                  <a:srgbClr val="475569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[Python Core Logic: 5,226 lines]  |  [HTML Templates: 2,860 lines]  |  [Unit Tests: 375 lines]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800600"/>
            <a:ext cx="546811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63640" y="4864608"/>
            <a:ext cx="5285232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Deliberate Architectural Decisions (Compliance &amp; Governance)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193792"/>
            <a:ext cx="2560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0E7490"/>
                </a:solidFill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STRICT GATE (FR-11)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>
                <a:solidFill>
                  <a:srgbClr val="0F172A"/>
                </a:solidFill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 Memo (.docx) generation hard-blocked if open queries remain; override only via Partner EX-03 exception.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5193792"/>
            <a:ext cx="2560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0E7490"/>
                </a:solidFill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IMMUTABLE TRAIL (FR-14)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>
                <a:solidFill>
                  <a:srgbClr val="0F172A"/>
                </a:solidFill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Append-only AuditTrail records IP, timestamp, old/new values &amp; step-up password verification.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815584"/>
            <a:ext cx="2560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0E7490"/>
                </a:solidFill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ENGAGEMENT RBAC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>
                <a:solidFill>
                  <a:srgbClr val="0F172A"/>
                </a:solidFill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Dynamic role resolution per engagement prevents Article Assistant from self-issuing queries.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5815584"/>
            <a:ext cx="2560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0E7490"/>
                </a:solidFill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 CLOUD DEPENDENCY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>
                <a:solidFill>
                  <a:srgbClr val="0F172A"/>
                </a:solidFill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single-file SQLite database + local media storage; runs 100% offline with zero recurring cost.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64748B"/>
                </a:solidFill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Observation &amp; Query Tracker | CA Practice Deliverable | Tech Stack &amp; Architecture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SECURITY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Role-Based Access Control (RBAC) &amp; Maker-Checker Matrix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Strict segregation of duties enforced dynamically based on engagement team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Audit Partner  |  Login: partner1@firm.com (CA Rajesh Sharma)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Full engagement oversight, EX-01 to EX-07 exception approvals with step-up auth, Word Memo generation &amp; final sign-off 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Audit Manager  |  Login: manager1@firm.com (CA Amit Verma)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Draft observation review, issuing queries to client, query closure validation, exception request submission, team assignment.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79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Senior Auditor  |  Login: senior1@firm.com (Rohan Deshmukh)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Structured 5-element query creation, PBC tracking, fieldwork documentation, submitting draft queries for manager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Article Assistant  |  Login: article1@firm.com (Vikram Malhotra)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Observation logging &amp; draft queries. Maker-Checker Rule strictly blocks articles from directly issuing queries to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Client Coordinator  |  Login: cfo@apexindustries.com (Ramesh Gupta)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Client Management Portal: view issued queries, assign to team, submit official management response and document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System Admin  |  Login: admin@firm.com (Firm Administrator)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Master data maintenance (Clients, Staff, Contacts), user lockouts reset, and system-wide append-only audit trail inspection.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3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1: MASTERS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Client Master Register &amp; Corporate Profiling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Admin Master table showing audited corporate entities, risk ratings, and primary contact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client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Client Master Overview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Entity Master: Displays Client Code (CL001), Corporate Name, Industry, and SEBI Listed Status.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Risk Categorization: High (Red), Medium (Yellow), Low (Green) risk ratings drive engagement materiality.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Primary Contact Display: Lists CFO / Finance Head email &amp; mobile for quick communication.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Action Shortcuts: Edit client profile or click '+ Contact' icon to add new authorized contact persons.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Client Code &amp; Legal Name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Primary Contact (Email &amp; Mobile)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Risk Category Badge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Listed Status (SEBI LODR)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Edit &amp; Add Contact Buttons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4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1 (CONTD.)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Client Contact &amp; Portal User Provisioning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Managing authorized client personnel, primary coordinator designation, and automated portal user provisioning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client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Contact &amp; User Provisioning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Client Company Profile: Left form allows updating corporate details, registered address, and remarks.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Contact Management Panel: Right sidebar lists all contact persons with direct Edit (pencil) and Delete buttons.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Primary Audit Coordinator: Flag indicating this contact reviews other internal client responses.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Auto-Provision Portal Account: Automatically generates login user with default password (Password@123).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Contact Person Name &amp; Designation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Official Email (Portal Username)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Mobile Number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Primary Coordinator Checkbox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Portal User Linked Badge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Edit &amp; Delete Contact Buttons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5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2: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Engagement Scoping &amp; Team Allocation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Assigning Partners, Managers, Seniors, and Articles with mandatory lead partner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engage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Engagement Governance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Engagement Code &amp; Overview: Code (CL001/FY2526/SA), FY, Period under audit, and status.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Mandatory Lead Partner Rule (Sec 5.5): Enforces exactly one active Audit Partner before memo sign-off.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Engagement Team Table: Allocates Partners, Managers, Seniors, and Articles with independence status.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Edit Role &amp; Release Controls: Direct buttons to reassign roles or release team members safely.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Period Under Audit (From/To)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Planned Dates (Start/Completion)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Engagement Team List (Role Badges)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Assign Member Button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Edit Role &amp; Release Buttons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Independence Declaration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6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3: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Structured 5-Element Observation Drafting (SA 230)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Standardized audit findings aligned with ICAI SA 230, Ind AS, and CARO 2020 reporting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6_query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5-Element Finding Structure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Condition (What was found): Factual audit finding supported by verifiable sampling evidence.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Criteria (What should be): Accounting Standards (Ind AS / AS) or statutory provisions.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Cause (Root Cause): Why deficiency occurred (e.g. lack of automated ERP cutoff controls).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Effect / Risk: Financial statement impact or exposure in INR (₹).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Recommendation: Actionable corrective measures for management.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Audit Area (Revenue, Fixed Assets, GST, etc.)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Priority (High, Medium, Low)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Risk Rating (Critical, High, Medium, Low)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Amount Involved (₹)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Supporting Evidence Upload (PDF/DOCX/XLSX)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7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4: MAKER-CHECKER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Maker-Checker Review &amp; Client Issuance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Segregation of duties: Articles draft observations; Seniors/Managers review and officially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7_query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Maker-Checker Controls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Draft Review: Manager/Senior inspects 5-element findings and supporting attachments.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Maker != Checker Rule: Article who drafted the query cannot self-approve its issuance.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Issue to Client: Manager clicks 'Issue to Client', triggering client portal visibility and email notification.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Auto-Reference &amp; Due Date: Query reference (e.g. CL001/FY2526/SA/0001) and deadline set.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Response Timeline: Real-time status tracker shows audit lifecycle progression.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Status: Draft -&gt; Under Review -&gt; Issued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Issue to Client Action Button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Target Response Due Date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Assigned Client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8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5: 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Client Response Capture &amp; Evidence Upload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Client CFO portal for transparent communication, submitting management replies, and uploading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8_client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Client Portal Features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Filtered Client View: Clients only see queries officially marked as 'Issued to Client'.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Actionable Query Queue: Color-coded overdue badges highlight immediate response priorities.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Management Response: CFO submits written explanation and attaches reconciliation files.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Status Progression: Submitting changes query status to 'Responded by Client'.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Audit Team Alert: Automatically alerts engagement manager of new response.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Management Response Input Text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Supporting Document Upload (PDF/XLSX)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Overdue Ageing Indicators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Submit Management Response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9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6: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Partner Exception Approval Queue &amp; Step-Up Auth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Formal governance for exceptions (EX-01 to EX-07) with partner password re-verification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9_exception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Exception Framework (EX-01 to EX-07)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Exception Request: Manager requests exception when alternative procedures are performed.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Justification Threshold: Minimum 100-character detailed audit justification mandatory.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Partner Step-Up Authentication: Partner must re-enter their password to authorize exceptions.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EX-03 Gate Override: Special exception allowing Summary Memo generation with open queries.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Immutable Audit Log: All approved/rejected decisions recorded with timestamp and partner notes.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Exception Type (EX-01 to EX-07)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Audit Justification Text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Step-Up Password Prompt Modal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Approve / Reject Action Buttons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10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7: WORD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Audit Summary Memo (.docx) &amp; FR-11 Gate Check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Automated generation of Microsoft Word Summary Memos with Annexures A–D and Partner Sign-Off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0_memo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Summary Memo Features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FR-11 Terminal-Status Gate: Generation blocked if non-terminal queries exist without approved EX-03.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Word (.docx) Document: Firm letterhead, executive scope, stats table, Annexures A–D.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Watermark Controls: Unsigned memos watermarked 'DRAFT'; signed memos marked 'FINAL COPY'.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Partner Sign-Off &amp; Lock: Partner re-enters password to sign off, locking the engagement.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One-Click Download: Download ready-to-print .docx memo directly from the portal.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FR-11 Gate Validation Check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Generate Draft Memo Button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Download Word (.docx) Button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Partner Sign-off with Password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11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8: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Interactive Dashboards &amp; Real-time Metrics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Role-customized dashboards with ageing buckets, risk matrices, and overdue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partn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Dashboard Capabilities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Role-Tailored Perspectives: Dedicated dashboards for Partners, Managers, Articles, and Clients.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Query Ageing Breakdown: Visual tracking across buckets (0-7 days, 8-15 days, 16-30 days, &gt;30 days).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Risk Rating Matrix: Real-time counts of Critical, High, Medium, and Low risk observations.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Quick Persona Switcher: Top demo bar allows instant switching between demo personas during presentations.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Excel Export: One-click export of styled query registers with conditional formatting.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Ageing Chart (Chart.js)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Risk Rating Breakdown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Overdue Queries Action Table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Quick Persona Switch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12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9: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Append-Only Audit Trail (FR-14) &amp; Security Controls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Immutable event logging tracking all state transitions, user logins, and memo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1_audit_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88720"/>
            <a:ext cx="36576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A365D"/>
                </a:solidFill>
              </a:defRPr>
            </a:pPr>
            <a:r>
              <a:t>Compliance &amp; Governance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Append-Only Architecture: Audit log entries cannot be modified or deleted by any user, including admins.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2. Comprehensive Event Capture: Records entity type, action, before/after values, user email, and client IP.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3. User Account Security: Failed login attempt counter locks accounts after 5 consecutive failed attempts.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4. Force Password Change: Temporary passwords must be updated upon first login for all staff and clients.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5. Session Inactivity Timeout: Automatic session termination after 30 minutes of inactivity.</a:t>
            </a:r>
          </a:p>
          <a:p>
            <a:br/>
            <a:r>
              <a:t>KEY FIELDS &amp; CONTROLS: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Event Timestamp &amp; Performed By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Action (Create/Update/Transition/Sign-off)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Field Changed &amp; Old/New Values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Client IP Address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13 of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"/>
            <a:ext cx="2286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1-Click Setup &amp; Demo Guide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Simple instructions to run the application on any computer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HOW TO RUN &amp; DEMONSTRATE THE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1498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6EFD"/>
                </a:solidFill>
              </a:defRPr>
            </a:pPr>
            <a:r>
              <a:t>Step 1: Extract Project ZIP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Extract the complete project folder to your Desktop or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97480"/>
            <a:ext cx="101498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6EFD"/>
                </a:solidFill>
              </a:defRPr>
            </a:pPr>
            <a:r>
              <a:t>Step 2: Ensure Python is Installed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Ensure Python 3.10+ is installed with 'Add python.exe to PATH' checked.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566160"/>
            <a:ext cx="101498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6EFD"/>
                </a:solidFill>
              </a:defRPr>
            </a:pPr>
            <a:r>
              <a:t>Step 3: Double-Click 'setup_and_run.bat'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Automatically installs dependencies, applies migrations, seeds demo data, and opens http://127.0.0.1:8000/.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434840"/>
            <a:ext cx="101498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6EFD"/>
                </a:solidFill>
              </a:defRPr>
            </a:pPr>
            <a:r>
              <a:t>Step 4: Login with Demo Accounts (Password for all: Password@123)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Partner: partner1@firm.com | Manager: manager1@firm.com | Article: article1@firm.com | Client CFO: cfo@apexindustries.com | Admin: admin@firm.com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03520"/>
            <a:ext cx="101498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6EFD"/>
                </a:solidFill>
              </a:defRPr>
            </a:pPr>
            <a:r>
              <a:t>Step 5: Automated Verification Test Suite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Run 'python manage.py test' to execute all 7 automated unit &amp; integration test suites.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Observation &amp; Query Tracker | CA Practice Academic Deliverable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2855</Words>
  <Application>Microsoft Office PowerPoint</Application>
  <PresentationFormat>Widescreen</PresentationFormat>
  <Paragraphs>290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Kumar Seeba</cp:lastModifiedBy>
  <cp:revision>2</cp:revision>
  <dcterms:created xsi:type="dcterms:W3CDTF">2013-01-27T09:14:16Z</dcterms:created>
  <dcterms:modified xsi:type="dcterms:W3CDTF">2026-09-12T14:03:06Z</dcterms:modified>
  <cp:category/>
</cp:coreProperties>
</file>