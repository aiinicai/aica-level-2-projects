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18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3" name="Shape 1"/>
          <p:cNvSpPr/>
          <p:nvPr/>
        </p:nvSpPr>
        <p:spPr>
          <a:xfrm>
            <a:off x="8522208" y="640080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4" name="Shape 2"/>
          <p:cNvSpPr/>
          <p:nvPr/>
        </p:nvSpPr>
        <p:spPr>
          <a:xfrm>
            <a:off x="9180576" y="640080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9838944" y="640080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6" name="Shape 4"/>
          <p:cNvSpPr/>
          <p:nvPr/>
        </p:nvSpPr>
        <p:spPr>
          <a:xfrm>
            <a:off x="10497312" y="640080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7" name="Shape 5"/>
          <p:cNvSpPr/>
          <p:nvPr/>
        </p:nvSpPr>
        <p:spPr>
          <a:xfrm>
            <a:off x="11155680" y="640080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8" name="Shape 6"/>
          <p:cNvSpPr/>
          <p:nvPr/>
        </p:nvSpPr>
        <p:spPr>
          <a:xfrm>
            <a:off x="7863840" y="1298448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9" name="Shape 7"/>
          <p:cNvSpPr/>
          <p:nvPr/>
        </p:nvSpPr>
        <p:spPr>
          <a:xfrm>
            <a:off x="8522208" y="1298448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8"/>
          <p:cNvSpPr/>
          <p:nvPr/>
        </p:nvSpPr>
        <p:spPr>
          <a:xfrm>
            <a:off x="9180576" y="1298448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1" name="Shape 9"/>
          <p:cNvSpPr/>
          <p:nvPr/>
        </p:nvSpPr>
        <p:spPr>
          <a:xfrm>
            <a:off x="9838944" y="1298448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2" name="Shape 10"/>
          <p:cNvSpPr/>
          <p:nvPr/>
        </p:nvSpPr>
        <p:spPr>
          <a:xfrm>
            <a:off x="10497312" y="1298448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3" name="Shape 11"/>
          <p:cNvSpPr/>
          <p:nvPr/>
        </p:nvSpPr>
        <p:spPr>
          <a:xfrm>
            <a:off x="11155680" y="1298448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4" name="Shape 12"/>
          <p:cNvSpPr/>
          <p:nvPr/>
        </p:nvSpPr>
        <p:spPr>
          <a:xfrm>
            <a:off x="7863840" y="1956816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3"/>
          <p:cNvSpPr/>
          <p:nvPr/>
        </p:nvSpPr>
        <p:spPr>
          <a:xfrm>
            <a:off x="8522208" y="1956816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6" name="Shape 14"/>
          <p:cNvSpPr/>
          <p:nvPr/>
        </p:nvSpPr>
        <p:spPr>
          <a:xfrm>
            <a:off x="9180576" y="1956816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7" name="Shape 15"/>
          <p:cNvSpPr/>
          <p:nvPr/>
        </p:nvSpPr>
        <p:spPr>
          <a:xfrm>
            <a:off x="9838944" y="1956816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8" name="Shape 16"/>
          <p:cNvSpPr/>
          <p:nvPr/>
        </p:nvSpPr>
        <p:spPr>
          <a:xfrm>
            <a:off x="10497312" y="1956816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9" name="Shape 17"/>
          <p:cNvSpPr/>
          <p:nvPr/>
        </p:nvSpPr>
        <p:spPr>
          <a:xfrm>
            <a:off x="11155680" y="1956816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0" name="Shape 18"/>
          <p:cNvSpPr/>
          <p:nvPr/>
        </p:nvSpPr>
        <p:spPr>
          <a:xfrm>
            <a:off x="7863840" y="2615184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1" name="Shape 19"/>
          <p:cNvSpPr/>
          <p:nvPr/>
        </p:nvSpPr>
        <p:spPr>
          <a:xfrm>
            <a:off x="8522208" y="2615184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2" name="Shape 20"/>
          <p:cNvSpPr/>
          <p:nvPr/>
        </p:nvSpPr>
        <p:spPr>
          <a:xfrm>
            <a:off x="9180576" y="2615184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3" name="Shape 21"/>
          <p:cNvSpPr/>
          <p:nvPr/>
        </p:nvSpPr>
        <p:spPr>
          <a:xfrm>
            <a:off x="9838944" y="2615184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4" name="Shape 22"/>
          <p:cNvSpPr/>
          <p:nvPr/>
        </p:nvSpPr>
        <p:spPr>
          <a:xfrm>
            <a:off x="10497312" y="2615184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5" name="Shape 23"/>
          <p:cNvSpPr/>
          <p:nvPr/>
        </p:nvSpPr>
        <p:spPr>
          <a:xfrm>
            <a:off x="11155680" y="2615184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6" name="Text 24"/>
          <p:cNvSpPr txBox="1"/>
          <p:nvPr/>
        </p:nvSpPr>
        <p:spPr>
          <a:xfrm>
            <a:off x="533401" y="8961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40080" y="30632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AI CA Level 2 Batch 91 (Tanzania)</a:t>
            </a:r>
            <a:b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</a:b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CA Ashish Kothari (M No 300806)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1605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workforce data model — employees, departments, and leave — into a working analytics dashboard prompt, ready to hand to AI Studio's Build mode.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data exists — but only one record at a time.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accumulate employee, department, and leave data, but answering a simple staffing question means manually cross-referencing dozens of individual records. There is no single view that shows headcount, hiring pace, leave coverage, or tenure risk at a glance — so decisions slow down and risk goes unnoticed until it's already a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6" name="Shape 4"/>
          <p:cNvSpPr/>
          <p:nvPr/>
        </p:nvSpPr>
        <p:spPr>
          <a:xfrm>
            <a:off x="868680" y="33192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7" name="Image 0" descr="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3473806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4069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decisions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5720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conversations stall while someone manually compiles numbers that should already be visible.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306324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1" name="Shape 8"/>
          <p:cNvSpPr/>
          <p:nvPr/>
        </p:nvSpPr>
        <p:spPr>
          <a:xfrm>
            <a:off x="4572000" y="33192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2" name="Image 1" descr="icons/ale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534" y="347380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4069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risk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5720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from overlapping leave, or attrition in one team, surface only after they've become a problem.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306324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6" name="Shape 12"/>
          <p:cNvSpPr/>
          <p:nvPr/>
        </p:nvSpPr>
        <p:spPr>
          <a:xfrm>
            <a:off x="8275320" y="331927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7" name="Image 2" descr="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854" y="3473806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40690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source of truth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457200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 pull different numbers from the same records — there's no consistent view everyone looks at.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this harder than stacking a few charts on a page.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5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0219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4708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records into signals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1847088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leave, and tenure are only useful in aggregate — the hard part is choosing the cuts of data that answer a real question, not just fill a chart.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587752"/>
            <a:ext cx="1088136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9" name="Shape 6"/>
          <p:cNvSpPr/>
          <p:nvPr/>
        </p:nvSpPr>
        <p:spPr>
          <a:xfrm>
            <a:off x="640080" y="2715768"/>
            <a:ext cx="566928" cy="566928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0" name="Image 1" descr="icons/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2863169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68833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for glanceability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688336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that takes as long to read as the underlying records defeats its purpose — every chart had to be faster to read than the raw table.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429000"/>
            <a:ext cx="1088136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14" name="Shape 10"/>
          <p:cNvSpPr/>
          <p:nvPr/>
        </p:nvSpPr>
        <p:spPr>
          <a:xfrm>
            <a:off x="640080" y="3557016"/>
            <a:ext cx="566928" cy="566928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5" name="Image 2" descr="icons/slid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3704417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52958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filters everywhere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3529584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or date-range filter had to apply uniformly across every chart and the table, so numbers never contradict each other.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4270248"/>
            <a:ext cx="1088136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19" name="Shape 14"/>
          <p:cNvSpPr/>
          <p:nvPr/>
        </p:nvSpPr>
        <p:spPr>
          <a:xfrm>
            <a:off x="640080" y="4398264"/>
            <a:ext cx="566928" cy="566928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0" name="Image 3" descr="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81" y="4545665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3708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without a live backend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437083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seeded mock data standing in for a real HR system, the generated data had to be realistic enough for the visualizations to mean anything.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5111496"/>
            <a:ext cx="10881360" cy="0"/>
          </a:xfrm>
          <a:prstGeom prst="line">
            <a:avLst/>
          </a:prstGeom>
          <a:noFill/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24" name="Shape 18"/>
          <p:cNvSpPr/>
          <p:nvPr/>
        </p:nvSpPr>
        <p:spPr>
          <a:xfrm>
            <a:off x="640080" y="5239512"/>
            <a:ext cx="566928" cy="566928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5" name="Image 4" descr="icons/minimiz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81" y="5386913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5212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restraint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4892040" y="521208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Resisting a chart-heavy, decorative layout in favor of a small number of well-chosen views that read as a usable tool, not a demo.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from a structured prompt, no hand-written scaffolding.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162306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6" name="Image 0" descr="icons/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481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AI Studio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74904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 scaffolded and iterated on the app end to end from the prompt.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96596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7"/>
          <p:cNvSpPr/>
          <p:nvPr/>
        </p:nvSpPr>
        <p:spPr>
          <a:xfrm>
            <a:off x="4485132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1" name="Image 1" descr="icons/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553" y="24524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5032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374904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structure and state — hooks manage filters and derived chart data.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96596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1"/>
          <p:cNvSpPr/>
          <p:nvPr/>
        </p:nvSpPr>
        <p:spPr>
          <a:xfrm>
            <a:off x="7347204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6" name="Image 2" descr="icons/wi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3625" y="24524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47104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565392" y="374904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 for layout, spacing, and the neutral-plus-accent visual system.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965960"/>
            <a:ext cx="2606040" cy="356616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0" name="Shape 15"/>
          <p:cNvSpPr/>
          <p:nvPr/>
        </p:nvSpPr>
        <p:spPr>
          <a:xfrm>
            <a:off x="10209276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1" name="Image 3" descr="icons/pie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5697" y="24524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09176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Recharts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427464" y="3749040"/>
            <a:ext cx="22037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rendered natively — bar, line/area, pie, and stacked bar.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HR analytics dashboard built directly on the existing personnel data model — surfacing headcount, hiring pace, leave, and tenure signals without opening a single record.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868680" y="2587752"/>
            <a:ext cx="594360" cy="59436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6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7422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337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existing data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directly on the employee, department, and leave-request model already in place — no new data entry required.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33172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7"/>
          <p:cNvSpPr/>
          <p:nvPr/>
        </p:nvSpPr>
        <p:spPr>
          <a:xfrm>
            <a:off x="4572000" y="2587752"/>
            <a:ext cx="594360" cy="59436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1" name="Image 1" descr="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534" y="274228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3337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view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840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conversations start from the same numbers, filtered the same way, instead of competing spreadsheets.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2331720"/>
            <a:ext cx="3429000" cy="3246120"/>
          </a:xfrm>
          <a:prstGeom prst="roundRect">
            <a:avLst>
              <a:gd name="adj" fmla="val 1972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1"/>
          <p:cNvSpPr/>
          <p:nvPr/>
        </p:nvSpPr>
        <p:spPr>
          <a:xfrm>
            <a:off x="8275320" y="2587752"/>
            <a:ext cx="594360" cy="59436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6" name="Image 2" descr="icons/trend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854" y="274228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3337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to build, easy to iterate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38404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Stood up as an AI Studio build, so it can evolve as new questions come up rather than needing a full rebuild each time.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slides walk through the data model, dashboard sections, design direction, and technical spec in detail.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record types, generated as realistic mock data — 40–60 employees across 6 departments.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977640"/>
          </a:xfrm>
          <a:prstGeom prst="roundRect">
            <a:avLst>
              <a:gd name="adj" fmla="val 18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77724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6" name="Shape 4"/>
          <p:cNvSpPr/>
          <p:nvPr/>
        </p:nvSpPr>
        <p:spPr>
          <a:xfrm>
            <a:off x="89611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7" name="Image 0" descr="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249424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965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92608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role / title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start 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 / on-leave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429000" cy="3977640"/>
          </a:xfrm>
          <a:prstGeom prst="roundRect">
            <a:avLst>
              <a:gd name="adj" fmla="val 18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3429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2" name="Shape 9"/>
          <p:cNvSpPr/>
          <p:nvPr/>
        </p:nvSpPr>
        <p:spPr>
          <a:xfrm>
            <a:off x="459943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3" name="Image 1" descr="icons/briefcas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24942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12080" y="1965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92608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department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965960"/>
            <a:ext cx="3429000" cy="3977640"/>
          </a:xfrm>
          <a:prstGeom prst="roundRect">
            <a:avLst>
              <a:gd name="adj" fmla="val 18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7" name="Shape 13"/>
          <p:cNvSpPr/>
          <p:nvPr/>
        </p:nvSpPr>
        <p:spPr>
          <a:xfrm>
            <a:off x="8046720" y="1965960"/>
            <a:ext cx="3429000" cy="777240"/>
          </a:xfrm>
          <a:prstGeom prst="rect">
            <a:avLst/>
          </a:prstGeom>
          <a:solidFill>
            <a:srgbClr val="4C5B8C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8" name="Shape 14"/>
          <p:cNvSpPr/>
          <p:nvPr/>
        </p:nvSpPr>
        <p:spPr>
          <a:xfrm>
            <a:off x="8302752" y="21305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9" name="Image 2" descr="icons/calenda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249424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15400" y="1965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request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926080"/>
            <a:ext cx="2880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employeeId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Annual, Sick,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Unpaid, or Parental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 · end date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pending, approved,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rejected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shows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sections, driven by a shared department and date-range filter.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841248" y="2075688"/>
            <a:ext cx="457200" cy="45720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6" name="Image 0" descr="icons/bar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039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 row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62432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on-leave, pending requests, avg. tenure — with trend indicators.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56432" y="187452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7"/>
          <p:cNvSpPr/>
          <p:nvPr/>
        </p:nvSpPr>
        <p:spPr>
          <a:xfrm>
            <a:off x="3657600" y="2075688"/>
            <a:ext cx="457200" cy="45720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1" name="Image 1" descr="icons/pie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1945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33672" y="2039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 by dept.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62432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or donut chart of distribution across the six teams.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72784" y="187452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1"/>
          <p:cNvSpPr/>
          <p:nvPr/>
        </p:nvSpPr>
        <p:spPr>
          <a:xfrm>
            <a:off x="6473952" y="2075688"/>
            <a:ext cx="457200" cy="45720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6" name="Image 2" descr="icons/trend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19456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50024" y="2039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trend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473952" y="262432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per month, last 12 months, line or area chart.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89136" y="187452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0" name="Shape 15"/>
          <p:cNvSpPr/>
          <p:nvPr/>
        </p:nvSpPr>
        <p:spPr>
          <a:xfrm>
            <a:off x="9290304" y="2075688"/>
            <a:ext cx="457200" cy="45720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1" name="Image 3" descr="icons/calend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219456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66376" y="2039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breakdown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290304" y="262432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type and status — stacked bar or pie.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79476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5" name="Shape 19"/>
          <p:cNvSpPr/>
          <p:nvPr/>
        </p:nvSpPr>
        <p:spPr>
          <a:xfrm>
            <a:off x="841248" y="3995928"/>
            <a:ext cx="457200" cy="45720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6" name="Image 4" descr="icons/c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11480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39593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distribution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41248" y="454456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&lt;1yr, 1–3yr, 3–5yr, 5+yr buckets.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456432" y="379476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30" name="Shape 23"/>
          <p:cNvSpPr/>
          <p:nvPr/>
        </p:nvSpPr>
        <p:spPr>
          <a:xfrm>
            <a:off x="3657600" y="3995928"/>
            <a:ext cx="457200" cy="45720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31" name="Image 5" descr="icons/lis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6472" y="411480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233672" y="39593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request table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3657600" y="454456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Filterable, with employee, department, dates, status badge.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72784" y="379476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2730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35" name="Shape 27"/>
          <p:cNvSpPr/>
          <p:nvPr/>
        </p:nvSpPr>
        <p:spPr>
          <a:xfrm>
            <a:off x="6473952" y="3995928"/>
            <a:ext cx="457200" cy="457200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36" name="Image 6" descr="icons/slider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2824" y="411480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50024" y="39593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473952" y="454456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selector and date range, applied across every chart.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direction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ops tool, not a marketing page: data-dense, restrained, legible at a glance.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9525">
            <a:solidFill>
              <a:srgbClr val="D7DBDE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6" name="Text 4"/>
          <p:cNvSpPr txBox="1"/>
          <p:nvPr/>
        </p:nvSpPr>
        <p:spPr>
          <a:xfrm>
            <a:off x="640080" y="34564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#1E2761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57400" y="219456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CADCFC"/>
          </a:solidFill>
          <a:ln w="9525">
            <a:solidFill>
              <a:srgbClr val="D7DBDE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9" name="Text 7"/>
          <p:cNvSpPr txBox="1"/>
          <p:nvPr/>
        </p:nvSpPr>
        <p:spPr>
          <a:xfrm>
            <a:off x="2057400" y="34564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#CADCFC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219456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2F6F6B"/>
          </a:solidFill>
          <a:ln w="9525">
            <a:solidFill>
              <a:srgbClr val="D7DBDE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12" name="Text 10"/>
          <p:cNvSpPr txBox="1"/>
          <p:nvPr/>
        </p:nvSpPr>
        <p:spPr>
          <a:xfrm>
            <a:off x="3474720" y="34564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#2F6F6B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92040" y="2194560"/>
            <a:ext cx="118872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9525">
            <a:solidFill>
              <a:srgbClr val="D7DBDE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15" name="Text 13"/>
          <p:cNvSpPr txBox="1"/>
          <p:nvPr/>
        </p:nvSpPr>
        <p:spPr>
          <a:xfrm>
            <a:off x="4892040" y="34564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#F4F6FB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1945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/ monospace figures so stat digits align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rounded corners (2–4px), not pill-shaped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confident accent color per chart; muted series behind 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2-column chart grid on desktop, stacks on mobile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1" name="Text 19"/>
          <p:cNvSpPr txBox="1"/>
          <p:nvPr/>
        </p:nvSpPr>
        <p:spPr>
          <a:xfrm>
            <a:off x="914400" y="47548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4892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&amp; stat numbers — serif, confident, tabular figures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754880"/>
            <a:ext cx="1645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2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46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4892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filters, table body — clean sans, high legibility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spec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Studio prompt asks for under the hood.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868680" y="235000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6" name="Image 0" descr="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5164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305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React component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5603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component, hooks manage filter state (department + date range).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7"/>
          <p:cNvSpPr/>
          <p:nvPr/>
        </p:nvSpPr>
        <p:spPr>
          <a:xfrm>
            <a:off x="6400800" y="235000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1" name="Image 1" descr="icons/bar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25164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21305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Recharts for every chart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5603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line/area, pie, and stacked bar — no image-based charts.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1"/>
          <p:cNvSpPr/>
          <p:nvPr/>
        </p:nvSpPr>
        <p:spPr>
          <a:xfrm>
            <a:off x="868680" y="4041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6" name="Image 2" descr="icons/slid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420806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38221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 styling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2519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 for layout, spacing, and the neutral + accent palette.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0" name="Shape 15"/>
          <p:cNvSpPr/>
          <p:nvPr/>
        </p:nvSpPr>
        <p:spPr>
          <a:xfrm>
            <a:off x="6400800" y="4041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1" name="Image 3" descr="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221" y="42080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38221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data via seed function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42519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generated in-code, not hardcoded — easy to resize or reshuffle.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implementation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excerpt from the generated app — mock data seeding and the derived-stats hook behind the stat row.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10162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1B2440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6" name="Shape 4"/>
          <p:cNvSpPr/>
          <p:nvPr/>
        </p:nvSpPr>
        <p:spPr>
          <a:xfrm>
            <a:off x="640080" y="1883664"/>
            <a:ext cx="10881360" cy="192024"/>
          </a:xfrm>
          <a:prstGeom prst="rect">
            <a:avLst/>
          </a:prstGeom>
          <a:solidFill>
            <a:srgbClr val="1B2440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7" name="Shape 5"/>
          <p:cNvSpPr/>
          <p:nvPr/>
        </p:nvSpPr>
        <p:spPr>
          <a:xfrm>
            <a:off x="841248" y="1828800"/>
            <a:ext cx="109728" cy="109728"/>
          </a:xfrm>
          <a:prstGeom prst="ellipse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8" name="Shape 6"/>
          <p:cNvSpPr/>
          <p:nvPr/>
        </p:nvSpPr>
        <p:spPr>
          <a:xfrm>
            <a:off x="1078992" y="1828800"/>
            <a:ext cx="109728" cy="109728"/>
          </a:xfrm>
          <a:prstGeom prst="ellipse">
            <a:avLst/>
          </a:prstGeom>
          <a:solidFill>
            <a:srgbClr val="C77D33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9" name="Shape 7"/>
          <p:cNvSpPr/>
          <p:nvPr/>
        </p:nvSpPr>
        <p:spPr>
          <a:xfrm>
            <a:off x="1316736" y="1828800"/>
            <a:ext cx="109728" cy="109728"/>
          </a:xfrm>
          <a:prstGeom prst="ellipse">
            <a:avLst/>
          </a:prstGeom>
          <a:solidFill>
            <a:srgbClr val="B5495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Text 8"/>
          <p:cNvSpPr txBox="1"/>
          <p:nvPr/>
        </p:nvSpPr>
        <p:spPr>
          <a:xfrm>
            <a:off x="1645920" y="1691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dashboard.jsx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194560"/>
            <a:ext cx="10241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Seed realistic mock workforce data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generateEmployees(count = 50) 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length: count }, (_, i) =&gt; ({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</a:t>
            </a:r>
            <a:r>
              <a:rPr lang="en-US" sz="1200" dirty="0">
                <a:solidFill>
                  <a:srgbClr val="8F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`EMP-${1000 + i}`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department: pickDepartment(),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</a:t>
            </a: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.random() &lt; 0.08 ? 'on-leave' : 'active',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Derive dashboard stats from the active filters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useDashboardStats(employees, leaves, filters) 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useMemo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scoped = employees.filter(e =&gt;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filters.department === 'all' || e.department === filters.department);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F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total: scoped.length,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onLeave: scoped.filter(e =&gt; e.status === 'on-leave').length,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pending: leaves.filter(l =&gt; l.status === 'pending').length,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[employees, leaves, filters]);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846320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3" name="Shape 1"/>
          <p:cNvSpPr/>
          <p:nvPr/>
        </p:nvSpPr>
        <p:spPr>
          <a:xfrm>
            <a:off x="8522208" y="4846320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4" name="Shape 2"/>
          <p:cNvSpPr/>
          <p:nvPr/>
        </p:nvSpPr>
        <p:spPr>
          <a:xfrm>
            <a:off x="9180576" y="4846320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9838944" y="4846320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6" name="Shape 4"/>
          <p:cNvSpPr/>
          <p:nvPr/>
        </p:nvSpPr>
        <p:spPr>
          <a:xfrm>
            <a:off x="10497312" y="4846320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7" name="Shape 5"/>
          <p:cNvSpPr/>
          <p:nvPr/>
        </p:nvSpPr>
        <p:spPr>
          <a:xfrm>
            <a:off x="11155680" y="4846320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8" name="Shape 6"/>
          <p:cNvSpPr/>
          <p:nvPr/>
        </p:nvSpPr>
        <p:spPr>
          <a:xfrm>
            <a:off x="7863840" y="4187952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9" name="Shape 7"/>
          <p:cNvSpPr/>
          <p:nvPr/>
        </p:nvSpPr>
        <p:spPr>
          <a:xfrm>
            <a:off x="8522208" y="4187952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8"/>
          <p:cNvSpPr/>
          <p:nvPr/>
        </p:nvSpPr>
        <p:spPr>
          <a:xfrm>
            <a:off x="9180576" y="4187952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1" name="Shape 9"/>
          <p:cNvSpPr/>
          <p:nvPr/>
        </p:nvSpPr>
        <p:spPr>
          <a:xfrm>
            <a:off x="9838944" y="4187952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2" name="Shape 10"/>
          <p:cNvSpPr/>
          <p:nvPr/>
        </p:nvSpPr>
        <p:spPr>
          <a:xfrm>
            <a:off x="10497312" y="4187952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3" name="Shape 11"/>
          <p:cNvSpPr/>
          <p:nvPr/>
        </p:nvSpPr>
        <p:spPr>
          <a:xfrm>
            <a:off x="11155680" y="4187952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4" name="Shape 12"/>
          <p:cNvSpPr/>
          <p:nvPr/>
        </p:nvSpPr>
        <p:spPr>
          <a:xfrm>
            <a:off x="7863840" y="3529584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3"/>
          <p:cNvSpPr/>
          <p:nvPr/>
        </p:nvSpPr>
        <p:spPr>
          <a:xfrm>
            <a:off x="8522208" y="3529584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6" name="Shape 14"/>
          <p:cNvSpPr/>
          <p:nvPr/>
        </p:nvSpPr>
        <p:spPr>
          <a:xfrm>
            <a:off x="9180576" y="3529584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7" name="Shape 15"/>
          <p:cNvSpPr/>
          <p:nvPr/>
        </p:nvSpPr>
        <p:spPr>
          <a:xfrm>
            <a:off x="9838944" y="3529584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8" name="Shape 16"/>
          <p:cNvSpPr/>
          <p:nvPr/>
        </p:nvSpPr>
        <p:spPr>
          <a:xfrm>
            <a:off x="10497312" y="3529584"/>
            <a:ext cx="502920" cy="502920"/>
          </a:xfrm>
          <a:prstGeom prst="rect">
            <a:avLst/>
          </a:prstGeom>
          <a:solidFill>
            <a:srgbClr val="2F6F6B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9" name="Shape 17"/>
          <p:cNvSpPr/>
          <p:nvPr/>
        </p:nvSpPr>
        <p:spPr>
          <a:xfrm>
            <a:off x="11155680" y="3529584"/>
            <a:ext cx="502920" cy="502920"/>
          </a:xfrm>
          <a:prstGeom prst="rect">
            <a:avLst/>
          </a:prstGeom>
          <a:solidFill>
            <a:srgbClr val="2C3B7A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0" name="Text 18"/>
          <p:cNvSpPr txBox="1"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brief to build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2860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full prompt into AI Studio's Build mode as one message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generate the first version, then iterate conversationally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one change at a time — e.g. "add a department filter to the table"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it to the HR system's live data once the layout is right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— Build Brief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1276</Words>
  <Application>Microsoft Office PowerPoint</Application>
  <PresentationFormat>Widescreen</PresentationFormat>
  <Paragraphs>169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Ashish Kothari</cp:lastModifiedBy>
  <cp:revision>2</cp:revision>
  <dcterms:created xsi:type="dcterms:W3CDTF">2026-08-26T12:37:09Z</dcterms:created>
  <dcterms:modified xsi:type="dcterms:W3CDTF">2026-08-26T13:00:06Z</dcterms:modified>
</cp:coreProperties>
</file>