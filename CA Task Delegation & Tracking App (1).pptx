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132" y="2380952"/>
            <a:ext cx="2649587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66662" y="2942927"/>
            <a:ext cx="9458525" cy="635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0" sz="4350" i="0" u="none">
                <a:solidFill>
                  <a:srgbClr val="0F172A"/>
                </a:solidFill>
                <a:latin typeface="Plus Jakarta Sans ExtraBold"/>
              </a:rPr>
              <a:t>CA Task Delegation &amp; Tracking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806725"/>
            <a:ext cx="78105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From a single-line request to a database-backed internal tool for Chartered Accountant firms — built end-to-end with Claude Cowork.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157" y="2480964"/>
            <a:ext cx="122336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55068"/>
            <a:ext cx="2586037" cy="2662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2" y="2455068"/>
            <a:ext cx="2586037" cy="2662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455068"/>
            <a:ext cx="2586037" cy="2662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937" y="2455068"/>
            <a:ext cx="2586037" cy="26622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31293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378993"/>
            <a:ext cx="149034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Scattered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769518"/>
            <a:ext cx="2109787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Task assignments were fragmented across phone calls, WhatsApp chats, and loose paper notes without a central source of truth.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3787" y="2731293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33787" y="3378993"/>
            <a:ext cx="123031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Zero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3787" y="3769518"/>
            <a:ext cx="2109787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Partners couldn't easily see who owned what task, what was overdue, or who was overloaded until client calls came in.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2731293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8425" y="3378993"/>
            <a:ext cx="193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Generic Software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769518"/>
            <a:ext cx="2109787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Off-the-shelf project tools lacked CA workflow tags like GST Filing, Income Tax Returns (ITR), and Audit tracking.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3062" y="2731293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3062" y="3378993"/>
            <a:ext cx="162223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Adoption Barriers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3062" y="3769518"/>
            <a:ext cx="2109787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Staff required an intuitive solution with zero passwords to remember, no steep learning curve, and zero complex IT setup.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2874168"/>
            <a:ext cx="26670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8087" y="2874168"/>
            <a:ext cx="26670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2874168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77362" y="2874168"/>
            <a:ext cx="26670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Operational Problem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976437"/>
            <a:ext cx="5348287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1985962"/>
            <a:ext cx="5329237" cy="3600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09775"/>
            <a:ext cx="15240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005012"/>
            <a:ext cx="1866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Real Database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235398"/>
            <a:ext cx="50625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SQLite engine tracking clients, task types, priorities, due dates, and live status reliably.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878335"/>
            <a:ext cx="219075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50" y="2873573"/>
            <a:ext cx="2619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Role-Based Multi-User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103959"/>
            <a:ext cx="49958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Admin provisions team access; members manage personal tasks while partners retain firm oversight.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746896"/>
            <a:ext cx="219075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450" y="3742134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Shared Multi-Assignee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972520"/>
            <a:ext cx="49958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Collaborative task allocation with complete assignment dates and days-pending trails.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615457"/>
            <a:ext cx="19050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4875" y="4610695"/>
            <a:ext cx="23050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Live Color-Coded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4841081"/>
            <a:ext cx="50244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Interactive status, priority, and workload charts generated in real-time using Chart.js.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Architectural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433" y="3867150"/>
            <a:ext cx="9927133" cy="2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36" y="3017639"/>
            <a:ext cx="1809750" cy="9274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661" y="4135635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747" y="3208139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8422" y="3817739"/>
            <a:ext cx="1809750" cy="92749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3507" y="3104257"/>
            <a:ext cx="1809750" cy="7542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8832" y="4049017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3918" y="3294757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8593" y="3904357"/>
            <a:ext cx="1809750" cy="7542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3678" y="3104257"/>
            <a:ext cx="1809750" cy="7542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9003" y="4049017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74089" y="3294757"/>
            <a:ext cx="41910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78764" y="3904357"/>
            <a:ext cx="1809750" cy="7542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109" y="3179564"/>
            <a:ext cx="164020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D4ED8"/>
                </a:solidFill>
                <a:latin typeface="Plus Jakarta Sans"/>
              </a:rPr>
              <a:t>1. Clarify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161" y="3436739"/>
            <a:ext cx="156210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Framed exact CA firm 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3194" y="3979664"/>
            <a:ext cx="164020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D4ED8"/>
                </a:solidFill>
                <a:latin typeface="Plus Jakarta Sans"/>
              </a:rPr>
              <a:t>2.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2247" y="4236839"/>
            <a:ext cx="156210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Node.js server &amp; SQLite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8280" y="3266182"/>
            <a:ext cx="164020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D4ED8"/>
                </a:solidFill>
                <a:latin typeface="Plus Jakarta Sans"/>
              </a:rPr>
              <a:t>3.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7332" y="3523357"/>
            <a:ext cx="156210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Clean dashboard &amp; task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3365" y="4066282"/>
            <a:ext cx="164020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D4ED8"/>
                </a:solidFill>
                <a:latin typeface="Plus Jakarta Sans"/>
              </a:rPr>
              <a:t>4.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2418" y="4323457"/>
            <a:ext cx="156210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API &amp; browser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8451" y="3266182"/>
            <a:ext cx="164020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D4ED8"/>
                </a:solidFill>
                <a:latin typeface="Plus Jakarta Sans"/>
              </a:rPr>
              <a:t>5.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7503" y="3523357"/>
            <a:ext cx="156210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Launcher &amp; desktop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3536" y="4066282"/>
            <a:ext cx="164020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D4ED8"/>
                </a:solidFill>
                <a:latin typeface="Plus Jakarta Sans"/>
              </a:rPr>
              <a:t>6. Iterate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2589" y="4323457"/>
            <a:ext cx="156210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Feedback &amp; feature fixes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End-to-End Build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33029"/>
            <a:ext cx="5348287" cy="29063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333029"/>
            <a:ext cx="5348287" cy="2906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2360" y="2675929"/>
            <a:ext cx="454025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Plus Jakarta Sans"/>
              </a:rPr>
              <a:t>Backend &amp; Database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597" y="2675929"/>
            <a:ext cx="451025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Plus Jakarta Sans"/>
              </a:rPr>
              <a:t>Frontend &amp; Presentation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04504"/>
            <a:ext cx="22413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3114079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2563EB"/>
                </a:solidFill>
                <a:latin typeface="Inter"/>
              </a:rPr>
              <a:t>Claude Cowork Engine: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Full build orchestration inside a single AI conversation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746301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2563EB"/>
                </a:solidFill>
                <a:latin typeface="Inter"/>
              </a:rPr>
              <a:t>Node.js Runtime: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Standard execution engine — eliminating complex external hosting tools.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378523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2563EB"/>
                </a:solidFill>
                <a:latin typeface="Inter"/>
              </a:rPr>
              <a:t>Native SQLite (node:sqlite):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Relational database engine without requiring npm package installs.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5587" y="2704504"/>
            <a:ext cx="25271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34187" y="3114079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Plain HTML / CSS / JS: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Superfast load times, zero build steps, and easy maintenance.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4187" y="3746301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Chart.js Library (CDN):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Dynamic visual analytics rendering real-time workload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4187" y="4378523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Optional Electron Shell: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Converts web view into a native Windows desktop executable.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114079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746301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378523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5587" y="3114079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5587" y="3746301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5587" y="4378523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Zero-Dependency Tech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55068"/>
            <a:ext cx="2586037" cy="2662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2" y="2455068"/>
            <a:ext cx="2586037" cy="2662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455068"/>
            <a:ext cx="2586037" cy="2662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937" y="2455068"/>
            <a:ext cx="2586037" cy="26622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31293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378993"/>
            <a:ext cx="202040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Authentication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769518"/>
            <a:ext cx="2109787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563EB"/>
                </a:solidFill>
                <a:latin typeface="Inter"/>
              </a:rPr>
              <a:t>Started: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"No login" single user.</a:t>
            </a:r>
            <a:r>
              <a:t>
</a:t>
            </a:r>
            <a:r>
              <a:rPr b="0" sz="1125" i="0" u="none">
                <a:solidFill>
                  <a:srgbClr val="059669"/>
                </a:solidFill>
                <a:latin typeface="Inter"/>
              </a:rPr>
              <a:t>Evolved to: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Secure username &amp; password accounts for multi-user firm access.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3787" y="2731293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33787" y="3378993"/>
            <a:ext cx="14103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Task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3787" y="3769518"/>
            <a:ext cx="2109787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563EB"/>
                </a:solidFill>
                <a:latin typeface="Inter"/>
              </a:rPr>
              <a:t>Started: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Single-assignee ownership.</a:t>
            </a:r>
            <a:r>
              <a:t>
</a:t>
            </a:r>
            <a:r>
              <a:rPr b="0" sz="1125" i="0" u="none">
                <a:solidFill>
                  <a:srgbClr val="059669"/>
                </a:solidFill>
                <a:latin typeface="Inter"/>
              </a:rPr>
              <a:t>Evolved to: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Multi-assignee support for joint assignment on complex audits.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2731293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8425" y="3378993"/>
            <a:ext cx="14103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UI &amp; Aesthetics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769518"/>
            <a:ext cx="2109787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563EB"/>
                </a:solidFill>
                <a:latin typeface="Inter"/>
              </a:rPr>
              <a:t>Started: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Standard HTML table elements.</a:t>
            </a:r>
            <a:r>
              <a:t>
</a:t>
            </a:r>
            <a:r>
              <a:rPr b="0" sz="1125" i="0" u="none">
                <a:solidFill>
                  <a:srgbClr val="059669"/>
                </a:solidFill>
                <a:latin typeface="Inter"/>
              </a:rPr>
              <a:t>Evolved to: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Friendly pill-style navigation tabs and color-coded status badges.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3062" y="2731293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3062" y="3378993"/>
            <a:ext cx="193227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Deployment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3062" y="3769518"/>
            <a:ext cx="2109787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563EB"/>
                </a:solidFill>
                <a:latin typeface="Inter"/>
              </a:rPr>
              <a:t>Started: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Local terminal scripts.</a:t>
            </a:r>
            <a:r>
              <a:t>
</a:t>
            </a:r>
            <a:r>
              <a:rPr b="0" sz="1125" i="0" u="none">
                <a:solidFill>
                  <a:srgbClr val="059669"/>
                </a:solidFill>
                <a:latin typeface="Inter"/>
              </a:rPr>
              <a:t>Evolved to: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One-click Windows batch launcher and native desktop app packaging.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2874168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8087" y="2874168"/>
            <a:ext cx="26670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2874168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5937" y="2874168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Evolution of the Application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App Workflows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100965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1025" y="1295400"/>
            <a:ext cx="554069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D4ED8"/>
                </a:solidFill>
                <a:latin typeface="Plus Jakarta Sans"/>
              </a:rPr>
              <a:t>Intuitive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695450"/>
            <a:ext cx="52768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The application interface allows quick modal-driven task creation specifying client names, task types (GST, Audit, ITR), deadlines, and multi-member team assignments.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701081"/>
            <a:ext cx="52768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Partners gain real-time visibility over pending days and priority escalation, while team members enjoy clear daily focus without clutter.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33029"/>
            <a:ext cx="5348287" cy="29063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333029"/>
            <a:ext cx="5348287" cy="2906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19510" y="2675929"/>
            <a:ext cx="448024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Plus Jakarta Sans"/>
              </a:rPr>
              <a:t>Team Member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1172" y="2675929"/>
            <a:ext cx="448024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Plus Jakarta Sans"/>
              </a:rPr>
              <a:t>Partner / Admin Oversight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04504"/>
            <a:ext cx="28128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3114079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Pre-filtered "My Tasks" view opens by default upon login to keep daily work focused.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746301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Personalized KPI cards showing individual pending, overdue, and urgent priority tasks.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378523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Simple toggle allows viewing shared firm tasks whenever joint collaboration is needed.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5587" y="2704504"/>
            <a:ext cx="28128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34187" y="3114079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Complete aggregate view of all firm-wide tasks, deadlines, and client assignments.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4187" y="3746301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Workload breakdown by team member to quickly identify resource constraints.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4187" y="4378523"/>
            <a:ext cx="443388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Administrative capability to manage user accounts, roles, and master task statuses.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114079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746301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378523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5587" y="3114079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5587" y="3746301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5587" y="4378523"/>
            <a:ext cx="1619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Personal Dashboard Upgrades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47912"/>
            <a:ext cx="2586037" cy="2876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662" y="2347912"/>
            <a:ext cx="2586037" cy="2876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47912"/>
            <a:ext cx="2586037" cy="2876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937" y="2347912"/>
            <a:ext cx="2586037" cy="2876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624137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271837"/>
            <a:ext cx="202228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Port Retry Calculation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662362"/>
            <a:ext cx="2109787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String concatenation converted fallback port 3000 to "30001". Fixed by forcing strict integer arithmetic in port retries.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787" y="2624137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33787" y="3271837"/>
            <a:ext cx="1844293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Electron DB Binding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3787" y="3662362"/>
            <a:ext cx="2109787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Bundled Electron runtime lacked SQLite modules. Resolved by configuring Electron to invoke the computer's native Node.js engine.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624137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8425" y="3271837"/>
            <a:ext cx="196040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Packager File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662362"/>
            <a:ext cx="2109787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Compressed packaging obscured background process files. Fixed by turning off disk compression on critical server assets.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3062" y="2624137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63062" y="3271837"/>
            <a:ext cx="2178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Setup Error 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3062" y="3662362"/>
            <a:ext cx="2109787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Failed connections auto-closed setup windows. Re-architected error handlers to freeze logging windows for diagnostic review.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2767012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6662" y="2767012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2767012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05937" y="2767012"/>
            <a:ext cx="20955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Engineering Challenges Solved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976437"/>
            <a:ext cx="5348287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1985962"/>
            <a:ext cx="5329237" cy="3600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09775"/>
            <a:ext cx="17145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2005012"/>
            <a:ext cx="2228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Windows SmartApp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235398"/>
            <a:ext cx="5043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SmartApp flagged script launchers; resolved via targeted file unblocking without disabling system security.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878335"/>
            <a:ext cx="219075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50" y="2873573"/>
            <a:ext cx="22193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Email Zip Security Stripping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103959"/>
            <a:ext cx="49958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Gmail silently removed .bat scripts from zipped files; bypassed by deploying packages via Google Drive links.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746896"/>
            <a:ext cx="219075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450" y="3742134"/>
            <a:ext cx="201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Network Troubleshooting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972520"/>
            <a:ext cx="49958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Systematic diagnostics pinpointed firewall rules vs. changed internal IP addresses across office PCs.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4610695"/>
            <a:ext cx="1800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Static IP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4841081"/>
            <a:ext cx="521493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Configured static host IP routing to guarantee team access links remain stable after router reboots.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Network &amp; OS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04951"/>
            <a:ext cx="4221360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143101"/>
            <a:ext cx="363081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4200376"/>
            <a:ext cx="36308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Production Operational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8635" y="2463403"/>
            <a:ext cx="171450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83435" y="2458640"/>
            <a:ext cx="20669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0F172A"/>
                </a:solidFill>
                <a:latin typeface="Inter"/>
              </a:rPr>
              <a:t>Live Office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3435" y="2719536"/>
            <a:ext cx="6027539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Currently handling daily task delegation &amp; tracking across the firm's entire office network.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8635" y="3430934"/>
            <a:ext cx="17145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83435" y="3426172"/>
            <a:ext cx="20478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0F172A"/>
                </a:solidFill>
                <a:latin typeface="Inter"/>
              </a:rPr>
              <a:t>Zero Dependency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3435" y="3687067"/>
            <a:ext cx="6027539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No recurring SaaS subscriptions, no third-party API keys, and zero external hosting bills.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8635" y="4398466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83435" y="4393703"/>
            <a:ext cx="20955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0F172A"/>
                </a:solidFill>
                <a:latin typeface="Inter"/>
              </a:rPr>
              <a:t>Dual Execution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3435" y="4654599"/>
            <a:ext cx="6027539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Operates flexibly as a lightweight browser-launched web app or a native Windows desktop app.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Results &amp; Strategic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710" y="485775"/>
            <a:ext cx="1958429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74959" y="1104900"/>
            <a:ext cx="664208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What's Next for the App?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1962150"/>
            <a:ext cx="666750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Future iterations include self-service password resets, optional HTTPS off-office remote access, and automated task deadline notifications.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575" y="3396257"/>
            <a:ext cx="6038850" cy="676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735" y="585787"/>
            <a:ext cx="141386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67100" y="3634382"/>
            <a:ext cx="2400300" cy="2000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D4ED8"/>
                </a:solidFill>
                <a:latin typeface="Inter"/>
              </a:rPr>
              <a:t>Fully Editable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150" y="3634382"/>
            <a:ext cx="66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D4ED8"/>
                </a:solidFill>
                <a:latin typeface="Inter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634382"/>
            <a:ext cx="2219325" cy="20002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D4ED8"/>
                </a:solidFill>
                <a:latin typeface="Inter"/>
              </a:rPr>
              <a:t>Production Code Ready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00" y="3653432"/>
            <a:ext cx="1333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3653432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514748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497609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48808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348808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427285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427285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63291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2657623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https://png.pngtree.com/thumb_back/fw800/background/20260416/pngtree-modern-dark-mode-admin-dashboard-user-interface-design-with-creative-data-image_21720633.webp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3101429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647033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76400" y="3640484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https://blog.potentiam.co.uk/hubfs/blog/images/redfin-accountant-desk-20260510-143304.webp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3886200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blog.potentiam.co.uk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431803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6400" y="4425255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https://infraon.io/blog/wp-content/uploads/2025/10/4267665_17130.svg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4670970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infraon.io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914400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