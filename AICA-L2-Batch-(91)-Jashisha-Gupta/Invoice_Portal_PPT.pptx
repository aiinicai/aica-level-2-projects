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30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7597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" name="Shape 1"/>
          <p:cNvSpPr/>
          <p:nvPr/>
        </p:nvSpPr>
        <p:spPr>
          <a:xfrm>
            <a:off x="10789920" y="4754880"/>
            <a:ext cx="2926080" cy="2926080"/>
          </a:xfrm>
          <a:prstGeom prst="ellipse">
            <a:avLst/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Invoice Submission &amp;</a:t>
            </a:r>
            <a:endParaRPr lang="en-US" sz="40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Approval Portal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workflow, control, and tracking gaps in how we process invoices today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058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sp>
        <p:nvSpPr>
          <p:cNvPr id="8" name="Text 6"/>
          <p:cNvSpPr/>
          <p:nvPr/>
        </p:nvSpPr>
        <p:spPr>
          <a:xfrm>
            <a:off x="4854633" y="958735"/>
            <a:ext cx="6098770" cy="1451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Jashisha Kumar Gupta </a:t>
            </a:r>
          </a:p>
          <a:p>
            <a:pPr marL="0" indent="0" algn="ctr">
              <a:buNone/>
            </a:pPr>
            <a:endParaRPr lang="en-US" sz="2400" b="1" dirty="0">
              <a:solidFill>
                <a:schemeClr val="accent5">
                  <a:lumMod val="20000"/>
                  <a:lumOff val="80000"/>
                </a:schemeClr>
              </a:solidFill>
              <a:latin typeface="Bodoni MT Black" panose="02070A03080606020203" pitchFamily="18" charset="0"/>
              <a:ea typeface="Calibri" pitchFamily="34" charset="-122"/>
              <a:cs typeface="Calibri" pitchFamily="34" charset="-120"/>
            </a:endParaRPr>
          </a:p>
          <a:p>
            <a:pPr marL="0" indent="0" algn="ctr">
              <a:buNone/>
            </a:pPr>
            <a:r>
              <a:rPr lang="en-US" sz="24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Bodoni MT Black" panose="02070A03080606020203" pitchFamily="18" charset="0"/>
                <a:ea typeface="Calibri" pitchFamily="34" charset="-122"/>
                <a:cs typeface="Calibri" pitchFamily="34" charset="-120"/>
              </a:rPr>
              <a:t>Capstone Project – ICAI </a:t>
            </a:r>
            <a:endParaRPr lang="en-US" sz="2400" b="1" dirty="0">
              <a:solidFill>
                <a:schemeClr val="accent5">
                  <a:lumMod val="20000"/>
                  <a:lumOff val="80000"/>
                </a:schemeClr>
              </a:solidFill>
              <a:latin typeface="Bodoni MT Black" panose="02070A030806060202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Invoices Go Straight to the GL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current accounting system has no workflow layer — every Expense and Capex invoice is posted directly to the General Ledger with no checkpoints in between.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gap_approv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229057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approval workflow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24688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sign-off is not enforced before Finance books an invoice.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990088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0" name="Image 1" descr="/home/claude/pptx_project/icons/gap_vend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3131820"/>
            <a:ext cx="283464" cy="28346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971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vendor/GL discipline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331012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coding and GL mapping are done ad hoc, with no linking control.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4" name="Image 2" descr="/home/claude/pptx_project/icons/gap_p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973068"/>
            <a:ext cx="283464" cy="28346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813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integrated PO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415137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Capex and Opex spend has no purchase order or agreement matching.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48640" y="4672584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8" name="Image 3" descr="/home/claude/pptx_project/icons/gap_aud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" y="4814316"/>
            <a:ext cx="283464" cy="2834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6542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25880" y="499262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reliably answer who approved what, and when.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548640" y="5513832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FBEAE8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2" name="Image 4" descr="/home/claude/pptx_project/icons/gap_track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372" y="5655564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54955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325880" y="58338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see where an invoice is stuck in the process.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COSTING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Areas of Risk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risk_compli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404" y="208940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risk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01752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Tax is applied manually and inconsistently, exposing us to tax penalties.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4581144" y="19476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11" name="Image 1" descr="/home/claude/pptx_project/icons/risk_finan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876" y="2089404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risk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81144" y="301752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post straight to the GL — there is no review layer to catch mistakes before they land.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01584" y="169164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8357616" y="194767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16" name="Image 2" descr="/home/claude/pptx_project/icons/risk_aud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9348" y="2089404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65176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risk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57616" y="301752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documented, tamper-proof approval trail exists for external or internal audit.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436876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2692908" y="45994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21" name="Image 3" descr="/home/claude/pptx_project/icons/risk_operation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4741164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2692908" y="5303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risk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2692908" y="566928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invoices get lost or delayed with no way to track their physical location.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213348" y="4343400"/>
            <a:ext cx="3520440" cy="2331720"/>
          </a:xfrm>
          <a:prstGeom prst="roundRect">
            <a:avLst>
              <a:gd name="adj" fmla="val 3137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19"/>
          <p:cNvSpPr/>
          <p:nvPr/>
        </p:nvSpPr>
        <p:spPr>
          <a:xfrm>
            <a:off x="6469380" y="4599432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26" name="Image 4" descr="/home/claude/pptx_project/icons/risk_accountabilit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4741164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469380" y="5303520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 gap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6469380" y="5669280"/>
            <a:ext cx="30083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measure who is making booking errors, or how often, to improve performance.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Changes With a Dedicated Portal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54456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 Area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3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the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enforced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Multi-level HOD + Finance approval, digital and physical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&amp; GL coding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 hoc, error-prone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Locked to Finance Checker role; mandatory before 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Withholding Tax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inconsistent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Auto-computed from Vendor Master and rate 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visibility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 status dashboard at every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immutable log, with checker accuracy KPIs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documents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Untracked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Barcoded submission sheet with received confirmation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Reconciliation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B03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or 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F5C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Matched against accounting system via ODBC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Portal, One Controlled Path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follows the same enforced sequence — nothing skips a step, and nothing is booked without approval.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wf_reque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" y="2532888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invoice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98424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215646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/home/claude/pptx_project/icons/wf_ho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5664" y="2532888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6502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206502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+ physical approval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59206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376428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/home/claude/pptx_project/icons/wf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484" y="2532888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67284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Check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367284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link, WHT, GL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19988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537210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1" name="Image 3" descr="/home/claude/pptx_project/icons/wf_approv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1304" y="2532888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8066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Approve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28066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review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680770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19"/>
          <p:cNvSpPr/>
          <p:nvPr/>
        </p:nvSpPr>
        <p:spPr>
          <a:xfrm>
            <a:off x="697992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6" name="Image 4" descr="/home/claude/pptx_project/icons/wf_vouch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9124" y="2532888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88848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688848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841552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0" name="Shape 23"/>
          <p:cNvSpPr/>
          <p:nvPr/>
        </p:nvSpPr>
        <p:spPr>
          <a:xfrm>
            <a:off x="858774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31" name="Image 5" descr="/home/claude/pptx_project/icons/wf_paymen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76944" y="2532888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9630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849630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Routed for payment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10023348" y="2958084"/>
            <a:ext cx="153924" cy="164592"/>
          </a:xfrm>
          <a:prstGeom prst="rightArrow">
            <a:avLst/>
          </a:prstGeom>
          <a:solidFill>
            <a:srgbClr val="B7C0D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5" name="Shape 27"/>
          <p:cNvSpPr/>
          <p:nvPr/>
        </p:nvSpPr>
        <p:spPr>
          <a:xfrm>
            <a:off x="10195560" y="2331720"/>
            <a:ext cx="1417320" cy="1417320"/>
          </a:xfrm>
          <a:prstGeom prst="roundRect">
            <a:avLst>
              <a:gd name="adj" fmla="val 645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36" name="Image 6" descr="/home/claude/pptx_project/icons/wf_reconci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84764" y="2532888"/>
            <a:ext cx="438912" cy="43891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0104120" y="304495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Reconciled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1010412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via ODBC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stage can return an invoice for correction with a mandatory comment — nothing moves forward silently.</a:t>
            </a:r>
            <a:endParaRPr lang="en-US" sz="1150" dirty="0"/>
          </a:p>
        </p:txBody>
      </p:sp>
      <p:sp>
        <p:nvSpPr>
          <p:cNvPr id="40" name="Text 31"/>
          <p:cNvSpPr/>
          <p:nvPr/>
        </p:nvSpPr>
        <p:spPr>
          <a:xfrm>
            <a:off x="548640" y="4709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never happen out of order:</a:t>
            </a:r>
            <a:endParaRPr lang="en-US" sz="1300" dirty="0"/>
          </a:p>
        </p:txBody>
      </p:sp>
      <p:sp>
        <p:nvSpPr>
          <p:cNvPr id="41" name="Shape 32"/>
          <p:cNvSpPr/>
          <p:nvPr/>
        </p:nvSpPr>
        <p:spPr>
          <a:xfrm>
            <a:off x="548640" y="5120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42" name="Text 33"/>
          <p:cNvSpPr/>
          <p:nvPr/>
        </p:nvSpPr>
        <p:spPr>
          <a:xfrm>
            <a:off x="914400" y="505663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voucher is generated only after Finance Approval — never earlier.</a:t>
            </a:r>
            <a:endParaRPr lang="en-US" sz="1250" dirty="0"/>
          </a:p>
        </p:txBody>
      </p:sp>
      <p:sp>
        <p:nvSpPr>
          <p:cNvPr id="43" name="Shape 34"/>
          <p:cNvSpPr/>
          <p:nvPr/>
        </p:nvSpPr>
        <p:spPr>
          <a:xfrm>
            <a:off x="548640" y="5623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E8B57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44" name="Text 35"/>
          <p:cNvSpPr/>
          <p:nvPr/>
        </p:nvSpPr>
        <p:spPr>
          <a:xfrm>
            <a:off x="914400" y="5559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 Code is only ever linked by the Finance Checker — never by the Requester or HOD.</a:t>
            </a:r>
            <a:endParaRPr lang="en-US" sz="1250" dirty="0"/>
          </a:p>
        </p:txBody>
      </p:sp>
      <p:sp>
        <p:nvSpPr>
          <p:cNvPr id="45" name="Text 3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B0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 We Don’t Have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ctrl_l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" y="19705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vendor linking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508760" y="21305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Finance Checker can link a Vendor Code — locked at the field level.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6492240" y="182880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/home/claude/pptx_project/icons/ctrl_w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19705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6479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WHT computation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223760" y="213055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Withholding Tax is calculated from Vendor Master and rate tables, not memory.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777240" y="3474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/home/claude/pptx_project/icons/ctrl_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8972" y="361645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410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HOD confirmation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508760" y="37764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 approval requires both a system click and a signed physical sheet.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63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6492240" y="347472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1" name="Image 3" descr="/home/claude/pptx_project/icons/ctrl_k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3972" y="361645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4107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accuracy KPIs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223760" y="377647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correction the Finance Approver requests is logged for performance reporting.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548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19"/>
          <p:cNvSpPr/>
          <p:nvPr/>
        </p:nvSpPr>
        <p:spPr>
          <a:xfrm>
            <a:off x="777240" y="51206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26" name="Image 4" descr="/home/claude/pptx_project/icons/ctrl_lo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8972" y="5262372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056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Voucher locked at approval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508760" y="542239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voucher exists until final approval; once created, it is read-only.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6263640" y="48920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0" name="Shape 23"/>
          <p:cNvSpPr/>
          <p:nvPr/>
        </p:nvSpPr>
        <p:spPr>
          <a:xfrm>
            <a:off x="6492240" y="512064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31" name="Image 5" descr="/home/claude/pptx_project/icons/ctrl_db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3972" y="5262372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5056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ODBC-based reconciliation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223760" y="5422392"/>
            <a:ext cx="4160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Postings are matched back to the accounting system automatically, read-only.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Delivers for the Business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04672" y="183794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ben_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19659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496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accountability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approval traceable to a person and a timestamp.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4581144" y="183794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11" name="Image 1" descr="/home/claude/pptx_project/icons/ben_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19659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1144" y="2496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Audit-ready, always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immutable source of truth for internal and external audit.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8357616" y="183794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16" name="Image 2" descr="/home/claude/pptx_project/icons/ben_sp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2" y="19659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49631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processing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57616" y="283464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visibility replaces chasing paper across departments.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0" name="Shape 15"/>
          <p:cNvSpPr/>
          <p:nvPr/>
        </p:nvSpPr>
        <p:spPr>
          <a:xfrm>
            <a:off x="804672" y="407822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21" name="Image 3" descr="/home/claude/pptx_project/icons/ben_bu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420624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errors reach the GL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804672" y="50749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layer catches mistakes before they are posted.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25112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25" name="Shape 19"/>
          <p:cNvSpPr/>
          <p:nvPr/>
        </p:nvSpPr>
        <p:spPr>
          <a:xfrm>
            <a:off x="4581144" y="407822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26" name="Image 4" descr="/home/claude/pptx_project/icons/ben_gave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9160" y="42062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81144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compliance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50749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WHT applied the same way, every time, per vendor category.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101584" y="384048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30" name="Shape 23"/>
          <p:cNvSpPr/>
          <p:nvPr/>
        </p:nvSpPr>
        <p:spPr>
          <a:xfrm>
            <a:off x="8357616" y="4078224"/>
            <a:ext cx="530352" cy="53035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TZ"/>
          </a:p>
        </p:txBody>
      </p:sp>
      <p:pic>
        <p:nvPicPr>
          <p:cNvPr id="31" name="Image 5" descr="/home/claude/pptx_project/icons/ben_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5632" y="42062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73659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improvement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7616" y="5074920"/>
            <a:ext cx="30083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reporting shows exactly where the process needs attention.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WE’VE BUILD 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1"/>
            <a:ext cx="10515600" cy="8651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Claude Prompt, Rechecked with GPT and Studied 2 days with all possibilities and then with Lovable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5" name="Shape 3"/>
          <p:cNvSpPr/>
          <p:nvPr/>
        </p:nvSpPr>
        <p:spPr>
          <a:xfrm>
            <a:off x="841248" y="221284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6" name="Image 0" descr="/home/claude/pptx_project/icons/impl_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377440"/>
            <a:ext cx="356616" cy="3566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31089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Prompt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1248" y="365760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25112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0" name="Shape 7"/>
          <p:cNvSpPr/>
          <p:nvPr/>
        </p:nvSpPr>
        <p:spPr>
          <a:xfrm>
            <a:off x="4617720" y="221284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1" name="Image 1" descr="/home/claude/pptx_project/icons/impl_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2377440"/>
            <a:ext cx="356616" cy="35661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17720" y="31089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Self analysis of Prompt manually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17720" y="365760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of prompt and improving it to match all the requirement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01584" y="1920240"/>
            <a:ext cx="3520440" cy="3017520"/>
          </a:xfrm>
          <a:prstGeom prst="roundRect">
            <a:avLst>
              <a:gd name="adj" fmla="val 242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TZ"/>
          </a:p>
        </p:txBody>
      </p:sp>
      <p:sp>
        <p:nvSpPr>
          <p:cNvPr id="15" name="Shape 11"/>
          <p:cNvSpPr/>
          <p:nvPr/>
        </p:nvSpPr>
        <p:spPr>
          <a:xfrm>
            <a:off x="8394192" y="2212848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253476"/>
          </a:solidFill>
          <a:ln/>
        </p:spPr>
        <p:txBody>
          <a:bodyPr/>
          <a:lstStyle/>
          <a:p>
            <a:endParaRPr lang="en-TZ"/>
          </a:p>
        </p:txBody>
      </p:sp>
      <p:pic>
        <p:nvPicPr>
          <p:cNvPr id="16" name="Image 2" descr="/home/claude/pptx_project/icons/impl_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8784" y="2377440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94192" y="3108960"/>
            <a:ext cx="29352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Lovable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94192" y="365760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through Lovable and updated the requirement based on bug identification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Submission &amp; Approval Portal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4712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04F027D-A770-F1B4-C0AC-BD006A3F562B}"/>
              </a:ext>
            </a:extLst>
          </p:cNvPr>
          <p:cNvSpPr/>
          <p:nvPr/>
        </p:nvSpPr>
        <p:spPr>
          <a:xfrm>
            <a:off x="769620" y="3657600"/>
            <a:ext cx="2935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9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Ideas converted into Prompt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747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Bodoni MT Black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 Jashisha</dc:creator>
  <cp:lastModifiedBy>Jashisha Gupta</cp:lastModifiedBy>
  <cp:revision>4</cp:revision>
  <dcterms:created xsi:type="dcterms:W3CDTF">2026-08-19T11:29:27Z</dcterms:created>
  <dcterms:modified xsi:type="dcterms:W3CDTF">2026-08-19T19:03:49Z</dcterms:modified>
</cp:coreProperties>
</file>