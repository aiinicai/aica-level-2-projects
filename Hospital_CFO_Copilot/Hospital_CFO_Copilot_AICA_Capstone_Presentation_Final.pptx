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73152" cy="44348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749808"/>
            <a:ext cx="2240280" cy="347472"/>
          </a:xfrm>
          <a:prstGeom prst="roundRect">
            <a:avLst/>
          </a:prstGeom>
          <a:solidFill>
            <a:srgbClr val="1E406E"/>
          </a:solidFill>
          <a:ln>
            <a:solidFill>
              <a:srgbClr val="1E4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804671"/>
            <a:ext cx="2093976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0EA5E9"/>
                </a:solidFill>
                <a:latin typeface="Aptos"/>
              </a:defRPr>
            </a:pPr>
            <a:r>
              <a:t>AI-ASSISTED FINANCIAL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0584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Hospital CFO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96012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Aptos"/>
              </a:defRPr>
            </a:pPr>
            <a:r>
              <a:t>Agentic Financial Control &amp; Management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6352"/>
            <a:ext cx="8229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AICA Level 2 — Artificial Intelligence Capstone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69080"/>
            <a:ext cx="1783080" cy="621792"/>
          </a:xfrm>
          <a:prstGeom prst="roundRect">
            <a:avLst/>
          </a:prstGeom>
          <a:solidFill>
            <a:srgbClr val="1E304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70248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EA5E9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4233672"/>
            <a:ext cx="228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4069080"/>
            <a:ext cx="1783080" cy="621792"/>
          </a:xfrm>
          <a:prstGeom prst="roundRect">
            <a:avLst/>
          </a:prstGeom>
          <a:solidFill>
            <a:srgbClr val="1E304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4270248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2363EB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4233672"/>
            <a:ext cx="228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4069080"/>
            <a:ext cx="1783080" cy="621792"/>
          </a:xfrm>
          <a:prstGeom prst="roundRect">
            <a:avLst/>
          </a:prstGeom>
          <a:solidFill>
            <a:srgbClr val="1E304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4270248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7C3AED"/>
                </a:solidFill>
                <a:latin typeface="Aptos"/>
              </a:defRPr>
            </a:pPr>
            <a:r>
              <a:t>CFO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4233672"/>
            <a:ext cx="228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069080"/>
            <a:ext cx="1783080" cy="621792"/>
          </a:xfrm>
          <a:prstGeom prst="roundRect">
            <a:avLst/>
          </a:prstGeom>
          <a:solidFill>
            <a:srgbClr val="1E304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4270248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4233672"/>
            <a:ext cx="228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4069080"/>
            <a:ext cx="1783080" cy="621792"/>
          </a:xfrm>
          <a:prstGeom prst="roundRect">
            <a:avLst/>
          </a:prstGeom>
          <a:solidFill>
            <a:srgbClr val="1E304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0" y="4270248"/>
            <a:ext cx="1783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Aptos"/>
              </a:defRPr>
            </a:pPr>
            <a:r>
              <a:t>HUMAN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9601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"/>
              </a:defRPr>
            </a:pPr>
            <a:r>
              <a:t>A financial-control layer over existing hospital systems of record.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50992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Synthetic/UAT data • Firestore persistence • Deterministic controls • Controlled AI analysis • Human approval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874519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4864" cy="1874519"/>
          </a:xfrm>
          <a:prstGeom prst="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8191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Fragmented financial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84248"/>
            <a:ext cx="3200400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Services, billing, claims, collections, tariffs and departmental reviews often arrive as separate operational extracts.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54864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58191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Manual exception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84248"/>
            <a:ext cx="3200400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Finance teams must reconcile records to identify unbilled services, quantity/amount mismatches, TPA shortfalls and overdue receivables.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1874519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54864" cy="1874519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58191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Management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84248"/>
            <a:ext cx="3200400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The CFO needs a consolidated view of financial exposure, evidence and suggested actions — not another isolated spreadsheet.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927080" cy="2057400"/>
          </a:xfrm>
          <a:prstGeom prst="round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>
                <a:solidFill>
                  <a:srgbClr val="0EA5E9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92179"/>
            <a:ext cx="99669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dirty="0"/>
              <a:t>Deterministic financial engines establish the numbers. The AI layer explains, </a:t>
            </a:r>
            <a:r>
              <a:rPr dirty="0" err="1"/>
              <a:t>prioritises</a:t>
            </a:r>
            <a:r>
              <a:rPr dirty="0"/>
              <a:t> and </a:t>
            </a:r>
            <a:r>
              <a:rPr dirty="0" err="1"/>
              <a:t>synthesises</a:t>
            </a:r>
            <a:r>
              <a:rPr dirty="0"/>
              <a:t> those results. The human remains the decision-maker.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90982"/>
            <a:ext cx="8229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rPr dirty="0"/>
              <a:t>This separation is central to the project's governance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HOW THE APPLICATION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End-to-end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12648" y="1737360"/>
            <a:ext cx="365760" cy="365760"/>
          </a:xfrm>
          <a:prstGeom prst="ellipse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828800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19072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>
                <a:solidFill>
                  <a:srgbClr val="122240"/>
                </a:solidFill>
                <a:latin typeface="Aptos"/>
              </a:defRPr>
            </a:pPr>
            <a:r>
              <a:t>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40280"/>
            <a:ext cx="1280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CSV /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057400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04872" y="160020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514600" y="1737360"/>
            <a:ext cx="365760" cy="365760"/>
          </a:xfrm>
          <a:prstGeom prst="ellipse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14600" y="1828800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719072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>
                <a:solidFill>
                  <a:srgbClr val="122240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9464" y="2240280"/>
            <a:ext cx="1280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Classify &amp;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2057400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6824" y="160020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416552" y="1737360"/>
            <a:ext cx="365760" cy="365760"/>
          </a:xfrm>
          <a:prstGeom prst="ellipse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16552" y="1828800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1719072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>
                <a:solidFill>
                  <a:srgbClr val="122240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240280"/>
            <a:ext cx="1280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176" y="2057400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160020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18504" y="1737360"/>
            <a:ext cx="365760" cy="365760"/>
          </a:xfrm>
          <a:prstGeom prst="ellipse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18504" y="1828800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5704" y="1719072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>
                <a:solidFill>
                  <a:srgbClr val="12224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240280"/>
            <a:ext cx="1280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C01–C08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2057400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0728" y="160020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20456" y="1737360"/>
            <a:ext cx="365760" cy="365760"/>
          </a:xfrm>
          <a:prstGeom prst="ellipse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0456" y="1828800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7656" y="1719072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>
                <a:solidFill>
                  <a:srgbClr val="122240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240280"/>
            <a:ext cx="1280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CFO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057400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1600200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122408" y="1737360"/>
            <a:ext cx="365760" cy="365760"/>
          </a:xfrm>
          <a:prstGeom prst="ellipse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22408" y="1828800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79608" y="1719072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>
                <a:solidFill>
                  <a:srgbClr val="1222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72" y="2240280"/>
            <a:ext cx="1280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Evidence + approval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3703320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 Existing HIS/ERP remains the system of record; the Copilot operates as a financial-control and intelligence layer.</a:t>
            </a:r>
          </a:p>
          <a:p>
            <a:pPr>
              <a:spcAft>
                <a:spcPts val="7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 Fresh production workspace is empty; synthetic datasets are isolated for UAT/development.</a:t>
            </a:r>
          </a:p>
          <a:p>
            <a:pPr>
              <a:spcAft>
                <a:spcPts val="7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 Firestore is the authoritative application data 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APPLICATION + DATA + AI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109728" cy="71323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389888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>
                <a:solidFill>
                  <a:srgbClr val="0EA5E9"/>
                </a:solidFill>
                <a:latin typeface="Aptos"/>
              </a:defRPr>
            </a:pPr>
            <a:r>
              <a:t>USER &amp;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371600"/>
            <a:ext cx="8001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Google Sign-In → Firestore user profile → role / department /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67128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67128"/>
            <a:ext cx="109728" cy="713232"/>
          </a:xfrm>
          <a:prstGeom prst="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2322576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>
                <a:solidFill>
                  <a:srgbClr val="2363EB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304288"/>
            <a:ext cx="8001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React + TypeScript + Vite PWA → Dashboard, Exceptions, Reviews, Data &amp;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99816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099816"/>
            <a:ext cx="109728" cy="71323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255264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Aptos"/>
              </a:defRPr>
            </a:pPr>
            <a:r>
              <a:t>FINANCIAL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36976"/>
            <a:ext cx="8001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Firestore → deterministic control engine → canonical financial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32504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032504"/>
            <a:ext cx="109728" cy="7132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418795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ptos"/>
              </a:defRPr>
            </a:pPr>
            <a:r>
              <a:t>AGENTIC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169664"/>
            <a:ext cx="8001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Controlled read-only tools → CFO Review workflow → evidence-backed narrative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65192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965192"/>
            <a:ext cx="109728" cy="7132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" y="5120640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102352"/>
            <a:ext cx="8001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Audit logs → human approval → no autonomous posting / payment / discharge blocking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122240"/>
                </a:solidFill>
                <a:latin typeface="Aptos"/>
              </a:defRPr>
            </a:pPr>
            <a:r>
              <a:t>Key governance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971032"/>
            <a:ext cx="8229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>
                <a:solidFill>
                  <a:srgbClr val="122240"/>
                </a:solidFill>
                <a:latin typeface="Aptos"/>
              </a:defRPr>
            </a:pPr>
            <a:r>
              <a:t>AI consumes controlled evidence; it does not become the source of financial truth.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DETERMINISTIC FINANCIAL CONTROL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Revenue &amp; billing controls — C01 to C04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166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59" y="1490472"/>
            <a:ext cx="566928" cy="347472"/>
          </a:xfrm>
          <a:prstGeom prst="round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1" y="1545336"/>
            <a:ext cx="420623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481328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122240"/>
                </a:solidFill>
                <a:latin typeface="Aptos"/>
              </a:defRPr>
            </a:pPr>
            <a:r>
              <a:t>Unbilled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98424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947672"/>
            <a:ext cx="3977639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Service exists but no corresponding billing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44144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40487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Expected amount exposed as potential unbilled revenue.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5166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0" y="1490472"/>
            <a:ext cx="566928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545336"/>
            <a:ext cx="420623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481328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122240"/>
                </a:solidFill>
                <a:latin typeface="Aptos"/>
              </a:defRPr>
            </a:pPr>
            <a:r>
              <a:t>Quantity Mismatch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8424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947672"/>
            <a:ext cx="3977639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Service quantity differs from billed quantity.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4144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40487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Relevant quantity variance is surfaced for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74720"/>
            <a:ext cx="5166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59" y="3639312"/>
            <a:ext cx="566928" cy="34747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1" y="3694176"/>
            <a:ext cx="420623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630168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122240"/>
                </a:solidFill>
                <a:latin typeface="Aptos"/>
              </a:defRPr>
            </a:pPr>
            <a:r>
              <a:t>Amount Mismatch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133087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096511"/>
            <a:ext cx="3977639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Expected amount and billed amount materially differ.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59028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55371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Variance is evaluated against the configured tolerance.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474720"/>
            <a:ext cx="5166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0" y="3639312"/>
            <a:ext cx="566928" cy="347472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694176"/>
            <a:ext cx="420623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1" y="3630168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122240"/>
                </a:solidFill>
                <a:latin typeface="Aptos"/>
              </a:defRPr>
            </a:pPr>
            <a:r>
              <a:t>Post-Billing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33087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096511"/>
            <a:ext cx="3977639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A service occurs after the final bill timestamp.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9028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55371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Potential late charge capture is identified.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0644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122240"/>
                </a:solidFill>
                <a:latin typeface="Aptos"/>
              </a:defRPr>
            </a:pPr>
            <a:r>
              <a:t>These controls are calculated from structured source records; AI does not invent the underlying variance.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BILLING COMPLETENESS, TPA &amp;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Revenue cycle controls — C05 to C08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166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59" y="1490472"/>
            <a:ext cx="566928" cy="347472"/>
          </a:xfrm>
          <a:prstGeom prst="round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1" y="1545336"/>
            <a:ext cx="420623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481328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122240"/>
                </a:solidFill>
                <a:latin typeface="Aptos"/>
              </a:defRPr>
            </a:pPr>
            <a:r>
              <a:t>Missing / Pending Final Bill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98424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947672"/>
            <a:ext cx="3977639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A discharged encounter has no final bill or only provisional billing.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44144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40487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Potential billing-completeness exception.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5166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0" y="1490472"/>
            <a:ext cx="566928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545336"/>
            <a:ext cx="420623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1481328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122240"/>
                </a:solidFill>
                <a:latin typeface="Aptos"/>
              </a:defRPr>
            </a:pPr>
            <a:r>
              <a:t>TPA Shortfall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8424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947672"/>
            <a:ext cx="3977639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Claim amount exceeds approved amount beyond the configured tolerance.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4144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40487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Potential insurance / TPA disallowance exposure.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74720"/>
            <a:ext cx="5166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59" y="3639312"/>
            <a:ext cx="566928" cy="34747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1" y="3694176"/>
            <a:ext cx="420623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630168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122240"/>
                </a:solidFill>
                <a:latin typeface="Aptos"/>
              </a:defRPr>
            </a:pPr>
            <a:r>
              <a:t>Collection Outstanding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133087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096511"/>
            <a:ext cx="3977639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Receivable remains overdue beyond the configured ageing threshold.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59028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55371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Working-capital / collection exposure.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474720"/>
            <a:ext cx="5166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0" y="3639312"/>
            <a:ext cx="566928" cy="347472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3694176"/>
            <a:ext cx="420623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1" y="3630168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122240"/>
                </a:solidFill>
                <a:latin typeface="Aptos"/>
              </a:defRPr>
            </a:pPr>
            <a:r>
              <a:t>Unusual Discount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33087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096511"/>
            <a:ext cx="3977639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Discount exceeds the configured authorised threshold.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9028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55371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Potential discount-control exception.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0644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122240"/>
                </a:solidFill>
                <a:latin typeface="Aptos"/>
              </a:defRPr>
            </a:pPr>
            <a:r>
              <a:t>Together, C01–C08 convert fragmented transaction data into a structured exception register.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From control result to actionable exception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0352" y="1737360"/>
            <a:ext cx="1408176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1792224"/>
            <a:ext cx="126187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2363E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212848"/>
            <a:ext cx="140817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Aptos"/>
              </a:defRPr>
            </a:pPr>
            <a:r>
              <a:t>Service / bill / claim / receipt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2264" y="2011680"/>
            <a:ext cx="2011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8296" y="1600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487168" y="1737360"/>
            <a:ext cx="1408176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1792224"/>
            <a:ext cx="126187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2363EB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212848"/>
            <a:ext cx="140817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Aptos"/>
              </a:defRPr>
            </a:pPr>
            <a:r>
              <a:t>C01–C08 deterministic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011680"/>
            <a:ext cx="2011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1600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43984" y="1737360"/>
            <a:ext cx="1408176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17136" y="1792224"/>
            <a:ext cx="126187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2363EB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2212848"/>
            <a:ext cx="140817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Aptos"/>
              </a:defRPr>
            </a:pPr>
            <a:r>
              <a:t>Control + encounter + amount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011680"/>
            <a:ext cx="2011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1600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0" y="1737360"/>
            <a:ext cx="1408176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1792224"/>
            <a:ext cx="126187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2363EB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12848"/>
            <a:ext cx="140817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Aptos"/>
              </a:defRPr>
            </a:pPr>
            <a:r>
              <a:t>Severity / exposure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12" y="2011680"/>
            <a:ext cx="2011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1600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357616" y="1737360"/>
            <a:ext cx="1408176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0768" y="1792224"/>
            <a:ext cx="126187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2363EB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2212848"/>
            <a:ext cx="140817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Aptos"/>
              </a:defRPr>
            </a:pPr>
            <a:r>
              <a:t>Suggested next 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2011680"/>
            <a:ext cx="2011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0" y="1600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314432" y="1737360"/>
            <a:ext cx="1408176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87584" y="1792224"/>
            <a:ext cx="126187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2363EB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4432" y="2212848"/>
            <a:ext cx="140817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Aptos"/>
              </a:defRPr>
            </a:pPr>
            <a:r>
              <a:t>Human resolution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3657600"/>
            <a:ext cx="3337560" cy="109728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3657600"/>
            <a:ext cx="54864" cy="10972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2" y="3822191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Exception lifecycle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4224528"/>
            <a:ext cx="301752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OPEN → UNDER_REVIEW → RESOLVED / ACCEPTED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34840" y="3657600"/>
            <a:ext cx="3337560" cy="109728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434840" y="3657600"/>
            <a:ext cx="54864" cy="109728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99431" y="3822191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9431" y="4224528"/>
            <a:ext cx="301752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Control run, source records, exception details and audit events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2440" y="3657600"/>
            <a:ext cx="3337560" cy="109728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92440" y="3657600"/>
            <a:ext cx="54864" cy="10972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57031" y="3822191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7031" y="4224528"/>
            <a:ext cx="301752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Human approval remains mandatory for consequential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STAGE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CFO Financial Review — 10-stage agentic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49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1" y="1490472"/>
            <a:ext cx="420624" cy="420624"/>
          </a:xfrm>
          <a:prstGeom prst="ellipse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68195"/>
            <a:ext cx="4206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472184"/>
            <a:ext cx="44805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Control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93391"/>
            <a:ext cx="5020055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Reads the latest control run and establishes the current financial-control position.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49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82512" y="1490472"/>
            <a:ext cx="420624" cy="420624"/>
          </a:xfrm>
          <a:prstGeom prst="ellipse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68195"/>
            <a:ext cx="4206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1472184"/>
            <a:ext cx="44805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Revenue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93391"/>
            <a:ext cx="5020055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Reviews revenue, billing capture and performance metrics available for the period.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06040"/>
            <a:ext cx="5349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1" y="2770632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2848356"/>
            <a:ext cx="4206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2752344"/>
            <a:ext cx="44805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Exception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273552"/>
            <a:ext cx="5020055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Examines open exceptions and drills into material items where evidence is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06040"/>
            <a:ext cx="5349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82512" y="2770632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848356"/>
            <a:ext cx="4206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752344"/>
            <a:ext cx="44805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AR / Working Capital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273552"/>
            <a:ext cx="5020055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Reviews receivables ageing, overdue exposure and collection position.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886200"/>
            <a:ext cx="5349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04671" y="4050791"/>
            <a:ext cx="420624" cy="420624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1" y="4128515"/>
            <a:ext cx="4206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4032504"/>
            <a:ext cx="44805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TPA / Insurance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4553712"/>
            <a:ext cx="5020055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Reviews submitted, approved and pending TPA/insurance amounts and shortfall exposure.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86200"/>
            <a:ext cx="534924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4096512"/>
            <a:ext cx="1051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>
                <a:solidFill>
                  <a:srgbClr val="122240"/>
                </a:solidFill>
                <a:latin typeface="Aptos"/>
              </a:defRPr>
            </a:pPr>
            <a:r>
              <a:t>Why stages?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050791"/>
            <a:ext cx="38404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The workflow selectively retrieves only the evidence needed for the current review, then synthesises it into a CFO-level narrative.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STAGE 6–10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CFO Financial Review — 10-stage agentic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49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1" y="1490472"/>
            <a:ext cx="420624" cy="420624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68195"/>
            <a:ext cx="4206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472184"/>
            <a:ext cx="44805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Department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93391"/>
            <a:ext cx="5020055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Assesses departmental billing-review/clearance status and unresolved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49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82512" y="1490472"/>
            <a:ext cx="420624" cy="420624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68195"/>
            <a:ext cx="4206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1472184"/>
            <a:ext cx="44805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Tariff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93391"/>
            <a:ext cx="5020055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Reviews tariff deviations, missing tariffs and rate-related exceptions.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06040"/>
            <a:ext cx="5349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1" y="2770632"/>
            <a:ext cx="420624" cy="420624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2848356"/>
            <a:ext cx="4206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2752344"/>
            <a:ext cx="44805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Budget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273552"/>
            <a:ext cx="5020055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Checks budget-versus-actual availability and returns an explicit no-data state where actuals are unavailable.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06040"/>
            <a:ext cx="5349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82512" y="2770632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848356"/>
            <a:ext cx="4206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752344"/>
            <a:ext cx="44805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Financial 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273552"/>
            <a:ext cx="5020055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Combines retrieved evidence into material findings, observations and priorities.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886200"/>
            <a:ext cx="5349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04671" y="4050791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1" y="4128515"/>
            <a:ext cx="4206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4032504"/>
            <a:ext cx="44805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CFO Briefing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4553712"/>
            <a:ext cx="5020055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Produces the executive briefing with evidence, suggested actions and review/approval state.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86200"/>
            <a:ext cx="5349240" cy="1051560"/>
          </a:xfrm>
          <a:prstGeom prst="round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4078224"/>
            <a:ext cx="13716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0EA5E9"/>
                </a:solidFill>
                <a:latin typeface="Aptos"/>
              </a:defRPr>
            </a:pPr>
            <a:r>
              <a:t>Output taxonomy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041648"/>
            <a:ext cx="33832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FACT  •  CALCULATED METRIC  •  AI OBSERVATION  •  SUGGESTED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BOUNDED ACCESS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Controlled financial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499616"/>
            <a:ext cx="475488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54480"/>
            <a:ext cx="329184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36192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1">
                <a:solidFill>
                  <a:srgbClr val="122240"/>
                </a:solidFill>
                <a:latin typeface="Aptos"/>
              </a:defRPr>
            </a:pPr>
            <a:r>
              <a:t>Latest Control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60" y="1499616"/>
            <a:ext cx="475488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554480"/>
            <a:ext cx="329184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536192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1">
                <a:solidFill>
                  <a:srgbClr val="122240"/>
                </a:solidFill>
                <a:latin typeface="Aptos"/>
              </a:defRPr>
            </a:pPr>
            <a:r>
              <a:t>Open Exceptions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3258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83879" y="1499616"/>
            <a:ext cx="475488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554480"/>
            <a:ext cx="329184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1536192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1">
                <a:solidFill>
                  <a:srgbClr val="122240"/>
                </a:solidFill>
                <a:latin typeface="Aptos"/>
              </a:defRPr>
            </a:pPr>
            <a:r>
              <a:t>Department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4688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2642616"/>
            <a:ext cx="475488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2697480"/>
            <a:ext cx="329184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2679192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1">
                <a:solidFill>
                  <a:srgbClr val="122240"/>
                </a:solidFill>
                <a:latin typeface="Aptos"/>
              </a:defRPr>
            </a:pPr>
            <a:r>
              <a:t>Revenue Performance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4688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480560" y="2642616"/>
            <a:ext cx="475488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53712" y="2697480"/>
            <a:ext cx="329184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2679192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1">
                <a:solidFill>
                  <a:srgbClr val="122240"/>
                </a:solidFill>
                <a:latin typeface="Aptos"/>
              </a:defRPr>
            </a:pPr>
            <a:r>
              <a:t>AR Ageing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4688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83879" y="2642616"/>
            <a:ext cx="475488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57031" y="2697480"/>
            <a:ext cx="329184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2679192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1">
                <a:solidFill>
                  <a:srgbClr val="122240"/>
                </a:solidFill>
                <a:latin typeface="Aptos"/>
              </a:defRPr>
            </a:pPr>
            <a:r>
              <a:t>TPA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6118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77240" y="3785616"/>
            <a:ext cx="475488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3840480"/>
            <a:ext cx="329184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3822192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1">
                <a:solidFill>
                  <a:srgbClr val="122240"/>
                </a:solidFill>
                <a:latin typeface="Aptos"/>
              </a:defRPr>
            </a:pPr>
            <a:r>
              <a:t>Tariff Deviations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36118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480560" y="3785616"/>
            <a:ext cx="475488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53712" y="3840480"/>
            <a:ext cx="329184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3208" y="3822192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1">
                <a:solidFill>
                  <a:srgbClr val="122240"/>
                </a:solidFill>
                <a:latin typeface="Aptos"/>
              </a:defRPr>
            </a:pPr>
            <a:r>
              <a:t>Budget Variance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19" y="36118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183879" y="3785616"/>
            <a:ext cx="475488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57031" y="3840480"/>
            <a:ext cx="329184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6528" y="3822192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1">
                <a:solidFill>
                  <a:srgbClr val="122240"/>
                </a:solidFill>
                <a:latin typeface="Aptos"/>
              </a:defRPr>
            </a:pPr>
            <a:r>
              <a:t>Exception Details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074920"/>
            <a:ext cx="10927080" cy="749808"/>
          </a:xfrm>
          <a:prstGeom prst="round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5321808"/>
            <a:ext cx="10469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122240"/>
                </a:solidFill>
                <a:latin typeface="Aptos"/>
              </a:defRPr>
            </a:pPr>
            <a:r>
              <a:t>All nine tools are read-oriented financial evidence tools. They do not provide the AI with authority to alter financial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WHAT THE AI CAN AND CANNOT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AI governance &amp;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196596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4864" cy="1965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81912"/>
            <a:ext cx="4937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AI 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84248"/>
            <a:ext cx="4937760" cy="1252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Explain and synthesise retrieved results • prioritise material issues • generate management narrative • suggest actions • produce evidence-linked briefing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196596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4864" cy="19659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581912"/>
            <a:ext cx="4937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AI CANNOT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84248"/>
            <a:ext cx="4937760" cy="1252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Change financial values • resolve exceptions • approve claims • post accounting entries • make payments • block discharge • make clinical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5257800" cy="141732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54864" cy="14173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3959352"/>
            <a:ext cx="4937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HUMAN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361688"/>
            <a:ext cx="49377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CFO / authorised reviewer retains decision authority. Approval is recorded as a governance event in the audit trail.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25780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794760"/>
            <a:ext cx="54864" cy="14173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1" y="3959352"/>
            <a:ext cx="4937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EVIDENCE &amp; NO-DATA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4361688"/>
            <a:ext cx="49377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Narrative is grounded in controlled tool results. Missing datasets return explicit unavailable/no-data states rather than invented numbers.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WHAT THE CFO CAN SEE AND 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Application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932688"/>
          </a:xfrm>
          <a:prstGeom prst="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39903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CFO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01368"/>
            <a:ext cx="4846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Executive KPIs, revenue trend, capture, AR, TPA and exception visibility.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" cy="9326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39903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Revenue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801368"/>
            <a:ext cx="4846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C01–C08 control execution, run history and exception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774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377440"/>
            <a:ext cx="54864" cy="9326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254203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Departmental Billing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2944368"/>
            <a:ext cx="4846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Review status by department with evidence and resolution workflow.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774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377440"/>
            <a:ext cx="54864" cy="9326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254203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Tariff &amp; Rate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944368"/>
            <a:ext cx="4846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Tariff master, deviations and rate-related review items.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04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520440"/>
            <a:ext cx="54864" cy="93268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368503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Receivables &amp; Collections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087368"/>
            <a:ext cx="4846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Ageing, overdue exposure, collection position and trends.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5204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520440"/>
            <a:ext cx="54864" cy="9326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368503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CFO Copilot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087368"/>
            <a:ext cx="4846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Agentic financial review, evidence and executive briefing.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6634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4663440"/>
            <a:ext cx="54864" cy="93268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1" y="4828031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Audit &amp;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5230368"/>
            <a:ext cx="4846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Control runs, exception history, approvals and audit events.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6634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4663440"/>
            <a:ext cx="54864" cy="932688"/>
          </a:xfrm>
          <a:prstGeom prst="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82512" y="4828031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Data &amp; Controls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5230368"/>
            <a:ext cx="4846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Import, profiling, mapping, validation and control configuration.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IMPLEMENTATION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Technology, data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29000" cy="15087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1508760"/>
          </a:xfrm>
          <a:prstGeom prst="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49047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92807"/>
            <a:ext cx="3108960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React + TypeScript + Vite PWA</a:t>
            </a:r>
            <a:br/>
            <a:r>
              <a:t>Responsive financial dashboards and workflow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25880"/>
            <a:ext cx="3429000" cy="150876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325880"/>
            <a:ext cx="54864" cy="15087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149047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892807"/>
            <a:ext cx="3108960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Firebase Authentication + Firestore</a:t>
            </a:r>
            <a:br/>
            <a:r>
              <a:t>Authoritative financial/application data 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325880"/>
            <a:ext cx="3429000" cy="150876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1325880"/>
            <a:ext cx="54864" cy="15087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149047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1892807"/>
            <a:ext cx="3108960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Gemini API via server-side controlled endpoint</a:t>
            </a:r>
            <a:br/>
            <a:r>
              <a:t>AI-assisted mapping / narrative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246120"/>
            <a:ext cx="54864" cy="1325880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341071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813048"/>
            <a:ext cx="31089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Google Sign-In • Firestore RBAC • authorised user profiles • audit trail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2461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2" y="3246120"/>
            <a:ext cx="54864" cy="13258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341071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3813048"/>
            <a:ext cx="31089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Synthetic/UAT financial data for the capstone; no clinical decision support.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32461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01583" y="3246120"/>
            <a:ext cx="54864" cy="13258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66175" y="341071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Exports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3813048"/>
            <a:ext cx="31089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PDF / Excel management outputs and evidence-oriented reporting.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74920"/>
            <a:ext cx="1088136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330952"/>
            <a:ext cx="10424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t>Deployment limitation disclosed in project documentation: Gemini API endpoints currently rely on Vite server middleware rather than a separate production backend.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WHAT WAS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Validation &amp; UAT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1097280"/>
          </a:xfrm>
          <a:prstGeom prst="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39903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Heterogeneous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01368"/>
            <a:ext cx="484632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Different filenames, headers, ordering, multi-sheet Excel and Indian formats.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" cy="10972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39903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Partial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801368"/>
            <a:ext cx="484632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Missing claims/collections and unrelated files produce explicit availability states.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560320"/>
            <a:ext cx="54864" cy="109728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272491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C01–C08 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127248"/>
            <a:ext cx="484632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Planted test cases cover each financial control and multi-exception encounters.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6032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560320"/>
            <a:ext cx="54864" cy="10972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272491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Agentic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127248"/>
            <a:ext cx="484632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Controlled tools, evidence, synthesis, briefing and approval workflow validated.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8620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886200"/>
            <a:ext cx="54864" cy="10972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4050791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453128"/>
            <a:ext cx="484632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Google identity, Firestore RBAC and audit-event persistence checked.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88620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886200"/>
            <a:ext cx="54864" cy="1097280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4050791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50" b="1">
                <a:solidFill>
                  <a:srgbClr val="122240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453128"/>
            <a:ext cx="484632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475569"/>
                </a:solidFill>
                <a:latin typeface="Aptos"/>
              </a:defRPr>
            </a:pPr>
            <a:r>
              <a:t>TypeScript / Vite build and targeted validation completed.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10332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122240"/>
                </a:solidFill>
                <a:latin typeface="Aptos"/>
              </a:defRPr>
            </a:pPr>
            <a:r>
              <a:t>The project is a controlled capstone prototype, not a production HIS/ERP replacement.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2363EB"/>
                </a:solidFill>
                <a:latin typeface="Aptos"/>
              </a:defRPr>
            </a:pPr>
            <a:r>
              <a:t>WHAT THIS PROJECT DELIBERATELY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600" b="1">
                <a:solidFill>
                  <a:srgbClr val="122240"/>
                </a:solidFill>
                <a:latin typeface="Aptos"/>
              </a:defRPr>
            </a:pPr>
            <a:r>
              <a:t>Scope boundaries &amp; future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Hospital CFO Copilot  |  AICA Level 2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1874519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4864" cy="1874519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81912"/>
            <a:ext cx="4937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Not 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84248"/>
            <a:ext cx="4937760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Live HIS/ERP integration • clinical decision support • automated accounting entries • claim submission • payment execution • patient-release/discharge blocking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1874519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4864" cy="1874519"/>
          </a:xfrm>
          <a:prstGeom prst="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581912"/>
            <a:ext cx="4937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122240"/>
                </a:solidFill>
                <a:latin typeface="Aptos"/>
              </a:defRPr>
            </a:pPr>
            <a:r>
              <a:t>Future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84248"/>
            <a:ext cx="4937760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Secure enterprise APIs/connectors • additional financial controls • workflow notifications • production backend deployment • expanded hospital financial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10881360" cy="1508760"/>
          </a:xfrm>
          <a:prstGeom prst="round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56592"/>
            <a:ext cx="102870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rPr dirty="0"/>
              <a:t>The project demonstrates implementation of an AI-assisted financial-control workflow — not autonomous finance.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73807"/>
            <a:ext cx="10287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BFDBFE"/>
                </a:solidFill>
                <a:latin typeface="Aptos"/>
              </a:defRPr>
            </a:pPr>
            <a:r>
              <a:rPr dirty="0"/>
              <a:t>Deterministic truth  +  agentic analysis  +  evidence  +  human decision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40"/>
          </a:solidFill>
          <a:ln>
            <a:solidFill>
              <a:srgbClr val="12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Hospital CFO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99669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Aptos"/>
              </a:defRPr>
            </a:pPr>
            <a:r>
              <a:t>Every financial exception should become visible, explainable and reviewable.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3154680"/>
            <a:ext cx="2057400" cy="658368"/>
          </a:xfrm>
          <a:prstGeom prst="roundRect">
            <a:avLst/>
          </a:prstGeom>
          <a:solidFill>
            <a:srgbClr val="1E304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3374136"/>
            <a:ext cx="2057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2363EB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3154680"/>
            <a:ext cx="2057400" cy="658368"/>
          </a:xfrm>
          <a:prstGeom prst="roundRect">
            <a:avLst/>
          </a:prstGeom>
          <a:solidFill>
            <a:srgbClr val="1E304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39" y="3374136"/>
            <a:ext cx="2057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154680"/>
            <a:ext cx="2057400" cy="658368"/>
          </a:xfrm>
          <a:prstGeom prst="roundRect">
            <a:avLst/>
          </a:prstGeom>
          <a:solidFill>
            <a:srgbClr val="1E304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3374136"/>
            <a:ext cx="2057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154680"/>
            <a:ext cx="2057400" cy="658368"/>
          </a:xfrm>
          <a:prstGeom prst="roundRect">
            <a:avLst/>
          </a:prstGeom>
          <a:solidFill>
            <a:srgbClr val="1E304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3374136"/>
            <a:ext cx="2057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10332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AICA Level 2 — Artificial Intelligence Capstone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332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>
                <a:latin typeface="Aptos"/>
              </a:defRPr>
            </a:pPr>
            <a:r>
              <a:t>Financial controls • Agentic CFO review • Auditability • Human-in-the-loop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32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ptos"/>
              </a:defRPr>
            </a:pPr>
            <a:r>
              <a:t>Financial controls • Agentic CFO review • Auditability • Human-in-the-loop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1599</Words>
  <Application>Microsoft Office PowerPoint</Application>
  <PresentationFormat>Widescreen</PresentationFormat>
  <Paragraphs>309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Rukmini Nair</cp:lastModifiedBy>
  <cp:revision>2</cp:revision>
  <dcterms:created xsi:type="dcterms:W3CDTF">2013-01-27T09:14:16Z</dcterms:created>
  <dcterms:modified xsi:type="dcterms:W3CDTF">2026-09-27T12:18:25Z</dcterms:modified>
  <cp:category/>
</cp:coreProperties>
</file>