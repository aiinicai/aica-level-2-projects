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DCF Valuation - 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Listed Company | 02-09-2026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Enterprise Value: 2,697.53</a:t>
            </a:r>
          </a:p>
          <a:p>
            <a:pPr>
              <a:defRPr sz="2000"/>
            </a:pPr>
            <a:r>
              <a:t>Equity Value: 2,687.28</a:t>
            </a:r>
          </a:p>
          <a:p>
            <a:pPr>
              <a:defRPr sz="2000"/>
            </a:pPr>
            <a:r>
              <a:t>Intrinsic Value / Share: 26.87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Five-year FCFF forecast</a:t>
            </a:r>
          </a:p>
          <a:p>
            <a:pPr>
              <a:defRPr sz="2000"/>
            </a:pPr>
            <a:r>
              <a:t>CAPM / WACC</a:t>
            </a:r>
          </a:p>
          <a:p>
            <a:pPr>
              <a:defRPr sz="2000"/>
            </a:pPr>
            <a:r>
              <a:t>Gordon Growth terminal value</a:t>
            </a:r>
          </a:p>
          <a:p>
            <a:pPr>
              <a:defRPr sz="2000"/>
            </a:pPr>
            <a:r>
              <a:t>Enterprise-to-equity bridge</a:t>
            </a:r>
          </a:p>
          <a:p>
            <a:pPr>
              <a:defRPr sz="2000"/>
            </a:pPr>
            <a:r>
              <a:t>Sensitivity and scenario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of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Cost of Equity: 13.50%</a:t>
            </a:r>
          </a:p>
          <a:p>
            <a:pPr>
              <a:defRPr sz="2000"/>
            </a:pPr>
            <a:r>
              <a:t>WACC: 12.83%</a:t>
            </a:r>
          </a:p>
          <a:p>
            <a:pPr>
              <a:defRPr sz="2000"/>
            </a:pPr>
            <a:r>
              <a:t>Terminal Growth: 5.00%</a:t>
            </a:r>
          </a:p>
          <a:p>
            <a:pPr>
              <a:defRPr sz="2000"/>
            </a:pPr>
            <a:r>
              <a:t>Bottom-Up Beta: 0.746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FCFF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FY1E: 165.51</a:t>
            </a:r>
          </a:p>
          <a:p>
            <a:pPr>
              <a:defRPr sz="2000"/>
            </a:pPr>
            <a:r>
              <a:t>FY2E: 188.77</a:t>
            </a:r>
          </a:p>
          <a:p>
            <a:pPr>
              <a:defRPr sz="2000"/>
            </a:pPr>
            <a:r>
              <a:t>FY3E: 213.22</a:t>
            </a:r>
          </a:p>
          <a:p>
            <a:pPr>
              <a:defRPr sz="2000"/>
            </a:pPr>
            <a:r>
              <a:t>FY4E: 239.36</a:t>
            </a:r>
          </a:p>
          <a:p>
            <a:pPr>
              <a:defRPr sz="2000"/>
            </a:pPr>
            <a:r>
              <a:t>FY5E: 267.08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Bear: 19.06</a:t>
            </a:r>
          </a:p>
          <a:p>
            <a:pPr>
              <a:defRPr sz="2000"/>
            </a:pPr>
            <a:r>
              <a:t>Base: 26.87</a:t>
            </a:r>
          </a:p>
          <a:p>
            <a:pPr>
              <a:defRPr sz="2000"/>
            </a:pPr>
            <a:r>
              <a:t>Bull: 39.04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Outputs depend on data quality and assumptions</a:t>
            </a:r>
          </a:p>
          <a:p>
            <a:pPr>
              <a:defRPr sz="2000"/>
            </a:pPr>
            <a:r>
              <a:t>Unlisted valuations require careful comparable-company selection</a:t>
            </a:r>
          </a:p>
          <a:p>
            <a:pPr>
              <a:defRPr sz="2000"/>
            </a:pPr>
            <a:r>
              <a:t>Company-specific risk premiums require professional support</a:t>
            </a:r>
          </a:p>
          <a:p>
            <a:pPr>
              <a:defRPr sz="2000"/>
            </a:pPr>
            <a:r>
              <a:t>Regulatory/statutory valuations may prescribe additional methods or standards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