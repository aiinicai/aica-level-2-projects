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DCF Valuation Professional v3.0.5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AICA Level 2 Batch 104 Capstone</a:t>
            </a:r>
          </a:p>
          <a:p>
            <a:pPr>
              <a:spcAft>
                <a:spcPts val="1000"/>
              </a:spcAft>
              <a:defRPr sz="2000"/>
            </a:pPr>
            <a:r>
              <a:t>Rajesh Kamath | M. No. 100524</a:t>
            </a:r>
          </a:p>
          <a:p>
            <a:pPr>
              <a:spcAft>
                <a:spcPts val="1000"/>
              </a:spcAft>
              <a:defRPr sz="2000"/>
            </a:pPr>
            <a:r>
              <a:t>AI-assisted offline and online DCF valuation utility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DCF models are often manual and inconsistent</a:t>
            </a:r>
          </a:p>
          <a:p>
            <a:pPr>
              <a:spcAft>
                <a:spcPts val="1000"/>
              </a:spcAft>
              <a:defRPr sz="2000"/>
            </a:pPr>
            <a:r>
              <a:t>Financial extraction from Schedule III statements is difficult</a:t>
            </a:r>
          </a:p>
          <a:p>
            <a:pPr>
              <a:spcAft>
                <a:spcPts val="1000"/>
              </a:spcAft>
              <a:defRPr sz="2000"/>
            </a:pPr>
            <a:r>
              <a:t>Unlisted valuation requires bottom-up beta and professional assumptions</a:t>
            </a:r>
          </a:p>
          <a:p>
            <a:pPr>
              <a:spcAft>
                <a:spcPts val="1000"/>
              </a:spcAft>
              <a:defRPr sz="2000"/>
            </a:pPr>
            <a:r>
              <a:t>Need for privacy-aware AI-assisted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Build reusable desktop utility</a:t>
            </a:r>
          </a:p>
          <a:p>
            <a:pPr>
              <a:spcAft>
                <a:spcPts val="1000"/>
              </a:spcAft>
              <a:defRPr sz="2000"/>
            </a:pPr>
            <a:r>
              <a:t>Support listed and unlisted companies</a:t>
            </a:r>
          </a:p>
          <a:p>
            <a:pPr>
              <a:spcAft>
                <a:spcPts val="1000"/>
              </a:spcAft>
              <a:defRPr sz="2000"/>
            </a:pPr>
            <a:r>
              <a:t>Import Excel/PDF financials</a:t>
            </a:r>
          </a:p>
          <a:p>
            <a:pPr>
              <a:spcAft>
                <a:spcPts val="1000"/>
              </a:spcAft>
              <a:defRPr sz="2000"/>
            </a:pPr>
            <a:r>
              <a:t>Generate DCF assumptions using offline rules or AI</a:t>
            </a:r>
          </a:p>
          <a:p>
            <a:pPr>
              <a:spcAft>
                <a:spcPts val="1000"/>
              </a:spcAft>
              <a:defRPr sz="2000"/>
            </a:pPr>
            <a:r>
              <a:t>Export complete valuation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Company setup and historical input</a:t>
            </a:r>
          </a:p>
          <a:p>
            <a:pPr>
              <a:spcAft>
                <a:spcPts val="1000"/>
              </a:spcAft>
              <a:defRPr sz="2000"/>
            </a:pPr>
            <a:r>
              <a:t>Financial statement import and review</a:t>
            </a:r>
          </a:p>
          <a:p>
            <a:pPr>
              <a:spcAft>
                <a:spcPts val="1000"/>
              </a:spcAft>
              <a:defRPr sz="2000"/>
            </a:pPr>
            <a:r>
              <a:t>Assumption generation engine</a:t>
            </a:r>
          </a:p>
          <a:p>
            <a:pPr>
              <a:spcAft>
                <a:spcPts val="1000"/>
              </a:spcAft>
              <a:defRPr sz="2000"/>
            </a:pPr>
            <a:r>
              <a:t>Formula-driven DCF engine</a:t>
            </a:r>
          </a:p>
          <a:p>
            <a:pPr>
              <a:spcAft>
                <a:spcPts val="1000"/>
              </a:spcAft>
              <a:defRPr sz="2000"/>
            </a:pPr>
            <a:r>
              <a:t>Excel, Word, PDF and PowerPoint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AI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Offline deterministic assumption engine</a:t>
            </a:r>
          </a:p>
          <a:p>
            <a:pPr>
              <a:spcAft>
                <a:spcPts val="1000"/>
              </a:spcAft>
              <a:defRPr sz="2000"/>
            </a:pPr>
            <a:r>
              <a:t>Local AI through Ollama</a:t>
            </a:r>
          </a:p>
          <a:p>
            <a:pPr>
              <a:spcAft>
                <a:spcPts val="1000"/>
              </a:spcAft>
              <a:defRPr sz="2000"/>
            </a:pPr>
            <a:r>
              <a:t>Optional online AI through OpenAI/Gemini</a:t>
            </a:r>
          </a:p>
          <a:p>
            <a:pPr>
              <a:spcAft>
                <a:spcPts val="1000"/>
              </a:spcAft>
              <a:defRPr sz="2000"/>
            </a:pPr>
            <a:r>
              <a:t>AI assists; human review remains mandatory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Financial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FCFF = EBIT(1-T) + D&amp;A - Capex - Delta NWC</a:t>
            </a:r>
          </a:p>
          <a:p>
            <a:pPr>
              <a:spcAft>
                <a:spcPts val="1000"/>
              </a:spcAft>
              <a:defRPr sz="2000"/>
            </a:pPr>
            <a:r>
              <a:t>WACC based on CAPM and cost of debt</a:t>
            </a:r>
          </a:p>
          <a:p>
            <a:pPr>
              <a:spcAft>
                <a:spcPts val="1000"/>
              </a:spcAft>
              <a:defRPr sz="2000"/>
            </a:pPr>
            <a:r>
              <a:t>Terminal value using Gordon Growth</a:t>
            </a:r>
          </a:p>
          <a:p>
            <a:pPr>
              <a:spcAft>
                <a:spcPts val="1000"/>
              </a:spcAft>
              <a:defRPr sz="2000"/>
            </a:pPr>
            <a:r>
              <a:t>EV to equity value bridge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Unlisted Company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Comparable company beta input</a:t>
            </a:r>
          </a:p>
          <a:p>
            <a:pPr>
              <a:spcAft>
                <a:spcPts val="1000"/>
              </a:spcAft>
              <a:defRPr sz="2000"/>
            </a:pPr>
            <a:r>
              <a:t>Unlever peer betas</a:t>
            </a:r>
          </a:p>
          <a:p>
            <a:pPr>
              <a:spcAft>
                <a:spcPts val="1000"/>
              </a:spcAft>
              <a:defRPr sz="2000"/>
            </a:pPr>
            <a:r>
              <a:t>Average unlevered beta</a:t>
            </a:r>
          </a:p>
          <a:p>
            <a:pPr>
              <a:spcAft>
                <a:spcPts val="1000"/>
              </a:spcAft>
              <a:defRPr sz="2000"/>
            </a:pPr>
            <a:r>
              <a:t>Relever to subject company D/E</a:t>
            </a:r>
          </a:p>
          <a:p>
            <a:pPr>
              <a:spcAft>
                <a:spcPts val="1000"/>
              </a:spcAft>
              <a:defRPr sz="2000"/>
            </a:pPr>
            <a:r>
              <a:t>Optional company-specific risk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Schedule III Import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Financial-year column detection</a:t>
            </a:r>
          </a:p>
          <a:p>
            <a:pPr>
              <a:spcAft>
                <a:spcPts val="1000"/>
              </a:spcAft>
              <a:defRPr sz="2000"/>
            </a:pPr>
            <a:r>
              <a:t>P&amp;L / Cash Flow / Balance Sheet context scoring</a:t>
            </a:r>
          </a:p>
          <a:p>
            <a:pPr>
              <a:spcAft>
                <a:spcPts val="1000"/>
              </a:spcAft>
              <a:defRPr sz="2000"/>
            </a:pPr>
            <a:r>
              <a:t>High / Medium / Low / Reject confidence</a:t>
            </a:r>
          </a:p>
          <a:p>
            <a:pPr>
              <a:spcAft>
                <a:spcPts val="1000"/>
              </a:spcAft>
              <a:defRPr sz="2000"/>
            </a:pPr>
            <a:r>
              <a:t>Review screen before posting figures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Privacy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Offline-first design</a:t>
            </a:r>
          </a:p>
          <a:p>
            <a:pPr>
              <a:spcAft>
                <a:spcPts val="1000"/>
              </a:spcAft>
              <a:defRPr sz="2000"/>
            </a:pPr>
            <a:r>
              <a:t>Online AI only after explicit consent</a:t>
            </a:r>
          </a:p>
          <a:p>
            <a:pPr>
              <a:spcAft>
                <a:spcPts val="1000"/>
              </a:spcAft>
              <a:defRPr sz="2000"/>
            </a:pPr>
            <a:r>
              <a:t>API keys not saved in project file</a:t>
            </a:r>
          </a:p>
          <a:p>
            <a:pPr>
              <a:spcAft>
                <a:spcPts val="1000"/>
              </a:spcAft>
              <a:defRPr sz="2000"/>
            </a:pPr>
            <a:r>
              <a:t>Machine-bound signed reuse key licensing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Excel DCF model</a:t>
            </a:r>
          </a:p>
          <a:p>
            <a:pPr>
              <a:spcAft>
                <a:spcPts val="1000"/>
              </a:spcAft>
              <a:defRPr sz="2000"/>
            </a:pPr>
            <a:r>
              <a:t>Word and PDF valuation report</a:t>
            </a:r>
          </a:p>
          <a:p>
            <a:pPr>
              <a:spcAft>
                <a:spcPts val="1000"/>
              </a:spcAft>
              <a:defRPr sz="2000"/>
            </a:pPr>
            <a:r>
              <a:t>PowerPoint summary</a:t>
            </a:r>
          </a:p>
          <a:p>
            <a:pPr>
              <a:spcAft>
                <a:spcPts val="1000"/>
              </a:spcAft>
              <a:defRPr sz="2000"/>
            </a:pPr>
            <a:r>
              <a:t>Project JSON audit trail</a:t>
            </a:r>
          </a:p>
          <a:p>
            <a:pPr>
              <a:spcAft>
                <a:spcPts val="1000"/>
              </a:spcAft>
              <a:defRPr sz="2000"/>
            </a:pPr>
            <a:r>
              <a:t>Sensitivity and scenario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Testing and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Windows testing</a:t>
            </a:r>
          </a:p>
          <a:p>
            <a:pPr>
              <a:spcAft>
                <a:spcPts val="1000"/>
              </a:spcAft>
              <a:defRPr sz="2000"/>
            </a:pPr>
            <a:r>
              <a:t>Ollama installation and model detection</a:t>
            </a:r>
          </a:p>
          <a:p>
            <a:pPr>
              <a:spcAft>
                <a:spcPts val="1000"/>
              </a:spcAft>
              <a:defRPr sz="2000"/>
            </a:pPr>
            <a:r>
              <a:t>Nuitka EXE compilation</a:t>
            </a:r>
          </a:p>
          <a:p>
            <a:pPr>
              <a:spcAft>
                <a:spcPts val="1000"/>
              </a:spcAft>
              <a:defRPr sz="2000"/>
            </a:pPr>
            <a:r>
              <a:t>Importer and timeout corrections</a:t>
            </a:r>
          </a:p>
          <a:p>
            <a:pPr>
              <a:spcAft>
                <a:spcPts val="1000"/>
              </a:spcAft>
              <a:defRPr sz="2000"/>
            </a:pPr>
            <a:r>
              <a:t>Final v3.0.5 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 improves speed, consistency and documentation</a:t>
            </a:r>
          </a:p>
          <a:p>
            <a:pPr>
              <a:spcAft>
                <a:spcPts val="1000"/>
              </a:spcAft>
              <a:defRPr sz="2000"/>
            </a:pPr>
            <a:r>
              <a:t>Valuation remains formula-driven and auditable</a:t>
            </a:r>
          </a:p>
          <a:p>
            <a:pPr>
              <a:spcAft>
                <a:spcPts val="1000"/>
              </a:spcAft>
              <a:defRPr sz="2000"/>
            </a:pPr>
            <a:r>
              <a:t>Designed for professional review, not blind automation</a:t>
            </a:r>
          </a:p>
          <a:p>
            <a:pPr>
              <a:spcAft>
                <a:spcPts val="1000"/>
              </a:spcAft>
              <a:defRPr sz="2000"/>
            </a:pPr>
            <a:r>
              <a:t>Suitable as AICA Level 2 finance automation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