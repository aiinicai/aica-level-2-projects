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respected mentors and peers. I am proud to present 'LC Analyser', an enterprise desktop software engineered to solve one of the most critical and risk-prone bottlenecks in international trade finance: the examination of Letters of Credit under international regulatory standards.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trade finance, banks deal strictly with documents, not goods. Under UCP 600, strict compliance applies. A simple mismatch between shipment date and presentation period or a subtle soft clause can freeze millions of rupees in working capital. Currently, Chartered Accountants and trade professionals review these manually under intense time pressure.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LC Analyser is an offline, enterprise-grade desktop assistant. It takes a raw LC PDF, decomposes it clause by clause, flags discrepancies against international banking rules, tracks risk on a live KPI dashboard, and generates ready-to-send amendment letters to the buyer within seconds.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project showcases how modern software development leverages multi-agent AI collaboration. I began by obtaining the core algorithmic logic and parsing scripts from Claude. Then, I brought the project to Google Antigravity to build out the entire enterprise architecture: modern UI, persistent SQLite database, historical search, and deployment packaging.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Stage 1 with Claude, we established the algorithmic backbone: accurately parsing notoriously difficult SWIFT message formats, standardizing date representations to DD/MM/YYYY, and executing first-pass validation checks against core UCP 600 rules.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we moved to Antigravity, our focus shifted to professional usability. Antigravity designed a native, responsive desktop GUI. We implemented a dual-tab layout separating live working analysis from the historical repository, complete with a dynamic KPI dashboard that tracks risk metrics in real-time.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Auditing an LC cannot be a black-box operation. Antigravity engineered an adjustable split-pane viewer. An auditor can click 'View' next to any clause to see the exact text extracted from the PDF, verify the rule engine's findings, toggle the verdict, and type custom notes that flow directly into audit reports.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make this a true enterprise tool, Antigravity built a complete persistence layer from scratch using SQLite. The database maintains full relational integrity. Every LC record is linked to its individual clause points, verdicts, and custom remarks, ensuring an immutable audit trail.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Auditors and trade desks handle dozens of LCs every month. Tab 2 provides an interactive historical search engine. You can search by LC number, issuing bank, or buyer name, reload an entire past audit into your workspace with one click, or safely delete archived records.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true time-saver is the automated documentation engine. Instead of manually drafting emails or memos, a single click produces a complete PDF audit report, an executive sign-off summary, or an official, formal Amendment Request Letter ready to send to the issuing bank.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complete architectural pipeline. It is modular and decoupled. Raw PDF bytes enter through pypdf, pass into our SWIFT parser, flow through the UCP 600 rule matrix, render onto the Tkinter interface, sync with SQLite, and output into professional Word and PDF reports.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ensure real-world adoption, we packaged the entire software into a standalone executable: LC_Analyser.exe. There is no need to install Python, configure libraries, or use a command prompt. A Chartered Accountant can simply copy the executable to their desktop and double-click to start auditing.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trade finance, confidentiality is paramount. You cannot upload a client's multi-million dollar LC to public cloud APIs. LC Analyser operates completely offline. Furthermore, because it relies on deterministic UCP 600 rules rather than generative guesses, it delivers 100% reproducible, zero-hallucination accuracy.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Chartered Accountants, time is currency. LC Analyser collapses a 4-hour manual review into 30 seconds. It protects clients from severe financial penalties, enhances working capital velocity, and equips audit teams with a professional, standardized documentation trail.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LC Analyser demonstrates the incredible potential when Chartered Accountants leverage modern AI pair programming tools to solve real-world problems. We have moved from concept to an enterprise-ready software solution. Thank you for your time and attention. I would be delighted to demonstrate the software live and take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645920"/>
            <a:ext cx="164592" cy="3474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463040"/>
            <a:ext cx="10241280" cy="3840480"/>
          </a:xfrm>
          <a:prstGeom prst="rect">
            <a:avLst/>
          </a:prstGeom>
          <a:noFill/>
        </p:spPr>
        <p:txBody>
          <a:bodyPr wrap="square">
            <a:spAutoFit/>
          </a:bodyPr>
          <a:lstStyle/>
          <a:p>
            <a:pPr>
              <a:defRPr sz="1300" b="1">
                <a:solidFill>
                  <a:srgbClr val="2563EB"/>
                </a:solidFill>
                <a:latin typeface="Segoe UI"/>
              </a:defRPr>
            </a:pPr>
            <a:r>
              <a:t>ICAI AICA LEVEL 2 — CAPSTONE PROJECT</a:t>
            </a:r>
          </a:p>
          <a:p>
            <a:pPr>
              <a:spcBef>
                <a:spcPts val="800"/>
              </a:spcBef>
              <a:defRPr sz="4000" b="1">
                <a:solidFill>
                  <a:srgbClr val="FFFFFF"/>
                </a:solidFill>
                <a:latin typeface="Segoe UI"/>
              </a:defRPr>
            </a:pPr>
            <a:r>
              <a:t>LC Analyser</a:t>
            </a:r>
          </a:p>
          <a:p>
            <a:pPr>
              <a:spcBef>
                <a:spcPts val="600"/>
              </a:spcBef>
              <a:defRPr sz="2000">
                <a:solidFill>
                  <a:srgbClr val="EBF3FA"/>
                </a:solidFill>
                <a:latin typeface="Segoe UI"/>
              </a:defRPr>
            </a:pPr>
            <a:r>
              <a:t>Automated Letter of Credit Scrutiny, Discrepancy &amp; Risk Auditor</a:t>
            </a:r>
          </a:p>
          <a:p>
            <a:pPr>
              <a:spcBef>
                <a:spcPts val="1400"/>
              </a:spcBef>
              <a:defRPr sz="1300">
                <a:solidFill>
                  <a:srgbClr val="64748B"/>
                </a:solidFill>
                <a:latin typeface="Segoe UI"/>
              </a:defRPr>
            </a:pPr>
            <a:r>
              <a:t>A two-stage hybrid AI engineering journey (Claude + Antigravity) delivering an offline, UCP 600 compliant desktop suite for trade finance professionals and Chartered Accountants.</a:t>
            </a:r>
          </a:p>
          <a:p>
            <a:pPr>
              <a:spcBef>
                <a:spcPts val="2400"/>
              </a:spcBef>
              <a:defRPr sz="1200" b="1">
                <a:solidFill>
                  <a:srgbClr val="FFFFFF"/>
                </a:solidFill>
                <a:latin typeface="Segoe UI"/>
              </a:defRPr>
            </a:pPr>
            <a:r>
              <a:t>Author: Shree Gopal Jajoo  |  Technology: Python 3.14 · Tkinter · SQLite · ReportLab · PyInstaller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Segoe UI"/>
              </a:defRPr>
            </a:pPr>
            <a:r>
              <a:t>THE PROBLEM STATEMENT</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200" b="1">
                <a:solidFill>
                  <a:srgbClr val="0F2942"/>
                </a:solidFill>
                <a:latin typeface="Segoe UI"/>
              </a:defRPr>
            </a:pPr>
            <a:r>
              <a:t>The High-Stakes World of Documentary Credits: Critical Bottlenecks</a:t>
            </a:r>
          </a:p>
        </p:txBody>
      </p:sp>
      <p:sp>
        <p:nvSpPr>
          <p:cNvPr id="5" name="Rounded Rectangle 4"/>
          <p:cNvSpPr/>
          <p:nvPr/>
        </p:nvSpPr>
        <p:spPr>
          <a:xfrm>
            <a:off x="731520" y="1463040"/>
            <a:ext cx="342900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3429000" cy="41148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36192"/>
            <a:ext cx="3063240" cy="320040"/>
          </a:xfrm>
          <a:prstGeom prst="rect">
            <a:avLst/>
          </a:prstGeom>
          <a:noFill/>
        </p:spPr>
        <p:txBody>
          <a:bodyPr wrap="none">
            <a:spAutoFit/>
          </a:bodyPr>
          <a:lstStyle/>
          <a:p>
            <a:pPr>
              <a:defRPr sz="1300" b="1">
                <a:solidFill>
                  <a:srgbClr val="FFFFFF"/>
                </a:solidFill>
                <a:latin typeface="Segoe UI"/>
              </a:defRPr>
            </a:pPr>
            <a:r>
              <a:t>The Scale &amp; Error Rate</a:t>
            </a:r>
          </a:p>
        </p:txBody>
      </p:sp>
      <p:sp>
        <p:nvSpPr>
          <p:cNvPr id="8" name="TextBox 7"/>
          <p:cNvSpPr txBox="1"/>
          <p:nvPr/>
        </p:nvSpPr>
        <p:spPr>
          <a:xfrm>
            <a:off x="914400" y="2057400"/>
            <a:ext cx="3063240" cy="4023360"/>
          </a:xfrm>
          <a:prstGeom prst="rect">
            <a:avLst/>
          </a:prstGeom>
          <a:noFill/>
        </p:spPr>
        <p:txBody>
          <a:bodyPr wrap="square">
            <a:spAutoFit/>
          </a:bodyPr>
          <a:lstStyle/>
          <a:p>
            <a:pPr>
              <a:spcBef>
                <a:spcPts val="1200"/>
              </a:spcBef>
              <a:defRPr sz="1200">
                <a:solidFill>
                  <a:srgbClr val="0F172A"/>
                </a:solidFill>
                <a:latin typeface="Segoe UI"/>
              </a:defRPr>
            </a:pPr>
            <a:r>
              <a:t>• Over $3 Trillion in global merchandise trade moves under Letters of Credit annually.</a:t>
            </a:r>
          </a:p>
          <a:p>
            <a:pPr>
              <a:spcBef>
                <a:spcPts val="1200"/>
              </a:spcBef>
              <a:defRPr sz="1200">
                <a:solidFill>
                  <a:srgbClr val="0F172A"/>
                </a:solidFill>
                <a:latin typeface="Segoe UI"/>
              </a:defRPr>
            </a:pPr>
            <a:r>
              <a:t>• 60% to 70% of first-time document presentations are rejected by banks due to discrepancies.</a:t>
            </a:r>
          </a:p>
          <a:p>
            <a:pPr>
              <a:spcBef>
                <a:spcPts val="1200"/>
              </a:spcBef>
              <a:defRPr sz="1200">
                <a:solidFill>
                  <a:srgbClr val="0F172A"/>
                </a:solidFill>
                <a:latin typeface="Segoe UI"/>
              </a:defRPr>
            </a:pPr>
            <a:r>
              <a:t>• Each discrepancy costs $75 to $150 in direct bank charges, plus lost cash discounts and working capital interest.</a:t>
            </a:r>
          </a:p>
        </p:txBody>
      </p:sp>
      <p:sp>
        <p:nvSpPr>
          <p:cNvPr id="9" name="Rounded Rectangle 8"/>
          <p:cNvSpPr/>
          <p:nvPr/>
        </p:nvSpPr>
        <p:spPr>
          <a:xfrm>
            <a:off x="4343400" y="1463040"/>
            <a:ext cx="342900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43400" y="1463040"/>
            <a:ext cx="3429000" cy="41148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536192"/>
            <a:ext cx="3063240" cy="320040"/>
          </a:xfrm>
          <a:prstGeom prst="rect">
            <a:avLst/>
          </a:prstGeom>
          <a:noFill/>
        </p:spPr>
        <p:txBody>
          <a:bodyPr wrap="none">
            <a:spAutoFit/>
          </a:bodyPr>
          <a:lstStyle/>
          <a:p>
            <a:pPr>
              <a:defRPr sz="1300" b="1">
                <a:solidFill>
                  <a:srgbClr val="FFFFFF"/>
                </a:solidFill>
                <a:latin typeface="Segoe UI"/>
              </a:defRPr>
            </a:pPr>
            <a:r>
              <a:t>Strict Compliance (UCP 600)</a:t>
            </a:r>
          </a:p>
        </p:txBody>
      </p:sp>
      <p:sp>
        <p:nvSpPr>
          <p:cNvPr id="12" name="TextBox 11"/>
          <p:cNvSpPr txBox="1"/>
          <p:nvPr/>
        </p:nvSpPr>
        <p:spPr>
          <a:xfrm>
            <a:off x="4526280" y="2057400"/>
            <a:ext cx="3063240" cy="4023360"/>
          </a:xfrm>
          <a:prstGeom prst="rect">
            <a:avLst/>
          </a:prstGeom>
          <a:noFill/>
        </p:spPr>
        <p:txBody>
          <a:bodyPr wrap="square">
            <a:spAutoFit/>
          </a:bodyPr>
          <a:lstStyle/>
          <a:p>
            <a:pPr>
              <a:spcBef>
                <a:spcPts val="1200"/>
              </a:spcBef>
              <a:defRPr sz="1200">
                <a:solidFill>
                  <a:srgbClr val="0F172A"/>
                </a:solidFill>
                <a:latin typeface="Segoe UI"/>
              </a:defRPr>
            </a:pPr>
            <a:r>
              <a:t>• Under UCP 600 Article 14, banks examine documents on their face alone for strict compliance.</a:t>
            </a:r>
          </a:p>
          <a:p>
            <a:pPr>
              <a:spcBef>
                <a:spcPts val="1200"/>
              </a:spcBef>
              <a:defRPr sz="1200">
                <a:solidFill>
                  <a:srgbClr val="0F172A"/>
                </a:solidFill>
                <a:latin typeface="Segoe UI"/>
              </a:defRPr>
            </a:pPr>
            <a:r>
              <a:t>• Even a single missing comma, misspelled entity name, or 1-day timeline gap permits the issuing bank to dishonor payment.</a:t>
            </a:r>
          </a:p>
          <a:p>
            <a:pPr>
              <a:spcBef>
                <a:spcPts val="1200"/>
              </a:spcBef>
              <a:defRPr sz="1200">
                <a:solidFill>
                  <a:srgbClr val="0F172A"/>
                </a:solidFill>
                <a:latin typeface="Segoe UI"/>
              </a:defRPr>
            </a:pPr>
            <a:r>
              <a:t>• Disputes delay container releases, triggering heavy port demurrage and shipping line detention penalties.</a:t>
            </a:r>
          </a:p>
        </p:txBody>
      </p:sp>
      <p:sp>
        <p:nvSpPr>
          <p:cNvPr id="13" name="Rounded Rectangle 12"/>
          <p:cNvSpPr/>
          <p:nvPr/>
        </p:nvSpPr>
        <p:spPr>
          <a:xfrm>
            <a:off x="7955280" y="1463040"/>
            <a:ext cx="342900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955280" y="1463040"/>
            <a:ext cx="3429000" cy="41148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38160" y="1536192"/>
            <a:ext cx="3063240" cy="320040"/>
          </a:xfrm>
          <a:prstGeom prst="rect">
            <a:avLst/>
          </a:prstGeom>
          <a:noFill/>
        </p:spPr>
        <p:txBody>
          <a:bodyPr wrap="none">
            <a:spAutoFit/>
          </a:bodyPr>
          <a:lstStyle/>
          <a:p>
            <a:pPr>
              <a:defRPr sz="1300" b="1">
                <a:solidFill>
                  <a:srgbClr val="FFFFFF"/>
                </a:solidFill>
                <a:latin typeface="Segoe UI"/>
              </a:defRPr>
            </a:pPr>
            <a:r>
              <a:t>Manual Fatigue &amp; Soft Clauses</a:t>
            </a:r>
          </a:p>
        </p:txBody>
      </p:sp>
      <p:sp>
        <p:nvSpPr>
          <p:cNvPr id="16" name="TextBox 15"/>
          <p:cNvSpPr txBox="1"/>
          <p:nvPr/>
        </p:nvSpPr>
        <p:spPr>
          <a:xfrm>
            <a:off x="8138160" y="2057400"/>
            <a:ext cx="3063240" cy="4023360"/>
          </a:xfrm>
          <a:prstGeom prst="rect">
            <a:avLst/>
          </a:prstGeom>
          <a:noFill/>
        </p:spPr>
        <p:txBody>
          <a:bodyPr wrap="square">
            <a:spAutoFit/>
          </a:bodyPr>
          <a:lstStyle/>
          <a:p>
            <a:pPr>
              <a:spcBef>
                <a:spcPts val="1200"/>
              </a:spcBef>
              <a:defRPr sz="1200">
                <a:solidFill>
                  <a:srgbClr val="0F172A"/>
                </a:solidFill>
                <a:latin typeface="Segoe UI"/>
              </a:defRPr>
            </a:pPr>
            <a:r>
              <a:t>• Manual review takes 3 to 4 hours per LC across 30+ SWIFT MT700 field tags and fine print.</a:t>
            </a:r>
          </a:p>
          <a:p>
            <a:pPr>
              <a:spcBef>
                <a:spcPts val="1200"/>
              </a:spcBef>
              <a:defRPr sz="1200">
                <a:solidFill>
                  <a:srgbClr val="0F172A"/>
                </a:solidFill>
                <a:latin typeface="Segoe UI"/>
              </a:defRPr>
            </a:pPr>
            <a:r>
              <a:t>• High risk of overlooking 'Soft Clauses' — buyer sample approval traps that destroy the bank's irrevocable guarantee.</a:t>
            </a:r>
          </a:p>
          <a:p>
            <a:pPr>
              <a:spcBef>
                <a:spcPts val="1200"/>
              </a:spcBef>
              <a:defRPr sz="1200">
                <a:solidFill>
                  <a:srgbClr val="0F172A"/>
                </a:solidFill>
                <a:latin typeface="Segoe UI"/>
              </a:defRPr>
            </a:pPr>
            <a:r>
              <a:t>• Auditors lack standardized digital checklists, leaving working capital exposed to human oversight.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Segoe UI"/>
              </a:defRPr>
            </a:pPr>
            <a:r>
              <a:t>SOLUTION OVERVIEW</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200" b="1">
                <a:solidFill>
                  <a:srgbClr val="0F2942"/>
                </a:solidFill>
                <a:latin typeface="Segoe UI"/>
              </a:defRPr>
            </a:pPr>
            <a:r>
              <a:t>Introducing LC Analyser: What Does It Do?</a:t>
            </a:r>
          </a:p>
        </p:txBody>
      </p:sp>
      <p:sp>
        <p:nvSpPr>
          <p:cNvPr id="5" name="Rounded Rectangle 4"/>
          <p:cNvSpPr/>
          <p:nvPr/>
        </p:nvSpPr>
        <p:spPr>
          <a:xfrm>
            <a:off x="731520" y="1463040"/>
            <a:ext cx="342900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2971800" cy="1828800"/>
          </a:xfrm>
          <a:prstGeom prst="rect">
            <a:avLst/>
          </a:prstGeom>
          <a:noFill/>
        </p:spPr>
        <p:txBody>
          <a:bodyPr wrap="square">
            <a:spAutoFit/>
          </a:bodyPr>
          <a:lstStyle/>
          <a:p>
            <a:pPr>
              <a:defRPr sz="1400" b="1">
                <a:solidFill>
                  <a:srgbClr val="1E3A8A"/>
                </a:solidFill>
                <a:latin typeface="Segoe UI"/>
              </a:defRPr>
            </a:pPr>
            <a:r>
              <a:t>Instant PDF Ingestion</a:t>
            </a:r>
          </a:p>
          <a:p>
            <a:pPr>
              <a:spcBef>
                <a:spcPts val="800"/>
              </a:spcBef>
              <a:defRPr sz="1200">
                <a:solidFill>
                  <a:srgbClr val="0F172A"/>
                </a:solidFill>
                <a:latin typeface="Segoe UI"/>
              </a:defRPr>
            </a:pPr>
            <a:r>
              <a:t>Ingests text-based PDF copies of Letters of Credit directly from SWIFT MT700 prints or narrative formats, eliminating manual data re-entry.</a:t>
            </a:r>
          </a:p>
        </p:txBody>
      </p:sp>
      <p:sp>
        <p:nvSpPr>
          <p:cNvPr id="7" name="Rounded Rectangle 6"/>
          <p:cNvSpPr/>
          <p:nvPr/>
        </p:nvSpPr>
        <p:spPr>
          <a:xfrm>
            <a:off x="4343400" y="1463040"/>
            <a:ext cx="342900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45920"/>
            <a:ext cx="2971800" cy="1828800"/>
          </a:xfrm>
          <a:prstGeom prst="rect">
            <a:avLst/>
          </a:prstGeom>
          <a:noFill/>
        </p:spPr>
        <p:txBody>
          <a:bodyPr wrap="square">
            <a:spAutoFit/>
          </a:bodyPr>
          <a:lstStyle/>
          <a:p>
            <a:pPr>
              <a:defRPr sz="1400" b="1">
                <a:solidFill>
                  <a:srgbClr val="1E3A8A"/>
                </a:solidFill>
                <a:latin typeface="Segoe UI"/>
              </a:defRPr>
            </a:pPr>
            <a:r>
              <a:t>Rule-Based Regulatory Scrutiny</a:t>
            </a:r>
          </a:p>
          <a:p>
            <a:pPr>
              <a:spcBef>
                <a:spcPts val="800"/>
              </a:spcBef>
              <a:defRPr sz="1200">
                <a:solidFill>
                  <a:srgbClr val="0F172A"/>
                </a:solidFill>
                <a:latin typeface="Segoe UI"/>
              </a:defRPr>
            </a:pPr>
            <a:r>
              <a:t>Deconstructs the LC into 4 core sections and 8 specialized sub-categories, auditing every clause against UCP 600 &amp; ISBP 745 benchmarks.</a:t>
            </a:r>
          </a:p>
        </p:txBody>
      </p:sp>
      <p:sp>
        <p:nvSpPr>
          <p:cNvPr id="9" name="Rounded Rectangle 8"/>
          <p:cNvSpPr/>
          <p:nvPr/>
        </p:nvSpPr>
        <p:spPr>
          <a:xfrm>
            <a:off x="7955280" y="1463040"/>
            <a:ext cx="342900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645920"/>
            <a:ext cx="2971800" cy="1828800"/>
          </a:xfrm>
          <a:prstGeom prst="rect">
            <a:avLst/>
          </a:prstGeom>
          <a:noFill/>
        </p:spPr>
        <p:txBody>
          <a:bodyPr wrap="square">
            <a:spAutoFit/>
          </a:bodyPr>
          <a:lstStyle/>
          <a:p>
            <a:pPr>
              <a:defRPr sz="1400" b="1">
                <a:solidFill>
                  <a:srgbClr val="1E3A8A"/>
                </a:solidFill>
                <a:latin typeface="Segoe UI"/>
              </a:defRPr>
            </a:pPr>
            <a:r>
              <a:t>Live KPI Risk Dashboard</a:t>
            </a:r>
          </a:p>
          <a:p>
            <a:pPr>
              <a:spcBef>
                <a:spcPts val="800"/>
              </a:spcBef>
              <a:defRPr sz="1200">
                <a:solidFill>
                  <a:srgbClr val="0F172A"/>
                </a:solidFill>
                <a:latin typeface="Segoe UI"/>
              </a:defRPr>
            </a:pPr>
            <a:r>
              <a:t>Visualizes compliance posture with dynamic badges: Green (In Order), Red (Requires Amendment), Amber (Needs Clarification), and Slate (Informational).</a:t>
            </a:r>
          </a:p>
        </p:txBody>
      </p:sp>
      <p:sp>
        <p:nvSpPr>
          <p:cNvPr id="11" name="Rounded Rectangle 10"/>
          <p:cNvSpPr/>
          <p:nvPr/>
        </p:nvSpPr>
        <p:spPr>
          <a:xfrm>
            <a:off x="731520" y="3886200"/>
            <a:ext cx="342900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069080"/>
            <a:ext cx="2971800" cy="1828800"/>
          </a:xfrm>
          <a:prstGeom prst="rect">
            <a:avLst/>
          </a:prstGeom>
          <a:noFill/>
        </p:spPr>
        <p:txBody>
          <a:bodyPr wrap="square">
            <a:spAutoFit/>
          </a:bodyPr>
          <a:lstStyle/>
          <a:p>
            <a:pPr>
              <a:defRPr sz="1400" b="1">
                <a:solidFill>
                  <a:srgbClr val="1E3A8A"/>
                </a:solidFill>
                <a:latin typeface="Segoe UI"/>
              </a:defRPr>
            </a:pPr>
            <a:r>
              <a:t>Human-in-the-Loop Workspace</a:t>
            </a:r>
          </a:p>
          <a:p>
            <a:pPr>
              <a:spcBef>
                <a:spcPts val="800"/>
              </a:spcBef>
              <a:defRPr sz="1200">
                <a:solidFill>
                  <a:srgbClr val="0F172A"/>
                </a:solidFill>
                <a:latin typeface="Segoe UI"/>
              </a:defRPr>
            </a:pPr>
            <a:r>
              <a:t>Empowers auditors with an adjustable split-pane viewer to inspect original clause wording, toggle verdicts, and document custom audit remarks.</a:t>
            </a:r>
          </a:p>
        </p:txBody>
      </p:sp>
      <p:sp>
        <p:nvSpPr>
          <p:cNvPr id="13" name="Rounded Rectangle 12"/>
          <p:cNvSpPr/>
          <p:nvPr/>
        </p:nvSpPr>
        <p:spPr>
          <a:xfrm>
            <a:off x="4343400" y="3886200"/>
            <a:ext cx="342900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4069080"/>
            <a:ext cx="2971800" cy="1828800"/>
          </a:xfrm>
          <a:prstGeom prst="rect">
            <a:avLst/>
          </a:prstGeom>
          <a:noFill/>
        </p:spPr>
        <p:txBody>
          <a:bodyPr wrap="square">
            <a:spAutoFit/>
          </a:bodyPr>
          <a:lstStyle/>
          <a:p>
            <a:pPr>
              <a:defRPr sz="1400" b="1">
                <a:solidFill>
                  <a:srgbClr val="1E3A8A"/>
                </a:solidFill>
                <a:latin typeface="Segoe UI"/>
              </a:defRPr>
            </a:pPr>
            <a:r>
              <a:t>One-Click Report Generation</a:t>
            </a:r>
          </a:p>
          <a:p>
            <a:pPr>
              <a:spcBef>
                <a:spcPts val="800"/>
              </a:spcBef>
              <a:defRPr sz="1200">
                <a:solidFill>
                  <a:srgbClr val="0F172A"/>
                </a:solidFill>
                <a:latin typeface="Segoe UI"/>
              </a:defRPr>
            </a:pPr>
            <a:r>
              <a:t>Instantly produces comprehensive Word &amp; PDF audit reports, executive sign-off summaries, and auto-drafted formal Amendment Request Letters.</a:t>
            </a:r>
          </a:p>
        </p:txBody>
      </p:sp>
      <p:sp>
        <p:nvSpPr>
          <p:cNvPr id="15" name="Rounded Rectangle 14"/>
          <p:cNvSpPr/>
          <p:nvPr/>
        </p:nvSpPr>
        <p:spPr>
          <a:xfrm>
            <a:off x="7955280" y="3886200"/>
            <a:ext cx="342900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3880" y="4069080"/>
            <a:ext cx="2971800" cy="1828800"/>
          </a:xfrm>
          <a:prstGeom prst="rect">
            <a:avLst/>
          </a:prstGeom>
          <a:noFill/>
        </p:spPr>
        <p:txBody>
          <a:bodyPr wrap="square">
            <a:spAutoFit/>
          </a:bodyPr>
          <a:lstStyle/>
          <a:p>
            <a:pPr>
              <a:defRPr sz="1400" b="1">
                <a:solidFill>
                  <a:srgbClr val="1E3A8A"/>
                </a:solidFill>
                <a:latin typeface="Segoe UI"/>
              </a:defRPr>
            </a:pPr>
            <a:r>
              <a:t>100% Offline Air-Gapped Privacy</a:t>
            </a:r>
          </a:p>
          <a:p>
            <a:pPr>
              <a:spcBef>
                <a:spcPts val="800"/>
              </a:spcBef>
              <a:defRPr sz="1200">
                <a:solidFill>
                  <a:srgbClr val="0F172A"/>
                </a:solidFill>
                <a:latin typeface="Segoe UI"/>
              </a:defRPr>
            </a:pPr>
            <a:r>
              <a:t>Zero cloud calls or external API dependencies. All calculations, parsing, and storage execute strictly locally on the user's desktop.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Segoe UI"/>
              </a:defRPr>
            </a:pPr>
            <a:r>
              <a:t>ENGINEERING METHODOLOGY</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200" b="1">
                <a:solidFill>
                  <a:srgbClr val="0F2942"/>
                </a:solidFill>
                <a:latin typeface="Segoe UI"/>
              </a:defRPr>
            </a:pPr>
            <a:r>
              <a:t>The Two-Stage Collaborative AI Build Journey: Claude + Antigravity</a:t>
            </a:r>
          </a:p>
        </p:txBody>
      </p:sp>
      <p:sp>
        <p:nvSpPr>
          <p:cNvPr id="5" name="Rounded Rectangle 4"/>
          <p:cNvSpPr/>
          <p:nvPr/>
        </p:nvSpPr>
        <p:spPr>
          <a:xfrm>
            <a:off x="731520" y="1463040"/>
            <a:ext cx="512064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120640" cy="5486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72768"/>
            <a:ext cx="4754880" cy="365760"/>
          </a:xfrm>
          <a:prstGeom prst="rect">
            <a:avLst/>
          </a:prstGeom>
          <a:noFill/>
        </p:spPr>
        <p:txBody>
          <a:bodyPr wrap="none">
            <a:spAutoFit/>
          </a:bodyPr>
          <a:lstStyle/>
          <a:p>
            <a:pPr>
              <a:defRPr sz="1400" b="1">
                <a:solidFill>
                  <a:srgbClr val="FFFFFF"/>
                </a:solidFill>
                <a:latin typeface="Segoe UI"/>
              </a:defRPr>
            </a:pPr>
            <a:r>
              <a:t>STAGE 1: Algorithmic Foundation (Claude)</a:t>
            </a:r>
          </a:p>
        </p:txBody>
      </p:sp>
      <p:sp>
        <p:nvSpPr>
          <p:cNvPr id="8" name="TextBox 7"/>
          <p:cNvSpPr txBox="1"/>
          <p:nvPr/>
        </p:nvSpPr>
        <p:spPr>
          <a:xfrm>
            <a:off x="914400" y="2194560"/>
            <a:ext cx="4754880" cy="3840480"/>
          </a:xfrm>
          <a:prstGeom prst="rect">
            <a:avLst/>
          </a:prstGeom>
          <a:noFill/>
        </p:spPr>
        <p:txBody>
          <a:bodyPr wrap="square">
            <a:spAutoFit/>
          </a:bodyPr>
          <a:lstStyle/>
          <a:p>
            <a:pPr>
              <a:spcBef>
                <a:spcPts val="1200"/>
              </a:spcBef>
              <a:defRPr sz="1300">
                <a:solidFill>
                  <a:srgbClr val="0F172A"/>
                </a:solidFill>
                <a:latin typeface="Segoe UI"/>
              </a:defRPr>
            </a:pPr>
            <a:r>
              <a:t>• Prompt-driven design of domain models (ClausePoint, AnalysisResult).</a:t>
            </a:r>
          </a:p>
          <a:p>
            <a:pPr>
              <a:spcBef>
                <a:spcPts val="1200"/>
              </a:spcBef>
              <a:defRPr sz="1300">
                <a:solidFill>
                  <a:srgbClr val="0F172A"/>
                </a:solidFill>
                <a:latin typeface="Segoe UI"/>
              </a:defRPr>
            </a:pPr>
            <a:r>
              <a:t>• PDF text stream extraction logic using pypdf.</a:t>
            </a:r>
          </a:p>
          <a:p>
            <a:pPr>
              <a:spcBef>
                <a:spcPts val="1200"/>
              </a:spcBef>
              <a:defRPr sz="1300">
                <a:solidFill>
                  <a:srgbClr val="0F172A"/>
                </a:solidFill>
                <a:latin typeface="Segoe UI"/>
              </a:defRPr>
            </a:pPr>
            <a:r>
              <a:t>• Regex-based SWIFT MT700 tag parsing engine (:20:, :31C:, :46A:, :47A:).</a:t>
            </a:r>
          </a:p>
          <a:p>
            <a:pPr>
              <a:spcBef>
                <a:spcPts val="1200"/>
              </a:spcBef>
              <a:defRPr sz="1300">
                <a:solidFill>
                  <a:srgbClr val="0F172A"/>
                </a:solidFill>
                <a:latin typeface="Segoe UI"/>
              </a:defRPr>
            </a:pPr>
            <a:r>
              <a:t>• Initial date-consistency rules matrix (expiry vs. shipment vs. 21-day rule).</a:t>
            </a:r>
          </a:p>
          <a:p>
            <a:pPr>
              <a:spcBef>
                <a:spcPts val="1200"/>
              </a:spcBef>
              <a:defRPr sz="1300">
                <a:solidFill>
                  <a:srgbClr val="0F172A"/>
                </a:solidFill>
                <a:latin typeface="Segoe UI"/>
              </a:defRPr>
            </a:pPr>
            <a:r>
              <a:t>• Baseline Tkinter concept and initial export scripts.</a:t>
            </a:r>
          </a:p>
        </p:txBody>
      </p:sp>
      <p:sp>
        <p:nvSpPr>
          <p:cNvPr id="9" name="Rounded Rectangle 8"/>
          <p:cNvSpPr/>
          <p:nvPr/>
        </p:nvSpPr>
        <p:spPr>
          <a:xfrm>
            <a:off x="6309360" y="1463040"/>
            <a:ext cx="512064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309360" y="1463040"/>
            <a:ext cx="5120640" cy="548640"/>
          </a:xfrm>
          <a:prstGeom prst="roundRect">
            <a:avLst/>
          </a:prstGeom>
          <a:solidFill>
            <a:srgbClr val="0F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572768"/>
            <a:ext cx="4754880" cy="365760"/>
          </a:xfrm>
          <a:prstGeom prst="rect">
            <a:avLst/>
          </a:prstGeom>
          <a:noFill/>
        </p:spPr>
        <p:txBody>
          <a:bodyPr wrap="none">
            <a:spAutoFit/>
          </a:bodyPr>
          <a:lstStyle/>
          <a:p>
            <a:pPr>
              <a:defRPr sz="1400" b="1">
                <a:solidFill>
                  <a:srgbClr val="FFFFFF"/>
                </a:solidFill>
                <a:latin typeface="Segoe UI"/>
              </a:defRPr>
            </a:pPr>
            <a:r>
              <a:t>STAGE 2: Enterprise Production (Antigravity)</a:t>
            </a:r>
          </a:p>
        </p:txBody>
      </p:sp>
      <p:sp>
        <p:nvSpPr>
          <p:cNvPr id="12" name="TextBox 11"/>
          <p:cNvSpPr txBox="1"/>
          <p:nvPr/>
        </p:nvSpPr>
        <p:spPr>
          <a:xfrm>
            <a:off x="6492240" y="2194560"/>
            <a:ext cx="4754880" cy="3840480"/>
          </a:xfrm>
          <a:prstGeom prst="rect">
            <a:avLst/>
          </a:prstGeom>
          <a:noFill/>
        </p:spPr>
        <p:txBody>
          <a:bodyPr wrap="square">
            <a:spAutoFit/>
          </a:bodyPr>
          <a:lstStyle/>
          <a:p>
            <a:pPr>
              <a:spcBef>
                <a:spcPts val="1000"/>
              </a:spcBef>
              <a:defRPr sz="1300">
                <a:solidFill>
                  <a:srgbClr val="0F172A"/>
                </a:solidFill>
                <a:latin typeface="Segoe UI"/>
              </a:defRPr>
            </a:pPr>
            <a:r>
              <a:t>• UI/UX Re-Engineering: Modern Deep Blue corporate theme &amp; DPI awareness.</a:t>
            </a:r>
          </a:p>
          <a:p>
            <a:pPr>
              <a:spcBef>
                <a:spcPts val="1000"/>
              </a:spcBef>
              <a:defRPr sz="1300">
                <a:solidFill>
                  <a:srgbClr val="0F172A"/>
                </a:solidFill>
                <a:latin typeface="Segoe UI"/>
              </a:defRPr>
            </a:pPr>
            <a:r>
              <a:t>• Dual-Tab Architecture: Live Scrutiny Workspace + Saved Database Register.</a:t>
            </a:r>
          </a:p>
          <a:p>
            <a:pPr>
              <a:spcBef>
                <a:spcPts val="1000"/>
              </a:spcBef>
              <a:defRPr sz="1300">
                <a:solidFill>
                  <a:srgbClr val="0F172A"/>
                </a:solidFill>
                <a:latin typeface="Segoe UI"/>
              </a:defRPr>
            </a:pPr>
            <a:r>
              <a:t>• Integrated SQLite Database: Relational schema, auto-save &amp; manual sync.</a:t>
            </a:r>
          </a:p>
          <a:p>
            <a:pPr>
              <a:spcBef>
                <a:spcPts val="1000"/>
              </a:spcBef>
              <a:defRPr sz="1300">
                <a:solidFill>
                  <a:srgbClr val="0F172A"/>
                </a:solidFill>
                <a:latin typeface="Segoe UI"/>
              </a:defRPr>
            </a:pPr>
            <a:r>
              <a:t>• Multi-Criteria Search Engine: Query by LC No., Bank, Buyer, Amount &amp; Dates.</a:t>
            </a:r>
          </a:p>
          <a:p>
            <a:pPr>
              <a:spcBef>
                <a:spcPts val="1000"/>
              </a:spcBef>
              <a:defRPr sz="1300">
                <a:solidFill>
                  <a:srgbClr val="0F172A"/>
                </a:solidFill>
                <a:latin typeface="Segoe UI"/>
              </a:defRPr>
            </a:pPr>
            <a:r>
              <a:t>• Record Lifecycle (CRUD): Full state reload and safe cascading deletion.</a:t>
            </a:r>
          </a:p>
          <a:p>
            <a:pPr>
              <a:spcBef>
                <a:spcPts val="1000"/>
              </a:spcBef>
              <a:defRPr sz="1300">
                <a:solidFill>
                  <a:srgbClr val="0F172A"/>
                </a:solidFill>
                <a:latin typeface="Segoe UI"/>
              </a:defRPr>
            </a:pPr>
            <a:r>
              <a:t>• Standalone Deployment: Bundled into a zero-dependency Windows .exe.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Segoe UI"/>
              </a:defRPr>
            </a:pPr>
            <a:r>
              <a:t>STAGE 1 BREAKDOWN</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200" b="1">
                <a:solidFill>
                  <a:srgbClr val="0F2942"/>
                </a:solidFill>
                <a:latin typeface="Segoe UI"/>
              </a:defRPr>
            </a:pPr>
            <a:r>
              <a:t>Phase 1: Algorithmic Logic &amp; Field Extraction (Claude)</a:t>
            </a:r>
          </a:p>
        </p:txBody>
      </p:sp>
      <p:sp>
        <p:nvSpPr>
          <p:cNvPr id="5" name="Rounded Rectangle 4"/>
          <p:cNvSpPr/>
          <p:nvPr/>
        </p:nvSpPr>
        <p:spPr>
          <a:xfrm>
            <a:off x="731520" y="1463040"/>
            <a:ext cx="525780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4709160" cy="1828800"/>
          </a:xfrm>
          <a:prstGeom prst="rect">
            <a:avLst/>
          </a:prstGeom>
          <a:noFill/>
        </p:spPr>
        <p:txBody>
          <a:bodyPr wrap="square">
            <a:spAutoFit/>
          </a:bodyPr>
          <a:lstStyle/>
          <a:p>
            <a:pPr>
              <a:defRPr sz="1400" b="1">
                <a:solidFill>
                  <a:srgbClr val="1E3A8A"/>
                </a:solidFill>
                <a:latin typeface="Segoe UI"/>
              </a:defRPr>
            </a:pPr>
            <a:r>
              <a:t>PDF Ingestion (pdf_extract.py)</a:t>
            </a:r>
          </a:p>
          <a:p>
            <a:pPr>
              <a:spcBef>
                <a:spcPts val="800"/>
              </a:spcBef>
              <a:defRPr sz="1200">
                <a:solidFill>
                  <a:srgbClr val="0F172A"/>
                </a:solidFill>
                <a:latin typeface="Segoe UI"/>
              </a:defRPr>
            </a:pPr>
            <a:r>
              <a:t>Extracts raw text streams from selectable PDF documents using pypdf. Validates file header integrity, normalizes page boundaries, and guards against malformed or password-protected files.</a:t>
            </a:r>
          </a:p>
        </p:txBody>
      </p:sp>
      <p:sp>
        <p:nvSpPr>
          <p:cNvPr id="7" name="Rounded Rectangle 6"/>
          <p:cNvSpPr/>
          <p:nvPr/>
        </p:nvSpPr>
        <p:spPr>
          <a:xfrm>
            <a:off x="6172200" y="1463040"/>
            <a:ext cx="525780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645920"/>
            <a:ext cx="4709160" cy="1828800"/>
          </a:xfrm>
          <a:prstGeom prst="rect">
            <a:avLst/>
          </a:prstGeom>
          <a:noFill/>
        </p:spPr>
        <p:txBody>
          <a:bodyPr wrap="square">
            <a:spAutoFit/>
          </a:bodyPr>
          <a:lstStyle/>
          <a:p>
            <a:pPr>
              <a:defRPr sz="1400" b="1">
                <a:solidFill>
                  <a:srgbClr val="1E3A8A"/>
                </a:solidFill>
                <a:latin typeface="Segoe UI"/>
              </a:defRPr>
            </a:pPr>
            <a:r>
              <a:t>SWIFT MT700 Parser (lc_parser.py)</a:t>
            </a:r>
          </a:p>
          <a:p>
            <a:pPr>
              <a:spcBef>
                <a:spcPts val="800"/>
              </a:spcBef>
              <a:defRPr sz="1200">
                <a:solidFill>
                  <a:srgbClr val="0F172A"/>
                </a:solidFill>
                <a:latin typeface="Segoe UI"/>
              </a:defRPr>
            </a:pPr>
            <a:r>
              <a:t>Regex-driven parser handling both raw SWIFT tags (:20:, :31C:, :40A:, :46A:, :47A:, :71B:) and bank reprint conventions (F20:, F46A:). Accurately splits narrative conditions into atomic clauses.</a:t>
            </a:r>
          </a:p>
        </p:txBody>
      </p:sp>
      <p:sp>
        <p:nvSpPr>
          <p:cNvPr id="9" name="Rounded Rectangle 8"/>
          <p:cNvSpPr/>
          <p:nvPr/>
        </p:nvSpPr>
        <p:spPr>
          <a:xfrm>
            <a:off x="731520" y="3886200"/>
            <a:ext cx="525780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69080"/>
            <a:ext cx="4709160" cy="1828800"/>
          </a:xfrm>
          <a:prstGeom prst="rect">
            <a:avLst/>
          </a:prstGeom>
          <a:noFill/>
        </p:spPr>
        <p:txBody>
          <a:bodyPr wrap="square">
            <a:spAutoFit/>
          </a:bodyPr>
          <a:lstStyle/>
          <a:p>
            <a:pPr>
              <a:defRPr sz="1400" b="1">
                <a:solidFill>
                  <a:srgbClr val="1E3A8A"/>
                </a:solidFill>
                <a:latin typeface="Segoe UI"/>
              </a:defRPr>
            </a:pPr>
            <a:r>
              <a:t>Domain Models (models.py)</a:t>
            </a:r>
          </a:p>
          <a:p>
            <a:pPr>
              <a:spcBef>
                <a:spcPts val="800"/>
              </a:spcBef>
              <a:defRPr sz="1200">
                <a:solidFill>
                  <a:srgbClr val="0F172A"/>
                </a:solidFill>
                <a:latin typeface="Segoe UI"/>
              </a:defRPr>
            </a:pPr>
            <a:r>
              <a:t>Standardizes core dataclasses: ClausePoint (holding field tag, summary, rule citation, suggested verdict, user verdict, and remarks) and AnalysisResult (aggregating all clause points and document metadata).</a:t>
            </a:r>
          </a:p>
        </p:txBody>
      </p:sp>
      <p:sp>
        <p:nvSpPr>
          <p:cNvPr id="11" name="Rounded Rectangle 10"/>
          <p:cNvSpPr/>
          <p:nvPr/>
        </p:nvSpPr>
        <p:spPr>
          <a:xfrm>
            <a:off x="6172200" y="3886200"/>
            <a:ext cx="525780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4069080"/>
            <a:ext cx="4709160" cy="1828800"/>
          </a:xfrm>
          <a:prstGeom prst="rect">
            <a:avLst/>
          </a:prstGeom>
          <a:noFill/>
        </p:spPr>
        <p:txBody>
          <a:bodyPr wrap="square">
            <a:spAutoFit/>
          </a:bodyPr>
          <a:lstStyle/>
          <a:p>
            <a:pPr>
              <a:defRPr sz="1400" b="1">
                <a:solidFill>
                  <a:srgbClr val="1E3A8A"/>
                </a:solidFill>
                <a:latin typeface="Segoe UI"/>
              </a:defRPr>
            </a:pPr>
            <a:r>
              <a:t>Rules Engine (rules_engine.py)</a:t>
            </a:r>
          </a:p>
          <a:p>
            <a:pPr>
              <a:spcBef>
                <a:spcPts val="800"/>
              </a:spcBef>
              <a:defRPr sz="1200">
                <a:solidFill>
                  <a:srgbClr val="0F172A"/>
                </a:solidFill>
                <a:latin typeface="Segoe UI"/>
              </a:defRPr>
            </a:pPr>
            <a:r>
              <a:t>Encodes UCP 600 provisions: checks date consistency (Art 14c - 21 day presentation window vs. expiry), amount tolerance percentages (Art 30), partial shipment/transshipment rules (Art 31 &amp; 20), and banking fee allocations.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Segoe UI"/>
              </a:defRPr>
            </a:pPr>
            <a:r>
              <a:t>STAGE 2 BREAKDOWN</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200" b="1">
                <a:solidFill>
                  <a:srgbClr val="0F2942"/>
                </a:solidFill>
                <a:latin typeface="Segoe UI"/>
              </a:defRPr>
            </a:pPr>
            <a:r>
              <a:t>Phase 2: Modern Enterprise Interface Design (Antigravity)</a:t>
            </a:r>
          </a:p>
        </p:txBody>
      </p:sp>
      <p:sp>
        <p:nvSpPr>
          <p:cNvPr id="5" name="Rounded Rectangle 4"/>
          <p:cNvSpPr/>
          <p:nvPr/>
        </p:nvSpPr>
        <p:spPr>
          <a:xfrm>
            <a:off x="731520" y="1463040"/>
            <a:ext cx="342900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91640"/>
            <a:ext cx="2971800" cy="4297680"/>
          </a:xfrm>
          <a:prstGeom prst="rect">
            <a:avLst/>
          </a:prstGeom>
          <a:noFill/>
        </p:spPr>
        <p:txBody>
          <a:bodyPr wrap="square">
            <a:spAutoFit/>
          </a:bodyPr>
          <a:lstStyle/>
          <a:p>
            <a:pPr>
              <a:defRPr sz="1400" b="1">
                <a:solidFill>
                  <a:srgbClr val="1E3A8A"/>
                </a:solidFill>
                <a:latin typeface="Segoe UI"/>
              </a:defRPr>
            </a:pPr>
            <a:r>
              <a:t>Enterprise Blue Visual Identity</a:t>
            </a:r>
          </a:p>
          <a:p>
            <a:pPr>
              <a:spcBef>
                <a:spcPts val="800"/>
              </a:spcBef>
              <a:defRPr sz="1200">
                <a:solidFill>
                  <a:srgbClr val="0F172A"/>
                </a:solidFill>
                <a:latin typeface="Segoe UI"/>
              </a:defRPr>
            </a:pPr>
            <a:r>
              <a:t>Crafted a cohesive, executive palette: Corporate Deep Navy (#0F2942), Midnight Blue (#1E3A8A), and Royal Blue (#2563EB).</a:t>
            </a:r>
          </a:p>
          <a:p>
            <a:pPr>
              <a:spcBef>
                <a:spcPts val="800"/>
              </a:spcBef>
              <a:defRPr sz="1200">
                <a:solidFill>
                  <a:srgbClr val="0F172A"/>
                </a:solidFill>
                <a:latin typeface="Segoe UI"/>
              </a:defRPr>
            </a:pPr>
            <a:r>
              <a:t>Added Windows Per-Monitor DPI awareness via ctypes for crisp rendering on modern high-resolution displays.</a:t>
            </a:r>
          </a:p>
          <a:p>
            <a:pPr>
              <a:spcBef>
                <a:spcPts val="800"/>
              </a:spcBef>
              <a:defRPr sz="1200">
                <a:solidFill>
                  <a:srgbClr val="0F172A"/>
                </a:solidFill>
                <a:latin typeface="Segoe UI"/>
              </a:defRPr>
            </a:pPr>
            <a:r>
              <a:t>High-contrast visual hierarchy prevents visual fatigue during multi-hour document audits.</a:t>
            </a:r>
          </a:p>
        </p:txBody>
      </p:sp>
      <p:sp>
        <p:nvSpPr>
          <p:cNvPr id="7" name="Rounded Rectangle 6"/>
          <p:cNvSpPr/>
          <p:nvPr/>
        </p:nvSpPr>
        <p:spPr>
          <a:xfrm>
            <a:off x="4343400" y="1463040"/>
            <a:ext cx="342900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91640"/>
            <a:ext cx="2971800" cy="4297680"/>
          </a:xfrm>
          <a:prstGeom prst="rect">
            <a:avLst/>
          </a:prstGeom>
          <a:noFill/>
        </p:spPr>
        <p:txBody>
          <a:bodyPr wrap="square">
            <a:spAutoFit/>
          </a:bodyPr>
          <a:lstStyle/>
          <a:p>
            <a:pPr>
              <a:defRPr sz="1400" b="1">
                <a:solidFill>
                  <a:srgbClr val="1E3A8A"/>
                </a:solidFill>
                <a:latin typeface="Segoe UI"/>
              </a:defRPr>
            </a:pPr>
            <a:r>
              <a:t>Dual-Tab Navigation System</a:t>
            </a:r>
          </a:p>
          <a:p>
            <a:pPr>
              <a:spcBef>
                <a:spcPts val="800"/>
              </a:spcBef>
              <a:defRPr sz="1200">
                <a:solidFill>
                  <a:srgbClr val="0F172A"/>
                </a:solidFill>
                <a:latin typeface="Segoe UI"/>
              </a:defRPr>
            </a:pPr>
            <a:r>
              <a:t>Tab 1: Live Analysis &amp; Workspace — dedicated to active document review, clause inspection, verdict toggling, and export generation.</a:t>
            </a:r>
          </a:p>
          <a:p>
            <a:pPr>
              <a:spcBef>
                <a:spcPts val="800"/>
              </a:spcBef>
              <a:defRPr sz="1200">
                <a:solidFill>
                  <a:srgbClr val="0F172A"/>
                </a:solidFill>
                <a:latin typeface="Segoe UI"/>
              </a:defRPr>
            </a:pPr>
            <a:r>
              <a:t>Tab 2: Saved Analyses &amp; Database Register — provides an archive view, advanced search filters, and record management.</a:t>
            </a:r>
          </a:p>
          <a:p>
            <a:pPr>
              <a:spcBef>
                <a:spcPts val="800"/>
              </a:spcBef>
              <a:defRPr sz="1200">
                <a:solidFill>
                  <a:srgbClr val="0F172A"/>
                </a:solidFill>
                <a:latin typeface="Segoe UI"/>
              </a:defRPr>
            </a:pPr>
            <a:r>
              <a:t>Enables seamless switching between auditing new LCs and retrieving historical client files.</a:t>
            </a:r>
          </a:p>
        </p:txBody>
      </p:sp>
      <p:sp>
        <p:nvSpPr>
          <p:cNvPr id="9" name="Rounded Rectangle 8"/>
          <p:cNvSpPr/>
          <p:nvPr/>
        </p:nvSpPr>
        <p:spPr>
          <a:xfrm>
            <a:off x="7955280" y="1463040"/>
            <a:ext cx="342900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691640"/>
            <a:ext cx="2971800" cy="4297680"/>
          </a:xfrm>
          <a:prstGeom prst="rect">
            <a:avLst/>
          </a:prstGeom>
          <a:noFill/>
        </p:spPr>
        <p:txBody>
          <a:bodyPr wrap="square">
            <a:spAutoFit/>
          </a:bodyPr>
          <a:lstStyle/>
          <a:p>
            <a:pPr>
              <a:defRPr sz="1400" b="1">
                <a:solidFill>
                  <a:srgbClr val="1E3A8A"/>
                </a:solidFill>
                <a:latin typeface="Segoe UI"/>
              </a:defRPr>
            </a:pPr>
            <a:r>
              <a:t>Live Real-Time KPI Dashboard</a:t>
            </a:r>
          </a:p>
          <a:p>
            <a:pPr>
              <a:spcBef>
                <a:spcPts val="800"/>
              </a:spcBef>
              <a:defRPr sz="1200">
                <a:solidFill>
                  <a:srgbClr val="0F172A"/>
                </a:solidFill>
                <a:latin typeface="Segoe UI"/>
              </a:defRPr>
            </a:pPr>
            <a:r>
              <a:t>Status cards at the top of the interface track risk points live across 4 standard verdicts:</a:t>
            </a:r>
          </a:p>
          <a:p>
            <a:pPr>
              <a:spcBef>
                <a:spcPts val="800"/>
              </a:spcBef>
              <a:defRPr sz="1200">
                <a:solidFill>
                  <a:srgbClr val="0F172A"/>
                </a:solidFill>
                <a:latin typeface="Segoe UI"/>
              </a:defRPr>
            </a:pPr>
            <a:r>
              <a:t>  • In Order / Correct (Emerald Green)</a:t>
            </a:r>
          </a:p>
          <a:p>
            <a:pPr>
              <a:spcBef>
                <a:spcPts val="800"/>
              </a:spcBef>
              <a:defRPr sz="1200">
                <a:solidFill>
                  <a:srgbClr val="0F172A"/>
                </a:solidFill>
                <a:latin typeface="Segoe UI"/>
              </a:defRPr>
            </a:pPr>
            <a:r>
              <a:t>  • Requires Amendment (Crimson Red)</a:t>
            </a:r>
          </a:p>
          <a:p>
            <a:pPr>
              <a:spcBef>
                <a:spcPts val="800"/>
              </a:spcBef>
              <a:defRPr sz="1200">
                <a:solidFill>
                  <a:srgbClr val="0F172A"/>
                </a:solidFill>
                <a:latin typeface="Segoe UI"/>
              </a:defRPr>
            </a:pPr>
            <a:r>
              <a:t>  • Needs Clarification (Amber Orange)</a:t>
            </a:r>
          </a:p>
          <a:p>
            <a:pPr>
              <a:spcBef>
                <a:spcPts val="800"/>
              </a:spcBef>
              <a:defRPr sz="1200">
                <a:solidFill>
                  <a:srgbClr val="0F172A"/>
                </a:solidFill>
                <a:latin typeface="Segoe UI"/>
              </a:defRPr>
            </a:pPr>
            <a:r>
              <a:t>  • Informational / N/A (Slate Grey)</a:t>
            </a:r>
          </a:p>
          <a:p>
            <a:pPr>
              <a:spcBef>
                <a:spcPts val="800"/>
              </a:spcBef>
              <a:defRPr sz="1200">
                <a:solidFill>
                  <a:srgbClr val="0F172A"/>
                </a:solidFill>
                <a:latin typeface="Segoe UI"/>
              </a:defRPr>
            </a:pPr>
            <a:r>
              <a:t>Dynamic badge counts update instantly as the auditor toggles verdict radio buttons.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Segoe UI"/>
              </a:defRPr>
            </a:pPr>
            <a:r>
              <a:t>AUDITOR WORKFLOW</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200" b="1">
                <a:solidFill>
                  <a:srgbClr val="0F2942"/>
                </a:solidFill>
                <a:latin typeface="Segoe UI"/>
              </a:defRPr>
            </a:pPr>
            <a:r>
              <a:t>Interactive Clause Workspace &amp; Split-Pane Inspector</a:t>
            </a:r>
          </a:p>
        </p:txBody>
      </p:sp>
      <p:sp>
        <p:nvSpPr>
          <p:cNvPr id="5" name="Rounded Rectangle 4"/>
          <p:cNvSpPr/>
          <p:nvPr/>
        </p:nvSpPr>
        <p:spPr>
          <a:xfrm>
            <a:off x="731520" y="1463040"/>
            <a:ext cx="512064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4389120"/>
          </a:xfrm>
          <a:prstGeom prst="rect">
            <a:avLst/>
          </a:prstGeom>
          <a:noFill/>
        </p:spPr>
        <p:txBody>
          <a:bodyPr wrap="square">
            <a:spAutoFit/>
          </a:bodyPr>
          <a:lstStyle/>
          <a:p>
            <a:pPr>
              <a:defRPr sz="1400" b="1">
                <a:solidFill>
                  <a:srgbClr val="1E3A8A"/>
                </a:solidFill>
                <a:latin typeface="Segoe UI"/>
              </a:defRPr>
            </a:pPr>
            <a:r>
              <a:t>4 Structured Core Sections &amp; 8 Sub-Heads</a:t>
            </a:r>
          </a:p>
          <a:p>
            <a:pPr>
              <a:spcBef>
                <a:spcPts val="400"/>
              </a:spcBef>
              <a:defRPr sz="1100">
                <a:solidFill>
                  <a:srgbClr val="0F172A"/>
                </a:solidFill>
                <a:latin typeface="Segoe UI"/>
              </a:defRPr>
            </a:pPr>
            <a:r>
              <a:t>1. Main Summary: LC Number, Parties, Financial Value, Tenor, and Expiry/Shipment Dates.</a:t>
            </a:r>
          </a:p>
          <a:p>
            <a:pPr>
              <a:spcBef>
                <a:spcPts val="400"/>
              </a:spcBef>
              <a:defRPr sz="1100">
                <a:solidFill>
                  <a:srgbClr val="0F172A"/>
                </a:solidFill>
                <a:latin typeface="Segoe UI"/>
              </a:defRPr>
            </a:pPr>
            <a:r>
              <a:t>2. Goods &amp; Services: Item descriptions, tolerance (+/-%), and unit rate controls.</a:t>
            </a:r>
          </a:p>
          <a:p>
            <a:pPr>
              <a:spcBef>
                <a:spcPts val="400"/>
              </a:spcBef>
              <a:defRPr sz="1100">
                <a:solidFill>
                  <a:srgbClr val="0F172A"/>
                </a:solidFill>
                <a:latin typeface="Segoe UI"/>
              </a:defRPr>
            </a:pPr>
            <a:r>
              <a:t>3. Documents Required (8 Dedicated Sub-Tabs):</a:t>
            </a:r>
          </a:p>
          <a:p>
            <a:pPr>
              <a:spcBef>
                <a:spcPts val="400"/>
              </a:spcBef>
              <a:defRPr sz="1100">
                <a:solidFill>
                  <a:srgbClr val="0F172A"/>
                </a:solidFill>
                <a:latin typeface="Segoe UI"/>
              </a:defRPr>
            </a:pPr>
            <a:r>
              <a:t>    • Transport Documents (Bills of Lading / LR)</a:t>
            </a:r>
          </a:p>
          <a:p>
            <a:pPr>
              <a:spcBef>
                <a:spcPts val="400"/>
              </a:spcBef>
              <a:defRPr sz="1100">
                <a:solidFill>
                  <a:srgbClr val="0F172A"/>
                </a:solidFill>
                <a:latin typeface="Segoe UI"/>
              </a:defRPr>
            </a:pPr>
            <a:r>
              <a:t>    • Certificate of Origin &amp; Legalization</a:t>
            </a:r>
          </a:p>
          <a:p>
            <a:pPr>
              <a:spcBef>
                <a:spcPts val="400"/>
              </a:spcBef>
              <a:defRPr sz="1100">
                <a:solidFill>
                  <a:srgbClr val="0F172A"/>
                </a:solidFill>
                <a:latin typeface="Segoe UI"/>
              </a:defRPr>
            </a:pPr>
            <a:r>
              <a:t>    • Commercial Invoices &amp; Packing Lists</a:t>
            </a:r>
          </a:p>
          <a:p>
            <a:pPr>
              <a:spcBef>
                <a:spcPts val="400"/>
              </a:spcBef>
              <a:defRPr sz="1100">
                <a:solidFill>
                  <a:srgbClr val="0F172A"/>
                </a:solidFill>
                <a:latin typeface="Segoe UI"/>
              </a:defRPr>
            </a:pPr>
            <a:r>
              <a:t>    • Bills of Exchange &amp; Financial Instruments</a:t>
            </a:r>
          </a:p>
          <a:p>
            <a:pPr>
              <a:spcBef>
                <a:spcPts val="400"/>
              </a:spcBef>
              <a:defRPr sz="1100">
                <a:solidFill>
                  <a:srgbClr val="0F172A"/>
                </a:solidFill>
                <a:latin typeface="Segoe UI"/>
              </a:defRPr>
            </a:pPr>
            <a:r>
              <a:t>    • Certifications &amp; Surveyor Inspection (Soft Clause Traps)</a:t>
            </a:r>
          </a:p>
          <a:p>
            <a:pPr>
              <a:spcBef>
                <a:spcPts val="400"/>
              </a:spcBef>
              <a:defRPr sz="1100">
                <a:solidFill>
                  <a:srgbClr val="0F172A"/>
                </a:solidFill>
                <a:latin typeface="Segoe UI"/>
              </a:defRPr>
            </a:pPr>
            <a:r>
              <a:t>    • Insurance Policies &amp; Min 110% CIF Coverage</a:t>
            </a:r>
          </a:p>
          <a:p>
            <a:pPr>
              <a:spcBef>
                <a:spcPts val="400"/>
              </a:spcBef>
              <a:defRPr sz="1100">
                <a:solidFill>
                  <a:srgbClr val="0F172A"/>
                </a:solidFill>
                <a:latin typeface="Segoe UI"/>
              </a:defRPr>
            </a:pPr>
            <a:r>
              <a:t>    • Intimation &amp; Telecommunication Advices</a:t>
            </a:r>
          </a:p>
          <a:p>
            <a:pPr>
              <a:spcBef>
                <a:spcPts val="400"/>
              </a:spcBef>
              <a:defRPr sz="1100">
                <a:solidFill>
                  <a:srgbClr val="0F172A"/>
                </a:solidFill>
                <a:latin typeface="Segoe UI"/>
              </a:defRPr>
            </a:pPr>
            <a:r>
              <a:t>    • Other Miscellaneous Documentary Requirements</a:t>
            </a:r>
          </a:p>
          <a:p>
            <a:pPr>
              <a:spcBef>
                <a:spcPts val="400"/>
              </a:spcBef>
              <a:defRPr sz="1100">
                <a:solidFill>
                  <a:srgbClr val="0F172A"/>
                </a:solidFill>
                <a:latin typeface="Segoe UI"/>
              </a:defRPr>
            </a:pPr>
            <a:r>
              <a:t>4. Bank Charges: Allocation of banking fees between Applicant and Beneficiary (Art 37c).</a:t>
            </a:r>
          </a:p>
        </p:txBody>
      </p:sp>
      <p:sp>
        <p:nvSpPr>
          <p:cNvPr id="7" name="Rounded Rectangle 6"/>
          <p:cNvSpPr/>
          <p:nvPr/>
        </p:nvSpPr>
        <p:spPr>
          <a:xfrm>
            <a:off x="6309360" y="1463040"/>
            <a:ext cx="512064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645920"/>
            <a:ext cx="4754880" cy="4389120"/>
          </a:xfrm>
          <a:prstGeom prst="rect">
            <a:avLst/>
          </a:prstGeom>
          <a:noFill/>
        </p:spPr>
        <p:txBody>
          <a:bodyPr wrap="square">
            <a:spAutoFit/>
          </a:bodyPr>
          <a:lstStyle/>
          <a:p>
            <a:pPr>
              <a:defRPr sz="1400" b="1">
                <a:solidFill>
                  <a:srgbClr val="1E3A8A"/>
                </a:solidFill>
                <a:latin typeface="Segoe UI"/>
              </a:defRPr>
            </a:pPr>
            <a:r>
              <a:t>Split-Pane Clause Inspector &amp; Auditor Overrides</a:t>
            </a:r>
          </a:p>
          <a:p>
            <a:pPr>
              <a:spcBef>
                <a:spcPts val="800"/>
              </a:spcBef>
              <a:defRPr sz="1200">
                <a:solidFill>
                  <a:srgbClr val="0F172A"/>
                </a:solidFill>
                <a:latin typeface="Segoe UI"/>
              </a:defRPr>
            </a:pPr>
            <a:r>
              <a:t>• Side-by-Side Clause Verification: Clicking 'View' on any clause immediately loads the exact raw source text in the resizable right-hand inspector.</a:t>
            </a:r>
          </a:p>
          <a:p>
            <a:pPr>
              <a:spcBef>
                <a:spcPts val="800"/>
              </a:spcBef>
              <a:defRPr sz="1200">
                <a:solidFill>
                  <a:srgbClr val="0F172A"/>
                </a:solidFill>
                <a:latin typeface="Segoe UI"/>
              </a:defRPr>
            </a:pPr>
            <a:r>
              <a:t>• Zero Blind Spots: Drag the divider to resize the pane or click 'Show Full Document Text' to inspect surrounding context.</a:t>
            </a:r>
          </a:p>
          <a:p>
            <a:pPr>
              <a:spcBef>
                <a:spcPts val="800"/>
              </a:spcBef>
              <a:defRPr sz="1200">
                <a:solidFill>
                  <a:srgbClr val="0F172A"/>
                </a:solidFill>
                <a:latin typeface="Segoe UI"/>
              </a:defRPr>
            </a:pPr>
            <a:r>
              <a:t>• One-Click Copy: Instant 'Copy to Clipboard' button allows auditors to copy tricky wording directly into emails or drafting tools.</a:t>
            </a:r>
          </a:p>
          <a:p>
            <a:pPr>
              <a:spcBef>
                <a:spcPts val="800"/>
              </a:spcBef>
              <a:defRPr sz="1200">
                <a:solidFill>
                  <a:srgbClr val="0F172A"/>
                </a:solidFill>
                <a:latin typeface="Segoe UI"/>
              </a:defRPr>
            </a:pPr>
            <a:r>
              <a:t>• Full Verdict Override: Radio buttons permit the auditor to switch suggested verdicts (Correct, Requires Amendment, Needs Clarification, Informational).</a:t>
            </a:r>
          </a:p>
          <a:p>
            <a:pPr>
              <a:spcBef>
                <a:spcPts val="800"/>
              </a:spcBef>
              <a:defRPr sz="1200">
                <a:solidFill>
                  <a:srgbClr val="0F172A"/>
                </a:solidFill>
                <a:latin typeface="Segoe UI"/>
              </a:defRPr>
            </a:pPr>
            <a:r>
              <a:t>• Custom Audit Trail: Enter tailored remarks in 'Your Remarks' — these notes flow directly into generated amendment letters and audit reports.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Segoe UI"/>
              </a:defRPr>
            </a:pPr>
            <a:r>
              <a:t>DATABASE ARCHITECTURE</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200" b="1">
                <a:solidFill>
                  <a:srgbClr val="0F2942"/>
                </a:solidFill>
                <a:latin typeface="Segoe UI"/>
              </a:defRPr>
            </a:pPr>
            <a:r>
              <a:t>Zero-Configuration Portable Database Architecture (database.py)</a:t>
            </a:r>
          </a:p>
        </p:txBody>
      </p:sp>
      <p:sp>
        <p:nvSpPr>
          <p:cNvPr id="5" name="Rounded Rectangle 4"/>
          <p:cNvSpPr/>
          <p:nvPr/>
        </p:nvSpPr>
        <p:spPr>
          <a:xfrm>
            <a:off x="731520" y="1463040"/>
            <a:ext cx="512064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4389120"/>
          </a:xfrm>
          <a:prstGeom prst="rect">
            <a:avLst/>
          </a:prstGeom>
          <a:noFill/>
        </p:spPr>
        <p:txBody>
          <a:bodyPr wrap="square">
            <a:spAutoFit/>
          </a:bodyPr>
          <a:lstStyle/>
          <a:p>
            <a:pPr>
              <a:defRPr sz="1400" b="1">
                <a:solidFill>
                  <a:srgbClr val="1E3A8A"/>
                </a:solidFill>
                <a:latin typeface="Segoe UI"/>
              </a:defRPr>
            </a:pPr>
            <a:r>
              <a:t>Relational SQLite Schema</a:t>
            </a:r>
          </a:p>
          <a:p>
            <a:pPr>
              <a:spcBef>
                <a:spcPts val="400"/>
              </a:spcBef>
              <a:defRPr sz="1100">
                <a:solidFill>
                  <a:srgbClr val="0F172A"/>
                </a:solidFill>
                <a:latin typeface="Segoe UI"/>
              </a:defRPr>
            </a:pPr>
            <a:r>
              <a:t>1. Master Table: lc_records</a:t>
            </a:r>
          </a:p>
          <a:p>
            <a:pPr>
              <a:spcBef>
                <a:spcPts val="400"/>
              </a:spcBef>
              <a:defRPr sz="1100">
                <a:solidFill>
                  <a:srgbClr val="0F172A"/>
                </a:solidFill>
                <a:latin typeface="Segoe UI"/>
              </a:defRPr>
            </a:pPr>
            <a:r>
              <a:t>    • Primary Key: id (Auto-increment)</a:t>
            </a:r>
          </a:p>
          <a:p>
            <a:pPr>
              <a:spcBef>
                <a:spcPts val="400"/>
              </a:spcBef>
              <a:defRPr sz="1100">
                <a:solidFill>
                  <a:srgbClr val="0F172A"/>
                </a:solidFill>
                <a:latin typeface="Segoe UI"/>
              </a:defRPr>
            </a:pPr>
            <a:r>
              <a:t>    • Identification: dc_number, lc_type, source_filename</a:t>
            </a:r>
          </a:p>
          <a:p>
            <a:pPr>
              <a:spcBef>
                <a:spcPts val="400"/>
              </a:spcBef>
              <a:defRPr sz="1100">
                <a:solidFill>
                  <a:srgbClr val="0F172A"/>
                </a:solidFill>
                <a:latin typeface="Segoe UI"/>
              </a:defRPr>
            </a:pPr>
            <a:r>
              <a:t>    • Parties: issuer_name, applicant_name, beneficiary_name</a:t>
            </a:r>
          </a:p>
          <a:p>
            <a:pPr>
              <a:spcBef>
                <a:spcPts val="400"/>
              </a:spcBef>
              <a:defRPr sz="1100">
                <a:solidFill>
                  <a:srgbClr val="0F172A"/>
                </a:solidFill>
                <a:latin typeface="Segoe UI"/>
              </a:defRPr>
            </a:pPr>
            <a:r>
              <a:t>    • Financials: currency, amount_text, amount_num</a:t>
            </a:r>
          </a:p>
          <a:p>
            <a:pPr>
              <a:spcBef>
                <a:spcPts val="400"/>
              </a:spcBef>
              <a:defRPr sz="1100">
                <a:solidFill>
                  <a:srgbClr val="0F172A"/>
                </a:solidFill>
                <a:latin typeface="Segoe UI"/>
              </a:defRPr>
            </a:pPr>
            <a:r>
              <a:t>    • Dates: issue_date, expiry_date, shipment_date</a:t>
            </a:r>
          </a:p>
          <a:p>
            <a:pPr>
              <a:spcBef>
                <a:spcPts val="400"/>
              </a:spcBef>
              <a:defRPr sz="1100">
                <a:solidFill>
                  <a:srgbClr val="0F172A"/>
                </a:solidFill>
                <a:latin typeface="Segoe UI"/>
              </a:defRPr>
            </a:pPr>
            <a:r>
              <a:t>    • Metrics: total_points, amendment_count, clarification_count, correct_count, full_text</a:t>
            </a:r>
          </a:p>
          <a:p>
            <a:pPr>
              <a:spcBef>
                <a:spcPts val="400"/>
              </a:spcBef>
              <a:defRPr sz="1100">
                <a:solidFill>
                  <a:srgbClr val="0F172A"/>
                </a:solidFill>
                <a:latin typeface="Segoe UI"/>
              </a:defRPr>
            </a:pPr>
            <a:r>
              <a:t>2. Child Table: lc_clause_records</a:t>
            </a:r>
          </a:p>
          <a:p>
            <a:pPr>
              <a:spcBef>
                <a:spcPts val="400"/>
              </a:spcBef>
              <a:defRPr sz="1100">
                <a:solidFill>
                  <a:srgbClr val="0F172A"/>
                </a:solidFill>
                <a:latin typeface="Segoe UI"/>
              </a:defRPr>
            </a:pPr>
            <a:r>
              <a:t>    • Relational FK: lc_id REFERENCES lc_records(id) ON DELETE CASCADE</a:t>
            </a:r>
          </a:p>
          <a:p>
            <a:pPr>
              <a:spcBef>
                <a:spcPts val="400"/>
              </a:spcBef>
              <a:defRPr sz="1100">
                <a:solidFill>
                  <a:srgbClr val="0F172A"/>
                </a:solidFill>
                <a:latin typeface="Segoe UI"/>
              </a:defRPr>
            </a:pPr>
            <a:r>
              <a:t>    • Content: section_name, subsection_name, field_tag, clause_title, summary_text, rule_notes</a:t>
            </a:r>
          </a:p>
          <a:p>
            <a:pPr>
              <a:spcBef>
                <a:spcPts val="400"/>
              </a:spcBef>
              <a:defRPr sz="1100">
                <a:solidFill>
                  <a:srgbClr val="0F172A"/>
                </a:solidFill>
                <a:latin typeface="Segoe UI"/>
              </a:defRPr>
            </a:pPr>
            <a:r>
              <a:t>    • State: suggested_verdict, user_verdict, user_remarks</a:t>
            </a:r>
          </a:p>
        </p:txBody>
      </p:sp>
      <p:sp>
        <p:nvSpPr>
          <p:cNvPr id="7" name="Rounded Rectangle 6"/>
          <p:cNvSpPr/>
          <p:nvPr/>
        </p:nvSpPr>
        <p:spPr>
          <a:xfrm>
            <a:off x="6309360" y="1463040"/>
            <a:ext cx="512064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645920"/>
            <a:ext cx="4754880" cy="4389120"/>
          </a:xfrm>
          <a:prstGeom prst="rect">
            <a:avLst/>
          </a:prstGeom>
          <a:noFill/>
        </p:spPr>
        <p:txBody>
          <a:bodyPr wrap="square">
            <a:spAutoFit/>
          </a:bodyPr>
          <a:lstStyle/>
          <a:p>
            <a:pPr>
              <a:defRPr sz="1400" b="1">
                <a:solidFill>
                  <a:srgbClr val="1E3A8A"/>
                </a:solidFill>
                <a:latin typeface="Segoe UI"/>
              </a:defRPr>
            </a:pPr>
            <a:r>
              <a:t>Persistence Features &amp; Workflow</a:t>
            </a:r>
          </a:p>
          <a:p>
            <a:pPr>
              <a:spcBef>
                <a:spcPts val="800"/>
              </a:spcBef>
              <a:defRPr sz="1200">
                <a:solidFill>
                  <a:srgbClr val="0F172A"/>
                </a:solidFill>
                <a:latin typeface="Segoe UI"/>
              </a:defRPr>
            </a:pPr>
            <a:r>
              <a:t>• Zero Configuration: SQLite is embedded directly. No server installation, configuration, or database admin required.</a:t>
            </a:r>
          </a:p>
          <a:p>
            <a:pPr>
              <a:spcBef>
                <a:spcPts val="800"/>
              </a:spcBef>
              <a:defRPr sz="1200">
                <a:solidFill>
                  <a:srgbClr val="0F172A"/>
                </a:solidFill>
                <a:latin typeface="Segoe UI"/>
              </a:defRPr>
            </a:pPr>
            <a:r>
              <a:t>• Automatic Snapshot Logging: Analyzing an LC automatically commits a baseline record to lc_database.db.</a:t>
            </a:r>
          </a:p>
          <a:p>
            <a:pPr>
              <a:spcBef>
                <a:spcPts val="800"/>
              </a:spcBef>
              <a:defRPr sz="1200">
                <a:solidFill>
                  <a:srgbClr val="0F172A"/>
                </a:solidFill>
                <a:latin typeface="Segoe UI"/>
              </a:defRPr>
            </a:pPr>
            <a:r>
              <a:t>• Manual Sync ('Save / Update Database'): Persists the auditor's customized remarks and verdict adjustments without overwriting original raw text.</a:t>
            </a:r>
          </a:p>
          <a:p>
            <a:pPr>
              <a:spcBef>
                <a:spcPts val="800"/>
              </a:spcBef>
              <a:defRPr sz="1200">
                <a:solidFill>
                  <a:srgbClr val="0F172A"/>
                </a:solidFill>
                <a:latin typeface="Segoe UI"/>
              </a:defRPr>
            </a:pPr>
            <a:r>
              <a:t>• ACID Relational Integrity: Enforces PRAGMA foreign_keys = ON and transaction atomicity. If a record is deleted, all child clauses are cleanly purged.</a:t>
            </a:r>
          </a:p>
          <a:p>
            <a:pPr>
              <a:spcBef>
                <a:spcPts val="800"/>
              </a:spcBef>
              <a:defRPr sz="1200">
                <a:solidFill>
                  <a:srgbClr val="0F172A"/>
                </a:solidFill>
                <a:latin typeface="Segoe UI"/>
              </a:defRPr>
            </a:pPr>
            <a:r>
              <a:t>• Portable Storage: The single database file (lc_database.db) travels with the application, allowing seamless backup and portability.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Segoe UI"/>
              </a:defRPr>
            </a:pPr>
            <a:r>
              <a:t>HISTORICAL REPOSITORY</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200" b="1">
                <a:solidFill>
                  <a:srgbClr val="0F2942"/>
                </a:solidFill>
                <a:latin typeface="Segoe UI"/>
              </a:defRPr>
            </a:pPr>
            <a:r>
              <a:t>Multi-Criteria Search &amp; Historical Record Management</a:t>
            </a:r>
          </a:p>
        </p:txBody>
      </p:sp>
      <p:sp>
        <p:nvSpPr>
          <p:cNvPr id="5" name="Rounded Rectangle 4"/>
          <p:cNvSpPr/>
          <p:nvPr/>
        </p:nvSpPr>
        <p:spPr>
          <a:xfrm>
            <a:off x="731520" y="1463040"/>
            <a:ext cx="342900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91640"/>
            <a:ext cx="2971800" cy="4297680"/>
          </a:xfrm>
          <a:prstGeom prst="rect">
            <a:avLst/>
          </a:prstGeom>
          <a:noFill/>
        </p:spPr>
        <p:txBody>
          <a:bodyPr wrap="square">
            <a:spAutoFit/>
          </a:bodyPr>
          <a:lstStyle/>
          <a:p>
            <a:pPr>
              <a:defRPr sz="1400" b="1">
                <a:solidFill>
                  <a:srgbClr val="1E3A8A"/>
                </a:solidFill>
                <a:latin typeface="Segoe UI"/>
              </a:defRPr>
            </a:pPr>
            <a:r>
              <a:t>Multi-Field Search Filters</a:t>
            </a:r>
          </a:p>
          <a:p>
            <a:pPr>
              <a:spcBef>
                <a:spcPts val="800"/>
              </a:spcBef>
              <a:defRPr sz="1200">
                <a:solidFill>
                  <a:srgbClr val="0F172A"/>
                </a:solidFill>
                <a:latin typeface="Segoe UI"/>
              </a:defRPr>
            </a:pPr>
            <a:r>
              <a:t>Query past audits instantly across multiple business dimensions:</a:t>
            </a:r>
          </a:p>
          <a:p>
            <a:pPr>
              <a:spcBef>
                <a:spcPts val="800"/>
              </a:spcBef>
              <a:defRPr sz="1200">
                <a:solidFill>
                  <a:srgbClr val="0F172A"/>
                </a:solidFill>
                <a:latin typeface="Segoe UI"/>
              </a:defRPr>
            </a:pPr>
            <a:r>
              <a:t>  • Documentary Credit Number (SWIFT Field 20)</a:t>
            </a:r>
          </a:p>
          <a:p>
            <a:pPr>
              <a:spcBef>
                <a:spcPts val="800"/>
              </a:spcBef>
              <a:defRPr sz="1200">
                <a:solidFill>
                  <a:srgbClr val="0F172A"/>
                </a:solidFill>
                <a:latin typeface="Segoe UI"/>
              </a:defRPr>
            </a:pPr>
            <a:r>
              <a:t>  • Issuer Bank Name (Field 51A / 52A)</a:t>
            </a:r>
          </a:p>
          <a:p>
            <a:pPr>
              <a:spcBef>
                <a:spcPts val="800"/>
              </a:spcBef>
              <a:defRPr sz="1200">
                <a:solidFill>
                  <a:srgbClr val="0F172A"/>
                </a:solidFill>
                <a:latin typeface="Segoe UI"/>
              </a:defRPr>
            </a:pPr>
            <a:r>
              <a:t>  • Applicant / Buyer Name (Field 50)</a:t>
            </a:r>
          </a:p>
          <a:p>
            <a:pPr>
              <a:spcBef>
                <a:spcPts val="800"/>
              </a:spcBef>
              <a:defRPr sz="1200">
                <a:solidFill>
                  <a:srgbClr val="0F172A"/>
                </a:solidFill>
                <a:latin typeface="Segoe UI"/>
              </a:defRPr>
            </a:pPr>
            <a:r>
              <a:t>  • Beneficiary / Exporter Name (Field 59)</a:t>
            </a:r>
          </a:p>
          <a:p>
            <a:pPr>
              <a:spcBef>
                <a:spcPts val="800"/>
              </a:spcBef>
              <a:defRPr sz="1200">
                <a:solidFill>
                  <a:srgbClr val="0F172A"/>
                </a:solidFill>
                <a:latin typeface="Segoe UI"/>
              </a:defRPr>
            </a:pPr>
            <a:r>
              <a:t>  • Currency &amp; Minimum Credit Amount</a:t>
            </a:r>
          </a:p>
          <a:p>
            <a:pPr>
              <a:spcBef>
                <a:spcPts val="800"/>
              </a:spcBef>
              <a:defRPr sz="1200">
                <a:solidFill>
                  <a:srgbClr val="0F172A"/>
                </a:solidFill>
                <a:latin typeface="Segoe UI"/>
              </a:defRPr>
            </a:pPr>
            <a:r>
              <a:t>  • Issue, Expiry, and Shipment Date Ranges</a:t>
            </a:r>
          </a:p>
          <a:p>
            <a:pPr>
              <a:spcBef>
                <a:spcPts val="800"/>
              </a:spcBef>
              <a:defRPr sz="1200">
                <a:solidFill>
                  <a:srgbClr val="0F172A"/>
                </a:solidFill>
                <a:latin typeface="Segoe UI"/>
              </a:defRPr>
            </a:pPr>
            <a:r>
              <a:t>Parameterized SQL queries guarantee high-speed search and guard against SQL injection.</a:t>
            </a:r>
          </a:p>
        </p:txBody>
      </p:sp>
      <p:sp>
        <p:nvSpPr>
          <p:cNvPr id="7" name="Rounded Rectangle 6"/>
          <p:cNvSpPr/>
          <p:nvPr/>
        </p:nvSpPr>
        <p:spPr>
          <a:xfrm>
            <a:off x="4343400" y="1463040"/>
            <a:ext cx="342900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91640"/>
            <a:ext cx="2971800" cy="4297680"/>
          </a:xfrm>
          <a:prstGeom prst="rect">
            <a:avLst/>
          </a:prstGeom>
          <a:noFill/>
        </p:spPr>
        <p:txBody>
          <a:bodyPr wrap="square">
            <a:spAutoFit/>
          </a:bodyPr>
          <a:lstStyle/>
          <a:p>
            <a:pPr>
              <a:defRPr sz="1400" b="1">
                <a:solidFill>
                  <a:srgbClr val="1E3A8A"/>
                </a:solidFill>
                <a:latin typeface="Segoe UI"/>
              </a:defRPr>
            </a:pPr>
            <a:r>
              <a:t>One-Click Workspace Reload</a:t>
            </a:r>
          </a:p>
          <a:p>
            <a:pPr>
              <a:spcBef>
                <a:spcPts val="800"/>
              </a:spcBef>
              <a:defRPr sz="1200">
                <a:solidFill>
                  <a:srgbClr val="0F172A"/>
                </a:solidFill>
                <a:latin typeface="Segoe UI"/>
              </a:defRPr>
            </a:pPr>
            <a:r>
              <a:t>Tab 2 displays all historical analyses in an interactive tabular grid with status badges.</a:t>
            </a:r>
          </a:p>
          <a:p>
            <a:pPr>
              <a:spcBef>
                <a:spcPts val="800"/>
              </a:spcBef>
              <a:defRPr sz="1200">
                <a:solidFill>
                  <a:srgbClr val="0F172A"/>
                </a:solidFill>
                <a:latin typeface="Segoe UI"/>
              </a:defRPr>
            </a:pPr>
            <a:r>
              <a:t>Selecting any archived record and clicking 'Open Selected Analysis' reloads the full state into Tab 1.</a:t>
            </a:r>
          </a:p>
          <a:p>
            <a:pPr>
              <a:spcBef>
                <a:spcPts val="800"/>
              </a:spcBef>
              <a:defRPr sz="1200">
                <a:solidFill>
                  <a:srgbClr val="0F172A"/>
                </a:solidFill>
                <a:latin typeface="Segoe UI"/>
              </a:defRPr>
            </a:pPr>
            <a:r>
              <a:t>Restores the exact document text, all category points, user verdict toggles, and customized remarks.</a:t>
            </a:r>
          </a:p>
          <a:p>
            <a:pPr>
              <a:spcBef>
                <a:spcPts val="800"/>
              </a:spcBef>
              <a:defRPr sz="1200">
                <a:solidFill>
                  <a:srgbClr val="0F172A"/>
                </a:solidFill>
                <a:latin typeface="Segoe UI"/>
              </a:defRPr>
            </a:pPr>
            <a:r>
              <a:t>Allows auditors to revisit an LC months later, update remarks, or re-export documents instantly.</a:t>
            </a:r>
          </a:p>
        </p:txBody>
      </p:sp>
      <p:sp>
        <p:nvSpPr>
          <p:cNvPr id="9" name="Rounded Rectangle 8"/>
          <p:cNvSpPr/>
          <p:nvPr/>
        </p:nvSpPr>
        <p:spPr>
          <a:xfrm>
            <a:off x="7955280" y="1463040"/>
            <a:ext cx="342900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691640"/>
            <a:ext cx="2971800" cy="4297680"/>
          </a:xfrm>
          <a:prstGeom prst="rect">
            <a:avLst/>
          </a:prstGeom>
          <a:noFill/>
        </p:spPr>
        <p:txBody>
          <a:bodyPr wrap="square">
            <a:spAutoFit/>
          </a:bodyPr>
          <a:lstStyle/>
          <a:p>
            <a:pPr>
              <a:defRPr sz="1400" b="1">
                <a:solidFill>
                  <a:srgbClr val="1E3A8A"/>
                </a:solidFill>
                <a:latin typeface="Segoe UI"/>
              </a:defRPr>
            </a:pPr>
            <a:r>
              <a:t>Safe Record Deletion (CRUD)</a:t>
            </a:r>
          </a:p>
          <a:p>
            <a:pPr>
              <a:spcBef>
                <a:spcPts val="800"/>
              </a:spcBef>
              <a:defRPr sz="1200">
                <a:solidFill>
                  <a:srgbClr val="0F172A"/>
                </a:solidFill>
                <a:latin typeface="Segoe UI"/>
              </a:defRPr>
            </a:pPr>
            <a:r>
              <a:t>Auditors can prune obsolete test records or completed client files directly from the UI.</a:t>
            </a:r>
          </a:p>
          <a:p>
            <a:pPr>
              <a:spcBef>
                <a:spcPts val="800"/>
              </a:spcBef>
              <a:defRPr sz="1200">
                <a:solidFill>
                  <a:srgbClr val="0F172A"/>
                </a:solidFill>
                <a:latin typeface="Segoe UI"/>
              </a:defRPr>
            </a:pPr>
            <a:r>
              <a:t>Clicking 'Delete Analysis' triggers a native Windows confirmation dialog preventing accidental loss.</a:t>
            </a:r>
          </a:p>
          <a:p>
            <a:pPr>
              <a:spcBef>
                <a:spcPts val="800"/>
              </a:spcBef>
              <a:defRPr sz="1200">
                <a:solidFill>
                  <a:srgbClr val="0F172A"/>
                </a:solidFill>
                <a:latin typeface="Segoe UI"/>
              </a:defRPr>
            </a:pPr>
            <a:r>
              <a:t>Foreign-key cascading deletion ensures all related clause points and remarks are wiped cleanly without leaving orphan data.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Segoe UI"/>
              </a:defRPr>
            </a:pPr>
            <a:r>
              <a:t>REPORTING SUITE</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200" b="1">
                <a:solidFill>
                  <a:srgbClr val="0F2942"/>
                </a:solidFill>
                <a:latin typeface="Segoe UI"/>
              </a:defRPr>
            </a:pPr>
            <a:r>
              <a:t>One-Click Document Generation &amp; Automated Amendment Drafter</a:t>
            </a:r>
          </a:p>
        </p:txBody>
      </p:sp>
      <p:sp>
        <p:nvSpPr>
          <p:cNvPr id="5" name="Rounded Rectangle 4"/>
          <p:cNvSpPr/>
          <p:nvPr/>
        </p:nvSpPr>
        <p:spPr>
          <a:xfrm>
            <a:off x="731520" y="1463040"/>
            <a:ext cx="342900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3429000" cy="4114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36192"/>
            <a:ext cx="3063240" cy="320040"/>
          </a:xfrm>
          <a:prstGeom prst="rect">
            <a:avLst/>
          </a:prstGeom>
          <a:noFill/>
        </p:spPr>
        <p:txBody>
          <a:bodyPr wrap="none">
            <a:spAutoFit/>
          </a:bodyPr>
          <a:lstStyle/>
          <a:p>
            <a:pPr>
              <a:defRPr sz="1300" b="1">
                <a:solidFill>
                  <a:srgbClr val="FFFFFF"/>
                </a:solidFill>
                <a:latin typeface="Segoe UI"/>
              </a:defRPr>
            </a:pPr>
            <a:r>
              <a:t>Complete Working File</a:t>
            </a:r>
          </a:p>
        </p:txBody>
      </p:sp>
      <p:sp>
        <p:nvSpPr>
          <p:cNvPr id="8" name="TextBox 7"/>
          <p:cNvSpPr txBox="1"/>
          <p:nvPr/>
        </p:nvSpPr>
        <p:spPr>
          <a:xfrm>
            <a:off x="914400" y="2057400"/>
            <a:ext cx="3063240" cy="4023360"/>
          </a:xfrm>
          <a:prstGeom prst="rect">
            <a:avLst/>
          </a:prstGeom>
          <a:noFill/>
        </p:spPr>
        <p:txBody>
          <a:bodyPr wrap="square">
            <a:spAutoFit/>
          </a:bodyPr>
          <a:lstStyle/>
          <a:p>
            <a:pPr>
              <a:spcBef>
                <a:spcPts val="1000"/>
              </a:spcBef>
              <a:defRPr sz="1200">
                <a:solidFill>
                  <a:srgbClr val="0F172A"/>
                </a:solidFill>
                <a:latin typeface="Segoe UI"/>
              </a:defRPr>
            </a:pPr>
            <a:r>
              <a:t>• Comprehensive, section-by-section working paper containing all 4 sections and 8 sub-heads.</a:t>
            </a:r>
          </a:p>
          <a:p>
            <a:pPr>
              <a:spcBef>
                <a:spcPts val="1000"/>
              </a:spcBef>
              <a:defRPr sz="1200">
                <a:solidFill>
                  <a:srgbClr val="0F172A"/>
                </a:solidFill>
                <a:latin typeface="Segoe UI"/>
              </a:defRPr>
            </a:pPr>
            <a:r>
              <a:t>• Includes color-coded verdict badges, full clause summaries, UCP 600 rule notes, and auditor remarks.</a:t>
            </a:r>
          </a:p>
          <a:p>
            <a:pPr>
              <a:spcBef>
                <a:spcPts val="1000"/>
              </a:spcBef>
              <a:defRPr sz="1200">
                <a:solidFill>
                  <a:srgbClr val="0F172A"/>
                </a:solidFill>
                <a:latin typeface="Segoe UI"/>
              </a:defRPr>
            </a:pPr>
            <a:r>
              <a:t>• Available in editable Word (.docx) format for internal file documentation and high-quality PDF (via ReportLab) for client submission.</a:t>
            </a:r>
          </a:p>
        </p:txBody>
      </p:sp>
      <p:sp>
        <p:nvSpPr>
          <p:cNvPr id="9" name="Rounded Rectangle 8"/>
          <p:cNvSpPr/>
          <p:nvPr/>
        </p:nvSpPr>
        <p:spPr>
          <a:xfrm>
            <a:off x="4343400" y="1463040"/>
            <a:ext cx="342900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43400" y="1463040"/>
            <a:ext cx="3429000" cy="41148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536192"/>
            <a:ext cx="3063240" cy="320040"/>
          </a:xfrm>
          <a:prstGeom prst="rect">
            <a:avLst/>
          </a:prstGeom>
          <a:noFill/>
        </p:spPr>
        <p:txBody>
          <a:bodyPr wrap="none">
            <a:spAutoFit/>
          </a:bodyPr>
          <a:lstStyle/>
          <a:p>
            <a:pPr>
              <a:defRPr sz="1300" b="1">
                <a:solidFill>
                  <a:srgbClr val="FFFFFF"/>
                </a:solidFill>
                <a:latin typeface="Segoe UI"/>
              </a:defRPr>
            </a:pPr>
            <a:r>
              <a:t>Finalized Summary Sheet</a:t>
            </a:r>
          </a:p>
        </p:txBody>
      </p:sp>
      <p:sp>
        <p:nvSpPr>
          <p:cNvPr id="12" name="TextBox 11"/>
          <p:cNvSpPr txBox="1"/>
          <p:nvPr/>
        </p:nvSpPr>
        <p:spPr>
          <a:xfrm>
            <a:off x="4526280" y="2057400"/>
            <a:ext cx="3063240" cy="4023360"/>
          </a:xfrm>
          <a:prstGeom prst="rect">
            <a:avLst/>
          </a:prstGeom>
          <a:noFill/>
        </p:spPr>
        <p:txBody>
          <a:bodyPr wrap="square">
            <a:spAutoFit/>
          </a:bodyPr>
          <a:lstStyle/>
          <a:p>
            <a:pPr>
              <a:spcBef>
                <a:spcPts val="1000"/>
              </a:spcBef>
              <a:defRPr sz="1200">
                <a:solidFill>
                  <a:srgbClr val="0F172A"/>
                </a:solidFill>
                <a:latin typeface="Segoe UI"/>
              </a:defRPr>
            </a:pPr>
            <a:r>
              <a:t>• Executive sign-off sheet designed for CFOs, credit committees, or senior audit partners.</a:t>
            </a:r>
          </a:p>
          <a:p>
            <a:pPr>
              <a:spcBef>
                <a:spcPts val="1000"/>
              </a:spcBef>
              <a:defRPr sz="1200">
                <a:solidFill>
                  <a:srgbClr val="0F172A"/>
                </a:solidFill>
                <a:latin typeface="Segoe UI"/>
              </a:defRPr>
            </a:pPr>
            <a:r>
              <a:t>• Intelligently re-sorts every analyzed point into three dedicated review tables:</a:t>
            </a:r>
          </a:p>
          <a:p>
            <a:pPr>
              <a:spcBef>
                <a:spcPts val="1000"/>
              </a:spcBef>
              <a:defRPr sz="1200">
                <a:solidFill>
                  <a:srgbClr val="0F172A"/>
                </a:solidFill>
                <a:latin typeface="Segoe UI"/>
              </a:defRPr>
            </a:pPr>
            <a:r>
              <a:t>•   1. Points Confirmed Correct / In Order</a:t>
            </a:r>
          </a:p>
          <a:p>
            <a:pPr>
              <a:spcBef>
                <a:spcPts val="1000"/>
              </a:spcBef>
              <a:defRPr sz="1200">
                <a:solidFill>
                  <a:srgbClr val="0F172A"/>
                </a:solidFill>
                <a:latin typeface="Segoe UI"/>
              </a:defRPr>
            </a:pPr>
            <a:r>
              <a:t>•   2. Points Requiring Amendment</a:t>
            </a:r>
          </a:p>
          <a:p>
            <a:pPr>
              <a:spcBef>
                <a:spcPts val="1000"/>
              </a:spcBef>
              <a:defRPr sz="1200">
                <a:solidFill>
                  <a:srgbClr val="0F172A"/>
                </a:solidFill>
                <a:latin typeface="Segoe UI"/>
              </a:defRPr>
            </a:pPr>
            <a:r>
              <a:t>•   3. Other Remarks (Needs Clarification / Informational)</a:t>
            </a:r>
          </a:p>
        </p:txBody>
      </p:sp>
      <p:sp>
        <p:nvSpPr>
          <p:cNvPr id="13" name="Rounded Rectangle 12"/>
          <p:cNvSpPr/>
          <p:nvPr/>
        </p:nvSpPr>
        <p:spPr>
          <a:xfrm>
            <a:off x="7955280" y="1463040"/>
            <a:ext cx="342900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955280" y="1463040"/>
            <a:ext cx="3429000" cy="41148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38160" y="1536192"/>
            <a:ext cx="3063240" cy="320040"/>
          </a:xfrm>
          <a:prstGeom prst="rect">
            <a:avLst/>
          </a:prstGeom>
          <a:noFill/>
        </p:spPr>
        <p:txBody>
          <a:bodyPr wrap="none">
            <a:spAutoFit/>
          </a:bodyPr>
          <a:lstStyle/>
          <a:p>
            <a:pPr>
              <a:defRPr sz="1300" b="1">
                <a:solidFill>
                  <a:srgbClr val="FFFFFF"/>
                </a:solidFill>
                <a:latin typeface="Segoe UI"/>
              </a:defRPr>
            </a:pPr>
            <a:r>
              <a:t>Automated Amendment Letter</a:t>
            </a:r>
          </a:p>
        </p:txBody>
      </p:sp>
      <p:sp>
        <p:nvSpPr>
          <p:cNvPr id="16" name="TextBox 15"/>
          <p:cNvSpPr txBox="1"/>
          <p:nvPr/>
        </p:nvSpPr>
        <p:spPr>
          <a:xfrm>
            <a:off x="8138160" y="2057400"/>
            <a:ext cx="3063240" cy="4023360"/>
          </a:xfrm>
          <a:prstGeom prst="rect">
            <a:avLst/>
          </a:prstGeom>
          <a:noFill/>
        </p:spPr>
        <p:txBody>
          <a:bodyPr wrap="square">
            <a:spAutoFit/>
          </a:bodyPr>
          <a:lstStyle/>
          <a:p>
            <a:pPr>
              <a:spcBef>
                <a:spcPts val="1000"/>
              </a:spcBef>
              <a:defRPr sz="1200">
                <a:solidFill>
                  <a:srgbClr val="0F172A"/>
                </a:solidFill>
                <a:latin typeface="Segoe UI"/>
              </a:defRPr>
            </a:pPr>
            <a:r>
              <a:t>• Auto-generates a ready-to-send formal LC Amendment Request letter addressed to the Applicant / Issuing Bank.</a:t>
            </a:r>
          </a:p>
          <a:p>
            <a:pPr>
              <a:spcBef>
                <a:spcPts val="1000"/>
              </a:spcBef>
              <a:defRPr sz="1200">
                <a:solidFill>
                  <a:srgbClr val="0F172A"/>
                </a:solidFill>
                <a:latin typeface="Segoe UI"/>
              </a:defRPr>
            </a:pPr>
            <a:r>
              <a:t>• Automatically extracts Field 50 (Applicant) and Field 59 (Beneficiary) to populate letterhead and signature blocks.</a:t>
            </a:r>
          </a:p>
          <a:p>
            <a:pPr>
              <a:spcBef>
                <a:spcPts val="1000"/>
              </a:spcBef>
              <a:defRPr sz="1200">
                <a:solidFill>
                  <a:srgbClr val="0F172A"/>
                </a:solidFill>
                <a:latin typeface="Segoe UI"/>
              </a:defRPr>
            </a:pPr>
            <a:r>
              <a:t>• Lists every point marked 'Requires Amendment' alongside the auditor's specific requested modification.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Segoe UI"/>
              </a:defRPr>
            </a:pPr>
            <a:r>
              <a:t>TECHNICAL ARCHITECTURE</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200" b="1">
                <a:solidFill>
                  <a:srgbClr val="0F2942"/>
                </a:solidFill>
                <a:latin typeface="Segoe UI"/>
              </a:defRPr>
            </a:pPr>
            <a:r>
              <a:t>End-to-End System Architecture &amp; Modular Data Flow</a:t>
            </a:r>
          </a:p>
        </p:txBody>
      </p:sp>
      <p:sp>
        <p:nvSpPr>
          <p:cNvPr id="5" name="Rounded Rectangle 4"/>
          <p:cNvSpPr/>
          <p:nvPr/>
        </p:nvSpPr>
        <p:spPr>
          <a:xfrm>
            <a:off x="731520" y="1463040"/>
            <a:ext cx="342900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2971800" cy="1828800"/>
          </a:xfrm>
          <a:prstGeom prst="rect">
            <a:avLst/>
          </a:prstGeom>
          <a:noFill/>
        </p:spPr>
        <p:txBody>
          <a:bodyPr wrap="square">
            <a:spAutoFit/>
          </a:bodyPr>
          <a:lstStyle/>
          <a:p>
            <a:pPr>
              <a:defRPr sz="1400" b="1">
                <a:solidFill>
                  <a:srgbClr val="1E3A8A"/>
                </a:solidFill>
                <a:latin typeface="Segoe UI"/>
              </a:defRPr>
            </a:pPr>
            <a:r>
              <a:t>1. Ingestion Layer</a:t>
            </a:r>
          </a:p>
          <a:p>
            <a:pPr>
              <a:spcBef>
                <a:spcPts val="200"/>
              </a:spcBef>
              <a:defRPr sz="1100" b="1">
                <a:solidFill>
                  <a:srgbClr val="2563EB"/>
                </a:solidFill>
                <a:latin typeface="Segoe UI"/>
              </a:defRPr>
            </a:pPr>
            <a:r>
              <a:t>Module: pdf_extract.py</a:t>
            </a:r>
          </a:p>
          <a:p>
            <a:pPr>
              <a:spcBef>
                <a:spcPts val="600"/>
              </a:spcBef>
              <a:defRPr sz="1100">
                <a:solidFill>
                  <a:srgbClr val="0F172A"/>
                </a:solidFill>
                <a:latin typeface="Segoe UI"/>
              </a:defRPr>
            </a:pPr>
            <a:r>
              <a:t>Reads binary PDF streams via pypdf; extracts textual layout; validates document headers against corrupt/unsupported files.</a:t>
            </a:r>
          </a:p>
        </p:txBody>
      </p:sp>
      <p:sp>
        <p:nvSpPr>
          <p:cNvPr id="7" name="Rounded Rectangle 6"/>
          <p:cNvSpPr/>
          <p:nvPr/>
        </p:nvSpPr>
        <p:spPr>
          <a:xfrm>
            <a:off x="4343400" y="1463040"/>
            <a:ext cx="342900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45920"/>
            <a:ext cx="2971800" cy="1828800"/>
          </a:xfrm>
          <a:prstGeom prst="rect">
            <a:avLst/>
          </a:prstGeom>
          <a:noFill/>
        </p:spPr>
        <p:txBody>
          <a:bodyPr wrap="square">
            <a:spAutoFit/>
          </a:bodyPr>
          <a:lstStyle/>
          <a:p>
            <a:pPr>
              <a:defRPr sz="1400" b="1">
                <a:solidFill>
                  <a:srgbClr val="1E3A8A"/>
                </a:solidFill>
                <a:latin typeface="Segoe UI"/>
              </a:defRPr>
            </a:pPr>
            <a:r>
              <a:t>2. Parsing Layer</a:t>
            </a:r>
          </a:p>
          <a:p>
            <a:pPr>
              <a:spcBef>
                <a:spcPts val="200"/>
              </a:spcBef>
              <a:defRPr sz="1100" b="1">
                <a:solidFill>
                  <a:srgbClr val="2563EB"/>
                </a:solidFill>
                <a:latin typeface="Segoe UI"/>
              </a:defRPr>
            </a:pPr>
            <a:r>
              <a:t>Module: lc_parser.py</a:t>
            </a:r>
          </a:p>
          <a:p>
            <a:pPr>
              <a:spcBef>
                <a:spcPts val="600"/>
              </a:spcBef>
              <a:defRPr sz="1100">
                <a:solidFill>
                  <a:srgbClr val="0F172A"/>
                </a:solidFill>
                <a:latin typeface="Segoe UI"/>
              </a:defRPr>
            </a:pPr>
            <a:r>
              <a:t>Regex pattern matcher splits SWIFT MT700 tags (:20:, :31C:, :46A:, :47A:, etc.); normalizes dates to DD/MM/YYYY; isolates narrative clauses.</a:t>
            </a:r>
          </a:p>
        </p:txBody>
      </p:sp>
      <p:sp>
        <p:nvSpPr>
          <p:cNvPr id="9" name="Rounded Rectangle 8"/>
          <p:cNvSpPr/>
          <p:nvPr/>
        </p:nvSpPr>
        <p:spPr>
          <a:xfrm>
            <a:off x="7955280" y="1463040"/>
            <a:ext cx="342900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645920"/>
            <a:ext cx="2971800" cy="1828800"/>
          </a:xfrm>
          <a:prstGeom prst="rect">
            <a:avLst/>
          </a:prstGeom>
          <a:noFill/>
        </p:spPr>
        <p:txBody>
          <a:bodyPr wrap="square">
            <a:spAutoFit/>
          </a:bodyPr>
          <a:lstStyle/>
          <a:p>
            <a:pPr>
              <a:defRPr sz="1400" b="1">
                <a:solidFill>
                  <a:srgbClr val="1E3A8A"/>
                </a:solidFill>
                <a:latin typeface="Segoe UI"/>
              </a:defRPr>
            </a:pPr>
            <a:r>
              <a:t>3. Rules Matrix</a:t>
            </a:r>
          </a:p>
          <a:p>
            <a:pPr>
              <a:spcBef>
                <a:spcPts val="200"/>
              </a:spcBef>
              <a:defRPr sz="1100" b="1">
                <a:solidFill>
                  <a:srgbClr val="2563EB"/>
                </a:solidFill>
                <a:latin typeface="Segoe UI"/>
              </a:defRPr>
            </a:pPr>
            <a:r>
              <a:t>Module: rules_engine.py</a:t>
            </a:r>
          </a:p>
          <a:p>
            <a:pPr>
              <a:spcBef>
                <a:spcPts val="600"/>
              </a:spcBef>
              <a:defRPr sz="1100">
                <a:solidFill>
                  <a:srgbClr val="0F172A"/>
                </a:solidFill>
                <a:latin typeface="Segoe UI"/>
              </a:defRPr>
            </a:pPr>
            <a:r>
              <a:t>Applies UCP 600 compliance rules: checks presentation window (Art 14c), tolerance (Art 30), transshipment (Art 20), and charges (Art 37c).</a:t>
            </a:r>
          </a:p>
        </p:txBody>
      </p:sp>
      <p:sp>
        <p:nvSpPr>
          <p:cNvPr id="11" name="Rounded Rectangle 10"/>
          <p:cNvSpPr/>
          <p:nvPr/>
        </p:nvSpPr>
        <p:spPr>
          <a:xfrm>
            <a:off x="731520" y="3886200"/>
            <a:ext cx="342900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069080"/>
            <a:ext cx="2971800" cy="1828800"/>
          </a:xfrm>
          <a:prstGeom prst="rect">
            <a:avLst/>
          </a:prstGeom>
          <a:noFill/>
        </p:spPr>
        <p:txBody>
          <a:bodyPr wrap="square">
            <a:spAutoFit/>
          </a:bodyPr>
          <a:lstStyle/>
          <a:p>
            <a:pPr>
              <a:defRPr sz="1400" b="1">
                <a:solidFill>
                  <a:srgbClr val="1E3A8A"/>
                </a:solidFill>
                <a:latin typeface="Segoe UI"/>
              </a:defRPr>
            </a:pPr>
            <a:r>
              <a:t>4. Presentation GUI</a:t>
            </a:r>
          </a:p>
          <a:p>
            <a:pPr>
              <a:spcBef>
                <a:spcPts val="200"/>
              </a:spcBef>
              <a:defRPr sz="1100" b="1">
                <a:solidFill>
                  <a:srgbClr val="2563EB"/>
                </a:solidFill>
                <a:latin typeface="Segoe UI"/>
              </a:defRPr>
            </a:pPr>
            <a:r>
              <a:t>Module: main.py</a:t>
            </a:r>
          </a:p>
          <a:p>
            <a:pPr>
              <a:spcBef>
                <a:spcPts val="600"/>
              </a:spcBef>
              <a:defRPr sz="1100">
                <a:solidFill>
                  <a:srgbClr val="0F172A"/>
                </a:solidFill>
                <a:latin typeface="Segoe UI"/>
              </a:defRPr>
            </a:pPr>
            <a:r>
              <a:t>Modern Tkinter desktop UI with Windows DPI scaling, dual-tab layout, real-time KPI status badges, and split-pane clause inspector.</a:t>
            </a:r>
          </a:p>
        </p:txBody>
      </p:sp>
      <p:sp>
        <p:nvSpPr>
          <p:cNvPr id="13" name="Rounded Rectangle 12"/>
          <p:cNvSpPr/>
          <p:nvPr/>
        </p:nvSpPr>
        <p:spPr>
          <a:xfrm>
            <a:off x="4343400" y="3886200"/>
            <a:ext cx="342900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4069080"/>
            <a:ext cx="2971800" cy="1828800"/>
          </a:xfrm>
          <a:prstGeom prst="rect">
            <a:avLst/>
          </a:prstGeom>
          <a:noFill/>
        </p:spPr>
        <p:txBody>
          <a:bodyPr wrap="square">
            <a:spAutoFit/>
          </a:bodyPr>
          <a:lstStyle/>
          <a:p>
            <a:pPr>
              <a:defRPr sz="1400" b="1">
                <a:solidFill>
                  <a:srgbClr val="1E3A8A"/>
                </a:solidFill>
                <a:latin typeface="Segoe UI"/>
              </a:defRPr>
            </a:pPr>
            <a:r>
              <a:t>5. Relational Store</a:t>
            </a:r>
          </a:p>
          <a:p>
            <a:pPr>
              <a:spcBef>
                <a:spcPts val="200"/>
              </a:spcBef>
              <a:defRPr sz="1100" b="1">
                <a:solidFill>
                  <a:srgbClr val="2563EB"/>
                </a:solidFill>
                <a:latin typeface="Segoe UI"/>
              </a:defRPr>
            </a:pPr>
            <a:r>
              <a:t>Module: database.py</a:t>
            </a:r>
          </a:p>
          <a:p>
            <a:pPr>
              <a:spcBef>
                <a:spcPts val="600"/>
              </a:spcBef>
              <a:defRPr sz="1100">
                <a:solidFill>
                  <a:srgbClr val="0F172A"/>
                </a:solidFill>
                <a:latin typeface="Segoe UI"/>
              </a:defRPr>
            </a:pPr>
            <a:r>
              <a:t>Embedded SQLite storage (lc_database.db) with foreign-key cascade enforcement, auto-saving snapshots, and multi-criteria search.</a:t>
            </a:r>
          </a:p>
        </p:txBody>
      </p:sp>
      <p:sp>
        <p:nvSpPr>
          <p:cNvPr id="15" name="Rounded Rectangle 14"/>
          <p:cNvSpPr/>
          <p:nvPr/>
        </p:nvSpPr>
        <p:spPr>
          <a:xfrm>
            <a:off x="7955280" y="3886200"/>
            <a:ext cx="342900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3880" y="4069080"/>
            <a:ext cx="2971800" cy="1828800"/>
          </a:xfrm>
          <a:prstGeom prst="rect">
            <a:avLst/>
          </a:prstGeom>
          <a:noFill/>
        </p:spPr>
        <p:txBody>
          <a:bodyPr wrap="square">
            <a:spAutoFit/>
          </a:bodyPr>
          <a:lstStyle/>
          <a:p>
            <a:pPr>
              <a:defRPr sz="1400" b="1">
                <a:solidFill>
                  <a:srgbClr val="1E3A8A"/>
                </a:solidFill>
                <a:latin typeface="Segoe UI"/>
              </a:defRPr>
            </a:pPr>
            <a:r>
              <a:t>6. Document Exporter</a:t>
            </a:r>
          </a:p>
          <a:p>
            <a:pPr>
              <a:spcBef>
                <a:spcPts val="200"/>
              </a:spcBef>
              <a:defRPr sz="1100" b="1">
                <a:solidFill>
                  <a:srgbClr val="2563EB"/>
                </a:solidFill>
                <a:latin typeface="Segoe UI"/>
              </a:defRPr>
            </a:pPr>
            <a:r>
              <a:t>Module: exporter.py</a:t>
            </a:r>
          </a:p>
          <a:p>
            <a:pPr>
              <a:spcBef>
                <a:spcPts val="600"/>
              </a:spcBef>
              <a:defRPr sz="1100">
                <a:solidFill>
                  <a:srgbClr val="0F172A"/>
                </a:solidFill>
                <a:latin typeface="Segoe UI"/>
              </a:defRPr>
            </a:pPr>
            <a:r>
              <a:t>ReportLab PDF canvas renderer and python-docx template engine generating working files, sign-off summaries, and amendment letters.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Segoe UI"/>
              </a:defRPr>
            </a:pPr>
            <a:r>
              <a:t>DEPLOYMENT &amp; DISTRIBUTION</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200" b="1">
                <a:solidFill>
                  <a:srgbClr val="0F2942"/>
                </a:solidFill>
                <a:latin typeface="Segoe UI"/>
              </a:defRPr>
            </a:pPr>
            <a:r>
              <a:t>Enterprise Distribution: Zero-Installation Executable (LC_Analyser.exe)</a:t>
            </a:r>
          </a:p>
        </p:txBody>
      </p:sp>
      <p:sp>
        <p:nvSpPr>
          <p:cNvPr id="5" name="Rounded Rectangle 4"/>
          <p:cNvSpPr/>
          <p:nvPr/>
        </p:nvSpPr>
        <p:spPr>
          <a:xfrm>
            <a:off x="731520" y="1463040"/>
            <a:ext cx="512064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4389120"/>
          </a:xfrm>
          <a:prstGeom prst="rect">
            <a:avLst/>
          </a:prstGeom>
          <a:noFill/>
        </p:spPr>
        <p:txBody>
          <a:bodyPr wrap="square">
            <a:spAutoFit/>
          </a:bodyPr>
          <a:lstStyle/>
          <a:p>
            <a:pPr>
              <a:defRPr sz="1400" b="1">
                <a:solidFill>
                  <a:srgbClr val="1E3A8A"/>
                </a:solidFill>
                <a:latin typeface="Segoe UI"/>
              </a:defRPr>
            </a:pPr>
            <a:r>
              <a:t>Traditional Setup vs. Standalone .exe</a:t>
            </a:r>
          </a:p>
          <a:p>
            <a:pPr>
              <a:spcBef>
                <a:spcPts val="400"/>
              </a:spcBef>
              <a:defRPr sz="1100">
                <a:solidFill>
                  <a:srgbClr val="0F172A"/>
                </a:solidFill>
                <a:latin typeface="Segoe UI"/>
              </a:defRPr>
            </a:pPr>
            <a:r>
              <a:t>The Deployment Barrier: Non-technical users (Chartered Accountants, trade finance desks, and audit trainees) lack Python installations and command-line comfort.</a:t>
            </a:r>
          </a:p>
          <a:p>
            <a:pPr>
              <a:spcBef>
                <a:spcPts val="400"/>
              </a:spcBef>
              <a:defRPr sz="1100">
                <a:solidFill>
                  <a:srgbClr val="0F172A"/>
                </a:solidFill>
                <a:latin typeface="Segoe UI"/>
              </a:defRPr>
            </a:pPr>
            <a:r>
              <a:t>Traditional Python App:</a:t>
            </a:r>
          </a:p>
          <a:p>
            <a:pPr>
              <a:spcBef>
                <a:spcPts val="400"/>
              </a:spcBef>
              <a:defRPr sz="1100">
                <a:solidFill>
                  <a:srgbClr val="0F172A"/>
                </a:solidFill>
                <a:latin typeface="Segoe UI"/>
              </a:defRPr>
            </a:pPr>
            <a:r>
              <a:t>  • Requires Python 3.9+ runtime installation</a:t>
            </a:r>
          </a:p>
          <a:p>
            <a:pPr>
              <a:spcBef>
                <a:spcPts val="400"/>
              </a:spcBef>
              <a:defRPr sz="1100">
                <a:solidFill>
                  <a:srgbClr val="0F172A"/>
                </a:solidFill>
                <a:latin typeface="Segoe UI"/>
              </a:defRPr>
            </a:pPr>
            <a:r>
              <a:t>  • Requires pip install -r requirements.txt</a:t>
            </a:r>
          </a:p>
          <a:p>
            <a:pPr>
              <a:spcBef>
                <a:spcPts val="400"/>
              </a:spcBef>
              <a:defRPr sz="1100">
                <a:solidFill>
                  <a:srgbClr val="0F172A"/>
                </a:solidFill>
                <a:latin typeface="Segoe UI"/>
              </a:defRPr>
            </a:pPr>
            <a:r>
              <a:t>  • Fragile dependency clashes and environment issues</a:t>
            </a:r>
          </a:p>
          <a:p>
            <a:pPr>
              <a:spcBef>
                <a:spcPts val="400"/>
              </a:spcBef>
              <a:defRPr sz="1100">
                <a:solidFill>
                  <a:srgbClr val="0F172A"/>
                </a:solidFill>
                <a:latin typeface="Segoe UI"/>
              </a:defRPr>
            </a:pPr>
            <a:r>
              <a:t>  • Console window remains open during execution</a:t>
            </a:r>
          </a:p>
          <a:p>
            <a:pPr>
              <a:spcBef>
                <a:spcPts val="400"/>
              </a:spcBef>
              <a:defRPr sz="1100">
                <a:solidFill>
                  <a:srgbClr val="0F172A"/>
                </a:solidFill>
                <a:latin typeface="Segoe UI"/>
              </a:defRPr>
            </a:pPr>
            <a:r>
              <a:t>LC Analyser Solution (LC_Analyser.exe):</a:t>
            </a:r>
          </a:p>
          <a:p>
            <a:pPr>
              <a:spcBef>
                <a:spcPts val="400"/>
              </a:spcBef>
              <a:defRPr sz="1100">
                <a:solidFill>
                  <a:srgbClr val="0F172A"/>
                </a:solidFill>
                <a:latin typeface="Segoe UI"/>
              </a:defRPr>
            </a:pPr>
            <a:r>
              <a:t>  • Single, double-clickable 41.4 MB Windows binary</a:t>
            </a:r>
          </a:p>
          <a:p>
            <a:pPr>
              <a:spcBef>
                <a:spcPts val="400"/>
              </a:spcBef>
              <a:defRPr sz="1100">
                <a:solidFill>
                  <a:srgbClr val="0F172A"/>
                </a:solidFill>
                <a:latin typeface="Segoe UI"/>
              </a:defRPr>
            </a:pPr>
            <a:r>
              <a:t>  • Zero prerequisite software or installations</a:t>
            </a:r>
          </a:p>
          <a:p>
            <a:pPr>
              <a:spcBef>
                <a:spcPts val="400"/>
              </a:spcBef>
              <a:defRPr sz="1100">
                <a:solidFill>
                  <a:srgbClr val="0F172A"/>
                </a:solidFill>
                <a:latin typeface="Segoe UI"/>
              </a:defRPr>
            </a:pPr>
            <a:r>
              <a:t>  • Clean launch with --noconsole (no ugly terminal)</a:t>
            </a:r>
          </a:p>
          <a:p>
            <a:pPr>
              <a:spcBef>
                <a:spcPts val="400"/>
              </a:spcBef>
              <a:defRPr sz="1100">
                <a:solidFill>
                  <a:srgbClr val="0F172A"/>
                </a:solidFill>
                <a:latin typeface="Segoe UI"/>
              </a:defRPr>
            </a:pPr>
            <a:r>
              <a:t>  • Fully portable: runs from Desktop or USB drive</a:t>
            </a:r>
          </a:p>
        </p:txBody>
      </p:sp>
      <p:sp>
        <p:nvSpPr>
          <p:cNvPr id="7" name="Rounded Rectangle 6"/>
          <p:cNvSpPr/>
          <p:nvPr/>
        </p:nvSpPr>
        <p:spPr>
          <a:xfrm>
            <a:off x="6309360" y="1463040"/>
            <a:ext cx="512064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645920"/>
            <a:ext cx="4754880" cy="4389120"/>
          </a:xfrm>
          <a:prstGeom prst="rect">
            <a:avLst/>
          </a:prstGeom>
          <a:noFill/>
        </p:spPr>
        <p:txBody>
          <a:bodyPr wrap="square">
            <a:spAutoFit/>
          </a:bodyPr>
          <a:lstStyle/>
          <a:p>
            <a:pPr>
              <a:defRPr sz="1400" b="1">
                <a:solidFill>
                  <a:srgbClr val="1E3A8A"/>
                </a:solidFill>
                <a:latin typeface="Segoe UI"/>
              </a:defRPr>
            </a:pPr>
            <a:r>
              <a:t>PyInstaller Engineering &amp; Portable DB</a:t>
            </a:r>
          </a:p>
          <a:p>
            <a:pPr>
              <a:spcBef>
                <a:spcPts val="800"/>
              </a:spcBef>
              <a:defRPr sz="1200">
                <a:solidFill>
                  <a:srgbClr val="0F172A"/>
                </a:solidFill>
                <a:latin typeface="Segoe UI"/>
              </a:defRPr>
            </a:pPr>
            <a:r>
              <a:t>• Comprehensive Asset Bundling: PyInstaller bundles all Python bytecode, the Tkinter GUI engine, reportlab fonts, and python-docx document templates into a unified archive.</a:t>
            </a:r>
          </a:p>
          <a:p>
            <a:pPr>
              <a:spcBef>
                <a:spcPts val="800"/>
              </a:spcBef>
              <a:defRPr sz="1200">
                <a:solidFill>
                  <a:srgbClr val="0F172A"/>
                </a:solidFill>
                <a:latin typeface="Segoe UI"/>
              </a:defRPr>
            </a:pPr>
            <a:r>
              <a:t>• Portable Database Anchoring: Solved the temporary folder (_MEIPASS) trap. If packaged naively, PyInstaller writes database changes to temp folders that are wiped on exit.</a:t>
            </a:r>
          </a:p>
          <a:p>
            <a:pPr>
              <a:spcBef>
                <a:spcPts val="800"/>
              </a:spcBef>
              <a:defRPr sz="1200">
                <a:solidFill>
                  <a:srgbClr val="0F172A"/>
                </a:solidFill>
                <a:latin typeface="Segoe UI"/>
              </a:defRPr>
            </a:pPr>
            <a:r>
              <a:t>• Dynamic sys.frozen Detection: Modified database.py to anchor DEFAULT_DB_PATH adjacent to sys.executable. Saved LCs, remarks, and verdicts persist permanently next to the .exe.</a:t>
            </a:r>
          </a:p>
          <a:p>
            <a:pPr>
              <a:spcBef>
                <a:spcPts val="800"/>
              </a:spcBef>
              <a:defRPr sz="1200">
                <a:solidFill>
                  <a:srgbClr val="0F172A"/>
                </a:solidFill>
                <a:latin typeface="Segoe UI"/>
              </a:defRPr>
            </a:pPr>
            <a:r>
              <a:t>• Zero Loss Portability: Users can move LC_Analyser.exe and lc_database.db together across PCs without losing historical audit archives.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Segoe UI"/>
              </a:defRPr>
            </a:pPr>
            <a:r>
              <a:t>SECURITY &amp; COMPLIANCE</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200" b="1">
                <a:solidFill>
                  <a:srgbClr val="0F2942"/>
                </a:solidFill>
                <a:latin typeface="Segoe UI"/>
              </a:defRPr>
            </a:pPr>
            <a:r>
              <a:t>Data Privacy, Banking Secrecy &amp; Deterministic Precision</a:t>
            </a:r>
          </a:p>
        </p:txBody>
      </p:sp>
      <p:sp>
        <p:nvSpPr>
          <p:cNvPr id="5" name="Rounded Rectangle 4"/>
          <p:cNvSpPr/>
          <p:nvPr/>
        </p:nvSpPr>
        <p:spPr>
          <a:xfrm>
            <a:off x="731520" y="1463040"/>
            <a:ext cx="342900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91640"/>
            <a:ext cx="2971800" cy="4297680"/>
          </a:xfrm>
          <a:prstGeom prst="rect">
            <a:avLst/>
          </a:prstGeom>
          <a:noFill/>
        </p:spPr>
        <p:txBody>
          <a:bodyPr wrap="square">
            <a:spAutoFit/>
          </a:bodyPr>
          <a:lstStyle/>
          <a:p>
            <a:pPr>
              <a:defRPr sz="1400" b="1">
                <a:solidFill>
                  <a:srgbClr val="1E3A8A"/>
                </a:solidFill>
                <a:latin typeface="Segoe UI"/>
              </a:defRPr>
            </a:pPr>
            <a:r>
              <a:t>100% Air-Gapped Data Privacy</a:t>
            </a:r>
          </a:p>
          <a:p>
            <a:pPr>
              <a:spcBef>
                <a:spcPts val="800"/>
              </a:spcBef>
              <a:defRPr sz="1200">
                <a:solidFill>
                  <a:srgbClr val="0F172A"/>
                </a:solidFill>
                <a:latin typeface="Segoe UI"/>
              </a:defRPr>
            </a:pPr>
            <a:r>
              <a:t>Commercial Confidentiality: Letters of Credit contain proprietary business data: profit margins, counterparty names, and credit lines.</a:t>
            </a:r>
          </a:p>
          <a:p>
            <a:pPr>
              <a:spcBef>
                <a:spcPts val="800"/>
              </a:spcBef>
              <a:defRPr sz="1200">
                <a:solidFill>
                  <a:srgbClr val="0F172A"/>
                </a:solidFill>
                <a:latin typeface="Segoe UI"/>
              </a:defRPr>
            </a:pPr>
            <a:r>
              <a:t>Zero Cloud Transmission: The software runs 100% locally on the host machine. Not a single byte is sent to external cloud APIs or public LLMs.</a:t>
            </a:r>
          </a:p>
          <a:p>
            <a:pPr>
              <a:spcBef>
                <a:spcPts val="800"/>
              </a:spcBef>
              <a:defRPr sz="1200">
                <a:solidFill>
                  <a:srgbClr val="0F172A"/>
                </a:solidFill>
                <a:latin typeface="Segoe UI"/>
              </a:defRPr>
            </a:pPr>
            <a:r>
              <a:t>Regulatory Compliance: Compliant with banking secrecy mandates, GDPR, and Indian data privacy standards. Safe for tier-1 bank audits.</a:t>
            </a:r>
          </a:p>
        </p:txBody>
      </p:sp>
      <p:sp>
        <p:nvSpPr>
          <p:cNvPr id="7" name="Rounded Rectangle 6"/>
          <p:cNvSpPr/>
          <p:nvPr/>
        </p:nvSpPr>
        <p:spPr>
          <a:xfrm>
            <a:off x="4343400" y="1463040"/>
            <a:ext cx="342900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91640"/>
            <a:ext cx="2971800" cy="4297680"/>
          </a:xfrm>
          <a:prstGeom prst="rect">
            <a:avLst/>
          </a:prstGeom>
          <a:noFill/>
        </p:spPr>
        <p:txBody>
          <a:bodyPr wrap="square">
            <a:spAutoFit/>
          </a:bodyPr>
          <a:lstStyle/>
          <a:p>
            <a:pPr>
              <a:defRPr sz="1400" b="1">
                <a:solidFill>
                  <a:srgbClr val="1E3A8A"/>
                </a:solidFill>
                <a:latin typeface="Segoe UI"/>
              </a:defRPr>
            </a:pPr>
            <a:r>
              <a:t>Deterministic Precision</a:t>
            </a:r>
          </a:p>
          <a:p>
            <a:pPr>
              <a:spcBef>
                <a:spcPts val="800"/>
              </a:spcBef>
              <a:defRPr sz="1200">
                <a:solidFill>
                  <a:srgbClr val="0F172A"/>
                </a:solidFill>
                <a:latin typeface="Segoe UI"/>
              </a:defRPr>
            </a:pPr>
            <a:r>
              <a:t>Zero Hallucination Risk: Generative AI models can occasionally hallucinate dates or miss nuanced banking rules.</a:t>
            </a:r>
          </a:p>
          <a:p>
            <a:pPr>
              <a:spcBef>
                <a:spcPts val="800"/>
              </a:spcBef>
              <a:defRPr sz="1200">
                <a:solidFill>
                  <a:srgbClr val="0F172A"/>
                </a:solidFill>
                <a:latin typeface="Segoe UI"/>
              </a:defRPr>
            </a:pPr>
            <a:r>
              <a:t>Explicit Rule-Based Verification: Every check is grounded strictly in codified ICC UCP 600 articles and ISBP 745 standards.</a:t>
            </a:r>
          </a:p>
          <a:p>
            <a:pPr>
              <a:spcBef>
                <a:spcPts val="800"/>
              </a:spcBef>
              <a:defRPr sz="1200">
                <a:solidFill>
                  <a:srgbClr val="0F172A"/>
                </a:solidFill>
                <a:latin typeface="Segoe UI"/>
              </a:defRPr>
            </a:pPr>
            <a:r>
              <a:t>Legally Defensible: Financial institutions require deterministic, explainable verdicts that stand up in trade dispute arbitrations.</a:t>
            </a:r>
          </a:p>
        </p:txBody>
      </p:sp>
      <p:sp>
        <p:nvSpPr>
          <p:cNvPr id="9" name="Rounded Rectangle 8"/>
          <p:cNvSpPr/>
          <p:nvPr/>
        </p:nvSpPr>
        <p:spPr>
          <a:xfrm>
            <a:off x="7955280" y="1463040"/>
            <a:ext cx="342900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691640"/>
            <a:ext cx="2971800" cy="4297680"/>
          </a:xfrm>
          <a:prstGeom prst="rect">
            <a:avLst/>
          </a:prstGeom>
          <a:noFill/>
        </p:spPr>
        <p:txBody>
          <a:bodyPr wrap="square">
            <a:spAutoFit/>
          </a:bodyPr>
          <a:lstStyle/>
          <a:p>
            <a:pPr>
              <a:defRPr sz="1400" b="1">
                <a:solidFill>
                  <a:srgbClr val="1E3A8A"/>
                </a:solidFill>
                <a:latin typeface="Segoe UI"/>
              </a:defRPr>
            </a:pPr>
            <a:r>
              <a:t>Audit Reproducibility</a:t>
            </a:r>
          </a:p>
          <a:p>
            <a:pPr>
              <a:spcBef>
                <a:spcPts val="800"/>
              </a:spcBef>
              <a:defRPr sz="1200">
                <a:solidFill>
                  <a:srgbClr val="0F172A"/>
                </a:solidFill>
                <a:latin typeface="Segoe UI"/>
              </a:defRPr>
            </a:pPr>
            <a:r>
              <a:t>Consistent Results: Processing the same LC copy will always yield identical, reproducible compliance results.</a:t>
            </a:r>
          </a:p>
          <a:p>
            <a:pPr>
              <a:spcBef>
                <a:spcPts val="800"/>
              </a:spcBef>
              <a:defRPr sz="1200">
                <a:solidFill>
                  <a:srgbClr val="0F172A"/>
                </a:solidFill>
                <a:latin typeface="Segoe UI"/>
              </a:defRPr>
            </a:pPr>
            <a:r>
              <a:t>Transparent Logic: Every verdict is accompanied by explicit rule notes citing the exact UCP 600 article (e.g., Art 14c, Art 30).</a:t>
            </a:r>
          </a:p>
          <a:p>
            <a:pPr>
              <a:spcBef>
                <a:spcPts val="800"/>
              </a:spcBef>
              <a:defRPr sz="1200">
                <a:solidFill>
                  <a:srgbClr val="0F172A"/>
                </a:solidFill>
                <a:latin typeface="Segoe UI"/>
              </a:defRPr>
            </a:pPr>
            <a:r>
              <a:t>Human Oversight: Suggested verdicts act as a first-pass draft, leaving final sign-off in the qualified auditor's hands.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Segoe UI"/>
              </a:defRPr>
            </a:pPr>
            <a:r>
              <a:t>PROFESSIONAL IMPACT</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200" b="1">
                <a:solidFill>
                  <a:srgbClr val="0F2942"/>
                </a:solidFill>
                <a:latin typeface="Segoe UI"/>
              </a:defRPr>
            </a:pPr>
            <a:r>
              <a:t>Practical Impact: Transforming Practice for CAs &amp; Trade Desks</a:t>
            </a:r>
          </a:p>
        </p:txBody>
      </p:sp>
      <p:sp>
        <p:nvSpPr>
          <p:cNvPr id="5" name="Rounded Rectangle 4"/>
          <p:cNvSpPr/>
          <p:nvPr/>
        </p:nvSpPr>
        <p:spPr>
          <a:xfrm>
            <a:off x="731520" y="1463040"/>
            <a:ext cx="106984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10149840" cy="4389120"/>
          </a:xfrm>
          <a:prstGeom prst="rect">
            <a:avLst/>
          </a:prstGeom>
          <a:noFill/>
        </p:spPr>
        <p:txBody>
          <a:bodyPr wrap="square">
            <a:spAutoFit/>
          </a:bodyPr>
          <a:lstStyle/>
          <a:p>
            <a:pPr>
              <a:defRPr sz="1500" b="1">
                <a:solidFill>
                  <a:srgbClr val="1E3A8A"/>
                </a:solidFill>
                <a:latin typeface="Segoe UI"/>
              </a:defRPr>
            </a:pPr>
            <a:r>
              <a:t>Comparative ROI: Traditional Manual Audit vs. LC Analyser</a:t>
            </a:r>
          </a:p>
          <a:p>
            <a:pPr>
              <a:spcBef>
                <a:spcPts val="800"/>
              </a:spcBef>
              <a:defRPr sz="1200">
                <a:solidFill>
                  <a:srgbClr val="0F172A"/>
                </a:solidFill>
                <a:latin typeface="Segoe UI"/>
              </a:defRPr>
            </a:pPr>
            <a:r>
              <a:t>• Average Scrutiny Time:  3 to 4 hours of intense manual line-by-line reading  ➔  Under 30 seconds for complete parsing and rule evaluation</a:t>
            </a:r>
          </a:p>
          <a:p>
            <a:pPr>
              <a:spcBef>
                <a:spcPts val="800"/>
              </a:spcBef>
              <a:defRPr sz="1200">
                <a:solidFill>
                  <a:srgbClr val="0F172A"/>
                </a:solidFill>
                <a:latin typeface="Segoe UI"/>
              </a:defRPr>
            </a:pPr>
            <a:r>
              <a:t>• Risk of Overlooked Traps:  High due to human fatigue, complex SWIFT tags, and fine print  ➔  Near zero: automated checklist checks all 30+ mandatory parameters</a:t>
            </a:r>
          </a:p>
          <a:p>
            <a:pPr>
              <a:spcBef>
                <a:spcPts val="800"/>
              </a:spcBef>
              <a:defRPr sz="1200">
                <a:solidFill>
                  <a:srgbClr val="0F172A"/>
                </a:solidFill>
                <a:latin typeface="Segoe UI"/>
              </a:defRPr>
            </a:pPr>
            <a:r>
              <a:t>• Amendment Turnaround:  1 to 2 business days to draft, approve, and send amendment letters  ➔  Instant: one-click generation of formal, ready-to-send Word letters</a:t>
            </a:r>
          </a:p>
          <a:p>
            <a:pPr>
              <a:spcBef>
                <a:spcPts val="800"/>
              </a:spcBef>
              <a:defRPr sz="1200">
                <a:solidFill>
                  <a:srgbClr val="0F172A"/>
                </a:solidFill>
                <a:latin typeface="Segoe UI"/>
              </a:defRPr>
            </a:pPr>
            <a:r>
              <a:t>• Audit Documentation:  Disorganized emails, sticky notes, and loose paper folders  ➔  Structured SQLite database archive + executive Word/PDF sign-off sheets</a:t>
            </a:r>
          </a:p>
          <a:p>
            <a:pPr>
              <a:spcBef>
                <a:spcPts val="800"/>
              </a:spcBef>
              <a:defRPr sz="1200">
                <a:solidFill>
                  <a:srgbClr val="0F172A"/>
                </a:solidFill>
                <a:latin typeface="Segoe UI"/>
              </a:defRPr>
            </a:pPr>
            <a:r>
              <a:t>• Direct Cost Savings:  Exposure to $75-$150 discrepancy fees and heavy port demurrage  ➔  Eliminates pre-presentation discrepancies before shipment occurs</a:t>
            </a:r>
          </a:p>
          <a:p>
            <a:pPr>
              <a:spcBef>
                <a:spcPts val="800"/>
              </a:spcBef>
              <a:defRPr sz="1200">
                <a:solidFill>
                  <a:srgbClr val="0F172A"/>
                </a:solidFill>
                <a:latin typeface="Segoe UI"/>
              </a:defRPr>
            </a:pPr>
            <a:r>
              <a:t>• Professional Practice Value:  Low-margin compliance chore often rushed under time pressure  ➔  High-value advisory service: pre-shipment LC vetting for export clients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320040"/>
          </a:xfrm>
          <a:prstGeom prst="rect">
            <a:avLst/>
          </a:prstGeom>
          <a:noFill/>
        </p:spPr>
        <p:txBody>
          <a:bodyPr wrap="square" lIns="0" tIns="0" rIns="0" bIns="0">
            <a:spAutoFit/>
          </a:bodyPr>
          <a:lstStyle/>
          <a:p>
            <a:pPr>
              <a:defRPr sz="1100" b="1">
                <a:solidFill>
                  <a:srgbClr val="EBF3FA"/>
                </a:solidFill>
                <a:latin typeface="Segoe UI"/>
              </a:defRPr>
            </a:pPr>
            <a:r>
              <a:t>LOOKING AHEAD</a:t>
            </a:r>
          </a:p>
        </p:txBody>
      </p:sp>
      <p:sp>
        <p:nvSpPr>
          <p:cNvPr id="5" name="TextBox 4"/>
          <p:cNvSpPr txBox="1"/>
          <p:nvPr/>
        </p:nvSpPr>
        <p:spPr>
          <a:xfrm>
            <a:off x="731520" y="685800"/>
            <a:ext cx="10698480" cy="594360"/>
          </a:xfrm>
          <a:prstGeom prst="rect">
            <a:avLst/>
          </a:prstGeom>
          <a:noFill/>
        </p:spPr>
        <p:txBody>
          <a:bodyPr wrap="square" lIns="0" tIns="0" rIns="0" bIns="0">
            <a:spAutoFit/>
          </a:bodyPr>
          <a:lstStyle/>
          <a:p>
            <a:pPr>
              <a:defRPr sz="2200" b="1">
                <a:solidFill>
                  <a:srgbClr val="FFFFFF"/>
                </a:solidFill>
                <a:latin typeface="Segoe UI"/>
              </a:defRPr>
            </a:pPr>
            <a:r>
              <a:t>Project Conclusion &amp; Future Strategic Roadmap</a:t>
            </a:r>
          </a:p>
        </p:txBody>
      </p:sp>
      <p:sp>
        <p:nvSpPr>
          <p:cNvPr id="6" name="Rounded Rectangle 5"/>
          <p:cNvSpPr/>
          <p:nvPr/>
        </p:nvSpPr>
        <p:spPr>
          <a:xfrm>
            <a:off x="731520" y="1463040"/>
            <a:ext cx="5120640" cy="4754880"/>
          </a:xfrm>
          <a:prstGeom prst="roundRect">
            <a:avLst/>
          </a:prstGeom>
          <a:solidFill>
            <a:srgbClr val="1E3A8A"/>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45920"/>
            <a:ext cx="4754880" cy="4389120"/>
          </a:xfrm>
          <a:prstGeom prst="rect">
            <a:avLst/>
          </a:prstGeom>
          <a:noFill/>
        </p:spPr>
        <p:txBody>
          <a:bodyPr wrap="square">
            <a:spAutoFit/>
          </a:bodyPr>
          <a:lstStyle/>
          <a:p>
            <a:pPr>
              <a:defRPr sz="1500" b="1">
                <a:solidFill>
                  <a:srgbClr val="FFFFFF"/>
                </a:solidFill>
                <a:latin typeface="Segoe UI"/>
              </a:defRPr>
            </a:pPr>
            <a:r>
              <a:t>Key Project Achievements</a:t>
            </a:r>
          </a:p>
          <a:p>
            <a:pPr>
              <a:spcBef>
                <a:spcPts val="1200"/>
              </a:spcBef>
              <a:defRPr sz="1200">
                <a:solidFill>
                  <a:srgbClr val="EBF3FA"/>
                </a:solidFill>
                <a:latin typeface="Segoe UI"/>
              </a:defRPr>
            </a:pPr>
            <a:r>
              <a:t>• Built a complete, production-grade desktop application solving a real-world trade finance challenge.</a:t>
            </a:r>
          </a:p>
          <a:p>
            <a:pPr>
              <a:spcBef>
                <a:spcPts val="1200"/>
              </a:spcBef>
              <a:defRPr sz="1200">
                <a:solidFill>
                  <a:srgbClr val="EBF3FA"/>
                </a:solidFill>
                <a:latin typeface="Segoe UI"/>
              </a:defRPr>
            </a:pPr>
            <a:r>
              <a:t>• Demonstrated the power of multi-agent AI pair programming: combining Claude's algorithmic prototyping with Antigravity's enterprise architecture.</a:t>
            </a:r>
          </a:p>
          <a:p>
            <a:pPr>
              <a:spcBef>
                <a:spcPts val="1200"/>
              </a:spcBef>
              <a:defRPr sz="1200">
                <a:solidFill>
                  <a:srgbClr val="EBF3FA"/>
                </a:solidFill>
                <a:latin typeface="Segoe UI"/>
              </a:defRPr>
            </a:pPr>
            <a:r>
              <a:t>• Engineered a zero-dependency standalone executable (LC_Analyser.exe) ready for instant deployment on any Windows workstation.</a:t>
            </a:r>
          </a:p>
          <a:p>
            <a:pPr>
              <a:spcBef>
                <a:spcPts val="1200"/>
              </a:spcBef>
              <a:defRPr sz="1200">
                <a:solidFill>
                  <a:srgbClr val="EBF3FA"/>
                </a:solidFill>
                <a:latin typeface="Segoe UI"/>
              </a:defRPr>
            </a:pPr>
            <a:r>
              <a:t>• Ensured 100% offline air-gapped data privacy and legally defensible UCP 600 compliance.</a:t>
            </a:r>
          </a:p>
        </p:txBody>
      </p:sp>
      <p:sp>
        <p:nvSpPr>
          <p:cNvPr id="8" name="Rounded Rectangle 7"/>
          <p:cNvSpPr/>
          <p:nvPr/>
        </p:nvSpPr>
        <p:spPr>
          <a:xfrm>
            <a:off x="6309360" y="1463040"/>
            <a:ext cx="5120640" cy="4754880"/>
          </a:xfrm>
          <a:prstGeom prst="roundRect">
            <a:avLst/>
          </a:prstGeom>
          <a:solidFill>
            <a:srgbClr val="1E3A8A"/>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645920"/>
            <a:ext cx="4754880" cy="4389120"/>
          </a:xfrm>
          <a:prstGeom prst="rect">
            <a:avLst/>
          </a:prstGeom>
          <a:noFill/>
        </p:spPr>
        <p:txBody>
          <a:bodyPr wrap="square">
            <a:spAutoFit/>
          </a:bodyPr>
          <a:lstStyle/>
          <a:p>
            <a:pPr>
              <a:defRPr sz="1500" b="1">
                <a:solidFill>
                  <a:srgbClr val="FFFFFF"/>
                </a:solidFill>
                <a:latin typeface="Segoe UI"/>
              </a:defRPr>
            </a:pPr>
            <a:r>
              <a:t>Future Strategic Roadmap</a:t>
            </a:r>
          </a:p>
          <a:p>
            <a:pPr>
              <a:spcBef>
                <a:spcPts val="1200"/>
              </a:spcBef>
              <a:defRPr sz="1200">
                <a:solidFill>
                  <a:srgbClr val="EBF3FA"/>
                </a:solidFill>
                <a:latin typeface="Segoe UI"/>
              </a:defRPr>
            </a:pPr>
            <a:r>
              <a:t>• OCR Integration: Integrating native Windows OCR and Tesseract to support scanned paper and image-only LCs.</a:t>
            </a:r>
          </a:p>
          <a:p>
            <a:pPr>
              <a:spcBef>
                <a:spcPts val="1200"/>
              </a:spcBef>
              <a:defRPr sz="1200">
                <a:solidFill>
                  <a:srgbClr val="EBF3FA"/>
                </a:solidFill>
                <a:latin typeface="Segoe UI"/>
              </a:defRPr>
            </a:pPr>
            <a:r>
              <a:t>• Hybrid Local LLM Layer: Adding an optional local/private LLM module for semantic interpretation of complex, ambiguous narrative conditions.</a:t>
            </a:r>
          </a:p>
          <a:p>
            <a:pPr>
              <a:spcBef>
                <a:spcPts val="1200"/>
              </a:spcBef>
              <a:defRPr sz="1200">
                <a:solidFill>
                  <a:srgbClr val="EBF3FA"/>
                </a:solidFill>
                <a:latin typeface="Segoe UI"/>
              </a:defRPr>
            </a:pPr>
            <a:r>
              <a:t>• Core Banking &amp; ERP Connectors: Direct synchronization with SAP, Tally Prime, and bank SWIFT gateways.</a:t>
            </a:r>
          </a:p>
          <a:p>
            <a:pPr>
              <a:spcBef>
                <a:spcPts val="1200"/>
              </a:spcBef>
              <a:defRPr sz="1200">
                <a:solidFill>
                  <a:srgbClr val="EBF3FA"/>
                </a:solidFill>
                <a:latin typeface="Segoe UI"/>
              </a:defRPr>
            </a:pPr>
            <a:r>
              <a:t>• Expanded Rulebooks: Incorporating Incoterms 2020 rules, eUCP (electronic credits), and Standby Letters of Credit (ISP98).</a:t>
            </a:r>
          </a:p>
          <a:p>
            <a:pPr>
              <a:spcBef>
                <a:spcPts val="2400"/>
              </a:spcBef>
              <a:defRPr sz="1400" b="1">
                <a:solidFill>
                  <a:srgbClr val="FFFFFF"/>
                </a:solidFill>
                <a:latin typeface="Segoe UI"/>
              </a:defRPr>
            </a:pPr>
            <a:r>
              <a:t>Open for Live Demonstration &amp;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PowerPoint</Application>
  <PresentationFormat>Widescreen</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