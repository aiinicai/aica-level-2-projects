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1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2B2F6A-06E1-4A0B-8479-87E8216708FE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9F9DBA-9DCE-4357-BEBC-382DEC368B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492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1020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3"/>
          <p:cNvSpPr/>
          <p:nvPr/>
        </p:nvSpPr>
        <p:spPr>
          <a:xfrm>
            <a:off x="8366760" y="-1417320"/>
            <a:ext cx="5394960" cy="5394960"/>
          </a:xfrm>
          <a:prstGeom prst="ellipse">
            <a:avLst/>
          </a:prstGeom>
          <a:solidFill>
            <a:srgbClr val="1B33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4"/>
          <p:cNvSpPr/>
          <p:nvPr/>
        </p:nvSpPr>
        <p:spPr>
          <a:xfrm>
            <a:off x="9281160" y="-502920"/>
            <a:ext cx="3566160" cy="3566160"/>
          </a:xfrm>
          <a:prstGeom prst="ellipse">
            <a:avLst/>
          </a:prstGeom>
          <a:solidFill>
            <a:srgbClr val="10203F"/>
          </a:solidFill>
          <a:ln w="15875">
            <a:solidFill>
              <a:srgbClr val="C9A227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5" name="icon"/>
          <p:cNvPicPr/>
          <p:nvPr/>
        </p:nvPicPr>
        <p:blipFill>
          <a:blip r:embed="rId2"/>
          <a:stretch>
            <a:fillRect/>
          </a:stretch>
        </p:blipFill>
        <p:spPr>
          <a:xfrm>
            <a:off x="10469880" y="685800"/>
            <a:ext cx="1188720" cy="1188720"/>
          </a:xfrm>
          <a:prstGeom prst="rect">
            <a:avLst/>
          </a:prstGeom>
        </p:spPr>
      </p:pic>
      <p:sp>
        <p:nvSpPr>
          <p:cNvPr id="6" name="s6"/>
          <p:cNvSpPr/>
          <p:nvPr/>
        </p:nvSpPr>
        <p:spPr>
          <a:xfrm>
            <a:off x="-1463040" y="5029200"/>
            <a:ext cx="3840480" cy="3840480"/>
          </a:xfrm>
          <a:prstGeom prst="ellipse">
            <a:avLst/>
          </a:prstGeom>
          <a:solidFill>
            <a:srgbClr val="1629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7"/>
          <p:cNvSpPr txBox="1"/>
          <p:nvPr/>
        </p:nvSpPr>
        <p:spPr>
          <a:xfrm>
            <a:off x="822960" y="12984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IN" sz="1100" b="1" spc="300" dirty="0">
                <a:solidFill>
                  <a:srgbClr val="C9A227"/>
                </a:solidFill>
                <a:latin typeface="Calibri"/>
                <a:cs typeface="Calibri"/>
              </a:rPr>
              <a:t>ICAI AI COURSE  •  LEVEL 2 CAPSTONE PROJECT</a:t>
            </a:r>
          </a:p>
        </p:txBody>
      </p:sp>
      <p:sp>
        <p:nvSpPr>
          <p:cNvPr id="8" name="t8"/>
          <p:cNvSpPr txBox="1"/>
          <p:nvPr/>
        </p:nvSpPr>
        <p:spPr>
          <a:xfrm>
            <a:off x="822960" y="1719072"/>
            <a:ext cx="95097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IN" sz="4600" b="1" dirty="0">
                <a:solidFill>
                  <a:srgbClr val="FFFFFF"/>
                </a:solidFill>
                <a:latin typeface="Cambria"/>
                <a:cs typeface="Cambria"/>
              </a:rPr>
              <a:t>Schedule III Ratio Analyser</a:t>
            </a:r>
          </a:p>
        </p:txBody>
      </p:sp>
      <p:sp>
        <p:nvSpPr>
          <p:cNvPr id="9" name="t9"/>
          <p:cNvSpPr txBox="1"/>
          <p:nvPr/>
        </p:nvSpPr>
        <p:spPr>
          <a:xfrm>
            <a:off x="822960" y="2670048"/>
            <a:ext cx="87782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IN" sz="1700" dirty="0">
                <a:solidFill>
                  <a:srgbClr val="CADCFC"/>
                </a:solidFill>
                <a:latin typeface="Calibri"/>
                <a:cs typeface="Calibri"/>
              </a:rPr>
              <a:t>Autonomous Statutory Analytical Ratios &amp; Variance Intelligence Engine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822960" y="3401568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IN" sz="1350" dirty="0">
                <a:solidFill>
                  <a:srgbClr val="9FB4D4"/>
                </a:solidFill>
                <a:latin typeface="Calibri"/>
                <a:cs typeface="Calibri"/>
              </a:rPr>
              <a:t>An offline desktop application for Chartered Accountants and statutory audit teams to compute, validate, and disclose the 11 Analytical Ratios mandated under Schedule III of the Companies Act, 2013.</a:t>
            </a:r>
          </a:p>
        </p:txBody>
      </p:sp>
      <p:sp>
        <p:nvSpPr>
          <p:cNvPr id="11" name="s11"/>
          <p:cNvSpPr/>
          <p:nvPr/>
        </p:nvSpPr>
        <p:spPr>
          <a:xfrm>
            <a:off x="3909119" y="5138927"/>
            <a:ext cx="2971800" cy="927575"/>
          </a:xfrm>
          <a:prstGeom prst="roundRect">
            <a:avLst>
              <a:gd name="adj" fmla="val 50000"/>
            </a:avLst>
          </a:prstGeom>
          <a:solidFill>
            <a:srgbClr val="1B3358"/>
          </a:solidFill>
          <a:ln w="12700">
            <a:solidFill>
              <a:srgbClr val="C9A227"/>
            </a:solidFill>
          </a:ln>
        </p:spPr>
        <p:txBody>
          <a:bodyPr/>
          <a:lstStyle/>
          <a:p>
            <a:endParaRPr sz="2000" dirty="0"/>
          </a:p>
        </p:txBody>
      </p:sp>
      <p:sp>
        <p:nvSpPr>
          <p:cNvPr id="12" name="t12"/>
          <p:cNvSpPr txBox="1"/>
          <p:nvPr/>
        </p:nvSpPr>
        <p:spPr>
          <a:xfrm>
            <a:off x="3909119" y="5559552"/>
            <a:ext cx="2971800" cy="39643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IN" sz="1600" b="1" dirty="0">
                <a:solidFill>
                  <a:srgbClr val="FFFFFF"/>
                </a:solidFill>
                <a:latin typeface="Calibri"/>
                <a:cs typeface="Calibri"/>
              </a:rPr>
              <a:t>Submitted By: CA Vaibhav Garg</a:t>
            </a:r>
          </a:p>
          <a:p>
            <a:pPr algn="ctr"/>
            <a:r>
              <a:rPr lang="en-IN" sz="1600" b="1" dirty="0">
                <a:solidFill>
                  <a:srgbClr val="FFFFFF"/>
                </a:solidFill>
                <a:latin typeface="Calibri"/>
                <a:cs typeface="Calibri"/>
              </a:rPr>
              <a:t>(AICA-L2 B85-Chandigarh)</a:t>
            </a:r>
          </a:p>
          <a:p>
            <a:pPr algn="ctr"/>
            <a:r>
              <a:rPr lang="en-IN" sz="1600" b="1" dirty="0" err="1">
                <a:solidFill>
                  <a:srgbClr val="FFFFFF"/>
                </a:solidFill>
                <a:latin typeface="Calibri"/>
                <a:cs typeface="Calibri"/>
              </a:rPr>
              <a:t>M.No</a:t>
            </a:r>
            <a:r>
              <a:rPr lang="en-IN" sz="1600" b="1" dirty="0">
                <a:solidFill>
                  <a:srgbClr val="FFFFFF"/>
                </a:solidFill>
                <a:latin typeface="Calibri"/>
                <a:cs typeface="Calibri"/>
              </a:rPr>
              <a:t> - 515718</a:t>
            </a:r>
          </a:p>
          <a:p>
            <a:pPr algn="ctr"/>
            <a:endParaRPr lang="en-IN" sz="1600" b="1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686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  <a:p>
            <a:pPr>
              <a:defRPr sz="1300">
                <a:solidFill>
                  <a:srgbClr val="BED7F5"/>
                </a:solidFill>
                <a:latin typeface="Calibri"/>
              </a:defRPr>
            </a:pPr>
            <a:r>
              <a:t>Challenges in Statutory Schedule III Financial Ratio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56032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200">
                <a:solidFill>
                  <a:srgbClr val="BED7F5"/>
                </a:solidFill>
                <a:latin typeface="Calibri"/>
              </a:defRPr>
            </a:pPr>
            <a:r>
              <a:t>ICAI AI Course - Level 2 | Slide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0120" y="1691640"/>
            <a:ext cx="731520" cy="365760"/>
          </a:xfrm>
          <a:prstGeom prst="round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2871216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254D"/>
                </a:solidFill>
                <a:latin typeface="Calibri"/>
              </a:defRPr>
            </a:pPr>
            <a:r>
              <a:t>Mandatory MCA Compliance Burden</a:t>
            </a:r>
          </a:p>
          <a:p>
            <a:pPr>
              <a:spcAft>
                <a:spcPts val="1400"/>
              </a:spcAft>
              <a:defRPr sz="1300">
                <a:solidFill>
                  <a:srgbClr val="556982"/>
                </a:solidFill>
                <a:latin typeface="Calibri"/>
              </a:defRPr>
            </a:pPr>
            <a:r>
              <a:t>MCA notification (G.S.R. 207(E)) mandates disclosure of 11 statutory analytical ratios in Schedule III Balance Sheet notes.</a:t>
            </a:r>
          </a:p>
          <a:p>
            <a:pPr>
              <a:spcAft>
                <a:spcPts val="800"/>
              </a:spcAft>
              <a:defRPr sz="1200">
                <a:solidFill>
                  <a:srgbClr val="141E2D"/>
                </a:solidFill>
                <a:latin typeface="Calibri"/>
              </a:defRPr>
            </a:pPr>
            <a:r>
              <a:t>• Manual computation across CY &amp; PY opening/closing averages is time-intensive and highly prone to formula errors.</a:t>
            </a:r>
          </a:p>
          <a:p>
            <a:pPr>
              <a:spcAft>
                <a:spcPts val="800"/>
              </a:spcAft>
              <a:defRPr sz="1200">
                <a:solidFill>
                  <a:srgbClr val="141E2D"/>
                </a:solidFill>
                <a:latin typeface="Calibri"/>
              </a:defRPr>
            </a:pPr>
            <a:r>
              <a:t>• Rigorous ICAI Guidance Note formula definitions and statutory zero-handling must be strictly followed.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46304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54296" y="1691640"/>
            <a:ext cx="731520" cy="365760"/>
          </a:xfrm>
          <a:prstGeom prst="round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194560"/>
            <a:ext cx="2871216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254D"/>
                </a:solidFill>
                <a:latin typeface="Calibri"/>
              </a:defRPr>
            </a:pPr>
            <a:r>
              <a:t>Non-Standard Financial Ingestion</a:t>
            </a:r>
          </a:p>
          <a:p>
            <a:pPr>
              <a:spcAft>
                <a:spcPts val="1400"/>
              </a:spcAft>
              <a:defRPr sz="1300">
                <a:solidFill>
                  <a:srgbClr val="556982"/>
                </a:solidFill>
                <a:latin typeface="Calibri"/>
              </a:defRPr>
            </a:pPr>
            <a:r>
              <a:t>Auditors and enterprises receive financial statements in fragmented, non-uniform formats.</a:t>
            </a:r>
          </a:p>
          <a:p>
            <a:pPr>
              <a:spcAft>
                <a:spcPts val="800"/>
              </a:spcAft>
              <a:defRPr sz="1200">
                <a:solidFill>
                  <a:srgbClr val="141E2D"/>
                </a:solidFill>
                <a:latin typeface="Calibri"/>
              </a:defRPr>
            </a:pPr>
            <a:r>
              <a:t>• Disparate Excel layouts with merged cells, dynamic header rows, trailing sheet name spaces, and parenthesized negatives.</a:t>
            </a:r>
          </a:p>
          <a:p>
            <a:pPr>
              <a:spcAft>
                <a:spcPts val="800"/>
              </a:spcAft>
              <a:defRPr sz="1200">
                <a:solidFill>
                  <a:srgbClr val="141E2D"/>
                </a:solidFill>
                <a:latin typeface="Calibri"/>
              </a:defRPr>
            </a:pPr>
            <a:r>
              <a:t>• 40+ naming variations and splits (e.g. MSME Trade Payables, Fixed Assets vs PPE, Capital Employed).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46304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348472" y="1691640"/>
            <a:ext cx="731520" cy="365760"/>
          </a:xfrm>
          <a:prstGeom prst="round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2194560"/>
            <a:ext cx="2871216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254D"/>
                </a:solidFill>
                <a:latin typeface="Calibri"/>
              </a:defRPr>
            </a:pPr>
            <a:r>
              <a:t>Variance Analysis &amp; Narrative Gap</a:t>
            </a:r>
          </a:p>
          <a:p>
            <a:pPr>
              <a:spcAft>
                <a:spcPts val="1400"/>
              </a:spcAft>
              <a:defRPr sz="1300">
                <a:solidFill>
                  <a:srgbClr val="556982"/>
                </a:solidFill>
                <a:latin typeface="Calibri"/>
              </a:defRPr>
            </a:pPr>
            <a:r>
              <a:t>Statutory rule requires mandatory explanation for every ratio varying by 25% or more.</a:t>
            </a:r>
          </a:p>
          <a:p>
            <a:pPr>
              <a:spcAft>
                <a:spcPts val="800"/>
              </a:spcAft>
              <a:defRPr sz="1200">
                <a:solidFill>
                  <a:srgbClr val="141E2D"/>
                </a:solidFill>
                <a:latin typeface="Calibri"/>
              </a:defRPr>
            </a:pPr>
            <a:r>
              <a:t>• Identifying underlying numerical drivers across 11 ratios manually creates audit compliance bottlenecks.</a:t>
            </a:r>
          </a:p>
          <a:p>
            <a:pPr>
              <a:spcAft>
                <a:spcPts val="800"/>
              </a:spcAft>
              <a:defRPr sz="1200">
                <a:solidFill>
                  <a:srgbClr val="141E2D"/>
                </a:solidFill>
                <a:latin typeface="Calibri"/>
              </a:defRPr>
            </a:pPr>
            <a:r>
              <a:t>• Drafting auditor-grade narrative reasoning naming exact amounts and percentage drivers is repetitive and tedious.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686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Technology Used</a:t>
            </a:r>
          </a:p>
          <a:p>
            <a:pPr>
              <a:defRPr sz="1300">
                <a:solidFill>
                  <a:srgbClr val="BED7F5"/>
                </a:solidFill>
                <a:latin typeface="Calibri"/>
              </a:defRPr>
            </a:pPr>
            <a:r>
              <a:t>Modern, Robust &amp; Secure Desktop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56032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200">
                <a:solidFill>
                  <a:srgbClr val="BED7F5"/>
                </a:solidFill>
                <a:latin typeface="Calibri"/>
              </a:defRPr>
            </a:pPr>
            <a:r>
              <a:t>ICAI AI Course - Level 2 | Slide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536192"/>
            <a:ext cx="4663440" cy="16459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254D"/>
                </a:solidFill>
                <a:latin typeface="Calibri"/>
              </a:defRPr>
            </a:pPr>
            <a:r>
              <a:t>⚙️ Core Engine &amp; GUI  |  PySide6 &amp; Python</a:t>
            </a:r>
          </a:p>
          <a:p>
            <a:pPr>
              <a:spcAft>
                <a:spcPts val="300"/>
              </a:spcAft>
              <a:defRPr sz="1150">
                <a:solidFill>
                  <a:srgbClr val="141E2D"/>
                </a:solidFill>
                <a:latin typeface="Calibri"/>
              </a:defRPr>
            </a:pPr>
            <a:r>
              <a:t>✔ Python 3.14: Pure mathematical engine with zero hardcoded figures</a:t>
            </a:r>
          </a:p>
          <a:p>
            <a:pPr>
              <a:spcAft>
                <a:spcPts val="300"/>
              </a:spcAft>
              <a:defRPr sz="1150">
                <a:solidFill>
                  <a:srgbClr val="141E2D"/>
                </a:solidFill>
                <a:latin typeface="Calibri"/>
              </a:defRPr>
            </a:pPr>
            <a:r>
              <a:t>✔ PySide6 (Qt 6): High-DPI native desktop GUI with tabbed navigation</a:t>
            </a:r>
          </a:p>
          <a:p>
            <a:pPr>
              <a:spcAft>
                <a:spcPts val="300"/>
              </a:spcAft>
              <a:defRPr sz="1150">
                <a:solidFill>
                  <a:srgbClr val="141E2D"/>
                </a:solidFill>
                <a:latin typeface="Calibri"/>
              </a:defRPr>
            </a:pPr>
            <a:r>
              <a:t>✔ SQLite: Embedded relational database for client portfolios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536192"/>
            <a:ext cx="4663440" cy="16459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254D"/>
                </a:solidFill>
                <a:latin typeface="Calibri"/>
              </a:defRPr>
            </a:pPr>
            <a:r>
              <a:t>📄 Ingestion &amp; NLP  |  Dynamic Excel Parsing</a:t>
            </a:r>
          </a:p>
          <a:p>
            <a:pPr>
              <a:spcAft>
                <a:spcPts val="300"/>
              </a:spcAft>
              <a:defRPr sz="1150">
                <a:solidFill>
                  <a:srgbClr val="141E2D"/>
                </a:solidFill>
                <a:latin typeface="Calibri"/>
              </a:defRPr>
            </a:pPr>
            <a:r>
              <a:t>✔ openpyxl: Dynamic header scanning &amp; parenthesized negative parser</a:t>
            </a:r>
          </a:p>
          <a:p>
            <a:pPr>
              <a:spcAft>
                <a:spcPts val="300"/>
              </a:spcAft>
              <a:defRPr sz="1150">
                <a:solidFill>
                  <a:srgbClr val="141E2D"/>
                </a:solidFill>
                <a:latin typeface="Calibri"/>
              </a:defRPr>
            </a:pPr>
            <a:r>
              <a:t>✔ RapidFuzz: Accounting synonym mapping across 40+ statutory heads</a:t>
            </a:r>
          </a:p>
          <a:p>
            <a:pPr>
              <a:spcAft>
                <a:spcPts val="300"/>
              </a:spcAft>
              <a:defRPr sz="1150">
                <a:solidFill>
                  <a:srgbClr val="141E2D"/>
                </a:solidFill>
                <a:latin typeface="Calibri"/>
              </a:defRPr>
            </a:pPr>
            <a:r>
              <a:t>✔ Deterministic Rules 1–6: Autonomous ambiguity &amp; duplicate resolution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512064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593592"/>
            <a:ext cx="4663440" cy="16459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254D"/>
                </a:solidFill>
                <a:latin typeface="Calibri"/>
              </a:defRPr>
            </a:pPr>
            <a:r>
              <a:t>💻 Audit Workspace  |  Interactive Controls</a:t>
            </a:r>
          </a:p>
          <a:p>
            <a:pPr>
              <a:spcAft>
                <a:spcPts val="300"/>
              </a:spcAft>
              <a:defRPr sz="1150">
                <a:solidFill>
                  <a:srgbClr val="141E2D"/>
                </a:solidFill>
                <a:latin typeface="Calibri"/>
              </a:defRPr>
            </a:pPr>
            <a:r>
              <a:t>✔ Dynamic Threshold Slider: Live recalculation of flagged variances</a:t>
            </a:r>
          </a:p>
          <a:p>
            <a:pPr>
              <a:spcAft>
                <a:spcPts val="300"/>
              </a:spcAft>
              <a:defRPr sz="1150">
                <a:solidFill>
                  <a:srgbClr val="141E2D"/>
                </a:solidFill>
                <a:latin typeface="Calibri"/>
              </a:defRPr>
            </a:pPr>
            <a:r>
              <a:t>✔ Statutory Guidance Popups (ℹ️): Schedule III clauses &amp; audit insights</a:t>
            </a:r>
          </a:p>
          <a:p>
            <a:pPr>
              <a:spcAft>
                <a:spcPts val="300"/>
              </a:spcAft>
              <a:defRPr sz="1150">
                <a:solidFill>
                  <a:srgbClr val="141E2D"/>
                </a:solidFill>
                <a:latin typeface="Calibri"/>
              </a:defRPr>
            </a:pPr>
            <a:r>
              <a:t>✔ Multiline Reason Editor: Interactive auditor discretion override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429000"/>
            <a:ext cx="512064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3593592"/>
            <a:ext cx="4663440" cy="16459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254D"/>
                </a:solidFill>
                <a:latin typeface="Calibri"/>
              </a:defRPr>
            </a:pPr>
            <a:r>
              <a:t>📊 Export &amp; Distribution  |  Packaging</a:t>
            </a:r>
          </a:p>
          <a:p>
            <a:pPr>
              <a:spcAft>
                <a:spcPts val="300"/>
              </a:spcAft>
              <a:defRPr sz="1150">
                <a:solidFill>
                  <a:srgbClr val="141E2D"/>
                </a:solidFill>
                <a:latin typeface="Calibri"/>
              </a:defRPr>
            </a:pPr>
            <a:r>
              <a:t>✔ python-docx: Audit-ready A4 Landscape Word reports with tables</a:t>
            </a:r>
          </a:p>
          <a:p>
            <a:pPr>
              <a:spcAft>
                <a:spcPts val="300"/>
              </a:spcAft>
              <a:defRPr sz="1150">
                <a:solidFill>
                  <a:srgbClr val="141E2D"/>
                </a:solidFill>
                <a:latin typeface="Calibri"/>
              </a:defRPr>
            </a:pPr>
            <a:r>
              <a:t>✔ openpyxl: Live formula-driven Schedule III Excel workpapers</a:t>
            </a:r>
          </a:p>
          <a:p>
            <a:pPr>
              <a:spcAft>
                <a:spcPts val="300"/>
              </a:spcAft>
              <a:defRPr sz="1150">
                <a:solidFill>
                  <a:srgbClr val="141E2D"/>
                </a:solidFill>
                <a:latin typeface="Calibri"/>
              </a:defRPr>
            </a:pPr>
            <a:r>
              <a:t>✔ PyInstaller: Standalone single-file Windows executable (.exe)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40680"/>
            <a:ext cx="10728655" cy="1161288"/>
          </a:xfrm>
          <a:prstGeom prst="roundRect">
            <a:avLst/>
          </a:prstGeom>
          <a:solidFill>
            <a:srgbClr val="EDF4FF"/>
          </a:solidFill>
          <a:ln w="1905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64592" rtlCol="0" anchor="ctr"/>
          <a:lstStyle/>
          <a:p>
            <a:pPr algn="ctr">
              <a:defRPr sz="1350" b="1">
                <a:solidFill>
                  <a:srgbClr val="0F254D"/>
                </a:solidFill>
                <a:latin typeface="Calibri"/>
              </a:defRPr>
            </a:pPr>
            <a:r>
              <a:rPr dirty="0"/>
              <a:t>🔒 Data Storage &amp; Security </a:t>
            </a:r>
            <a:br>
              <a:rPr lang="en-US" dirty="0"/>
            </a:br>
            <a:r>
              <a:rPr dirty="0"/>
              <a:t>All client records and uploaded financial data are stored 100% locally on the user's workstation in an embedded SQLite database. </a:t>
            </a:r>
            <a:br>
              <a:rPr lang="en-US" dirty="0"/>
            </a:br>
            <a:r>
              <a:rPr dirty="0"/>
              <a:t>100% offline air-gapped execution with zero cloud storage, zero external telemetry, and SHA-256 data integrity verification, guaranteeing complete client financial confidentiality.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686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Implementation</a:t>
            </a:r>
          </a:p>
          <a:p>
            <a:pPr>
              <a:defRPr sz="1300">
                <a:solidFill>
                  <a:srgbClr val="BED7F5"/>
                </a:solidFill>
                <a:latin typeface="Calibri"/>
              </a:defRPr>
            </a:pPr>
            <a:r>
              <a:t>Step-by-Step Workflow &amp; Key Solution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56032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200">
                <a:solidFill>
                  <a:srgbClr val="BED7F5"/>
                </a:solidFill>
                <a:latin typeface="Calibri"/>
              </a:defRPr>
            </a:pPr>
            <a:r>
              <a:t>ICAI AI Course - Level 2 | Slide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5146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1645920"/>
            <a:ext cx="2148840" cy="365760"/>
          </a:xfrm>
          <a:prstGeom prst="round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21488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254D"/>
                </a:solidFill>
                <a:latin typeface="Calibri"/>
              </a:defRPr>
            </a:pPr>
            <a:r>
              <a:t>Zero-Intervention Ingestion</a:t>
            </a:r>
          </a:p>
          <a:p>
            <a:pPr>
              <a:spcAft>
                <a:spcPts val="800"/>
              </a:spcAft>
              <a:defRPr sz="1150">
                <a:solidFill>
                  <a:srgbClr val="141E2D"/>
                </a:solidFill>
                <a:latin typeface="Calibri"/>
              </a:defRPr>
            </a:pPr>
            <a:r>
              <a:t>• 3-Action Workflow: Enter Client Name → Upload CY File → Upload PY File.</a:t>
            </a:r>
          </a:p>
          <a:p>
            <a:pPr>
              <a:spcAft>
                <a:spcPts val="800"/>
              </a:spcAft>
              <a:defRPr sz="1150">
                <a:solidFill>
                  <a:srgbClr val="141E2D"/>
                </a:solidFill>
                <a:latin typeface="Calibri"/>
              </a:defRPr>
            </a:pPr>
            <a:r>
              <a:t>• Automated dynamic parsing with sheet/column alias resolution.</a:t>
            </a:r>
          </a:p>
          <a:p>
            <a:pPr>
              <a:spcAft>
                <a:spcPts val="800"/>
              </a:spcAft>
              <a:defRPr sz="1150">
                <a:solidFill>
                  <a:srgbClr val="141E2D"/>
                </a:solidFill>
                <a:latin typeface="Calibri"/>
              </a:defRPr>
            </a:pPr>
            <a:r>
              <a:t>• Storage: Processed 100% locally with zero cloud transmission.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5576" y="1463040"/>
            <a:ext cx="25146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648456" y="1645920"/>
            <a:ext cx="2148840" cy="365760"/>
          </a:xfrm>
          <a:prstGeom prst="round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456" y="2148840"/>
            <a:ext cx="21488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254D"/>
                </a:solidFill>
                <a:latin typeface="Calibri"/>
              </a:defRPr>
            </a:pPr>
            <a:r>
              <a:t>11 Mandated Ratios Engine</a:t>
            </a:r>
          </a:p>
          <a:p>
            <a:pPr>
              <a:spcAft>
                <a:spcPts val="800"/>
              </a:spcAft>
              <a:defRPr sz="1150">
                <a:solidFill>
                  <a:srgbClr val="141E2D"/>
                </a:solidFill>
                <a:latin typeface="Calibri"/>
              </a:defRPr>
            </a:pPr>
            <a:r>
              <a:t>• Computes all 11 MCA Schedule III ratios strictly per ICAI norms.</a:t>
            </a:r>
          </a:p>
          <a:p>
            <a:pPr>
              <a:spcAft>
                <a:spcPts val="800"/>
              </a:spcAft>
              <a:defRPr sz="1150">
                <a:solidFill>
                  <a:srgbClr val="141E2D"/>
                </a:solidFill>
                <a:latin typeface="Calibri"/>
              </a:defRPr>
            </a:pPr>
            <a:r>
              <a:t>• Automated 2-year opening/closing average balance handling.</a:t>
            </a:r>
          </a:p>
          <a:p>
            <a:pPr>
              <a:spcAft>
                <a:spcPts val="800"/>
              </a:spcAft>
              <a:defRPr sz="1150">
                <a:solidFill>
                  <a:srgbClr val="141E2D"/>
                </a:solidFill>
                <a:latin typeface="Calibri"/>
              </a:defRPr>
            </a:pPr>
            <a:r>
              <a:t>• 3-step DSCR principal repayment waterfall and divide-by-zero protection.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463040"/>
            <a:ext cx="25146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82512" y="1645920"/>
            <a:ext cx="2148840" cy="365760"/>
          </a:xfrm>
          <a:prstGeom prst="round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148840"/>
            <a:ext cx="21488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254D"/>
                </a:solidFill>
                <a:latin typeface="Calibri"/>
              </a:defRPr>
            </a:pPr>
            <a:r>
              <a:t>Smart Variance Analyzer</a:t>
            </a:r>
          </a:p>
          <a:p>
            <a:pPr>
              <a:spcAft>
                <a:spcPts val="800"/>
              </a:spcAft>
              <a:defRPr sz="1150">
                <a:solidFill>
                  <a:srgbClr val="141E2D"/>
                </a:solidFill>
                <a:latin typeface="Calibri"/>
              </a:defRPr>
            </a:pPr>
            <a:r>
              <a:t>• Dynamically flags ratios exceeding statutory 25% threshold.</a:t>
            </a:r>
          </a:p>
          <a:p>
            <a:pPr>
              <a:spcAft>
                <a:spcPts val="800"/>
              </a:spcAft>
              <a:defRPr sz="1150">
                <a:solidFill>
                  <a:srgbClr val="141E2D"/>
                </a:solidFill>
                <a:latin typeface="Calibri"/>
              </a:defRPr>
            </a:pPr>
            <a:r>
              <a:t>• Decomposes underlying drivers into natural narrative explanations.</a:t>
            </a:r>
          </a:p>
          <a:p>
            <a:pPr>
              <a:spcAft>
                <a:spcPts val="800"/>
              </a:spcAft>
              <a:defRPr sz="1150">
                <a:solidFill>
                  <a:srgbClr val="141E2D"/>
                </a:solidFill>
                <a:latin typeface="Calibri"/>
              </a:defRPr>
            </a:pPr>
            <a:r>
              <a:t>• Allows auditor free-text edits with persistent database storage.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33688" y="1463040"/>
            <a:ext cx="25146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116568" y="1645920"/>
            <a:ext cx="2148840" cy="365760"/>
          </a:xfrm>
          <a:prstGeom prst="roundRect">
            <a:avLst/>
          </a:prstGeom>
          <a:solidFill>
            <a:srgbClr val="0F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6568" y="2148840"/>
            <a:ext cx="21488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254D"/>
                </a:solidFill>
                <a:latin typeface="Calibri"/>
              </a:defRPr>
            </a:pPr>
            <a:r>
              <a:t>Statutory Integrity &amp; Exports</a:t>
            </a:r>
          </a:p>
          <a:p>
            <a:pPr>
              <a:spcAft>
                <a:spcPts val="800"/>
              </a:spcAft>
              <a:defRPr sz="1150">
                <a:solidFill>
                  <a:srgbClr val="141E2D"/>
                </a:solidFill>
                <a:latin typeface="Calibri"/>
              </a:defRPr>
            </a:pPr>
            <a:r>
              <a:t>• Automated IC-1 to IC-9 cross-statement consistency checks.</a:t>
            </a:r>
          </a:p>
          <a:p>
            <a:pPr>
              <a:spcAft>
                <a:spcPts val="800"/>
              </a:spcAft>
              <a:defRPr sz="1150">
                <a:solidFill>
                  <a:srgbClr val="141E2D"/>
                </a:solidFill>
                <a:latin typeface="Calibri"/>
              </a:defRPr>
            </a:pPr>
            <a:r>
              <a:t>• 1-click export to Board-ready Word (.docx) &amp; formula Excel (.xlsx).</a:t>
            </a:r>
          </a:p>
          <a:p>
            <a:pPr>
              <a:spcAft>
                <a:spcPts val="800"/>
              </a:spcAft>
              <a:defRPr sz="1150">
                <a:solidFill>
                  <a:srgbClr val="141E2D"/>
                </a:solidFill>
                <a:latin typeface="Calibri"/>
              </a:defRPr>
            </a:pPr>
            <a:r>
              <a:t>• Includes statutory clauses, footnotes, and mathematical drilldown.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686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  <a:p>
            <a:pPr>
              <a:defRPr sz="1300">
                <a:solidFill>
                  <a:srgbClr val="BED7F5"/>
                </a:solidFill>
                <a:latin typeface="Calibri"/>
              </a:defRPr>
            </a:pPr>
            <a:r>
              <a:t>Project Impact, Audit Utility &amp; Enterprise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56032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200">
                <a:solidFill>
                  <a:srgbClr val="BED7F5"/>
                </a:solidFill>
                <a:latin typeface="Calibri"/>
              </a:defRPr>
            </a:pPr>
            <a:r>
              <a:t>ICAI AI Course - Level 2 | Slide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4389120" cy="4846320"/>
          </a:xfrm>
          <a:prstGeom prst="roundRect">
            <a:avLst/>
          </a:prstGeom>
          <a:solidFill>
            <a:srgbClr val="0F2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tlCol="0" anchor="ctr"/>
          <a:lstStyle/>
          <a:p>
            <a:pPr algn="ctr">
              <a:defRPr sz="1200" b="1">
                <a:solidFill>
                  <a:srgbClr val="BED7F5"/>
                </a:solidFill>
                <a:latin typeface="Calibri"/>
              </a:defRPr>
            </a:pPr>
            <a:r>
              <a:t>PROJECT CONCLUSION</a:t>
            </a:r>
          </a:p>
          <a:p>
            <a:pPr>
              <a:spcAft>
                <a:spcPts val="120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Transforming Statutory Audit Reporting</a:t>
            </a:r>
          </a:p>
          <a:p>
            <a:pPr>
              <a:spcAft>
                <a:spcPts val="800"/>
              </a:spcAft>
              <a:defRPr sz="1200">
                <a:solidFill>
                  <a:srgbClr val="EBF5FF"/>
                </a:solidFill>
                <a:latin typeface="Calibri"/>
              </a:defRPr>
            </a:pPr>
            <a:r>
              <a:t>⚡ 90%+ Time Savings: Automates statutory ratio computations, reviews, and working paper generation in under 5 seconds.</a:t>
            </a:r>
          </a:p>
          <a:p>
            <a:pPr>
              <a:spcAft>
                <a:spcPts val="800"/>
              </a:spcAft>
              <a:defRPr sz="1200">
                <a:solidFill>
                  <a:srgbClr val="EBF5FF"/>
                </a:solidFill>
                <a:latin typeface="Calibri"/>
              </a:defRPr>
            </a:pPr>
            <a:r>
              <a:t>🎯 100% Regulatory Compliance: Complete alignment with MCA Schedule III (2021) &amp; ICAI Guidance Notes.</a:t>
            </a:r>
          </a:p>
          <a:p>
            <a:pPr>
              <a:spcAft>
                <a:spcPts val="800"/>
              </a:spcAft>
              <a:defRPr sz="1200">
                <a:solidFill>
                  <a:srgbClr val="EBF5FF"/>
                </a:solidFill>
                <a:latin typeface="Calibri"/>
              </a:defRPr>
            </a:pPr>
            <a:r>
              <a:t>🔒 Data Privacy Assured: 100% local SQLite desktop architecture with zero cloud storage footprint.</a:t>
            </a:r>
          </a:p>
          <a:p>
            <a:pPr>
              <a:spcAft>
                <a:spcPts val="800"/>
              </a:spcAft>
              <a:defRPr sz="1200">
                <a:solidFill>
                  <a:srgbClr val="EBF5FF"/>
                </a:solidFill>
                <a:latin typeface="Calibri"/>
              </a:defRPr>
            </a:pPr>
            <a:r>
              <a:t>💼 Audit Value Creation: Shifts CA bandwidth from mechanical data re-entry to high-level advisory judgment.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371600"/>
            <a:ext cx="6065215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tlCol="0" anchor="ctr"/>
          <a:lstStyle/>
          <a:p>
            <a:pPr algn="ctr">
              <a:defRPr sz="1100" b="1">
                <a:solidFill>
                  <a:srgbClr val="0F254D"/>
                </a:solidFill>
                <a:latin typeface="Calibri"/>
              </a:defRPr>
            </a:pPr>
            <a:r>
              <a:t>CORE CONCLUSION</a:t>
            </a:r>
          </a:p>
          <a:p>
            <a:pPr>
              <a:spcAft>
                <a:spcPts val="600"/>
              </a:spcAft>
              <a:defRPr sz="1600" b="1">
                <a:solidFill>
                  <a:srgbClr val="1A56A0"/>
                </a:solidFill>
                <a:latin typeface="Calibri"/>
              </a:defRPr>
            </a:pPr>
            <a:r>
              <a:t>Audit-Grade Utility for Chartered Accountants</a:t>
            </a:r>
          </a:p>
          <a:p>
            <a:pPr>
              <a:defRPr sz="1200">
                <a:solidFill>
                  <a:srgbClr val="141E2D"/>
                </a:solidFill>
                <a:latin typeface="Calibri"/>
              </a:defRPr>
            </a:pPr>
            <a:r>
              <a:t>Successfully bridges multi-format document friction, eliminates computational error risks, performs IC-1 to IC-9 integrity checks, and automatically drafts statutory 25% variance explanations ready for Board and audit working papers.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3703320"/>
            <a:ext cx="6065215" cy="2514600"/>
          </a:xfrm>
          <a:prstGeom prst="roundRect">
            <a:avLst/>
          </a:prstGeom>
          <a:solidFill>
            <a:srgbClr val="EDF4FF"/>
          </a:solidFill>
          <a:ln w="2540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tlCol="0" anchor="ctr"/>
          <a:lstStyle/>
          <a:p>
            <a:pPr algn="ctr">
              <a:defRPr sz="1100" b="1">
                <a:solidFill>
                  <a:srgbClr val="1A56A0"/>
                </a:solidFill>
                <a:latin typeface="Calibri"/>
              </a:defRPr>
            </a:pPr>
            <a:r>
              <a:t>STANDALONE DEPLOYMENT</a:t>
            </a:r>
          </a:p>
          <a:p>
            <a:pPr>
              <a:spcAft>
                <a:spcPts val="800"/>
              </a:spcAft>
              <a:defRPr sz="1600" b="1">
                <a:solidFill>
                  <a:srgbClr val="0F254D"/>
                </a:solidFill>
                <a:latin typeface="Calibri"/>
              </a:defRPr>
            </a:pPr>
            <a:r>
              <a:t>📦 Production Executable (.exe) &amp; Test Automation</a:t>
            </a:r>
          </a:p>
          <a:p>
            <a:pPr>
              <a:spcAft>
                <a:spcPts val="600"/>
              </a:spcAft>
              <a:defRPr sz="1300" b="1">
                <a:solidFill>
                  <a:srgbClr val="0F254D"/>
                </a:solidFill>
                <a:latin typeface="Calibri"/>
              </a:defRPr>
            </a:pPr>
            <a:r>
              <a:t>1. Single-File Windows Executable: Packaged as ScheduleIIIRatioAnalyser.exe for instant zero-dependency deployment.</a:t>
            </a:r>
          </a:p>
          <a:p>
            <a:pPr>
              <a:defRPr sz="1150">
                <a:solidFill>
                  <a:srgbClr val="141E2D"/>
                </a:solidFill>
                <a:latin typeface="Calibri"/>
              </a:defRPr>
            </a:pPr>
            <a:r>
              <a:t>• 100% Automated Test Suite: 34 statutory acceptance and engine unit tests passing with zero hardcoded figures.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853</Words>
  <Application>Microsoft Office PowerPoint</Application>
  <PresentationFormat>Widescreen</PresentationFormat>
  <Paragraphs>84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RAVINDER KUMAR GARG</cp:lastModifiedBy>
  <cp:revision>4</cp:revision>
  <dcterms:created xsi:type="dcterms:W3CDTF">2013-01-27T09:14:16Z</dcterms:created>
  <dcterms:modified xsi:type="dcterms:W3CDTF">2026-09-03T22:51:52Z</dcterms:modified>
  <cp:category/>
</cp:coreProperties>
</file>